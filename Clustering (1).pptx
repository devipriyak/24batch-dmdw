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9" r:id="rId5"/>
    <p:sldId id="265" r:id="rId6"/>
    <p:sldId id="273" r:id="rId7"/>
    <p:sldId id="274" r:id="rId8"/>
    <p:sldId id="275" r:id="rId9"/>
    <p:sldId id="263" r:id="rId10"/>
    <p:sldId id="261" r:id="rId11"/>
    <p:sldId id="262" r:id="rId12"/>
    <p:sldId id="266" r:id="rId13"/>
    <p:sldId id="267" r:id="rId14"/>
    <p:sldId id="276" r:id="rId15"/>
    <p:sldId id="277" r:id="rId16"/>
    <p:sldId id="282" r:id="rId17"/>
    <p:sldId id="283" r:id="rId18"/>
    <p:sldId id="284" r:id="rId19"/>
    <p:sldId id="278" r:id="rId20"/>
    <p:sldId id="285" r:id="rId21"/>
    <p:sldId id="286" r:id="rId22"/>
    <p:sldId id="280" r:id="rId23"/>
    <p:sldId id="287" r:id="rId24"/>
    <p:sldId id="288" r:id="rId25"/>
    <p:sldId id="290" r:id="rId26"/>
    <p:sldId id="289" r:id="rId27"/>
    <p:sldId id="291" r:id="rId28"/>
    <p:sldId id="292" r:id="rId29"/>
    <p:sldId id="293" r:id="rId30"/>
    <p:sldId id="294" r:id="rId31"/>
    <p:sldId id="298" r:id="rId32"/>
    <p:sldId id="297" r:id="rId33"/>
    <p:sldId id="296" r:id="rId34"/>
    <p:sldId id="299" r:id="rId35"/>
    <p:sldId id="300" r:id="rId36"/>
    <p:sldId id="301" r:id="rId37"/>
    <p:sldId id="30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18F6C-00D8-3444-D558-EB2799C82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1EEEE-5543-D740-62C5-E28FD3564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6F76-07AE-0219-EBCA-FF9D2D89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24BF-A4ED-6763-86D3-6C9E81EE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4B370-7D61-59D4-279C-FA0F7229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18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0DA-CAFF-DE85-F80B-2AFCEE91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CD730-89DE-557F-508C-AB2746E18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2824F-C803-A185-C4CA-D2FEFA9D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C433-86A7-D12B-0F4E-2E4B882C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B8E5C-C5C5-648D-AB56-6977D76D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523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BD40-777D-385F-729E-04536E51D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9C50F-D30E-62D2-63D2-EF5840F29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B656B-BC26-9DE5-B6C2-6FA17AE91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E8DD-8756-2E2E-8FCC-81C0B5263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0154-8C1A-AFF8-A65A-2986BA55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3AAA-BE44-F9C1-2E3C-9A632A59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8EF5C-9338-B63F-FFC0-E4193DEBA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434A7-D45D-C3CA-7304-0DF04C10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17151-F833-A748-3EAD-5928CEF9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B220F-EE0C-3066-81DD-D4EABD46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2585F-724C-E84A-C223-20C6B5F7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4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546C-6492-6F86-779F-F321BFD3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1897F-AA78-E9AD-B8CE-057F9DA38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E43A2-5993-F1EF-3886-E557C1AC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D42E09-3CC5-DA5E-F579-BCE22BF93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00EA3-066B-0446-54B1-B3A68C8B9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557928-22FF-D5C4-2DF3-1805B5B16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4E63B-BAC6-F118-B56A-0E4812B3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1EE4B-9550-75D9-8EB4-45F7D782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9BAC-3735-88DB-EB8F-35572633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C8516-6034-2EFA-665F-247BD4395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FB218-6AB6-D09E-2F6A-EB02CC1E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0E9B1-4677-9E0A-C37E-D3160EE2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61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95BFD-5280-3530-BB0D-B8B475DD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341A1-B7D5-DFB3-BBBB-EE545AE3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18D2B-43F9-8F15-1B51-87A9F581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27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1361-1784-8972-D83F-DDD0A9BC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0127-F010-433E-B032-74F6A20A1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A5419-8081-8967-A956-9B7DAB3DB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75FBD-7F0C-6BDA-B99C-9A50044F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606DC-A8EE-F5E8-F2CD-04502E158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9F672-FDE2-CF45-5B9C-4D49E6F9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8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27CDD-E188-A5D0-6F91-E100EF6D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EADB0-9F17-EFF6-B469-DB7851FAC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49BBF-DB69-8CBB-4931-93D6A1C51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6E4BA-DE9F-CCF2-903A-92855286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CA1E9-211C-03C7-1B7E-31DDCAA2D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A2B77-3FD7-8D70-A1BF-2B6D8B33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4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8AFE-E2CC-89F4-BD60-2CCF10F4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36AD8-1B4E-9279-9729-D551275B2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A9328-D60D-A23D-8F8E-9BC79A9D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E7224-4C06-DCC3-2BFF-2174559A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AA5E5-E0FE-2D86-7E9D-C81E08F5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9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92F91-48CE-65B6-D395-8E369F4C1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8E08A-BDBB-FF49-6C0A-7A6508621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1001D-016B-1490-851E-8B2497EC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7CAB2-6AF8-9954-2A1C-19598A8F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885C-073E-9B9E-E914-0F77BC53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18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33025-B271-7437-5A90-6052F008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CE0B4-C212-BD7F-243F-CA0BA87E2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6B50-BBD8-86E8-1D93-7D4215A5B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CE5DC-429D-444D-B866-96434D70079A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68614-96E0-81AB-875C-3960F8C62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C71B6-998B-AA13-AD55-4B611370E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3F15-3DE0-49BE-9423-8E69B25CDE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59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B12F-4A98-8DFE-7C42-4128FAB73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4198D-62CF-C3B4-5F8E-10E86780E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01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3919-761D-250E-2A28-128A9354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8EA7-1543-D1B1-A4A5-046742DA2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  <a:p>
            <a:r>
              <a:rPr lang="en-US" dirty="0"/>
              <a:t>Unsupervised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72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1C2E-6DCC-8343-1EB3-A74ED0696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6423-286F-6E97-80CE-08FA0C136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1.It is the grouping of data that have similar characteristics. </a:t>
            </a:r>
          </a:p>
          <a:p>
            <a:r>
              <a:rPr lang="en-US" dirty="0"/>
              <a:t>2.It helps segment data into groups and analyze each to find patterns. </a:t>
            </a:r>
          </a:p>
          <a:p>
            <a:endParaRPr lang="en-US" dirty="0"/>
          </a:p>
          <a:p>
            <a:r>
              <a:rPr lang="en-US" dirty="0"/>
              <a:t>Example: Clustering algorithms identify groups of users </a:t>
            </a:r>
            <a:r>
              <a:rPr lang="en-US" dirty="0" err="1"/>
              <a:t>basedontheir</a:t>
            </a:r>
            <a:r>
              <a:rPr lang="en-US" dirty="0"/>
              <a:t> online purchasing history and then send each member </a:t>
            </a:r>
            <a:r>
              <a:rPr lang="en-US" dirty="0" err="1"/>
              <a:t>targetedads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248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CCBB-A82D-4AB6-B4E0-861DE53C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DBAB77-2F06-AA27-9B38-ED6A9CE33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8937" y="2629694"/>
            <a:ext cx="63341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9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D8AF5-9E70-9ADC-7572-3D360126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51815D-1AD9-E0E8-FCB0-9BFE28622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0862" y="1910556"/>
            <a:ext cx="601027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8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28175-2E60-CEC5-9F6B-D014A28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7137ED-7073-11AA-8823-2181D71BF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38866"/>
            <a:ext cx="10872019" cy="561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7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5171-1654-46F9-72BA-3223E0EF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68DBD5-352D-6F34-4830-77EA12A16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394" y="1948656"/>
            <a:ext cx="9385043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49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B77B-3272-948F-42A2-454A3E83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 process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FDEDD7-DDBA-23E0-B9AF-B54D0D84A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25625"/>
            <a:ext cx="93381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5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4361-0F77-0F49-D03F-04DC6E24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D036C-7E71-2CB5-7B9E-87541B791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clusters</a:t>
            </a:r>
          </a:p>
          <a:p>
            <a:r>
              <a:rPr lang="en-US" dirty="0"/>
              <a:t>Centroids-Mean/avg Point</a:t>
            </a:r>
          </a:p>
          <a:p>
            <a:r>
              <a:rPr lang="en-US" dirty="0" err="1"/>
              <a:t>Mediods</a:t>
            </a:r>
            <a:r>
              <a:rPr lang="en-US" dirty="0"/>
              <a:t>-A </a:t>
            </a:r>
            <a:r>
              <a:rPr lang="en-US" b="1" dirty="0"/>
              <a:t>medoid</a:t>
            </a:r>
            <a:r>
              <a:rPr lang="en-US" dirty="0"/>
              <a:t> is the </a:t>
            </a:r>
            <a:r>
              <a:rPr lang="en-US" b="1" dirty="0"/>
              <a:t>most centrally located actual data point</a:t>
            </a:r>
            <a:r>
              <a:rPr lang="en-US" dirty="0"/>
              <a:t> in a cluster.</a:t>
            </a:r>
          </a:p>
          <a:p>
            <a:r>
              <a:rPr lang="en-US" dirty="0"/>
              <a:t>Points: (2,4), (4,6), (100,200)</a:t>
            </a:r>
          </a:p>
          <a:p>
            <a:r>
              <a:rPr lang="en-US" dirty="0"/>
              <a:t>Centroid → affected by (100,200) (shifts far) </a:t>
            </a:r>
          </a:p>
          <a:p>
            <a:r>
              <a:rPr lang="en-US" dirty="0"/>
              <a:t>Medoid → likely (4,6) (more stable)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13A61-0AEB-306C-798F-DF7C5FBE4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153" y="1991033"/>
            <a:ext cx="368356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29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1AAD-21E4-5287-0FE3-C958E53E7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87EA3-A1D8-8F86-FB0E-65E9EC352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2386" y="1825625"/>
            <a:ext cx="46472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58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648B-B6B8-B0C3-8CC6-FC57AC8D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Clustering-</a:t>
            </a:r>
            <a:r>
              <a:rPr lang="en-US" dirty="0" err="1"/>
              <a:t>Clusters,centroids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3C8A-EDFB-0311-9A14-422CBBCFA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9-clusters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F3356-9B60-B21E-441F-91F7E13C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2509837"/>
            <a:ext cx="7210425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07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DB51-77B9-886F-35D2-6325CE91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C5487-281C-54E4-65A1-9E4853C61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1" dirty="0"/>
              <a:t>1. Hard Clustering</a:t>
            </a:r>
          </a:p>
          <a:p>
            <a:pPr fontAlgn="base"/>
            <a:r>
              <a:rPr lang="en-US" dirty="0"/>
              <a:t>Hard clustering assigns each data point to exactly one cluster. A data point cannot belong to multiple clusters, making the grouping clear and easy to interpret.</a:t>
            </a:r>
          </a:p>
          <a:p>
            <a:pPr fontAlgn="base"/>
            <a:r>
              <a:rPr lang="en-US" dirty="0"/>
              <a:t>Each data point belongs to only one cluster</a:t>
            </a:r>
          </a:p>
          <a:p>
            <a:pPr fontAlgn="base"/>
            <a:r>
              <a:rPr lang="en-US" dirty="0"/>
              <a:t>No overlap between clusters</a:t>
            </a:r>
          </a:p>
          <a:p>
            <a:pPr fontAlgn="base"/>
            <a:r>
              <a:rPr lang="en-US" dirty="0"/>
              <a:t>Simple and easy to interpret</a:t>
            </a:r>
          </a:p>
          <a:p>
            <a:pPr fontAlgn="base"/>
            <a:r>
              <a:rPr lang="en-US" b="1" dirty="0"/>
              <a:t>Example</a:t>
            </a:r>
            <a:endParaRPr lang="en-US" dirty="0"/>
          </a:p>
          <a:p>
            <a:pPr fontAlgn="base"/>
            <a:r>
              <a:rPr lang="en-US" dirty="0"/>
              <a:t>If customers are divided into two clusters, each customer belongs completely to either Cluster 1 or Cluster 2. A customer cannot belong to both clusters at the same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0686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715E-9542-55E8-AB3E-14EC09E89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Soft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E38D-AC21-A537-0704-A46A51E51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Soft clustering allows a data point to belong to multiple clusters with different probabilities. Instead of assigning a strict cluster, it gives a degree of membership to each cluster.</a:t>
            </a:r>
          </a:p>
          <a:p>
            <a:pPr fontAlgn="base"/>
            <a:r>
              <a:rPr lang="en-US" b="1" dirty="0"/>
              <a:t>Example</a:t>
            </a:r>
            <a:endParaRPr lang="en-US" dirty="0"/>
          </a:p>
          <a:p>
            <a:pPr fontAlgn="base"/>
            <a:r>
              <a:rPr lang="en-US" dirty="0"/>
              <a:t>A data point may belong 70% to Cluster 1 and 30% to Cluster 2, indicating that it shares characteristics with both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822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CD2C-F94B-DBC6-E356-E711425E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and Soft 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FA664-A8F5-A14D-3001-6F67D3077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5345" y="1825625"/>
            <a:ext cx="77213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748F-C763-3A3A-6E43-DD89F0AA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abstraction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E6D61-6DE9-AC85-B94A-4001E590D2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879" y="1825625"/>
            <a:ext cx="83062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80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6D68-ED60-3C2A-60CE-3E5D219B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of patterns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23F02-8C91-95DA-6555-BD5641668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Clustering of patterns</a:t>
            </a:r>
            <a:r>
              <a:rPr lang="en-US" dirty="0"/>
              <a:t> means grouping </a:t>
            </a:r>
            <a:r>
              <a:rPr lang="en-US" b="1" dirty="0"/>
              <a:t>similar patterns (data points)</a:t>
            </a:r>
            <a:r>
              <a:rPr lang="en-US" dirty="0"/>
              <a:t> together so that:</a:t>
            </a:r>
          </a:p>
          <a:p>
            <a:r>
              <a:rPr lang="en-US" dirty="0"/>
              <a:t>Patterns in the </a:t>
            </a:r>
            <a:r>
              <a:rPr lang="en-US" b="1" dirty="0"/>
              <a:t>same cluster are similar</a:t>
            </a:r>
            <a:r>
              <a:rPr lang="en-US" dirty="0"/>
              <a:t> </a:t>
            </a:r>
          </a:p>
          <a:p>
            <a:r>
              <a:rPr lang="en-US" dirty="0"/>
              <a:t>Patterns in </a:t>
            </a:r>
            <a:r>
              <a:rPr lang="en-US" b="1" dirty="0"/>
              <a:t>different clusters are dissimilar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pattern</a:t>
            </a:r>
            <a:r>
              <a:rPr lang="en-US" dirty="0"/>
              <a:t> is a set of features describing an object.</a:t>
            </a:r>
          </a:p>
          <a:p>
            <a:r>
              <a:rPr lang="en-US" b="1" dirty="0"/>
              <a:t>  Automatically organizing patterns into groups based on similarity</a:t>
            </a:r>
            <a:endParaRPr lang="en-US" dirty="0"/>
          </a:p>
          <a:p>
            <a:r>
              <a:rPr lang="en-US" dirty="0"/>
              <a:t>No predefined labels are given.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42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D5E1-E9C0-CCBA-1A5F-2021ADEC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in Pattern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BE30-593A-8C06-7E16-97F6D8791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Feature Selection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Choose important attributes (e.g., height, weight) </a:t>
            </a:r>
          </a:p>
          <a:p>
            <a:r>
              <a:rPr lang="en-IN" b="1" dirty="0"/>
              <a:t>Similarity Measurement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 distance measures: </a:t>
            </a:r>
          </a:p>
          <a:p>
            <a:pPr lvl="2"/>
            <a:r>
              <a:rPr lang="en-IN" dirty="0"/>
              <a:t>Euclidean distance </a:t>
            </a:r>
          </a:p>
          <a:p>
            <a:pPr lvl="2"/>
            <a:r>
              <a:rPr lang="en-IN" dirty="0"/>
              <a:t>Manhattan distance </a:t>
            </a:r>
          </a:p>
          <a:p>
            <a:r>
              <a:rPr lang="en-IN" b="1" dirty="0"/>
              <a:t>Apply Clustering Algorithm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K-Means </a:t>
            </a:r>
          </a:p>
          <a:p>
            <a:pPr lvl="1"/>
            <a:r>
              <a:rPr lang="en-IN" dirty="0"/>
              <a:t>Hierarchical clustering </a:t>
            </a:r>
          </a:p>
          <a:p>
            <a:pPr lvl="1"/>
            <a:r>
              <a:rPr lang="en-IN" dirty="0"/>
              <a:t>DBSCAN </a:t>
            </a:r>
          </a:p>
          <a:p>
            <a:r>
              <a:rPr lang="en-IN" b="1" dirty="0"/>
              <a:t>Form Clusters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Group similar patterns together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963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EAE4-3025-F6F2-8A0E-5545744D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Pattern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ED9F5-338E-FDAA-1BAE-23A12F90E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Hard Clustering</a:t>
            </a:r>
          </a:p>
          <a:p>
            <a:r>
              <a:rPr lang="en-US" dirty="0"/>
              <a:t>Each pattern belongs to </a:t>
            </a:r>
            <a:r>
              <a:rPr lang="en-US" b="1" dirty="0"/>
              <a:t>only one cluster</a:t>
            </a:r>
            <a:r>
              <a:rPr lang="en-US" dirty="0"/>
              <a:t> </a:t>
            </a:r>
          </a:p>
          <a:p>
            <a:r>
              <a:rPr lang="en-US" dirty="0"/>
              <a:t>Example: K-Means </a:t>
            </a:r>
          </a:p>
          <a:p>
            <a:r>
              <a:rPr lang="en-US" b="1" dirty="0"/>
              <a:t>2. Soft Clustering</a:t>
            </a:r>
          </a:p>
          <a:p>
            <a:r>
              <a:rPr lang="en-US" dirty="0"/>
              <a:t>A pattern can belong to </a:t>
            </a:r>
            <a:r>
              <a:rPr lang="en-US" b="1" dirty="0"/>
              <a:t>multiple clusters with probability</a:t>
            </a:r>
            <a:r>
              <a:rPr lang="en-US" dirty="0"/>
              <a:t> </a:t>
            </a:r>
          </a:p>
          <a:p>
            <a:r>
              <a:rPr lang="en-US" dirty="0"/>
              <a:t>Example: Fuzzy C-Means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34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6C9E-F0C7-A4EE-D896-2279B171A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of Patterns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EBE847-A653-6D95-612D-D28802942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736" y="1327355"/>
            <a:ext cx="7270954" cy="45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61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97E2D-8AFC-8915-0DC7-68725D44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Squared </a:t>
            </a:r>
            <a:r>
              <a:rPr lang="en-US" dirty="0" err="1"/>
              <a:t>Euclidiean</a:t>
            </a:r>
            <a:r>
              <a:rPr lang="en-US" dirty="0"/>
              <a:t> Distance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A73113-16C2-3DE9-C121-FA724E28C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9137" y="2094271"/>
            <a:ext cx="4113418" cy="167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58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A88B-9D4D-5451-D005-BA052913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3B273D-9E0A-AB48-4835-FBE45DEA8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3387" y="2182761"/>
            <a:ext cx="5239826" cy="1976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F0BB5C-DB60-AD70-6F07-93CD7478E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787" y="4159045"/>
            <a:ext cx="8146026" cy="216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20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31776-00B1-8533-C7C1-0AC1FE1C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11 instances and Two features F1 F2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9611E62-6953-B169-6A9E-4CF75BF26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510" y="1253613"/>
            <a:ext cx="8067368" cy="523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57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D4DA-F2B4-4318-D933-2449A3AE7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B3C803-40E9-DCD2-EF4A-6DAB62993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54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29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1889-C3F3-98DB-C6FE-39703828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Clusters-Centroids and </a:t>
            </a:r>
            <a:r>
              <a:rPr lang="en-US" dirty="0" err="1"/>
              <a:t>Meloids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96AC0-4B54-97BA-4F52-E9CC2A995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18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E2F3-82FA-7E57-80DA-834F9361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Algorithms-Hard/Soft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81A54A-508F-7990-630B-00CA341DB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724" y="1917290"/>
            <a:ext cx="6975986" cy="36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33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8A81-4B95-0062-E5DE-47125A86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algorithms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5504B6-1AB9-DF30-BDDE-4F8A072BC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961" y="1445343"/>
            <a:ext cx="7123471" cy="476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951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605E-A660-D327-0996-3262B2FE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Divisive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46A9-17FC-EBBD-9FBE-BE8A4D867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Divisive Clustering is a type of hierarchical clustering that follows a top-down approach. It starts by placing all data points into one large cluster and then recursively splits that cluster into smaller ones based on differences or distances between the points. </a:t>
            </a:r>
          </a:p>
          <a:p>
            <a:endParaRPr lang="en-US" dirty="0"/>
          </a:p>
          <a:p>
            <a:r>
              <a:rPr lang="en-US" dirty="0"/>
              <a:t>This process continues until each cluster contains only similar data points or meets a stopping condition. It is the opposite of agglomerative clustering, which builds clusters from the bottom up. It is </a:t>
            </a:r>
            <a:r>
              <a:rPr lang="en-US" dirty="0" err="1"/>
              <a:t>is</a:t>
            </a:r>
            <a:r>
              <a:rPr lang="en-US" dirty="0"/>
              <a:t> useful when we want to break down a broad category into smaller, meaningful groups.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219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B592-9548-EFF4-CC89-35278C33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Workflow of Divisive Clustering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11B3E-F260-22AF-720F-79991C213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b="1" dirty="0"/>
              <a:t>Start with all data points</a:t>
            </a:r>
            <a:r>
              <a:rPr lang="en-US" dirty="0"/>
              <a:t>: Begin with one big group ABCDEFGH.</a:t>
            </a:r>
          </a:p>
          <a:p>
            <a:pPr fontAlgn="base"/>
            <a:r>
              <a:rPr lang="en-US" b="1" dirty="0"/>
              <a:t>First split</a:t>
            </a:r>
            <a:r>
              <a:rPr lang="en-US" dirty="0"/>
              <a:t>: Divide it into two groups ABC and DEFGH.</a:t>
            </a:r>
          </a:p>
          <a:p>
            <a:pPr fontAlgn="base"/>
            <a:r>
              <a:rPr lang="en-US" b="1" dirty="0"/>
              <a:t>Split again</a:t>
            </a:r>
            <a:r>
              <a:rPr lang="en-US" dirty="0"/>
              <a:t>: The group ABC is divided into A and BC while the group DEFGH is split into DEFG and H.</a:t>
            </a:r>
          </a:p>
          <a:p>
            <a:pPr fontAlgn="base"/>
            <a:r>
              <a:rPr lang="en-US" b="1" dirty="0"/>
              <a:t>Keep dividing: </a:t>
            </a:r>
            <a:r>
              <a:rPr lang="en-US" dirty="0"/>
              <a:t>We continue dividing these new groups. BC is split into B and C, DEFG is divided into DE and so on. At this stage most of the data points are now in their individual groups.</a:t>
            </a:r>
          </a:p>
          <a:p>
            <a:pPr fontAlgn="base"/>
            <a:r>
              <a:rPr lang="en-US" b="1" dirty="0"/>
              <a:t>Finish</a:t>
            </a:r>
            <a:r>
              <a:rPr lang="en-US" dirty="0"/>
              <a:t>: Stop when all points are separated.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722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4EA4-2260-F9A4-297B-DF0E872D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Divisive 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47DA41-B28B-8CB8-DC87-4F8F86944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1471" y="2220118"/>
            <a:ext cx="7064477" cy="409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51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D0D0-85AD-E93B-939E-4A76D062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950F0B-86B7-C5CE-6471-BE827448F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13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3F47-4D4D-05F7-7A3C-38455F72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693E80-B98E-9094-5AC3-F20B45774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0903" y="1858297"/>
            <a:ext cx="4877722" cy="418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68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E479E-D041-D17B-134D-C7A968B6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33043F-A77F-50D9-F730-4112478EF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290" y="2720181"/>
            <a:ext cx="6288497" cy="359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11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3B66-891B-AE5F-A32A-EBB77E1D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226D8-8F68-1502-7E55-342D50386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41" y="1825625"/>
            <a:ext cx="96295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43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D9B02-998A-BB90-A0CF-3CEFACCA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Agglomerative Clustering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22518-2621-D852-52D0-ACFDB25CA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To group similar data points into clusters based on their proximity, Agglomerative Clustering is used which is a type of hierarchical clustering. It follows a bottom-up approach, where each data point starts as its own cluster and gradually merges with others based on similarity.</a:t>
            </a:r>
          </a:p>
          <a:p>
            <a:pPr fontAlgn="base"/>
            <a:r>
              <a:rPr lang="en-US" dirty="0"/>
              <a:t>The merging continues until all points form a single cluster or a set number of clusters remain.</a:t>
            </a:r>
          </a:p>
          <a:p>
            <a:pPr fontAlgn="base"/>
            <a:r>
              <a:rPr lang="en-US" dirty="0"/>
              <a:t>It uses distance metrics like Euclidean or Manhattan distance to measure similarity.</a:t>
            </a:r>
          </a:p>
          <a:p>
            <a:pPr fontAlgn="base"/>
            <a:r>
              <a:rPr lang="en-US" dirty="0"/>
              <a:t>The process is often visualized using a dendrogram, which shows the hierarchy of cluster formation.</a:t>
            </a:r>
          </a:p>
          <a:p>
            <a:pPr fontAlgn="base"/>
            <a:r>
              <a:rPr lang="en-US" dirty="0"/>
              <a:t>Common linkage methods include single, complete, average and ward linkage.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6575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A760-ED70-3079-7552-155EFBE5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7C997-FDD1-525B-2BC7-C88084DE7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260CD-B543-63A5-D6D4-89C7D0B7A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7" y="2301056"/>
            <a:ext cx="67151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21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31FF-7910-B345-CAAF-7A2556ED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B7313-3804-76FD-854B-946F40BB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1. Start with all points separate:</a:t>
            </a:r>
            <a:endParaRPr lang="en-US" dirty="0"/>
          </a:p>
          <a:p>
            <a:pPr fontAlgn="base"/>
            <a:r>
              <a:rPr lang="en-US" dirty="0"/>
              <a:t>Treat each data point as its own cluster like A, B, C, ...</a:t>
            </a:r>
          </a:p>
          <a:p>
            <a:pPr fontAlgn="base"/>
            <a:r>
              <a:rPr lang="en-US" dirty="0"/>
              <a:t>Initially, you have n clusters for n data points.</a:t>
            </a:r>
          </a:p>
          <a:p>
            <a:pPr fontAlgn="base"/>
            <a:r>
              <a:rPr lang="en-US" b="1" dirty="0"/>
              <a:t>2. Compute pairwise distances:</a:t>
            </a:r>
            <a:endParaRPr lang="en-US" dirty="0"/>
          </a:p>
          <a:p>
            <a:pPr fontAlgn="base"/>
            <a:r>
              <a:rPr lang="en-US" dirty="0"/>
              <a:t>Calculate the distance between every pair of clusters.</a:t>
            </a:r>
          </a:p>
          <a:p>
            <a:pPr fontAlgn="base"/>
            <a:r>
              <a:rPr lang="en-US" dirty="0"/>
              <a:t>Common choices include Euclidean, Manhattan or Cosine distance.</a:t>
            </a:r>
          </a:p>
          <a:p>
            <a:pPr fontAlgn="base"/>
            <a:r>
              <a:rPr lang="en-US" dirty="0"/>
              <a:t>Store these values in a distance matrix.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1579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749F8-7BBD-35CF-A38D-33ACD6AF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36131-E77A-4758-A818-FCE74C070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/>
            <a:r>
              <a:rPr lang="en-US" b="1" dirty="0"/>
              <a:t>3. Merge the nearest clusters:</a:t>
            </a:r>
            <a:endParaRPr lang="en-US" dirty="0"/>
          </a:p>
          <a:p>
            <a:pPr fontAlgn="base"/>
            <a:r>
              <a:rPr lang="en-US" dirty="0"/>
              <a:t>Identify the two clusters that are closest based on the chosen linkage method such as single, complete, average or Ward linkage.</a:t>
            </a:r>
          </a:p>
          <a:p>
            <a:pPr fontAlgn="base"/>
            <a:r>
              <a:rPr lang="en-US" dirty="0"/>
              <a:t>Combine them into a single new cluster.</a:t>
            </a:r>
          </a:p>
          <a:p>
            <a:pPr fontAlgn="base"/>
            <a:r>
              <a:rPr lang="en-US" b="1" dirty="0"/>
              <a:t>4. Update distances:</a:t>
            </a:r>
            <a:endParaRPr lang="en-US" dirty="0"/>
          </a:p>
          <a:p>
            <a:pPr fontAlgn="base"/>
            <a:r>
              <a:rPr lang="en-US" dirty="0"/>
              <a:t>Recalculate the distances between the newly formed cluster and all remaining clusters.</a:t>
            </a:r>
          </a:p>
          <a:p>
            <a:pPr fontAlgn="base"/>
            <a:r>
              <a:rPr lang="en-US" dirty="0"/>
              <a:t>Use the same linkage rule to ensure consistency.</a:t>
            </a:r>
          </a:p>
          <a:p>
            <a:pPr fontAlgn="base"/>
            <a:r>
              <a:rPr lang="en-US" b="1" dirty="0"/>
              <a:t>5. Repeat the process:</a:t>
            </a:r>
            <a:endParaRPr lang="en-US" dirty="0"/>
          </a:p>
          <a:p>
            <a:pPr fontAlgn="base"/>
            <a:r>
              <a:rPr lang="en-US" dirty="0"/>
              <a:t>Continue merging clusters and updating distances iteratively.</a:t>
            </a:r>
          </a:p>
          <a:p>
            <a:pPr fontAlgn="base"/>
            <a:r>
              <a:rPr lang="en-US" dirty="0"/>
              <a:t>Stop when you reach a predefined number of clusters (k) or a distance threshold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53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918</Words>
  <Application>Microsoft Office PowerPoint</Application>
  <PresentationFormat>Widescreen</PresentationFormat>
  <Paragraphs>103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Clustering</vt:lpstr>
      <vt:lpstr>Learnings </vt:lpstr>
      <vt:lpstr>Clustering:</vt:lpstr>
      <vt:lpstr>PowerPoint Presentation</vt:lpstr>
      <vt:lpstr>PowerPoint Presentation</vt:lpstr>
      <vt:lpstr>Clustering </vt:lpstr>
      <vt:lpstr>PowerPoint Presentation</vt:lpstr>
      <vt:lpstr>Clustering process </vt:lpstr>
      <vt:lpstr>Clustering</vt:lpstr>
      <vt:lpstr>Clustering</vt:lpstr>
      <vt:lpstr>Clustering-Clusters,centroids</vt:lpstr>
      <vt:lpstr>Types of Clustering</vt:lpstr>
      <vt:lpstr>2. Soft Clustering </vt:lpstr>
      <vt:lpstr>Hard and Soft Clustering</vt:lpstr>
      <vt:lpstr>Data abstraction</vt:lpstr>
      <vt:lpstr>Clustering of patterns</vt:lpstr>
      <vt:lpstr>Steps in Pattern Clustering </vt:lpstr>
      <vt:lpstr>Types of Pattern Clustering </vt:lpstr>
      <vt:lpstr>Clustering of Patterns</vt:lpstr>
      <vt:lpstr>Squared Euclidiean Distance </vt:lpstr>
      <vt:lpstr>PowerPoint Presentation</vt:lpstr>
      <vt:lpstr>Data set 11 instances and Two features F1 F2</vt:lpstr>
      <vt:lpstr>PowerPoint Presentation</vt:lpstr>
      <vt:lpstr>Three Clusters-Centroids and Meloids</vt:lpstr>
      <vt:lpstr>Clustering Algorithms-Hard/Soft</vt:lpstr>
      <vt:lpstr>Clustering algorithms </vt:lpstr>
      <vt:lpstr>Divisive Clustering </vt:lpstr>
      <vt:lpstr>Workflow of Divisive Clustering </vt:lpstr>
      <vt:lpstr>Divisive Clustering</vt:lpstr>
      <vt:lpstr>PowerPoint Presentation</vt:lpstr>
      <vt:lpstr>PowerPoint Presentation</vt:lpstr>
      <vt:lpstr>PowerPoint Presentation</vt:lpstr>
      <vt:lpstr>PowerPoint Presentation</vt:lpstr>
      <vt:lpstr>Agglomerative Clustering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2026-04-02T04:41:05Z</dcterms:created>
  <dcterms:modified xsi:type="dcterms:W3CDTF">2026-09-28T04:12:14Z</dcterms:modified>
</cp:coreProperties>
</file>