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6" r:id="rId2"/>
    <p:sldId id="318" r:id="rId3"/>
    <p:sldId id="257" r:id="rId4"/>
    <p:sldId id="258" r:id="rId5"/>
    <p:sldId id="259" r:id="rId6"/>
    <p:sldId id="260" r:id="rId7"/>
    <p:sldId id="329"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96" r:id="rId34"/>
    <p:sldId id="297" r:id="rId35"/>
    <p:sldId id="298" r:id="rId36"/>
    <p:sldId id="288" r:id="rId37"/>
    <p:sldId id="300" r:id="rId38"/>
    <p:sldId id="289" r:id="rId39"/>
    <p:sldId id="299" r:id="rId40"/>
    <p:sldId id="290" r:id="rId41"/>
    <p:sldId id="308" r:id="rId42"/>
    <p:sldId id="291" r:id="rId43"/>
    <p:sldId id="292" r:id="rId44"/>
    <p:sldId id="293" r:id="rId45"/>
    <p:sldId id="294" r:id="rId46"/>
    <p:sldId id="295" r:id="rId47"/>
    <p:sldId id="301" r:id="rId48"/>
    <p:sldId id="302" r:id="rId49"/>
    <p:sldId id="303" r:id="rId50"/>
    <p:sldId id="304" r:id="rId51"/>
    <p:sldId id="305" r:id="rId52"/>
    <p:sldId id="306" r:id="rId53"/>
    <p:sldId id="307" r:id="rId54"/>
    <p:sldId id="309" r:id="rId55"/>
    <p:sldId id="310" r:id="rId56"/>
    <p:sldId id="311" r:id="rId57"/>
    <p:sldId id="312" r:id="rId58"/>
    <p:sldId id="313" r:id="rId59"/>
    <p:sldId id="314" r:id="rId60"/>
    <p:sldId id="315" r:id="rId61"/>
    <p:sldId id="316" r:id="rId62"/>
    <p:sldId id="317"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83DE5A-2B1B-4FBF-955D-E66B7DBD6151}" type="datetimeFigureOut">
              <a:rPr lang="en-IN" smtClean="0"/>
              <a:t>04-07-2026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66219D-8AAA-46A8-A8DA-AD7B00974EC6}" type="slidenum">
              <a:rPr lang="en-IN" smtClean="0"/>
              <a:t>‹#›</a:t>
            </a:fld>
            <a:endParaRPr lang="en-IN"/>
          </a:p>
        </p:txBody>
      </p:sp>
    </p:spTree>
    <p:extLst>
      <p:ext uri="{BB962C8B-B14F-4D97-AF65-F5344CB8AC3E}">
        <p14:creationId xmlns:p14="http://schemas.microsoft.com/office/powerpoint/2010/main" val="3874859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C66219D-8AAA-46A8-A8DA-AD7B00974EC6}" type="slidenum">
              <a:rPr lang="en-IN" smtClean="0"/>
              <a:t>1</a:t>
            </a:fld>
            <a:endParaRPr lang="en-IN"/>
          </a:p>
        </p:txBody>
      </p:sp>
    </p:spTree>
    <p:extLst>
      <p:ext uri="{BB962C8B-B14F-4D97-AF65-F5344CB8AC3E}">
        <p14:creationId xmlns:p14="http://schemas.microsoft.com/office/powerpoint/2010/main" val="2598715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C66219D-8AAA-46A8-A8DA-AD7B00974EC6}" type="slidenum">
              <a:rPr lang="en-IN" smtClean="0"/>
              <a:t>14</a:t>
            </a:fld>
            <a:endParaRPr lang="en-IN"/>
          </a:p>
        </p:txBody>
      </p:sp>
    </p:spTree>
    <p:extLst>
      <p:ext uri="{BB962C8B-B14F-4D97-AF65-F5344CB8AC3E}">
        <p14:creationId xmlns:p14="http://schemas.microsoft.com/office/powerpoint/2010/main" val="1987719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36C651-2613-4978-9E3E-1717A5ABC48B}"/>
              </a:ext>
            </a:extLst>
          </p:cNvPr>
          <p:cNvSpPr/>
          <p:nvPr/>
        </p:nvSpPr>
        <p:spPr>
          <a:xfrm>
            <a:off x="723900" y="1752600"/>
            <a:ext cx="7886700" cy="2123658"/>
          </a:xfrm>
          <a:prstGeom prst="rect">
            <a:avLst/>
          </a:prstGeom>
        </p:spPr>
        <p:txBody>
          <a:bodyPr wrap="square">
            <a:spAutoFit/>
          </a:bodyPr>
          <a:lstStyle/>
          <a:p>
            <a:pPr algn="ctr"/>
            <a:r>
              <a:rPr lang="en-IN" sz="4400" b="1" dirty="0">
                <a:solidFill>
                  <a:srgbClr val="FF0000"/>
                </a:solidFill>
                <a:latin typeface="Times New Roman" panose="02020603050405020304" pitchFamily="18" charset="0"/>
                <a:cs typeface="Times New Roman" panose="02020603050405020304" pitchFamily="18" charset="0"/>
              </a:rPr>
              <a:t>DATA WAREHOUSING </a:t>
            </a:r>
          </a:p>
          <a:p>
            <a:pPr algn="ctr"/>
            <a:r>
              <a:rPr lang="en-IN" sz="4400" b="1" dirty="0">
                <a:solidFill>
                  <a:srgbClr val="FF0000"/>
                </a:solidFill>
                <a:latin typeface="Times New Roman" panose="02020603050405020304" pitchFamily="18" charset="0"/>
                <a:cs typeface="Times New Roman" panose="02020603050405020304" pitchFamily="18" charset="0"/>
              </a:rPr>
              <a:t>&amp; </a:t>
            </a:r>
          </a:p>
          <a:p>
            <a:pPr algn="ctr"/>
            <a:r>
              <a:rPr lang="en-IN" sz="4400" b="1" dirty="0">
                <a:solidFill>
                  <a:srgbClr val="FF0000"/>
                </a:solidFill>
                <a:latin typeface="Times New Roman" panose="02020603050405020304" pitchFamily="18" charset="0"/>
                <a:cs typeface="Times New Roman" panose="02020603050405020304" pitchFamily="18" charset="0"/>
              </a:rPr>
              <a:t>DATA MINING </a:t>
            </a:r>
          </a:p>
        </p:txBody>
      </p:sp>
    </p:spTree>
    <p:extLst>
      <p:ext uri="{BB962C8B-B14F-4D97-AF65-F5344CB8AC3E}">
        <p14:creationId xmlns:p14="http://schemas.microsoft.com/office/powerpoint/2010/main" val="244371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FE4BAB-8A47-4768-953E-0FFAEE292D18}"/>
              </a:ext>
            </a:extLst>
          </p:cNvPr>
          <p:cNvSpPr/>
          <p:nvPr/>
        </p:nvSpPr>
        <p:spPr>
          <a:xfrm>
            <a:off x="914400" y="1120676"/>
            <a:ext cx="7772400" cy="4801314"/>
          </a:xfrm>
          <a:prstGeom prst="rect">
            <a:avLst/>
          </a:prstGeom>
        </p:spPr>
        <p:txBody>
          <a:bodyPr wrap="square">
            <a:spAutoFit/>
          </a:bodyPr>
          <a:lstStyle/>
          <a:p>
            <a:pPr algn="ctr"/>
            <a:r>
              <a:rPr lang="en-IN" sz="2400" b="1" u="sng" dirty="0">
                <a:latin typeface="Times New Roman" pitchFamily="18" charset="0"/>
                <a:cs typeface="Times New Roman" pitchFamily="18" charset="0"/>
              </a:rPr>
              <a:t>UNIT–I</a:t>
            </a:r>
          </a:p>
          <a:p>
            <a:pPr algn="just"/>
            <a:endParaRPr lang="en-IN"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	</a:t>
            </a:r>
            <a:r>
              <a:rPr lang="en-IN" sz="2400" dirty="0">
                <a:latin typeface="Times New Roman" pitchFamily="18" charset="0"/>
                <a:cs typeface="Times New Roman" pitchFamily="18" charset="0"/>
              </a:rPr>
              <a:t>Data Warehousing and Online Analytical Processing: Basic concepts, Data Warehouse Modelling: Data Cube and OLAP, Data Warehouse Design and Usage, Data Warehouse Implementation, Cloud Data Warehouse.</a:t>
            </a:r>
          </a:p>
          <a:p>
            <a:pPr algn="just"/>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	Data Mining and Patten Mining, Technologies, Applications, Major issues.</a:t>
            </a:r>
          </a:p>
          <a:p>
            <a:pPr algn="just"/>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	Data Objects &amp;Attribute Types, Basic Statistical Descriptions of Data, Data Visualization, Measuring Data Similarity and Dissimilarity</a:t>
            </a:r>
            <a:r>
              <a:rPr lang="en-IN" dirty="0">
                <a:latin typeface="Times New Roman" pitchFamily="18" charset="0"/>
                <a:cs typeface="Times New Roman" pitchFamily="18" charset="0"/>
              </a:rPr>
              <a:t>.</a:t>
            </a:r>
          </a:p>
        </p:txBody>
      </p:sp>
    </p:spTree>
    <p:extLst>
      <p:ext uri="{BB962C8B-B14F-4D97-AF65-F5344CB8AC3E}">
        <p14:creationId xmlns:p14="http://schemas.microsoft.com/office/powerpoint/2010/main" val="557008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295400"/>
            <a:ext cx="8763000" cy="4678204"/>
          </a:xfrm>
          <a:prstGeom prst="rect">
            <a:avLst/>
          </a:prstGeom>
        </p:spPr>
        <p:txBody>
          <a:bodyPr wrap="square">
            <a:spAutoFit/>
          </a:bodyPr>
          <a:lstStyle/>
          <a:p>
            <a:pPr algn="just"/>
            <a:r>
              <a:rPr lang="en-US" sz="2800" dirty="0">
                <a:latin typeface="Times New Roman" pitchFamily="18" charset="0"/>
                <a:cs typeface="Times New Roman" pitchFamily="18" charset="0"/>
              </a:rPr>
              <a:t>Data Warehousing and Online Analytical Processing(OLAP):</a:t>
            </a:r>
          </a:p>
          <a:p>
            <a:pPr algn="just"/>
            <a:endParaRPr lang="en-US" sz="2200" dirty="0">
              <a:latin typeface="Times New Roman" pitchFamily="18" charset="0"/>
              <a:cs typeface="Times New Roman" pitchFamily="18" charset="0"/>
            </a:endParaRPr>
          </a:p>
          <a:p>
            <a:pPr marL="342900" indent="-342900" algn="just">
              <a:buFont typeface="Arial" panose="020B0604020202020204" pitchFamily="34" charset="0"/>
              <a:buChar char="•"/>
            </a:pPr>
            <a:r>
              <a:rPr lang="en-US" sz="2200" dirty="0">
                <a:latin typeface="Times New Roman" pitchFamily="18" charset="0"/>
                <a:cs typeface="Times New Roman" pitchFamily="18" charset="0"/>
              </a:rPr>
              <a:t>	Data warehouses generalize and consolidate data in </a:t>
            </a:r>
            <a:r>
              <a:rPr lang="en-US" sz="2200" dirty="0">
                <a:solidFill>
                  <a:srgbClr val="FF0000"/>
                </a:solidFill>
                <a:latin typeface="Times New Roman" pitchFamily="18" charset="0"/>
                <a:cs typeface="Times New Roman" pitchFamily="18" charset="0"/>
              </a:rPr>
              <a:t>multidimensional space</a:t>
            </a:r>
            <a:r>
              <a:rPr lang="en-US" sz="2200" dirty="0">
                <a:latin typeface="Times New Roman" pitchFamily="18" charset="0"/>
                <a:cs typeface="Times New Roman" pitchFamily="18" charset="0"/>
              </a:rPr>
              <a:t>. The construction of data warehouses involves </a:t>
            </a:r>
            <a:r>
              <a:rPr lang="en-US" sz="2200" dirty="0">
                <a:solidFill>
                  <a:srgbClr val="FF0000"/>
                </a:solidFill>
                <a:latin typeface="Times New Roman" pitchFamily="18" charset="0"/>
                <a:cs typeface="Times New Roman" pitchFamily="18" charset="0"/>
              </a:rPr>
              <a:t>data cleaning, data integration, and data transformation, </a:t>
            </a:r>
            <a:r>
              <a:rPr lang="en-US" sz="2200" dirty="0">
                <a:latin typeface="Times New Roman" pitchFamily="18" charset="0"/>
                <a:cs typeface="Times New Roman" pitchFamily="18" charset="0"/>
              </a:rPr>
              <a:t>and can be viewed as an important preprocessing step for data mining. </a:t>
            </a:r>
          </a:p>
          <a:p>
            <a:pPr marL="342900" indent="-342900" algn="just">
              <a:buFont typeface="Arial" panose="020B0604020202020204" pitchFamily="34" charset="0"/>
              <a:buChar char="•"/>
            </a:pPr>
            <a:endParaRPr lang="en-US" sz="2200" dirty="0">
              <a:latin typeface="Times New Roman" pitchFamily="18" charset="0"/>
              <a:cs typeface="Times New Roman" pitchFamily="18" charset="0"/>
            </a:endParaRPr>
          </a:p>
          <a:p>
            <a:pPr marL="342900" indent="-342900" algn="just">
              <a:buFont typeface="Arial" panose="020B0604020202020204" pitchFamily="34" charset="0"/>
              <a:buChar char="•"/>
            </a:pPr>
            <a:r>
              <a:rPr lang="en-US" sz="2200" dirty="0">
                <a:latin typeface="Times New Roman" pitchFamily="18" charset="0"/>
                <a:cs typeface="Times New Roman" pitchFamily="18" charset="0"/>
              </a:rPr>
              <a:t>	Moreover, data warehouses provide </a:t>
            </a:r>
            <a:r>
              <a:rPr lang="en-US" sz="2200" dirty="0">
                <a:solidFill>
                  <a:srgbClr val="FF0000"/>
                </a:solidFill>
                <a:latin typeface="Times New Roman" pitchFamily="18" charset="0"/>
                <a:cs typeface="Times New Roman" pitchFamily="18" charset="0"/>
              </a:rPr>
              <a:t>online analytical processing </a:t>
            </a:r>
            <a:r>
              <a:rPr lang="en-US" sz="2200" dirty="0">
                <a:latin typeface="Times New Roman" pitchFamily="18" charset="0"/>
                <a:cs typeface="Times New Roman" pitchFamily="18" charset="0"/>
              </a:rPr>
              <a:t>(OLAP) tools for the interactive analysis of multidimensional data of varied granularities, which facilitates effective data generalization and data mining.</a:t>
            </a:r>
          </a:p>
          <a:p>
            <a:pPr algn="just"/>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4253536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228600" y="228600"/>
            <a:ext cx="8686800" cy="6477000"/>
          </a:xfrm>
          <a:prstGeom prst="rect">
            <a:avLst/>
          </a:prstGeom>
        </p:spPr>
        <p:txBody>
          <a:bodyPr lIns="92075" tIns="46038" rIns="92075" bIns="46038"/>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40000"/>
              </a:lnSpc>
              <a:buNone/>
            </a:pPr>
            <a:r>
              <a:rPr lang="en-IN" sz="2400" b="1" dirty="0">
                <a:latin typeface="Times New Roman" pitchFamily="18" charset="0"/>
                <a:cs typeface="Times New Roman" pitchFamily="18" charset="0"/>
              </a:rPr>
              <a:t>Data Warehouse: Basic Concepts</a:t>
            </a:r>
          </a:p>
          <a:p>
            <a:pPr marL="0" indent="0" algn="just">
              <a:lnSpc>
                <a:spcPct val="140000"/>
              </a:lnSpc>
              <a:buNone/>
            </a:pPr>
            <a:r>
              <a:rPr lang="en-US" dirty="0">
                <a:solidFill>
                  <a:srgbClr val="FF0000"/>
                </a:solidFill>
                <a:latin typeface="Times New Roman" pitchFamily="18" charset="0"/>
                <a:cs typeface="Times New Roman" pitchFamily="18" charset="0"/>
              </a:rPr>
              <a:t>What is data warehouse?</a:t>
            </a:r>
            <a:endParaRPr lang="en-US" sz="3600" dirty="0">
              <a:latin typeface="Times New Roman" pitchFamily="18" charset="0"/>
              <a:cs typeface="Times New Roman" pitchFamily="18" charset="0"/>
            </a:endParaRPr>
          </a:p>
          <a:p>
            <a:pPr algn="just">
              <a:lnSpc>
                <a:spcPct val="140000"/>
              </a:lnSpc>
            </a:pPr>
            <a:r>
              <a:rPr lang="en-US" sz="2200" dirty="0">
                <a:latin typeface="Times New Roman" pitchFamily="18" charset="0"/>
                <a:cs typeface="Times New Roman" pitchFamily="18" charset="0"/>
              </a:rPr>
              <a:t>Defined in many different ways, but not rigorously.</a:t>
            </a:r>
          </a:p>
          <a:p>
            <a:pPr lvl="1" algn="just">
              <a:lnSpc>
                <a:spcPct val="140000"/>
              </a:lnSpc>
            </a:pPr>
            <a:r>
              <a:rPr lang="en-US" sz="2200" dirty="0">
                <a:latin typeface="Times New Roman" pitchFamily="18" charset="0"/>
                <a:cs typeface="Times New Roman" pitchFamily="18" charset="0"/>
              </a:rPr>
              <a:t>A decision support database that is maintained </a:t>
            </a:r>
            <a:r>
              <a:rPr lang="en-US" sz="2200" dirty="0">
                <a:solidFill>
                  <a:schemeClr val="hlink"/>
                </a:solidFill>
                <a:latin typeface="Times New Roman" pitchFamily="18" charset="0"/>
                <a:cs typeface="Times New Roman" pitchFamily="18" charset="0"/>
              </a:rPr>
              <a:t>separately </a:t>
            </a:r>
            <a:r>
              <a:rPr lang="en-US" sz="2200" dirty="0">
                <a:latin typeface="Times New Roman" pitchFamily="18" charset="0"/>
                <a:cs typeface="Times New Roman" pitchFamily="18" charset="0"/>
              </a:rPr>
              <a:t>from the organization’s operational database</a:t>
            </a:r>
          </a:p>
          <a:p>
            <a:pPr lvl="1" algn="just">
              <a:lnSpc>
                <a:spcPct val="140000"/>
              </a:lnSpc>
            </a:pPr>
            <a:r>
              <a:rPr lang="en-US" sz="2200" dirty="0">
                <a:latin typeface="Times New Roman" pitchFamily="18" charset="0"/>
                <a:cs typeface="Times New Roman" pitchFamily="18" charset="0"/>
              </a:rPr>
              <a:t>Support </a:t>
            </a:r>
            <a:r>
              <a:rPr lang="en-US" sz="2200" dirty="0">
                <a:solidFill>
                  <a:schemeClr val="hlink"/>
                </a:solidFill>
                <a:latin typeface="Times New Roman" pitchFamily="18" charset="0"/>
                <a:cs typeface="Times New Roman" pitchFamily="18" charset="0"/>
              </a:rPr>
              <a:t>information processing</a:t>
            </a:r>
            <a:r>
              <a:rPr lang="en-US" sz="2200" dirty="0">
                <a:latin typeface="Times New Roman" pitchFamily="18" charset="0"/>
                <a:cs typeface="Times New Roman" pitchFamily="18" charset="0"/>
              </a:rPr>
              <a:t> by providing a solid platform of consolidated, historical data for analysis.</a:t>
            </a:r>
            <a:endParaRPr lang="en-US" sz="2200" dirty="0">
              <a:solidFill>
                <a:srgbClr val="7030A0"/>
              </a:solidFill>
              <a:latin typeface="Times New Roman" pitchFamily="18" charset="0"/>
              <a:cs typeface="Times New Roman" pitchFamily="18" charset="0"/>
            </a:endParaRPr>
          </a:p>
          <a:p>
            <a:pPr algn="just">
              <a:lnSpc>
                <a:spcPct val="140000"/>
              </a:lnSpc>
            </a:pPr>
            <a:r>
              <a:rPr lang="en-US" sz="2200" dirty="0">
                <a:solidFill>
                  <a:srgbClr val="7030A0"/>
                </a:solidFill>
                <a:latin typeface="Times New Roman" pitchFamily="18" charset="0"/>
                <a:cs typeface="Times New Roman" pitchFamily="18" charset="0"/>
              </a:rPr>
              <a:t>“A data warehouse is a </a:t>
            </a:r>
            <a:r>
              <a:rPr lang="en-US" sz="2200" u="sng" dirty="0">
                <a:solidFill>
                  <a:srgbClr val="FF0000"/>
                </a:solidFill>
                <a:latin typeface="Times New Roman" pitchFamily="18" charset="0"/>
                <a:cs typeface="Times New Roman" pitchFamily="18" charset="0"/>
              </a:rPr>
              <a:t>subject-oriented</a:t>
            </a:r>
            <a:r>
              <a:rPr lang="en-US" sz="2200" dirty="0">
                <a:solidFill>
                  <a:srgbClr val="FF0000"/>
                </a:solidFill>
                <a:latin typeface="Times New Roman" pitchFamily="18" charset="0"/>
                <a:cs typeface="Times New Roman" pitchFamily="18" charset="0"/>
              </a:rPr>
              <a:t>,</a:t>
            </a:r>
            <a:r>
              <a:rPr lang="en-US" sz="2200" u="sng" dirty="0">
                <a:solidFill>
                  <a:srgbClr val="FF0000"/>
                </a:solidFill>
                <a:latin typeface="Times New Roman" pitchFamily="18" charset="0"/>
                <a:cs typeface="Times New Roman" pitchFamily="18" charset="0"/>
              </a:rPr>
              <a:t> </a:t>
            </a:r>
            <a:r>
              <a:rPr lang="en-US" sz="2200" u="sng" dirty="0">
                <a:solidFill>
                  <a:srgbClr val="00B0F0"/>
                </a:solidFill>
                <a:latin typeface="Times New Roman" pitchFamily="18" charset="0"/>
                <a:cs typeface="Times New Roman" pitchFamily="18" charset="0"/>
              </a:rPr>
              <a:t>integrated</a:t>
            </a:r>
            <a:r>
              <a:rPr lang="en-US" sz="2200" dirty="0">
                <a:solidFill>
                  <a:srgbClr val="FF0000"/>
                </a:solidFill>
                <a:latin typeface="Times New Roman" pitchFamily="18" charset="0"/>
                <a:cs typeface="Times New Roman" pitchFamily="18" charset="0"/>
              </a:rPr>
              <a:t>, </a:t>
            </a:r>
            <a:r>
              <a:rPr lang="en-US" sz="2200" u="sng" dirty="0">
                <a:solidFill>
                  <a:srgbClr val="FF0000"/>
                </a:solidFill>
                <a:latin typeface="Times New Roman" pitchFamily="18" charset="0"/>
                <a:cs typeface="Times New Roman" pitchFamily="18" charset="0"/>
              </a:rPr>
              <a:t>time-variant</a:t>
            </a:r>
            <a:r>
              <a:rPr lang="en-US" sz="2200" dirty="0">
                <a:solidFill>
                  <a:srgbClr val="FF0000"/>
                </a:solidFill>
                <a:latin typeface="Times New Roman" pitchFamily="18" charset="0"/>
                <a:cs typeface="Times New Roman" pitchFamily="18" charset="0"/>
              </a:rPr>
              <a:t>, and </a:t>
            </a:r>
            <a:r>
              <a:rPr lang="en-US" sz="2200" u="sng" dirty="0">
                <a:solidFill>
                  <a:srgbClr val="00B0F0"/>
                </a:solidFill>
                <a:latin typeface="Times New Roman" pitchFamily="18" charset="0"/>
                <a:cs typeface="Times New Roman" pitchFamily="18" charset="0"/>
              </a:rPr>
              <a:t>nonvolatile</a:t>
            </a:r>
            <a:r>
              <a:rPr lang="en-US" sz="2200" dirty="0">
                <a:solidFill>
                  <a:srgbClr val="FF0000"/>
                </a:solidFill>
                <a:latin typeface="Times New Roman" pitchFamily="18" charset="0"/>
                <a:cs typeface="Times New Roman" pitchFamily="18" charset="0"/>
              </a:rPr>
              <a:t> </a:t>
            </a:r>
            <a:r>
              <a:rPr lang="en-US" sz="2200" dirty="0">
                <a:solidFill>
                  <a:srgbClr val="7030A0"/>
                </a:solidFill>
                <a:latin typeface="Times New Roman" pitchFamily="18" charset="0"/>
                <a:cs typeface="Times New Roman" pitchFamily="18" charset="0"/>
              </a:rPr>
              <a:t>collection of data in support of management’s decision-making process.”—W. H. </a:t>
            </a:r>
            <a:r>
              <a:rPr lang="en-US" sz="2200" dirty="0" err="1">
                <a:solidFill>
                  <a:srgbClr val="7030A0"/>
                </a:solidFill>
                <a:latin typeface="Times New Roman" pitchFamily="18" charset="0"/>
                <a:cs typeface="Times New Roman" pitchFamily="18" charset="0"/>
              </a:rPr>
              <a:t>Inmon</a:t>
            </a:r>
            <a:endParaRPr lang="en-US" sz="2200" dirty="0">
              <a:solidFill>
                <a:srgbClr val="7030A0"/>
              </a:solidFill>
              <a:latin typeface="Times New Roman" pitchFamily="18" charset="0"/>
              <a:cs typeface="Times New Roman" pitchFamily="18" charset="0"/>
            </a:endParaRPr>
          </a:p>
          <a:p>
            <a:pPr algn="just">
              <a:lnSpc>
                <a:spcPct val="140000"/>
              </a:lnSpc>
            </a:pPr>
            <a:r>
              <a:rPr lang="en-US" sz="2200" dirty="0">
                <a:latin typeface="Times New Roman" pitchFamily="18" charset="0"/>
                <a:cs typeface="Times New Roman" pitchFamily="18" charset="0"/>
              </a:rPr>
              <a:t>Data warehousing:</a:t>
            </a:r>
          </a:p>
          <a:p>
            <a:pPr lvl="1" algn="just">
              <a:lnSpc>
                <a:spcPct val="140000"/>
              </a:lnSpc>
            </a:pPr>
            <a:r>
              <a:rPr lang="en-US" sz="2200" dirty="0">
                <a:latin typeface="Times New Roman" pitchFamily="18" charset="0"/>
                <a:cs typeface="Times New Roman" pitchFamily="18" charset="0"/>
              </a:rPr>
              <a:t>The process of constructing and using data warehouses</a:t>
            </a:r>
          </a:p>
        </p:txBody>
      </p:sp>
    </p:spTree>
    <p:extLst>
      <p:ext uri="{BB962C8B-B14F-4D97-AF65-F5344CB8AC3E}">
        <p14:creationId xmlns:p14="http://schemas.microsoft.com/office/powerpoint/2010/main" val="1833917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52400" y="76200"/>
            <a:ext cx="8839200" cy="6553200"/>
          </a:xfrm>
          <a:prstGeom prst="rect">
            <a:avLst/>
          </a:prstGeom>
        </p:spPr>
        <p:txBody>
          <a:bodyPr lIns="92075" tIns="46038" rIns="92075" bIns="46038"/>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30000"/>
              </a:lnSpc>
              <a:buNone/>
            </a:pPr>
            <a:r>
              <a:rPr lang="en-US" sz="2200" b="1" dirty="0">
                <a:latin typeface="Times New Roman" pitchFamily="18" charset="0"/>
                <a:cs typeface="Times New Roman" pitchFamily="18" charset="0"/>
              </a:rPr>
              <a:t>Data Warehouse—</a:t>
            </a:r>
            <a:r>
              <a:rPr lang="en-US" sz="2200" b="1" dirty="0">
                <a:solidFill>
                  <a:srgbClr val="FF0000"/>
                </a:solidFill>
                <a:latin typeface="Times New Roman" pitchFamily="18" charset="0"/>
                <a:cs typeface="Times New Roman" pitchFamily="18" charset="0"/>
              </a:rPr>
              <a:t>Subject-Oriented</a:t>
            </a:r>
          </a:p>
          <a:p>
            <a:pPr algn="just">
              <a:lnSpc>
                <a:spcPct val="130000"/>
              </a:lnSpc>
            </a:pPr>
            <a:r>
              <a:rPr lang="en-US" sz="2200" dirty="0">
                <a:latin typeface="Times New Roman" pitchFamily="18" charset="0"/>
                <a:cs typeface="Times New Roman" pitchFamily="18" charset="0"/>
              </a:rPr>
              <a:t>Organized around major subjects, such as </a:t>
            </a:r>
            <a:r>
              <a:rPr lang="en-US" sz="2200" dirty="0">
                <a:solidFill>
                  <a:schemeClr val="hlink"/>
                </a:solidFill>
                <a:latin typeface="Times New Roman" pitchFamily="18" charset="0"/>
                <a:cs typeface="Times New Roman" pitchFamily="18" charset="0"/>
              </a:rPr>
              <a:t>customer, product, sales &amp; suppliers.</a:t>
            </a:r>
            <a:endParaRPr lang="en-US" sz="2200" dirty="0">
              <a:latin typeface="Times New Roman" pitchFamily="18" charset="0"/>
              <a:cs typeface="Times New Roman" pitchFamily="18" charset="0"/>
            </a:endParaRPr>
          </a:p>
          <a:p>
            <a:pPr algn="just">
              <a:lnSpc>
                <a:spcPct val="130000"/>
              </a:lnSpc>
            </a:pPr>
            <a:r>
              <a:rPr lang="en-US" sz="2200" dirty="0">
                <a:latin typeface="Times New Roman" pitchFamily="18" charset="0"/>
                <a:cs typeface="Times New Roman" pitchFamily="18" charset="0"/>
              </a:rPr>
              <a:t>Focusing on the modeling and analysis of data for decision makers, not on daily operations or transaction processing</a:t>
            </a:r>
          </a:p>
          <a:p>
            <a:pPr algn="just">
              <a:lnSpc>
                <a:spcPct val="130000"/>
              </a:lnSpc>
            </a:pPr>
            <a:r>
              <a:rPr lang="en-US" sz="2200" dirty="0">
                <a:latin typeface="Times New Roman" pitchFamily="18" charset="0"/>
                <a:cs typeface="Times New Roman" pitchFamily="18" charset="0"/>
              </a:rPr>
              <a:t>Provide </a:t>
            </a:r>
            <a:r>
              <a:rPr lang="en-US" sz="2200" dirty="0">
                <a:solidFill>
                  <a:schemeClr val="hlink"/>
                </a:solidFill>
                <a:latin typeface="Times New Roman" pitchFamily="18" charset="0"/>
                <a:cs typeface="Times New Roman" pitchFamily="18" charset="0"/>
              </a:rPr>
              <a:t>a simple and concise</a:t>
            </a:r>
            <a:r>
              <a:rPr lang="en-US" sz="2200" dirty="0">
                <a:latin typeface="Times New Roman" pitchFamily="18" charset="0"/>
                <a:cs typeface="Times New Roman" pitchFamily="18" charset="0"/>
              </a:rPr>
              <a:t> view around particular subject issues by </a:t>
            </a:r>
            <a:r>
              <a:rPr lang="en-US" sz="2200" dirty="0">
                <a:solidFill>
                  <a:schemeClr val="hlink"/>
                </a:solidFill>
                <a:latin typeface="Times New Roman" pitchFamily="18" charset="0"/>
                <a:cs typeface="Times New Roman" pitchFamily="18" charset="0"/>
              </a:rPr>
              <a:t>excluding data that are not useful in the decision support process</a:t>
            </a:r>
          </a:p>
          <a:p>
            <a:pPr marL="0" indent="0" algn="just">
              <a:lnSpc>
                <a:spcPct val="130000"/>
              </a:lnSpc>
              <a:buNone/>
            </a:pPr>
            <a:r>
              <a:rPr lang="en-US" sz="2200" b="1" dirty="0">
                <a:latin typeface="Times New Roman" pitchFamily="18" charset="0"/>
                <a:cs typeface="Times New Roman" pitchFamily="18" charset="0"/>
              </a:rPr>
              <a:t>Data Warehouse— </a:t>
            </a:r>
            <a:r>
              <a:rPr lang="en-US" sz="2200" b="1" dirty="0">
                <a:solidFill>
                  <a:srgbClr val="FF0000"/>
                </a:solidFill>
                <a:latin typeface="Times New Roman" pitchFamily="18" charset="0"/>
                <a:cs typeface="Times New Roman" pitchFamily="18" charset="0"/>
              </a:rPr>
              <a:t>Integrated</a:t>
            </a:r>
          </a:p>
          <a:p>
            <a:pPr algn="just"/>
            <a:r>
              <a:rPr lang="en-US" sz="2200" dirty="0">
                <a:latin typeface="Times New Roman" pitchFamily="18" charset="0"/>
                <a:cs typeface="Times New Roman" pitchFamily="18" charset="0"/>
              </a:rPr>
              <a:t>Constructed by integrating multiple, heterogeneous data sources</a:t>
            </a:r>
          </a:p>
          <a:p>
            <a:pPr lvl="1" algn="just"/>
            <a:r>
              <a:rPr lang="en-US" sz="2200" dirty="0">
                <a:latin typeface="Times New Roman" pitchFamily="18" charset="0"/>
                <a:cs typeface="Times New Roman" pitchFamily="18" charset="0"/>
              </a:rPr>
              <a:t>relational databases, flat files, on-line transaction records</a:t>
            </a:r>
          </a:p>
          <a:p>
            <a:pPr algn="just"/>
            <a:r>
              <a:rPr lang="en-US" sz="2200" dirty="0">
                <a:latin typeface="Times New Roman" pitchFamily="18" charset="0"/>
                <a:cs typeface="Times New Roman" pitchFamily="18" charset="0"/>
              </a:rPr>
              <a:t>Data cleaning and data integration techniques are applied.</a:t>
            </a:r>
          </a:p>
          <a:p>
            <a:pPr lvl="1" algn="just"/>
            <a:r>
              <a:rPr lang="en-US" sz="2200" dirty="0">
                <a:latin typeface="Times New Roman" pitchFamily="18" charset="0"/>
                <a:cs typeface="Times New Roman" pitchFamily="18" charset="0"/>
              </a:rPr>
              <a:t>Ensure consistency in naming conventions, encoding structures, attribute measures, etc. among different data sources</a:t>
            </a:r>
          </a:p>
          <a:p>
            <a:pPr lvl="2" algn="just"/>
            <a:r>
              <a:rPr lang="en-US" sz="2200" dirty="0">
                <a:latin typeface="Times New Roman" pitchFamily="18" charset="0"/>
                <a:cs typeface="Times New Roman" pitchFamily="18" charset="0"/>
              </a:rPr>
              <a:t>E.g., Hotel price: currency, tax, breakfast covered, etc.</a:t>
            </a:r>
          </a:p>
          <a:p>
            <a:pPr lvl="1" algn="just"/>
            <a:r>
              <a:rPr lang="en-US" sz="2200" dirty="0">
                <a:latin typeface="Times New Roman" pitchFamily="18" charset="0"/>
                <a:cs typeface="Times New Roman" pitchFamily="18" charset="0"/>
              </a:rPr>
              <a:t>When data is moved to the warehouse, it is converted.  </a:t>
            </a:r>
          </a:p>
          <a:p>
            <a:pPr algn="just">
              <a:lnSpc>
                <a:spcPct val="130000"/>
              </a:lnSpc>
            </a:pP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3007672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52400" y="76200"/>
            <a:ext cx="8839200" cy="6553200"/>
          </a:xfrm>
          <a:prstGeom prst="rect">
            <a:avLst/>
          </a:prstGeom>
        </p:spPr>
        <p:txBody>
          <a:bodyPr lIns="92075" tIns="46038" rIns="92075" bIns="46038"/>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30000"/>
              </a:lnSpc>
              <a:buNone/>
            </a:pPr>
            <a:r>
              <a:rPr lang="en-US" sz="2200" b="1" dirty="0">
                <a:latin typeface="Times New Roman" pitchFamily="18" charset="0"/>
                <a:cs typeface="Times New Roman" pitchFamily="18" charset="0"/>
              </a:rPr>
              <a:t>Data Warehouse—</a:t>
            </a:r>
            <a:r>
              <a:rPr lang="en-US" sz="2200" b="1" dirty="0">
                <a:solidFill>
                  <a:srgbClr val="FF0000"/>
                </a:solidFill>
                <a:latin typeface="Times New Roman" pitchFamily="18" charset="0"/>
                <a:cs typeface="Times New Roman" pitchFamily="18" charset="0"/>
              </a:rPr>
              <a:t>Time Variant</a:t>
            </a:r>
          </a:p>
          <a:p>
            <a:pPr algn="just">
              <a:lnSpc>
                <a:spcPct val="120000"/>
              </a:lnSpc>
            </a:pPr>
            <a:r>
              <a:rPr lang="en-US" sz="2200" dirty="0">
                <a:latin typeface="Times New Roman" pitchFamily="18" charset="0"/>
                <a:cs typeface="Times New Roman" pitchFamily="18" charset="0"/>
              </a:rPr>
              <a:t>The time horizon for the data warehouse is significantly longer than that of operational systems</a:t>
            </a:r>
          </a:p>
          <a:p>
            <a:pPr lvl="1" algn="just">
              <a:lnSpc>
                <a:spcPct val="120000"/>
              </a:lnSpc>
            </a:pPr>
            <a:r>
              <a:rPr lang="en-US" sz="2200" dirty="0">
                <a:latin typeface="Times New Roman" pitchFamily="18" charset="0"/>
                <a:cs typeface="Times New Roman" pitchFamily="18" charset="0"/>
              </a:rPr>
              <a:t>Operational database: current value data</a:t>
            </a:r>
          </a:p>
          <a:p>
            <a:pPr lvl="1" algn="just">
              <a:lnSpc>
                <a:spcPct val="120000"/>
              </a:lnSpc>
            </a:pPr>
            <a:r>
              <a:rPr lang="en-US" sz="2200" dirty="0">
                <a:latin typeface="Times New Roman" pitchFamily="18" charset="0"/>
                <a:cs typeface="Times New Roman" pitchFamily="18" charset="0"/>
              </a:rPr>
              <a:t>Data warehouse data: provide information from a historical perspective (e.g., past 5-10 years)</a:t>
            </a:r>
          </a:p>
          <a:p>
            <a:pPr algn="just">
              <a:lnSpc>
                <a:spcPct val="120000"/>
              </a:lnSpc>
            </a:pPr>
            <a:r>
              <a:rPr lang="en-US" sz="2200" dirty="0">
                <a:latin typeface="Times New Roman" pitchFamily="18" charset="0"/>
                <a:cs typeface="Times New Roman" pitchFamily="18" charset="0"/>
              </a:rPr>
              <a:t>Every key structure in the data warehouse</a:t>
            </a:r>
          </a:p>
          <a:p>
            <a:pPr lvl="1" algn="just">
              <a:lnSpc>
                <a:spcPct val="120000"/>
              </a:lnSpc>
            </a:pPr>
            <a:r>
              <a:rPr lang="en-US" sz="2200" dirty="0">
                <a:latin typeface="Times New Roman" pitchFamily="18" charset="0"/>
                <a:cs typeface="Times New Roman" pitchFamily="18" charset="0"/>
              </a:rPr>
              <a:t>Contains an element of time, explicitly or implicitly</a:t>
            </a:r>
          </a:p>
          <a:p>
            <a:pPr lvl="1" algn="just">
              <a:lnSpc>
                <a:spcPct val="120000"/>
              </a:lnSpc>
            </a:pPr>
            <a:r>
              <a:rPr lang="en-US" sz="2200" dirty="0">
                <a:latin typeface="Times New Roman" pitchFamily="18" charset="0"/>
                <a:cs typeface="Times New Roman" pitchFamily="18" charset="0"/>
              </a:rPr>
              <a:t>But the key of operational data may or may not contain “time element”</a:t>
            </a:r>
          </a:p>
          <a:p>
            <a:pPr marL="0" indent="0" algn="just">
              <a:lnSpc>
                <a:spcPct val="130000"/>
              </a:lnSpc>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493592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DF018C7-3F7D-4E1D-B227-D08E02D541CF}"/>
              </a:ext>
            </a:extLst>
          </p:cNvPr>
          <p:cNvGraphicFramePr>
            <a:graphicFrameLocks noGrp="1"/>
          </p:cNvGraphicFramePr>
          <p:nvPr>
            <p:extLst>
              <p:ext uri="{D42A27DB-BD31-4B8C-83A1-F6EECF244321}">
                <p14:modId xmlns:p14="http://schemas.microsoft.com/office/powerpoint/2010/main" val="683053528"/>
              </p:ext>
            </p:extLst>
          </p:nvPr>
        </p:nvGraphicFramePr>
        <p:xfrm>
          <a:off x="457200" y="3314541"/>
          <a:ext cx="8229600" cy="1737360"/>
        </p:xfrm>
        <a:graphic>
          <a:graphicData uri="http://schemas.openxmlformats.org/drawingml/2006/table">
            <a:tbl>
              <a:tblPr/>
              <a:tblGrid>
                <a:gridCol w="2743200">
                  <a:extLst>
                    <a:ext uri="{9D8B030D-6E8A-4147-A177-3AD203B41FA5}">
                      <a16:colId xmlns:a16="http://schemas.microsoft.com/office/drawing/2014/main" val="1419433197"/>
                    </a:ext>
                  </a:extLst>
                </a:gridCol>
                <a:gridCol w="2743200">
                  <a:extLst>
                    <a:ext uri="{9D8B030D-6E8A-4147-A177-3AD203B41FA5}">
                      <a16:colId xmlns:a16="http://schemas.microsoft.com/office/drawing/2014/main" val="3836805316"/>
                    </a:ext>
                  </a:extLst>
                </a:gridCol>
                <a:gridCol w="2743200">
                  <a:extLst>
                    <a:ext uri="{9D8B030D-6E8A-4147-A177-3AD203B41FA5}">
                      <a16:colId xmlns:a16="http://schemas.microsoft.com/office/drawing/2014/main" val="2009394486"/>
                    </a:ext>
                  </a:extLst>
                </a:gridCol>
              </a:tblGrid>
              <a:tr h="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Data Warehouse</a:t>
                      </a:r>
                    </a:p>
                    <a:p>
                      <a:endParaRPr lang="en-IN" b="1" dirty="0"/>
                    </a:p>
                    <a:p>
                      <a:r>
                        <a:rPr lang="en-IN" b="1" dirty="0"/>
                        <a:t>Product ID</a:t>
                      </a:r>
                    </a:p>
                  </a:txBody>
                  <a:tcPr anchor="ctr">
                    <a:lnL>
                      <a:noFill/>
                    </a:lnL>
                    <a:lnR>
                      <a:noFill/>
                    </a:lnR>
                    <a:lnT>
                      <a:noFill/>
                    </a:lnT>
                    <a:lnB>
                      <a:noFill/>
                    </a:lnB>
                  </a:tcPr>
                </a:tc>
                <a:tc>
                  <a:txBody>
                    <a:bodyPr/>
                    <a:lstStyle/>
                    <a:p>
                      <a:endParaRPr lang="en-IN" b="1" dirty="0"/>
                    </a:p>
                    <a:p>
                      <a:endParaRPr lang="en-IN" b="1" dirty="0"/>
                    </a:p>
                    <a:p>
                      <a:r>
                        <a:rPr lang="en-IN" b="1" dirty="0"/>
                        <a:t>Month</a:t>
                      </a:r>
                    </a:p>
                  </a:txBody>
                  <a:tcPr anchor="ctr">
                    <a:lnL>
                      <a:noFill/>
                    </a:lnL>
                    <a:lnR>
                      <a:noFill/>
                    </a:lnR>
                    <a:lnT>
                      <a:noFill/>
                    </a:lnT>
                    <a:lnB>
                      <a:noFill/>
                    </a:lnB>
                  </a:tcPr>
                </a:tc>
                <a:tc>
                  <a:txBody>
                    <a:bodyPr/>
                    <a:lstStyle/>
                    <a:p>
                      <a:endParaRPr lang="en-IN" b="1" dirty="0"/>
                    </a:p>
                    <a:p>
                      <a:r>
                        <a:rPr lang="en-IN" b="1" dirty="0"/>
                        <a:t>Sales</a:t>
                      </a:r>
                    </a:p>
                  </a:txBody>
                  <a:tcPr anchor="ctr">
                    <a:lnL>
                      <a:noFill/>
                    </a:lnL>
                    <a:lnR>
                      <a:noFill/>
                    </a:lnR>
                    <a:lnT>
                      <a:noFill/>
                    </a:lnT>
                    <a:lnB>
                      <a:noFill/>
                    </a:lnB>
                  </a:tcPr>
                </a:tc>
                <a:extLst>
                  <a:ext uri="{0D108BD9-81ED-4DB2-BD59-A6C34878D82A}">
                    <a16:rowId xmlns:a16="http://schemas.microsoft.com/office/drawing/2014/main" val="2832296647"/>
                  </a:ext>
                </a:extLst>
              </a:tr>
              <a:tr h="0">
                <a:tc>
                  <a:txBody>
                    <a:bodyPr/>
                    <a:lstStyle/>
                    <a:p>
                      <a:r>
                        <a:rPr lang="en-IN"/>
                        <a:t>P101</a:t>
                      </a:r>
                    </a:p>
                  </a:txBody>
                  <a:tcPr anchor="ctr">
                    <a:lnL>
                      <a:noFill/>
                    </a:lnL>
                    <a:lnR>
                      <a:noFill/>
                    </a:lnR>
                    <a:lnT>
                      <a:noFill/>
                    </a:lnT>
                    <a:lnB>
                      <a:noFill/>
                    </a:lnB>
                  </a:tcPr>
                </a:tc>
                <a:tc>
                  <a:txBody>
                    <a:bodyPr/>
                    <a:lstStyle/>
                    <a:p>
                      <a:r>
                        <a:rPr lang="en-IN"/>
                        <a:t>Jan 2026</a:t>
                      </a:r>
                    </a:p>
                  </a:txBody>
                  <a:tcPr anchor="ctr">
                    <a:lnL>
                      <a:noFill/>
                    </a:lnL>
                    <a:lnR>
                      <a:noFill/>
                    </a:lnR>
                    <a:lnT>
                      <a:noFill/>
                    </a:lnT>
                    <a:lnB>
                      <a:noFill/>
                    </a:lnB>
                  </a:tcPr>
                </a:tc>
                <a:tc>
                  <a:txBody>
                    <a:bodyPr/>
                    <a:lstStyle/>
                    <a:p>
                      <a:r>
                        <a:rPr lang="en-IN"/>
                        <a:t>500</a:t>
                      </a:r>
                    </a:p>
                  </a:txBody>
                  <a:tcPr anchor="ctr">
                    <a:lnL>
                      <a:noFill/>
                    </a:lnL>
                    <a:lnR>
                      <a:noFill/>
                    </a:lnR>
                    <a:lnT>
                      <a:noFill/>
                    </a:lnT>
                    <a:lnB>
                      <a:noFill/>
                    </a:lnB>
                  </a:tcPr>
                </a:tc>
                <a:extLst>
                  <a:ext uri="{0D108BD9-81ED-4DB2-BD59-A6C34878D82A}">
                    <a16:rowId xmlns:a16="http://schemas.microsoft.com/office/drawing/2014/main" val="3803945404"/>
                  </a:ext>
                </a:extLst>
              </a:tr>
              <a:tr h="0">
                <a:tc>
                  <a:txBody>
                    <a:bodyPr/>
                    <a:lstStyle/>
                    <a:p>
                      <a:r>
                        <a:rPr lang="en-IN"/>
                        <a:t>P101</a:t>
                      </a:r>
                    </a:p>
                  </a:txBody>
                  <a:tcPr anchor="ctr">
                    <a:lnL>
                      <a:noFill/>
                    </a:lnL>
                    <a:lnR>
                      <a:noFill/>
                    </a:lnR>
                    <a:lnT>
                      <a:noFill/>
                    </a:lnT>
                    <a:lnB>
                      <a:noFill/>
                    </a:lnB>
                  </a:tcPr>
                </a:tc>
                <a:tc>
                  <a:txBody>
                    <a:bodyPr/>
                    <a:lstStyle/>
                    <a:p>
                      <a:r>
                        <a:rPr lang="en-IN"/>
                        <a:t>Feb 2026</a:t>
                      </a:r>
                    </a:p>
                  </a:txBody>
                  <a:tcPr anchor="ctr">
                    <a:lnL>
                      <a:noFill/>
                    </a:lnL>
                    <a:lnR>
                      <a:noFill/>
                    </a:lnR>
                    <a:lnT>
                      <a:noFill/>
                    </a:lnT>
                    <a:lnB>
                      <a:noFill/>
                    </a:lnB>
                  </a:tcPr>
                </a:tc>
                <a:tc>
                  <a:txBody>
                    <a:bodyPr/>
                    <a:lstStyle/>
                    <a:p>
                      <a:r>
                        <a:rPr lang="en-IN" dirty="0"/>
                        <a:t>650</a:t>
                      </a:r>
                    </a:p>
                  </a:txBody>
                  <a:tcPr anchor="ctr">
                    <a:lnL>
                      <a:noFill/>
                    </a:lnL>
                    <a:lnR>
                      <a:noFill/>
                    </a:lnR>
                    <a:lnT>
                      <a:noFill/>
                    </a:lnT>
                    <a:lnB>
                      <a:noFill/>
                    </a:lnB>
                  </a:tcPr>
                </a:tc>
                <a:extLst>
                  <a:ext uri="{0D108BD9-81ED-4DB2-BD59-A6C34878D82A}">
                    <a16:rowId xmlns:a16="http://schemas.microsoft.com/office/drawing/2014/main" val="3785857676"/>
                  </a:ext>
                </a:extLst>
              </a:tr>
            </a:tbl>
          </a:graphicData>
        </a:graphic>
      </p:graphicFrame>
      <p:graphicFrame>
        <p:nvGraphicFramePr>
          <p:cNvPr id="3" name="Table 2">
            <a:extLst>
              <a:ext uri="{FF2B5EF4-FFF2-40B4-BE49-F238E27FC236}">
                <a16:creationId xmlns:a16="http://schemas.microsoft.com/office/drawing/2014/main" id="{C368120B-BFAA-48C7-89C3-4CF2BB017A98}"/>
              </a:ext>
            </a:extLst>
          </p:cNvPr>
          <p:cNvGraphicFramePr>
            <a:graphicFrameLocks noGrp="1"/>
          </p:cNvGraphicFramePr>
          <p:nvPr>
            <p:extLst>
              <p:ext uri="{D42A27DB-BD31-4B8C-83A1-F6EECF244321}">
                <p14:modId xmlns:p14="http://schemas.microsoft.com/office/powerpoint/2010/main" val="1320271289"/>
              </p:ext>
            </p:extLst>
          </p:nvPr>
        </p:nvGraphicFramePr>
        <p:xfrm>
          <a:off x="525780" y="1447800"/>
          <a:ext cx="8008620" cy="1257300"/>
        </p:xfrm>
        <a:graphic>
          <a:graphicData uri="http://schemas.openxmlformats.org/drawingml/2006/table">
            <a:tbl>
              <a:tblPr/>
              <a:tblGrid>
                <a:gridCol w="2669540">
                  <a:extLst>
                    <a:ext uri="{9D8B030D-6E8A-4147-A177-3AD203B41FA5}">
                      <a16:colId xmlns:a16="http://schemas.microsoft.com/office/drawing/2014/main" val="384974369"/>
                    </a:ext>
                  </a:extLst>
                </a:gridCol>
                <a:gridCol w="2669540">
                  <a:extLst>
                    <a:ext uri="{9D8B030D-6E8A-4147-A177-3AD203B41FA5}">
                      <a16:colId xmlns:a16="http://schemas.microsoft.com/office/drawing/2014/main" val="2911556465"/>
                    </a:ext>
                  </a:extLst>
                </a:gridCol>
                <a:gridCol w="2669540">
                  <a:extLst>
                    <a:ext uri="{9D8B030D-6E8A-4147-A177-3AD203B41FA5}">
                      <a16:colId xmlns:a16="http://schemas.microsoft.com/office/drawing/2014/main" val="659569590"/>
                    </a:ext>
                  </a:extLst>
                </a:gridCol>
              </a:tblGrid>
              <a:tr h="495300">
                <a:tc>
                  <a: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Operational Database</a:t>
                      </a:r>
                    </a:p>
                    <a:p>
                      <a:endParaRPr kumimoji="0" lang="en-US" altLang="en-US" sz="800" b="1" i="0" u="none" strike="noStrike" cap="none" normalizeH="0" baseline="0" dirty="0">
                        <a:ln>
                          <a:noFill/>
                        </a:ln>
                        <a:solidFill>
                          <a:schemeClr val="tx1"/>
                        </a:solidFill>
                        <a:effectLst/>
                        <a:latin typeface="Arial" panose="020B0604020202020204" pitchFamily="34" charset="0"/>
                      </a:endParaRPr>
                    </a:p>
                    <a:p>
                      <a:r>
                        <a:rPr lang="en-IN" b="1" dirty="0"/>
                        <a:t>Order ID</a:t>
                      </a:r>
                    </a:p>
                  </a:txBody>
                  <a:tcPr anchor="ctr">
                    <a:lnL>
                      <a:noFill/>
                    </a:lnL>
                    <a:lnR>
                      <a:noFill/>
                    </a:lnR>
                    <a:lnT>
                      <a:noFill/>
                    </a:lnT>
                    <a:lnB>
                      <a:noFill/>
                    </a:lnB>
                  </a:tcPr>
                </a:tc>
                <a:tc>
                  <a:txBody>
                    <a:bodyPr/>
                    <a:lstStyle/>
                    <a:p>
                      <a:endParaRPr lang="en-IN" b="1" dirty="0"/>
                    </a:p>
                    <a:p>
                      <a:r>
                        <a:rPr lang="en-IN" b="1" dirty="0"/>
                        <a:t>Customer ID</a:t>
                      </a:r>
                    </a:p>
                  </a:txBody>
                  <a:tcPr anchor="ctr">
                    <a:lnL>
                      <a:noFill/>
                    </a:lnL>
                    <a:lnR>
                      <a:noFill/>
                    </a:lnR>
                    <a:lnT>
                      <a:noFill/>
                    </a:lnT>
                    <a:lnB>
                      <a:noFill/>
                    </a:lnB>
                  </a:tcPr>
                </a:tc>
                <a:tc>
                  <a:txBody>
                    <a:bodyPr/>
                    <a:lstStyle/>
                    <a:p>
                      <a:r>
                        <a:rPr lang="en-IN" b="1" dirty="0"/>
                        <a:t>Product ID</a:t>
                      </a:r>
                    </a:p>
                  </a:txBody>
                  <a:tcPr anchor="ctr">
                    <a:lnL>
                      <a:noFill/>
                    </a:lnL>
                    <a:lnR>
                      <a:noFill/>
                    </a:lnR>
                    <a:lnT>
                      <a:noFill/>
                    </a:lnT>
                    <a:lnB>
                      <a:noFill/>
                    </a:lnB>
                  </a:tcPr>
                </a:tc>
                <a:extLst>
                  <a:ext uri="{0D108BD9-81ED-4DB2-BD59-A6C34878D82A}">
                    <a16:rowId xmlns:a16="http://schemas.microsoft.com/office/drawing/2014/main" val="3897623537"/>
                  </a:ext>
                </a:extLst>
              </a:tr>
              <a:tr h="495300">
                <a:tc>
                  <a:txBody>
                    <a:bodyPr/>
                    <a:lstStyle/>
                    <a:p>
                      <a:r>
                        <a:rPr lang="en-IN"/>
                        <a:t>1001</a:t>
                      </a:r>
                    </a:p>
                  </a:txBody>
                  <a:tcPr anchor="ctr">
                    <a:lnL>
                      <a:noFill/>
                    </a:lnL>
                    <a:lnR>
                      <a:noFill/>
                    </a:lnR>
                    <a:lnT>
                      <a:noFill/>
                    </a:lnT>
                    <a:lnB>
                      <a:noFill/>
                    </a:lnB>
                  </a:tcPr>
                </a:tc>
                <a:tc>
                  <a:txBody>
                    <a:bodyPr/>
                    <a:lstStyle/>
                    <a:p>
                      <a:r>
                        <a:rPr lang="en-IN"/>
                        <a:t>C01</a:t>
                      </a:r>
                    </a:p>
                  </a:txBody>
                  <a:tcPr anchor="ctr">
                    <a:lnL>
                      <a:noFill/>
                    </a:lnL>
                    <a:lnR>
                      <a:noFill/>
                    </a:lnR>
                    <a:lnT>
                      <a:noFill/>
                    </a:lnT>
                    <a:lnB>
                      <a:noFill/>
                    </a:lnB>
                  </a:tcPr>
                </a:tc>
                <a:tc>
                  <a:txBody>
                    <a:bodyPr/>
                    <a:lstStyle/>
                    <a:p>
                      <a:r>
                        <a:rPr lang="en-IN" dirty="0"/>
                        <a:t>P101</a:t>
                      </a:r>
                    </a:p>
                  </a:txBody>
                  <a:tcPr anchor="ctr">
                    <a:lnL>
                      <a:noFill/>
                    </a:lnL>
                    <a:lnR>
                      <a:noFill/>
                    </a:lnR>
                    <a:lnT>
                      <a:noFill/>
                    </a:lnT>
                    <a:lnB>
                      <a:noFill/>
                    </a:lnB>
                  </a:tcPr>
                </a:tc>
                <a:extLst>
                  <a:ext uri="{0D108BD9-81ED-4DB2-BD59-A6C34878D82A}">
                    <a16:rowId xmlns:a16="http://schemas.microsoft.com/office/drawing/2014/main" val="1563452232"/>
                  </a:ext>
                </a:extLst>
              </a:tr>
            </a:tbl>
          </a:graphicData>
        </a:graphic>
      </p:graphicFrame>
      <p:sp>
        <p:nvSpPr>
          <p:cNvPr id="4" name="Rectangle 1">
            <a:extLst>
              <a:ext uri="{FF2B5EF4-FFF2-40B4-BE49-F238E27FC236}">
                <a16:creationId xmlns:a16="http://schemas.microsoft.com/office/drawing/2014/main" id="{63C39A31-682E-48B8-9D8C-85AF60359176}"/>
              </a:ext>
            </a:extLst>
          </p:cNvPr>
          <p:cNvSpPr>
            <a:spLocks noChangeArrowheads="1"/>
          </p:cNvSpPr>
          <p:nvPr/>
        </p:nvSpPr>
        <p:spPr bwMode="auto">
          <a:xfrm>
            <a:off x="685801" y="4789855"/>
            <a:ext cx="70104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Here, </a:t>
            </a:r>
            <a:r>
              <a:rPr kumimoji="0" lang="en-US" altLang="en-US" sz="1800" b="1" i="0" u="none" strike="noStrike" cap="none" normalizeH="0" baseline="0" dirty="0">
                <a:ln>
                  <a:noFill/>
                </a:ln>
                <a:solidFill>
                  <a:schemeClr val="tx1"/>
                </a:solidFill>
                <a:effectLst/>
                <a:latin typeface="Arial" panose="020B0604020202020204" pitchFamily="34" charset="0"/>
              </a:rPr>
              <a:t>Month</a:t>
            </a:r>
            <a:r>
              <a:rPr kumimoji="0" lang="en-US" altLang="en-US" sz="1800" b="0" i="0" u="none" strike="noStrike" cap="none" normalizeH="0" baseline="0" dirty="0">
                <a:ln>
                  <a:noFill/>
                </a:ln>
                <a:solidFill>
                  <a:schemeClr val="tx1"/>
                </a:solidFill>
                <a:effectLst/>
                <a:latin typeface="Arial" panose="020B0604020202020204" pitchFamily="34" charset="0"/>
              </a:rPr>
              <a:t> is the </a:t>
            </a:r>
            <a:r>
              <a:rPr kumimoji="0" lang="en-US" altLang="en-US" sz="1800" b="1" i="0" u="none" strike="noStrike" cap="none" normalizeH="0" baseline="0" dirty="0">
                <a:ln>
                  <a:noFill/>
                </a:ln>
                <a:solidFill>
                  <a:schemeClr val="tx1"/>
                </a:solidFill>
                <a:effectLst/>
                <a:latin typeface="Arial" panose="020B0604020202020204" pitchFamily="34" charset="0"/>
              </a:rPr>
              <a:t>time element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05566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52400" y="76200"/>
            <a:ext cx="8839200" cy="6553200"/>
          </a:xfrm>
          <a:prstGeom prst="rect">
            <a:avLst/>
          </a:prstGeom>
        </p:spPr>
        <p:txBody>
          <a:bodyPr lIns="92075" tIns="46038" rIns="92075" bIns="46038"/>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30000"/>
              </a:lnSpc>
              <a:buNone/>
            </a:pPr>
            <a:r>
              <a:rPr lang="en-US" sz="2200" b="1" dirty="0">
                <a:latin typeface="Times New Roman" pitchFamily="18" charset="0"/>
                <a:cs typeface="Times New Roman" pitchFamily="18" charset="0"/>
              </a:rPr>
              <a:t>Data Warehouse— </a:t>
            </a:r>
            <a:r>
              <a:rPr lang="en-US" sz="2200" b="1" dirty="0">
                <a:solidFill>
                  <a:srgbClr val="FF0000"/>
                </a:solidFill>
                <a:latin typeface="Times New Roman" pitchFamily="18" charset="0"/>
                <a:cs typeface="Times New Roman" pitchFamily="18" charset="0"/>
              </a:rPr>
              <a:t>Nonvolatile</a:t>
            </a:r>
          </a:p>
          <a:p>
            <a:pPr algn="just">
              <a:lnSpc>
                <a:spcPct val="130000"/>
              </a:lnSpc>
            </a:pPr>
            <a:r>
              <a:rPr lang="en-US" sz="2200" dirty="0">
                <a:latin typeface="Times New Roman" pitchFamily="18" charset="0"/>
                <a:cs typeface="Times New Roman" pitchFamily="18" charset="0"/>
              </a:rPr>
              <a:t>A </a:t>
            </a:r>
            <a:r>
              <a:rPr lang="en-US" sz="2200" dirty="0">
                <a:solidFill>
                  <a:schemeClr val="hlink"/>
                </a:solidFill>
                <a:latin typeface="Times New Roman" pitchFamily="18" charset="0"/>
                <a:cs typeface="Times New Roman" pitchFamily="18" charset="0"/>
              </a:rPr>
              <a:t>physically separate store</a:t>
            </a:r>
            <a:r>
              <a:rPr lang="en-US" sz="2200" dirty="0">
                <a:latin typeface="Times New Roman" pitchFamily="18" charset="0"/>
                <a:cs typeface="Times New Roman" pitchFamily="18" charset="0"/>
              </a:rPr>
              <a:t> of data transformed from the operational environment</a:t>
            </a:r>
          </a:p>
          <a:p>
            <a:pPr algn="just">
              <a:lnSpc>
                <a:spcPct val="130000"/>
              </a:lnSpc>
            </a:pPr>
            <a:r>
              <a:rPr lang="en-US" sz="2200" dirty="0">
                <a:latin typeface="Times New Roman" pitchFamily="18" charset="0"/>
                <a:cs typeface="Times New Roman" pitchFamily="18" charset="0"/>
              </a:rPr>
              <a:t>Operational </a:t>
            </a:r>
            <a:r>
              <a:rPr lang="en-US" sz="2200" dirty="0">
                <a:solidFill>
                  <a:schemeClr val="hlink"/>
                </a:solidFill>
                <a:latin typeface="Times New Roman" pitchFamily="18" charset="0"/>
                <a:cs typeface="Times New Roman" pitchFamily="18" charset="0"/>
              </a:rPr>
              <a:t>update of data does not occur</a:t>
            </a:r>
            <a:r>
              <a:rPr lang="en-US" sz="2200" dirty="0">
                <a:latin typeface="Times New Roman" pitchFamily="18" charset="0"/>
                <a:cs typeface="Times New Roman" pitchFamily="18" charset="0"/>
              </a:rPr>
              <a:t> in the data warehouse environment</a:t>
            </a:r>
          </a:p>
          <a:p>
            <a:pPr lvl="1" algn="just">
              <a:lnSpc>
                <a:spcPct val="130000"/>
              </a:lnSpc>
            </a:pPr>
            <a:r>
              <a:rPr lang="en-US" sz="2200" dirty="0">
                <a:latin typeface="Times New Roman" pitchFamily="18" charset="0"/>
                <a:cs typeface="Times New Roman" pitchFamily="18" charset="0"/>
              </a:rPr>
              <a:t>Does not require transaction processing, recovery, and concurrency control mechanisms</a:t>
            </a:r>
          </a:p>
          <a:p>
            <a:pPr lvl="1" algn="just">
              <a:lnSpc>
                <a:spcPct val="130000"/>
              </a:lnSpc>
            </a:pPr>
            <a:r>
              <a:rPr lang="en-US" sz="2200" dirty="0">
                <a:latin typeface="Times New Roman" pitchFamily="18" charset="0"/>
                <a:cs typeface="Times New Roman" pitchFamily="18" charset="0"/>
              </a:rPr>
              <a:t>Requires only two operations in data accessing: </a:t>
            </a:r>
          </a:p>
          <a:p>
            <a:pPr lvl="2" algn="just">
              <a:lnSpc>
                <a:spcPct val="130000"/>
              </a:lnSpc>
            </a:pPr>
            <a:r>
              <a:rPr lang="en-US" sz="2200" i="1" dirty="0">
                <a:solidFill>
                  <a:schemeClr val="hlink"/>
                </a:solidFill>
                <a:latin typeface="Times New Roman" pitchFamily="18" charset="0"/>
                <a:cs typeface="Times New Roman" pitchFamily="18" charset="0"/>
              </a:rPr>
              <a:t>initial loading of data</a:t>
            </a:r>
            <a:r>
              <a:rPr lang="en-US" sz="2200" dirty="0">
                <a:latin typeface="Times New Roman" pitchFamily="18" charset="0"/>
                <a:cs typeface="Times New Roman" pitchFamily="18" charset="0"/>
              </a:rPr>
              <a:t> and </a:t>
            </a:r>
            <a:r>
              <a:rPr lang="en-US" sz="2200" i="1" dirty="0">
                <a:solidFill>
                  <a:schemeClr val="hlink"/>
                </a:solidFill>
                <a:latin typeface="Times New Roman" pitchFamily="18" charset="0"/>
                <a:cs typeface="Times New Roman" pitchFamily="18" charset="0"/>
              </a:rPr>
              <a:t>access of data</a:t>
            </a:r>
            <a:endParaRPr lang="en-US" sz="2200" dirty="0">
              <a:latin typeface="Times New Roman" pitchFamily="18" charset="0"/>
              <a:cs typeface="Times New Roman" pitchFamily="18" charset="0"/>
            </a:endParaRPr>
          </a:p>
          <a:p>
            <a:pPr algn="just">
              <a:lnSpc>
                <a:spcPct val="130000"/>
              </a:lnSpc>
            </a:pP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3130662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763000" cy="6586418"/>
          </a:xfrm>
          <a:prstGeom prst="rect">
            <a:avLst/>
          </a:prstGeom>
        </p:spPr>
        <p:txBody>
          <a:bodyPr wrap="square">
            <a:spAutoFit/>
          </a:bodyPr>
          <a:lstStyle/>
          <a:p>
            <a:pPr algn="just"/>
            <a:r>
              <a:rPr lang="en-US" sz="2400" b="1" dirty="0">
                <a:solidFill>
                  <a:srgbClr val="FF0000"/>
                </a:solidFill>
                <a:latin typeface="Times New Roman" pitchFamily="18" charset="0"/>
                <a:cs typeface="Times New Roman" pitchFamily="18" charset="0"/>
              </a:rPr>
              <a:t>Differences between Operational Database Systems and Data Warehouses:</a:t>
            </a:r>
          </a:p>
          <a:p>
            <a:pPr algn="just"/>
            <a:r>
              <a:rPr lang="en-US" sz="2000" dirty="0">
                <a:latin typeface="Times New Roman" pitchFamily="18" charset="0"/>
                <a:cs typeface="Times New Roman" pitchFamily="18" charset="0"/>
              </a:rPr>
              <a:t>	</a:t>
            </a:r>
            <a:r>
              <a:rPr lang="en-US" sz="2200" dirty="0">
                <a:latin typeface="Times New Roman" pitchFamily="18" charset="0"/>
                <a:cs typeface="Times New Roman" pitchFamily="18" charset="0"/>
              </a:rPr>
              <a:t>The major task of online operational database systems is to perform online transaction and query processing. These systems are called online transaction processing (OLTP) systems. They cover most of the day-to-day operations of an organization such as purchasing, inventory, manufacturing, banking, payroll, registration, and accounting. Data warehouse systems, on the other hand, serve users or knowledge workers in the role of data analysis and decision making. Such systems can organize and present data in various formats in order to accommodate the diverse needs of different users. These systems are known as online analytical processing (OLAP) systems.</a:t>
            </a:r>
          </a:p>
          <a:p>
            <a:pPr algn="just"/>
            <a:endParaRPr lang="en-US" sz="2200" dirty="0">
              <a:latin typeface="Times New Roman" pitchFamily="18" charset="0"/>
              <a:cs typeface="Times New Roman" pitchFamily="18" charset="0"/>
            </a:endParaRPr>
          </a:p>
          <a:p>
            <a:pPr algn="just"/>
            <a:r>
              <a:rPr lang="en-US" sz="2200" dirty="0">
                <a:solidFill>
                  <a:srgbClr val="0070C0"/>
                </a:solidFill>
                <a:latin typeface="Times New Roman" pitchFamily="18" charset="0"/>
                <a:cs typeface="Times New Roman" pitchFamily="18" charset="0"/>
              </a:rPr>
              <a:t>The major distinguishing features of OLTP and OLAP are summarized as follows:</a:t>
            </a:r>
          </a:p>
          <a:p>
            <a:pPr algn="just"/>
            <a:r>
              <a:rPr lang="en-US" sz="2200" b="1" dirty="0">
                <a:solidFill>
                  <a:srgbClr val="0070C0"/>
                </a:solidFill>
                <a:latin typeface="Times New Roman" pitchFamily="18" charset="0"/>
                <a:cs typeface="Times New Roman" pitchFamily="18" charset="0"/>
              </a:rPr>
              <a:t>Users and system orientation: </a:t>
            </a:r>
            <a:r>
              <a:rPr lang="en-US" sz="2200" dirty="0">
                <a:latin typeface="Times New Roman" pitchFamily="18" charset="0"/>
                <a:cs typeface="Times New Roman" pitchFamily="18" charset="0"/>
              </a:rPr>
              <a:t>An OLTP system is customer-oriented and is used for transaction and query processing by clerks, clients, and information technology professionals. An OLAP system is market-oriented and is used for data analysis by knowledge workers, including managers, executives, and analysts.</a:t>
            </a:r>
          </a:p>
        </p:txBody>
      </p:sp>
    </p:spTree>
    <p:extLst>
      <p:ext uri="{BB962C8B-B14F-4D97-AF65-F5344CB8AC3E}">
        <p14:creationId xmlns:p14="http://schemas.microsoft.com/office/powerpoint/2010/main" val="3830660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763000" cy="6524863"/>
          </a:xfrm>
          <a:prstGeom prst="rect">
            <a:avLst/>
          </a:prstGeom>
        </p:spPr>
        <p:txBody>
          <a:bodyPr wrap="square">
            <a:spAutoFit/>
          </a:bodyPr>
          <a:lstStyle/>
          <a:p>
            <a:pPr algn="just"/>
            <a:r>
              <a:rPr lang="en-US" sz="2200" b="1" dirty="0">
                <a:solidFill>
                  <a:srgbClr val="0070C0"/>
                </a:solidFill>
                <a:latin typeface="Times New Roman" pitchFamily="18" charset="0"/>
                <a:cs typeface="Times New Roman" pitchFamily="18" charset="0"/>
              </a:rPr>
              <a:t>Data contents:</a:t>
            </a:r>
            <a:r>
              <a:rPr lang="en-US" sz="2200" dirty="0">
                <a:solidFill>
                  <a:srgbClr val="0070C0"/>
                </a:solidFill>
                <a:latin typeface="Times New Roman" pitchFamily="18" charset="0"/>
                <a:cs typeface="Times New Roman" pitchFamily="18" charset="0"/>
              </a:rPr>
              <a:t> </a:t>
            </a:r>
            <a:r>
              <a:rPr lang="en-US" sz="2200" dirty="0">
                <a:latin typeface="Times New Roman" pitchFamily="18" charset="0"/>
                <a:cs typeface="Times New Roman" pitchFamily="18" charset="0"/>
              </a:rPr>
              <a:t>An OLTP system manages current data that, typically, are too detailed to be easily used for decision making. An OLAP system manages large amounts of historic data, provides facilities for summarization and aggregation, and stores and manages information at different levels of granularity.</a:t>
            </a:r>
          </a:p>
          <a:p>
            <a:pPr algn="just"/>
            <a:r>
              <a:rPr lang="en-US" sz="2200" dirty="0">
                <a:solidFill>
                  <a:srgbClr val="0070C0"/>
                </a:solidFill>
                <a:latin typeface="Times New Roman" pitchFamily="18" charset="0"/>
                <a:cs typeface="Times New Roman" pitchFamily="18" charset="0"/>
              </a:rPr>
              <a:t>Database design: </a:t>
            </a:r>
            <a:r>
              <a:rPr lang="en-US" sz="2200" dirty="0">
                <a:latin typeface="Times New Roman" pitchFamily="18" charset="0"/>
                <a:cs typeface="Times New Roman" pitchFamily="18" charset="0"/>
              </a:rPr>
              <a:t>An OLTP system usually adopts an entity-relationship (ER) data model and an application-oriented database design. An OLAP system typically adopts either a star or a snowflake model and a subject-oriented database design.</a:t>
            </a:r>
          </a:p>
          <a:p>
            <a:pPr algn="just"/>
            <a:r>
              <a:rPr lang="en-US" sz="2200" dirty="0">
                <a:solidFill>
                  <a:srgbClr val="0070C0"/>
                </a:solidFill>
                <a:latin typeface="Times New Roman" pitchFamily="18" charset="0"/>
                <a:cs typeface="Times New Roman" pitchFamily="18" charset="0"/>
              </a:rPr>
              <a:t>View: </a:t>
            </a:r>
            <a:r>
              <a:rPr lang="en-US" sz="2200" dirty="0">
                <a:latin typeface="Times New Roman" pitchFamily="18" charset="0"/>
                <a:cs typeface="Times New Roman" pitchFamily="18" charset="0"/>
              </a:rPr>
              <a:t>An OLTP system focuses mainly on the current data within an enterprise or department, without referring to historic data or data in different organizations. In contrast, an OLAP system often spans multiple versions of a database schema, due to the evolutionary process of an organization. </a:t>
            </a:r>
          </a:p>
          <a:p>
            <a:pPr algn="just"/>
            <a:r>
              <a:rPr lang="en-US" sz="2200" dirty="0">
                <a:solidFill>
                  <a:srgbClr val="0070C0"/>
                </a:solidFill>
                <a:latin typeface="Times New Roman" pitchFamily="18" charset="0"/>
                <a:cs typeface="Times New Roman" pitchFamily="18" charset="0"/>
              </a:rPr>
              <a:t>Access patterns: </a:t>
            </a:r>
            <a:r>
              <a:rPr lang="en-US" sz="2200" dirty="0">
                <a:latin typeface="Times New Roman" pitchFamily="18" charset="0"/>
                <a:cs typeface="Times New Roman" pitchFamily="18" charset="0"/>
              </a:rPr>
              <a:t>The access patterns of an OLTP system consist mainly of short, atomic transactions. Such a system requires concurrency control and recovery mechanisms. However, accesses to OLAP systems are mostly read-only operations(because most data warehouses store historic rather than up-to-date information), although many could be complex queries.</a:t>
            </a:r>
          </a:p>
        </p:txBody>
      </p:sp>
    </p:spTree>
    <p:extLst>
      <p:ext uri="{BB962C8B-B14F-4D97-AF65-F5344CB8AC3E}">
        <p14:creationId xmlns:p14="http://schemas.microsoft.com/office/powerpoint/2010/main" val="2407967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76200"/>
            <a:ext cx="883920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0966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458200" cy="6491008"/>
          </a:xfrm>
          <a:prstGeom prst="rect">
            <a:avLst/>
          </a:prstGeom>
        </p:spPr>
        <p:txBody>
          <a:bodyPr wrap="square">
            <a:spAutoFit/>
          </a:bodyPr>
          <a:lstStyle/>
          <a:p>
            <a:pPr algn="just">
              <a:lnSpc>
                <a:spcPct val="110000"/>
              </a:lnSpc>
              <a:defRPr/>
            </a:pPr>
            <a:r>
              <a:rPr lang="en-US" sz="2400" dirty="0">
                <a:solidFill>
                  <a:srgbClr val="FF0000"/>
                </a:solidFill>
                <a:latin typeface="Times New Roman" pitchFamily="18" charset="0"/>
                <a:cs typeface="Times New Roman" pitchFamily="18" charset="0"/>
              </a:rPr>
              <a:t>Why Separate Data Warehouse?</a:t>
            </a:r>
          </a:p>
          <a:p>
            <a:pPr algn="just">
              <a:lnSpc>
                <a:spcPct val="110000"/>
              </a:lnSpc>
              <a:defRPr/>
            </a:pPr>
            <a:endParaRPr lang="en-US" sz="2400" dirty="0">
              <a:solidFill>
                <a:srgbClr val="FF0000"/>
              </a:solidFill>
              <a:latin typeface="Times New Roman" pitchFamily="18" charset="0"/>
              <a:cs typeface="Times New Roman" pitchFamily="18" charset="0"/>
            </a:endParaRPr>
          </a:p>
          <a:p>
            <a:pPr algn="just">
              <a:lnSpc>
                <a:spcPct val="110000"/>
              </a:lnSpc>
              <a:buFont typeface="Arial" pitchFamily="34" charset="0"/>
              <a:buChar char="•"/>
              <a:defRPr/>
            </a:pPr>
            <a:r>
              <a:rPr lang="en-US" sz="2200" dirty="0">
                <a:latin typeface="Times New Roman" pitchFamily="18" charset="0"/>
                <a:cs typeface="Times New Roman" pitchFamily="18" charset="0"/>
              </a:rPr>
              <a:t>High performance for both systems</a:t>
            </a:r>
          </a:p>
          <a:p>
            <a:pPr lvl="1" algn="just">
              <a:lnSpc>
                <a:spcPct val="110000"/>
              </a:lnSpc>
              <a:buFont typeface="Arial" pitchFamily="34" charset="0"/>
              <a:buChar char="–"/>
              <a:defRPr/>
            </a:pPr>
            <a:r>
              <a:rPr lang="en-US" sz="2200" dirty="0">
                <a:latin typeface="Times New Roman" pitchFamily="18" charset="0"/>
                <a:cs typeface="Times New Roman" pitchFamily="18" charset="0"/>
              </a:rPr>
              <a:t>DBMS— tuned for OLTP: access methods, indexing, concurrency control, recovery</a:t>
            </a:r>
          </a:p>
          <a:p>
            <a:pPr lvl="1" algn="just">
              <a:lnSpc>
                <a:spcPct val="110000"/>
              </a:lnSpc>
              <a:buFont typeface="Arial" pitchFamily="34" charset="0"/>
              <a:buChar char="–"/>
              <a:defRPr/>
            </a:pPr>
            <a:r>
              <a:rPr lang="en-US" sz="2200" dirty="0">
                <a:latin typeface="Times New Roman" pitchFamily="18" charset="0"/>
                <a:cs typeface="Times New Roman" pitchFamily="18" charset="0"/>
              </a:rPr>
              <a:t>Warehouse—tuned for OLAP: complex OLAP queries, multidimensional view, consolidation</a:t>
            </a:r>
          </a:p>
          <a:p>
            <a:pPr lvl="1" algn="just">
              <a:lnSpc>
                <a:spcPct val="110000"/>
              </a:lnSpc>
              <a:buFont typeface="Arial" pitchFamily="34" charset="0"/>
              <a:buChar char="–"/>
              <a:defRPr/>
            </a:pPr>
            <a:endParaRPr lang="en-US" sz="2200" dirty="0">
              <a:latin typeface="Times New Roman" pitchFamily="18" charset="0"/>
              <a:cs typeface="Times New Roman" pitchFamily="18" charset="0"/>
            </a:endParaRPr>
          </a:p>
          <a:p>
            <a:pPr algn="just">
              <a:lnSpc>
                <a:spcPct val="110000"/>
              </a:lnSpc>
              <a:buFont typeface="Arial" pitchFamily="34" charset="0"/>
              <a:buChar char="•"/>
              <a:defRPr/>
            </a:pPr>
            <a:r>
              <a:rPr lang="en-US" sz="2200" dirty="0">
                <a:latin typeface="Times New Roman" pitchFamily="18" charset="0"/>
                <a:cs typeface="Times New Roman" pitchFamily="18" charset="0"/>
              </a:rPr>
              <a:t>Different functions and different data:</a:t>
            </a:r>
          </a:p>
          <a:p>
            <a:pPr lvl="1" algn="just">
              <a:lnSpc>
                <a:spcPct val="110000"/>
              </a:lnSpc>
              <a:buFont typeface="Arial" pitchFamily="34" charset="0"/>
              <a:buChar char="–"/>
              <a:defRPr/>
            </a:pPr>
            <a:r>
              <a:rPr lang="en-US" sz="2200" u="sng" dirty="0">
                <a:solidFill>
                  <a:schemeClr val="hlink"/>
                </a:solidFill>
                <a:latin typeface="Times New Roman" pitchFamily="18" charset="0"/>
                <a:cs typeface="Times New Roman" pitchFamily="18" charset="0"/>
              </a:rPr>
              <a:t>missing data</a:t>
            </a:r>
            <a:r>
              <a:rPr lang="en-US" sz="2200" dirty="0">
                <a:latin typeface="Times New Roman" pitchFamily="18" charset="0"/>
                <a:cs typeface="Times New Roman" pitchFamily="18" charset="0"/>
              </a:rPr>
              <a:t>: Decision support requires historical data which operational DBs do not typically maintain</a:t>
            </a:r>
          </a:p>
          <a:p>
            <a:pPr lvl="1" algn="just">
              <a:lnSpc>
                <a:spcPct val="110000"/>
              </a:lnSpc>
              <a:buFont typeface="Arial" pitchFamily="34" charset="0"/>
              <a:buChar char="–"/>
              <a:defRPr/>
            </a:pPr>
            <a:r>
              <a:rPr lang="en-US" sz="2200" u="sng" dirty="0">
                <a:solidFill>
                  <a:schemeClr val="hlink"/>
                </a:solidFill>
                <a:latin typeface="Times New Roman" pitchFamily="18" charset="0"/>
                <a:cs typeface="Times New Roman" pitchFamily="18" charset="0"/>
              </a:rPr>
              <a:t>data consolidation</a:t>
            </a:r>
            <a:r>
              <a:rPr lang="en-US" sz="2200" dirty="0">
                <a:latin typeface="Times New Roman" pitchFamily="18" charset="0"/>
                <a:cs typeface="Times New Roman" pitchFamily="18" charset="0"/>
              </a:rPr>
              <a:t>:  DS requires consolidation (aggregation, summarization) of data from heterogeneous sources</a:t>
            </a:r>
          </a:p>
          <a:p>
            <a:pPr lvl="1" algn="just">
              <a:lnSpc>
                <a:spcPct val="110000"/>
              </a:lnSpc>
              <a:buFont typeface="Arial" pitchFamily="34" charset="0"/>
              <a:buChar char="–"/>
              <a:defRPr/>
            </a:pPr>
            <a:r>
              <a:rPr lang="en-US" sz="2200" u="sng" dirty="0">
                <a:solidFill>
                  <a:schemeClr val="hlink"/>
                </a:solidFill>
                <a:latin typeface="Times New Roman" pitchFamily="18" charset="0"/>
                <a:cs typeface="Times New Roman" pitchFamily="18" charset="0"/>
              </a:rPr>
              <a:t>data quality</a:t>
            </a:r>
            <a:r>
              <a:rPr lang="en-US" sz="2200" dirty="0">
                <a:latin typeface="Times New Roman" pitchFamily="18" charset="0"/>
                <a:cs typeface="Times New Roman" pitchFamily="18" charset="0"/>
              </a:rPr>
              <a:t>: different sources typically use inconsistent data representations, codes and formats which have to be reconciled</a:t>
            </a:r>
          </a:p>
          <a:p>
            <a:pPr algn="just">
              <a:lnSpc>
                <a:spcPct val="110000"/>
              </a:lnSpc>
              <a:defRPr/>
            </a:pPr>
            <a:r>
              <a:rPr lang="en-US" sz="2200" dirty="0">
                <a:latin typeface="Times New Roman" pitchFamily="18" charset="0"/>
                <a:cs typeface="Times New Roman" pitchFamily="18" charset="0"/>
              </a:rPr>
              <a:t>Note: There are more and more systems which perform OLAP analysis directly on relational databases.</a:t>
            </a:r>
          </a:p>
        </p:txBody>
      </p:sp>
    </p:spTree>
    <p:extLst>
      <p:ext uri="{BB962C8B-B14F-4D97-AF65-F5344CB8AC3E}">
        <p14:creationId xmlns:p14="http://schemas.microsoft.com/office/powerpoint/2010/main" val="1943661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458200" cy="1209562"/>
          </a:xfrm>
          <a:prstGeom prst="rect">
            <a:avLst/>
          </a:prstGeom>
        </p:spPr>
        <p:txBody>
          <a:bodyPr wrap="square">
            <a:spAutoFit/>
          </a:bodyPr>
          <a:lstStyle/>
          <a:p>
            <a:pPr algn="just">
              <a:lnSpc>
                <a:spcPct val="110000"/>
              </a:lnSpc>
              <a:defRPr/>
            </a:pPr>
            <a:r>
              <a:rPr lang="en-US" sz="2200" dirty="0">
                <a:latin typeface="Times New Roman" pitchFamily="18" charset="0"/>
                <a:cs typeface="Times New Roman" pitchFamily="18" charset="0"/>
              </a:rPr>
              <a:t>Data Warehousing: A </a:t>
            </a:r>
            <a:r>
              <a:rPr lang="en-US" sz="2200" dirty="0" err="1">
                <a:latin typeface="Times New Roman" pitchFamily="18" charset="0"/>
                <a:cs typeface="Times New Roman" pitchFamily="18" charset="0"/>
              </a:rPr>
              <a:t>Multitiered</a:t>
            </a:r>
            <a:r>
              <a:rPr lang="en-US" sz="2200" dirty="0">
                <a:latin typeface="Times New Roman" pitchFamily="18" charset="0"/>
                <a:cs typeface="Times New Roman" pitchFamily="18" charset="0"/>
              </a:rPr>
              <a:t> Architecture </a:t>
            </a:r>
          </a:p>
          <a:p>
            <a:pPr algn="just">
              <a:lnSpc>
                <a:spcPct val="110000"/>
              </a:lnSpc>
              <a:defRPr/>
            </a:pPr>
            <a:r>
              <a:rPr lang="en-US" sz="2200" dirty="0">
                <a:latin typeface="Times New Roman" pitchFamily="18" charset="0"/>
                <a:cs typeface="Times New Roman" pitchFamily="18" charset="0"/>
              </a:rPr>
              <a:t>Data warehouses often adopt a three-tier architecture is as follows:</a:t>
            </a:r>
            <a:endParaRPr lang="en-US" sz="2200" dirty="0">
              <a:solidFill>
                <a:srgbClr val="FF0000"/>
              </a:solidFill>
              <a:latin typeface="Times New Roman" pitchFamily="18" charset="0"/>
              <a:cs typeface="Times New Roman" pitchFamily="18" charset="0"/>
            </a:endParaRPr>
          </a:p>
          <a:p>
            <a:pPr algn="just">
              <a:lnSpc>
                <a:spcPct val="110000"/>
              </a:lnSpc>
              <a:defRPr/>
            </a:pPr>
            <a:endParaRPr lang="en-US" sz="22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138238"/>
            <a:ext cx="8229600" cy="556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308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6186309"/>
          </a:xfrm>
          <a:prstGeom prst="rect">
            <a:avLst/>
          </a:prstGeom>
        </p:spPr>
        <p:txBody>
          <a:bodyPr wrap="square">
            <a:spAutoFit/>
          </a:bodyPr>
          <a:lstStyle/>
          <a:p>
            <a:pPr algn="just"/>
            <a:r>
              <a:rPr lang="en-US" sz="2200" dirty="0">
                <a:latin typeface="Times New Roman" pitchFamily="18" charset="0"/>
                <a:cs typeface="Times New Roman" pitchFamily="18" charset="0"/>
              </a:rPr>
              <a:t>	The bottom tier is a warehouse database server that is almost always a relational database system. Back-end tools and utilities are used to feed data into the bottom tier from operational databases or other external sources (e.g., customer profile information provided by external consultants). These tools and utilities perform data extraction, cleaning, and transformation, as well as load and refresh functions to update the data warehouse.</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The middle tier is an OLAP server that is typically implemented using either relational OLAP(ROLAP) model (i.e. an extended relational DBMS that maps operations on multidimensional data to standard relational operations); or (2) a multi dimensional OLAP (MOLAP) model (i.e., a special-purpose server that directly implements multidimensional data and operations).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The top tier is a front-end client layer, which contains query and reporting tools, analysis tools, and/or data mining tools (e.g., trend analysis, prediction, and so on).</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994799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1"/>
            <a:ext cx="8686800" cy="6278642"/>
          </a:xfrm>
          <a:prstGeom prst="rect">
            <a:avLst/>
          </a:prstGeom>
        </p:spPr>
        <p:txBody>
          <a:bodyPr wrap="square">
            <a:spAutoFit/>
          </a:bodyPr>
          <a:lstStyle/>
          <a:p>
            <a:pPr algn="just"/>
            <a:r>
              <a:rPr lang="en-US" sz="2400" b="1" dirty="0">
                <a:latin typeface="Times New Roman" pitchFamily="18" charset="0"/>
                <a:cs typeface="Times New Roman" pitchFamily="18" charset="0"/>
              </a:rPr>
              <a:t>Data Warehouse Models: </a:t>
            </a:r>
            <a:endParaRPr lang="en-US" b="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From the architecture point of view, there are three data warehouse models: the enterprise warehouse, the data mart, and the virtual warehouse. </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Enterprise warehouse: </a:t>
            </a:r>
            <a:r>
              <a:rPr lang="en-US" dirty="0">
                <a:latin typeface="Times New Roman" pitchFamily="18" charset="0"/>
                <a:cs typeface="Times New Roman" pitchFamily="18" charset="0"/>
              </a:rPr>
              <a:t>An enterprise warehouse collects all of the information about subjects spanning the entire organization. It provides corporate-wide data integration, usually from one or more operational systems or external information providers, and is cross-functional in scope. It typically contains detailed data as well as summarized data.</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Data mart:</a:t>
            </a:r>
            <a:r>
              <a:rPr lang="en-US" dirty="0">
                <a:latin typeface="Times New Roman" pitchFamily="18" charset="0"/>
                <a:cs typeface="Times New Roman" pitchFamily="18" charset="0"/>
              </a:rPr>
              <a:t> A data mart contains a subset of corporate-wide data that is of value to a specific group of users. The scope is confined to specific selected subjects. For example, a marketing data mart may confine its subjects to customer, item, and sales. The data contained in data marts tend to be summarized. Depending on the source of data, data marts can be categorized as independent or dependent. Independent data marts are sourced from data captured from one or more operational systems or external information providers, or from data generated locally within a particular department or geographic area. Dependent data marts are sourced directly from enterprise data warehouses. </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Virtual warehouse:</a:t>
            </a:r>
            <a:r>
              <a:rPr lang="en-US" dirty="0">
                <a:latin typeface="Times New Roman" pitchFamily="18" charset="0"/>
                <a:cs typeface="Times New Roman" pitchFamily="18" charset="0"/>
              </a:rPr>
              <a:t> A virtual warehouse is a set of views over operational databases. For efficient query processing, only some of the possible summary views may be materialized. A virtual warehouse is easy to build but requires excess capacity on operational database servers.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519543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1"/>
            <a:ext cx="8686800" cy="3939540"/>
          </a:xfrm>
          <a:prstGeom prst="rect">
            <a:avLst/>
          </a:prstGeom>
        </p:spPr>
        <p:txBody>
          <a:bodyPr wrap="square">
            <a:spAutoFit/>
          </a:bodyPr>
          <a:lstStyle/>
          <a:p>
            <a:pPr algn="just"/>
            <a:r>
              <a:rPr lang="en-US" sz="2000" dirty="0">
                <a:latin typeface="Times New Roman" pitchFamily="18" charset="0"/>
                <a:cs typeface="Times New Roman" pitchFamily="18" charset="0"/>
              </a:rPr>
              <a:t>A recommended method for the development of data warehouse systems is to implement the warehouse in an incremental and evolutionary manner, as shown in Figure 4.2. First, a high-level corporate data model is defined within a reasonably short period (such as one or two months) that provides a corporate-wide, consistent, integrated view of data among different subjects and potential usages. This high-level model, although it will need to be refined in the further development of enterprise data warehouses and departmental data marts, will greatly reduce future integration problems. </a:t>
            </a: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590800"/>
            <a:ext cx="8001000" cy="4070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7569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5847755"/>
          </a:xfrm>
          <a:prstGeom prst="rect">
            <a:avLst/>
          </a:prstGeom>
        </p:spPr>
        <p:txBody>
          <a:bodyPr wrap="square">
            <a:spAutoFit/>
          </a:bodyPr>
          <a:lstStyle/>
          <a:p>
            <a:pPr algn="just"/>
            <a:r>
              <a:rPr lang="en-US" sz="2200" dirty="0">
                <a:latin typeface="Times New Roman" pitchFamily="18" charset="0"/>
                <a:cs typeface="Times New Roman" pitchFamily="18" charset="0"/>
              </a:rPr>
              <a:t>	Second, independent data marts can be implemented in parallel with the enterprise. warehouse based on the same corporate data model set noted before. Third, distributed data marts can be constructed to integrate different data marts via hub servers. Finally, a multitier data warehouse is constructed where the enterprise warehouse is the sole custodian of all warehouse data, which is then distributed to the various dependent data marts.</a:t>
            </a:r>
          </a:p>
          <a:p>
            <a:pPr algn="just"/>
            <a:r>
              <a:rPr lang="en-US" sz="2200" dirty="0">
                <a:solidFill>
                  <a:srgbClr val="FF0000"/>
                </a:solidFill>
                <a:latin typeface="Times New Roman" pitchFamily="18" charset="0"/>
                <a:cs typeface="Times New Roman" pitchFamily="18" charset="0"/>
              </a:rPr>
              <a:t>Extraction, Transformation, and Loading:</a:t>
            </a:r>
          </a:p>
          <a:p>
            <a:pPr algn="just"/>
            <a:r>
              <a:rPr lang="en-US" sz="2200" dirty="0">
                <a:latin typeface="Times New Roman" pitchFamily="18" charset="0"/>
                <a:cs typeface="Times New Roman" pitchFamily="18" charset="0"/>
              </a:rPr>
              <a:t>	Data warehouse systems use back-end tools and utilities to populate and refresh their data (Figure 4.1). These tools and utilities include the following functions: </a:t>
            </a:r>
          </a:p>
          <a:p>
            <a:pPr algn="just"/>
            <a:r>
              <a:rPr lang="en-US" sz="2200" dirty="0">
                <a:solidFill>
                  <a:srgbClr val="0070C0"/>
                </a:solidFill>
                <a:latin typeface="Times New Roman" pitchFamily="18" charset="0"/>
                <a:cs typeface="Times New Roman" pitchFamily="18" charset="0"/>
              </a:rPr>
              <a:t>Data extraction:</a:t>
            </a:r>
            <a:r>
              <a:rPr lang="en-US" sz="2200" dirty="0">
                <a:latin typeface="Times New Roman" pitchFamily="18" charset="0"/>
                <a:cs typeface="Times New Roman" pitchFamily="18" charset="0"/>
              </a:rPr>
              <a:t> which typically gathers data from multiple, heterogeneous, and external sources. </a:t>
            </a:r>
          </a:p>
          <a:p>
            <a:pPr algn="just"/>
            <a:r>
              <a:rPr lang="en-US" sz="2200" dirty="0">
                <a:solidFill>
                  <a:srgbClr val="0070C0"/>
                </a:solidFill>
                <a:latin typeface="Times New Roman" pitchFamily="18" charset="0"/>
                <a:cs typeface="Times New Roman" pitchFamily="18" charset="0"/>
              </a:rPr>
              <a:t>Data cleaning:</a:t>
            </a:r>
            <a:r>
              <a:rPr lang="en-US" sz="2200" dirty="0">
                <a:latin typeface="Times New Roman" pitchFamily="18" charset="0"/>
                <a:cs typeface="Times New Roman" pitchFamily="18" charset="0"/>
              </a:rPr>
              <a:t> which detects errors in the data and rectifies them when possible. </a:t>
            </a:r>
          </a:p>
          <a:p>
            <a:pPr algn="just"/>
            <a:r>
              <a:rPr lang="en-US" sz="2200" dirty="0">
                <a:solidFill>
                  <a:srgbClr val="0070C0"/>
                </a:solidFill>
                <a:latin typeface="Times New Roman" pitchFamily="18" charset="0"/>
                <a:cs typeface="Times New Roman" pitchFamily="18" charset="0"/>
              </a:rPr>
              <a:t>Data transformation:</a:t>
            </a:r>
            <a:r>
              <a:rPr lang="en-US" sz="2200" dirty="0">
                <a:latin typeface="Times New Roman" pitchFamily="18" charset="0"/>
                <a:cs typeface="Times New Roman" pitchFamily="18" charset="0"/>
              </a:rPr>
              <a:t> which converts data from legacy or host format to warehouse format.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837651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6647974"/>
          </a:xfrm>
          <a:prstGeom prst="rect">
            <a:avLst/>
          </a:prstGeom>
        </p:spPr>
        <p:txBody>
          <a:bodyPr wrap="square">
            <a:spAutoFit/>
          </a:bodyPr>
          <a:lstStyle/>
          <a:p>
            <a:pPr algn="just"/>
            <a:r>
              <a:rPr lang="en-US" sz="2200" dirty="0">
                <a:solidFill>
                  <a:srgbClr val="0070C0"/>
                </a:solidFill>
                <a:latin typeface="Times New Roman" pitchFamily="18" charset="0"/>
                <a:cs typeface="Times New Roman" pitchFamily="18" charset="0"/>
              </a:rPr>
              <a:t>Load:</a:t>
            </a:r>
            <a:r>
              <a:rPr lang="en-US" sz="2200" dirty="0">
                <a:latin typeface="Times New Roman" pitchFamily="18" charset="0"/>
                <a:cs typeface="Times New Roman" pitchFamily="18" charset="0"/>
              </a:rPr>
              <a:t> which sorts, summarizes, consolidates, computes views, checks integrity, and builds indices and partitions. </a:t>
            </a:r>
          </a:p>
          <a:p>
            <a:pPr algn="just"/>
            <a:r>
              <a:rPr lang="en-US" sz="2200" dirty="0">
                <a:solidFill>
                  <a:srgbClr val="0070C0"/>
                </a:solidFill>
                <a:latin typeface="Times New Roman" pitchFamily="18" charset="0"/>
                <a:cs typeface="Times New Roman" pitchFamily="18" charset="0"/>
              </a:rPr>
              <a:t>Refresh:</a:t>
            </a:r>
            <a:r>
              <a:rPr lang="en-US" sz="2200" dirty="0">
                <a:latin typeface="Times New Roman" pitchFamily="18" charset="0"/>
                <a:cs typeface="Times New Roman" pitchFamily="18" charset="0"/>
              </a:rPr>
              <a:t> which propagates the updates from the data sources to the warehouse. </a:t>
            </a:r>
          </a:p>
          <a:p>
            <a:pPr algn="just"/>
            <a:r>
              <a:rPr lang="en-US" sz="2200" dirty="0">
                <a:latin typeface="Times New Roman" pitchFamily="18" charset="0"/>
                <a:cs typeface="Times New Roman" pitchFamily="18" charset="0"/>
              </a:rPr>
              <a:t>	Besides cleaning, loading, refreshing, and metadata definition tools, data warehouse systems usually provide a good set of data warehouse management tools.</a:t>
            </a:r>
          </a:p>
          <a:p>
            <a:pPr algn="just"/>
            <a:r>
              <a:rPr lang="en-US" sz="2200" b="1" u="sng" dirty="0">
                <a:solidFill>
                  <a:srgbClr val="FF0000"/>
                </a:solidFill>
                <a:latin typeface="Times New Roman" pitchFamily="18" charset="0"/>
                <a:cs typeface="Times New Roman" pitchFamily="18" charset="0"/>
              </a:rPr>
              <a:t>Metadata Repository: </a:t>
            </a:r>
          </a:p>
          <a:p>
            <a:pPr algn="just"/>
            <a:r>
              <a:rPr lang="en-US" sz="2200" dirty="0">
                <a:latin typeface="Times New Roman" pitchFamily="18" charset="0"/>
                <a:cs typeface="Times New Roman" pitchFamily="18" charset="0"/>
              </a:rPr>
              <a:t>Metadata are data about data. When used in a data warehouse, metadata are the data that define warehouse objects. Figure 4.1 showed a metadata repository within the bottom tier of the data warehousing architecture.</a:t>
            </a:r>
          </a:p>
          <a:p>
            <a:pPr algn="just"/>
            <a:r>
              <a:rPr lang="en-US" sz="2200" dirty="0">
                <a:latin typeface="Times New Roman" pitchFamily="18" charset="0"/>
                <a:cs typeface="Times New Roman" pitchFamily="18" charset="0"/>
              </a:rPr>
              <a:t>	A metadata repository should contain the following: </a:t>
            </a:r>
          </a:p>
          <a:p>
            <a:pPr algn="just"/>
            <a:r>
              <a:rPr lang="en-US" sz="2200" dirty="0">
                <a:solidFill>
                  <a:srgbClr val="0070C0"/>
                </a:solidFill>
                <a:latin typeface="Times New Roman" pitchFamily="18" charset="0"/>
                <a:cs typeface="Times New Roman" pitchFamily="18" charset="0"/>
              </a:rPr>
              <a:t>Data warehouse structure:</a:t>
            </a:r>
            <a:r>
              <a:rPr lang="en-US" sz="2200" dirty="0">
                <a:latin typeface="Times New Roman" pitchFamily="18" charset="0"/>
                <a:cs typeface="Times New Roman" pitchFamily="18" charset="0"/>
              </a:rPr>
              <a:t> which includes the warehouse schema, view, dimensions, hierarchies, and derived data definitions, as well as data mart locations and contents.</a:t>
            </a:r>
          </a:p>
          <a:p>
            <a:pPr algn="just"/>
            <a:r>
              <a:rPr lang="en-US" sz="2200" dirty="0">
                <a:solidFill>
                  <a:srgbClr val="0070C0"/>
                </a:solidFill>
                <a:latin typeface="Times New Roman" pitchFamily="18" charset="0"/>
                <a:cs typeface="Times New Roman" pitchFamily="18" charset="0"/>
              </a:rPr>
              <a:t>Operational metadata:</a:t>
            </a:r>
            <a:r>
              <a:rPr lang="en-US" sz="2200" dirty="0">
                <a:latin typeface="Times New Roman" pitchFamily="18" charset="0"/>
                <a:cs typeface="Times New Roman" pitchFamily="18" charset="0"/>
              </a:rPr>
              <a:t> which include data lineage (history of migrated data and the sequence of transformations applied to it), currency of data (active, archived, or purged), and monitoring information (warehouse usage statistics, error reports, and audit trails).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397591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1"/>
            <a:ext cx="8686800" cy="5509200"/>
          </a:xfrm>
          <a:prstGeom prst="rect">
            <a:avLst/>
          </a:prstGeom>
        </p:spPr>
        <p:txBody>
          <a:bodyPr wrap="square">
            <a:spAutoFit/>
          </a:bodyPr>
          <a:lstStyle/>
          <a:p>
            <a:pPr algn="just"/>
            <a:r>
              <a:rPr lang="en-US" sz="2200" dirty="0">
                <a:solidFill>
                  <a:srgbClr val="0070C0"/>
                </a:solidFill>
                <a:latin typeface="Times New Roman" pitchFamily="18" charset="0"/>
                <a:cs typeface="Times New Roman" pitchFamily="18" charset="0"/>
              </a:rPr>
              <a:t>The algorithms used for summarization:</a:t>
            </a:r>
            <a:r>
              <a:rPr lang="en-US" sz="2200" dirty="0">
                <a:latin typeface="Times New Roman" pitchFamily="18" charset="0"/>
                <a:cs typeface="Times New Roman" pitchFamily="18" charset="0"/>
              </a:rPr>
              <a:t> which include measure and dimension definition algorithms, data on granularity, partitions, subject areas, aggregation, summarization, and predefined queries and reports.</a:t>
            </a:r>
          </a:p>
          <a:p>
            <a:pPr algn="just"/>
            <a:endParaRPr lang="en-US" sz="2200" dirty="0">
              <a:latin typeface="Times New Roman" pitchFamily="18" charset="0"/>
              <a:cs typeface="Times New Roman" pitchFamily="18" charset="0"/>
            </a:endParaRPr>
          </a:p>
          <a:p>
            <a:pPr algn="just"/>
            <a:r>
              <a:rPr lang="en-US" sz="2200" dirty="0">
                <a:solidFill>
                  <a:srgbClr val="0070C0"/>
                </a:solidFill>
                <a:latin typeface="Times New Roman" pitchFamily="18" charset="0"/>
                <a:cs typeface="Times New Roman" pitchFamily="18" charset="0"/>
              </a:rPr>
              <a:t>Mapping from the operational environment to the data warehouse:</a:t>
            </a:r>
            <a:r>
              <a:rPr lang="en-US" sz="2200" dirty="0">
                <a:latin typeface="Times New Roman" pitchFamily="18" charset="0"/>
                <a:cs typeface="Times New Roman" pitchFamily="18" charset="0"/>
              </a:rPr>
              <a:t> which includes source databases and their contents, gateway descriptions, data partitions, data extraction, cleaning, transformation rules and defaults, data refresh and purging rules, and security (user authorization and access control). </a:t>
            </a:r>
          </a:p>
          <a:p>
            <a:pPr algn="just"/>
            <a:endParaRPr lang="en-US" sz="2200" dirty="0">
              <a:latin typeface="Times New Roman" pitchFamily="18" charset="0"/>
              <a:cs typeface="Times New Roman" pitchFamily="18" charset="0"/>
            </a:endParaRPr>
          </a:p>
          <a:p>
            <a:pPr algn="just"/>
            <a:r>
              <a:rPr lang="en-US" sz="2200" dirty="0">
                <a:solidFill>
                  <a:srgbClr val="0070C0"/>
                </a:solidFill>
                <a:latin typeface="Times New Roman" pitchFamily="18" charset="0"/>
                <a:cs typeface="Times New Roman" pitchFamily="18" charset="0"/>
              </a:rPr>
              <a:t>Data related to system performance:</a:t>
            </a:r>
            <a:r>
              <a:rPr lang="en-US" sz="2200" dirty="0">
                <a:latin typeface="Times New Roman" pitchFamily="18" charset="0"/>
                <a:cs typeface="Times New Roman" pitchFamily="18" charset="0"/>
              </a:rPr>
              <a:t> which include indices and profiles that improve data access and retrieval performance, in addition to rules for the timing and scheduling of refresh, update, and replication cycles. </a:t>
            </a:r>
          </a:p>
          <a:p>
            <a:pPr algn="just"/>
            <a:endParaRPr lang="en-US" sz="2200" dirty="0">
              <a:latin typeface="Times New Roman" pitchFamily="18" charset="0"/>
              <a:cs typeface="Times New Roman" pitchFamily="18" charset="0"/>
            </a:endParaRPr>
          </a:p>
          <a:p>
            <a:pPr algn="just"/>
            <a:r>
              <a:rPr lang="en-US" sz="2200" dirty="0">
                <a:solidFill>
                  <a:srgbClr val="0070C0"/>
                </a:solidFill>
                <a:latin typeface="Times New Roman" pitchFamily="18" charset="0"/>
                <a:cs typeface="Times New Roman" pitchFamily="18" charset="0"/>
              </a:rPr>
              <a:t>Business metadata:</a:t>
            </a:r>
            <a:r>
              <a:rPr lang="en-US" sz="2200" dirty="0">
                <a:latin typeface="Times New Roman" pitchFamily="18" charset="0"/>
                <a:cs typeface="Times New Roman" pitchFamily="18" charset="0"/>
              </a:rPr>
              <a:t> which include business terms and definitions, data ownership information, and charging policies.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064578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463308"/>
          </a:xfrm>
          <a:prstGeom prst="rect">
            <a:avLst/>
          </a:prstGeom>
        </p:spPr>
        <p:txBody>
          <a:bodyPr wrap="square">
            <a:spAutoFit/>
          </a:bodyPr>
          <a:lstStyle/>
          <a:p>
            <a:pPr algn="ctr"/>
            <a:r>
              <a:rPr lang="en-IN" sz="3200" dirty="0">
                <a:solidFill>
                  <a:srgbClr val="FF0000"/>
                </a:solidFill>
              </a:rPr>
              <a:t>Data Warehouse Modelling</a:t>
            </a:r>
            <a:endParaRPr lang="en-IN" dirty="0">
              <a:solidFill>
                <a:srgbClr val="FF0000"/>
              </a:solidFill>
            </a:endParaRPr>
          </a:p>
          <a:p>
            <a:pPr algn="just"/>
            <a:r>
              <a:rPr lang="en-IN" dirty="0"/>
              <a:t>	Data Cube and OLAP Data warehouses and OLAP tools are based on a multidimensional data model. This model views data in the form of a data cube. </a:t>
            </a:r>
          </a:p>
          <a:p>
            <a:pPr algn="just"/>
            <a:r>
              <a:rPr lang="en-US" sz="2400" dirty="0">
                <a:solidFill>
                  <a:srgbClr val="FF0000"/>
                </a:solidFill>
              </a:rPr>
              <a:t>Data Cube: A Multi dimensional Data Model</a:t>
            </a:r>
          </a:p>
          <a:p>
            <a:pPr algn="just"/>
            <a:r>
              <a:rPr lang="en-US" dirty="0"/>
              <a:t>	A data cube allows data to be modeled and viewed in multiple dimensions. It is defined by dimensions and facts.</a:t>
            </a:r>
          </a:p>
          <a:p>
            <a:pPr algn="just"/>
            <a:r>
              <a:rPr lang="en-US" dirty="0"/>
              <a:t>	I</a:t>
            </a:r>
            <a:r>
              <a:rPr lang="en-US" sz="2000" dirty="0">
                <a:latin typeface="Times New Roman" pitchFamily="18" charset="0"/>
                <a:cs typeface="Times New Roman" pitchFamily="18" charset="0"/>
              </a:rPr>
              <a:t>n general terms, dimensions are the entities with respect to which an organization wants to keep records. For example, All Electronics may create a sales data warehouse in order to keep records of the store’s sales with respect to the dimensions time, item, branch, and location. These dimensions allow the store to keep track of things like monthly sales of items and the branches and locations at which the items were sold. </a:t>
            </a:r>
          </a:p>
          <a:p>
            <a:pPr algn="just"/>
            <a:r>
              <a:rPr lang="en-US" sz="2000" dirty="0"/>
              <a:t>	</a:t>
            </a:r>
            <a:r>
              <a:rPr lang="en-US" sz="2200" dirty="0">
                <a:solidFill>
                  <a:schemeClr val="accent1"/>
                </a:solidFill>
                <a:latin typeface="Times New Roman" pitchFamily="18" charset="0"/>
                <a:cs typeface="Times New Roman" pitchFamily="18" charset="0"/>
              </a:rPr>
              <a:t>Each dimension may have a table associated with it, called a dimension table, which further describes the dimension.</a:t>
            </a:r>
          </a:p>
          <a:p>
            <a:pPr algn="just"/>
            <a:r>
              <a:rPr lang="en-US" sz="2200" dirty="0">
                <a:latin typeface="Times New Roman" pitchFamily="18" charset="0"/>
                <a:cs typeface="Times New Roman" pitchFamily="18" charset="0"/>
              </a:rPr>
              <a:t>	</a:t>
            </a:r>
            <a:r>
              <a:rPr lang="en-US" sz="2000" dirty="0"/>
              <a:t> </a:t>
            </a:r>
            <a:r>
              <a:rPr lang="en-US" sz="2000" dirty="0">
                <a:latin typeface="Times New Roman" pitchFamily="18" charset="0"/>
                <a:cs typeface="Times New Roman" pitchFamily="18" charset="0"/>
              </a:rPr>
              <a:t>A multidimensional data model is typically organized around a central theme, such as sales. This theme is represented by a </a:t>
            </a:r>
            <a:r>
              <a:rPr lang="en-US" sz="2000" b="1" dirty="0">
                <a:latin typeface="Times New Roman" pitchFamily="18" charset="0"/>
                <a:cs typeface="Times New Roman" pitchFamily="18" charset="0"/>
              </a:rPr>
              <a:t>fact table</a:t>
            </a:r>
            <a:r>
              <a:rPr lang="en-US" sz="2000" dirty="0">
                <a:latin typeface="Times New Roman" pitchFamily="18" charset="0"/>
                <a:cs typeface="Times New Roman" pitchFamily="18" charset="0"/>
              </a:rPr>
              <a:t>. Facts are numeric measures (quantities by which we want to analyze relationships between dimensions). </a:t>
            </a:r>
          </a:p>
          <a:p>
            <a:pPr algn="just"/>
            <a:r>
              <a:rPr lang="en-US" sz="2000" dirty="0">
                <a:latin typeface="Times New Roman" pitchFamily="18" charset="0"/>
                <a:cs typeface="Times New Roman" pitchFamily="18" charset="0"/>
              </a:rPr>
              <a:t>     Ex: Facts for a sales data warehouse include dollars sold (sales amount in dollars), units sold (number of units sold). </a:t>
            </a:r>
            <a:endParaRPr lang="en-US" sz="2200" dirty="0">
              <a:solidFill>
                <a:schemeClr val="hlink"/>
              </a:solidFill>
              <a:latin typeface="Times New Roman" pitchFamily="18" charset="0"/>
              <a:cs typeface="Times New Roman" pitchFamily="18" charset="0"/>
            </a:endParaRPr>
          </a:p>
        </p:txBody>
      </p:sp>
    </p:spTree>
    <p:extLst>
      <p:ext uri="{BB962C8B-B14F-4D97-AF65-F5344CB8AC3E}">
        <p14:creationId xmlns:p14="http://schemas.microsoft.com/office/powerpoint/2010/main" val="1076428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52400" y="2286000"/>
            <a:ext cx="8686800" cy="4343400"/>
          </a:xfrm>
          <a:prstGeom prst="rect">
            <a:avLst/>
          </a:prstGeom>
          <a:noFill/>
        </p:spPr>
      </p:pic>
      <p:sp>
        <p:nvSpPr>
          <p:cNvPr id="3" name="Rectangle 2"/>
          <p:cNvSpPr/>
          <p:nvPr/>
        </p:nvSpPr>
        <p:spPr>
          <a:xfrm>
            <a:off x="228600" y="152400"/>
            <a:ext cx="8763000" cy="2031325"/>
          </a:xfrm>
          <a:prstGeom prst="rect">
            <a:avLst/>
          </a:prstGeom>
        </p:spPr>
        <p:txBody>
          <a:bodyPr wrap="square">
            <a:spAutoFit/>
          </a:bodyPr>
          <a:lstStyle/>
          <a:p>
            <a:pPr algn="just"/>
            <a:r>
              <a:rPr lang="en-US" dirty="0">
                <a:latin typeface="Times New Roman" pitchFamily="18" charset="0"/>
                <a:cs typeface="Times New Roman" pitchFamily="18" charset="0"/>
              </a:rPr>
              <a:t>	For example, a dimension table for item may contain the attributes item name, brand, and type. Dimension tables can be specified by users or experts, or automatically generated and adjusted based on data distributions.</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In data warehousing literature, an n-D base cube is called a </a:t>
            </a:r>
            <a:r>
              <a:rPr lang="en-US" dirty="0">
                <a:solidFill>
                  <a:schemeClr val="hlink"/>
                </a:solidFill>
                <a:latin typeface="Times New Roman" pitchFamily="18" charset="0"/>
                <a:cs typeface="Times New Roman" pitchFamily="18" charset="0"/>
              </a:rPr>
              <a:t>base cuboid</a:t>
            </a:r>
            <a:r>
              <a:rPr lang="en-US" dirty="0">
                <a:latin typeface="Times New Roman" pitchFamily="18" charset="0"/>
                <a:cs typeface="Times New Roman" pitchFamily="18" charset="0"/>
              </a:rPr>
              <a:t>. The top most 0-D cuboid, which holds the highest-level of summarization, is called the </a:t>
            </a:r>
            <a:r>
              <a:rPr lang="en-US" dirty="0">
                <a:solidFill>
                  <a:schemeClr val="hlink"/>
                </a:solidFill>
                <a:latin typeface="Times New Roman" pitchFamily="18" charset="0"/>
                <a:cs typeface="Times New Roman" pitchFamily="18" charset="0"/>
              </a:rPr>
              <a:t>apex cuboid</a:t>
            </a:r>
            <a:r>
              <a:rPr lang="en-US" dirty="0">
                <a:latin typeface="Times New Roman" pitchFamily="18" charset="0"/>
                <a:cs typeface="Times New Roman" pitchFamily="18" charset="0"/>
              </a:rPr>
              <a:t>.  The lattice of cuboids forms a </a:t>
            </a:r>
            <a:r>
              <a:rPr lang="en-US" dirty="0">
                <a:solidFill>
                  <a:schemeClr val="hlink"/>
                </a:solidFill>
                <a:latin typeface="Times New Roman" pitchFamily="18" charset="0"/>
                <a:cs typeface="Times New Roman" pitchFamily="18" charset="0"/>
              </a:rPr>
              <a:t>data cube</a:t>
            </a:r>
            <a:endParaRPr lang="en-IN" dirty="0"/>
          </a:p>
        </p:txBody>
      </p:sp>
    </p:spTree>
    <p:extLst>
      <p:ext uri="{BB962C8B-B14F-4D97-AF65-F5344CB8AC3E}">
        <p14:creationId xmlns:p14="http://schemas.microsoft.com/office/powerpoint/2010/main" val="657514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9144000" cy="6858000"/>
          </a:xfrm>
          <a:prstGeom prst="rect">
            <a:avLst/>
          </a:prstGeom>
          <a:noFill/>
        </p:spPr>
      </p:pic>
    </p:spTree>
    <p:extLst>
      <p:ext uri="{BB962C8B-B14F-4D97-AF65-F5344CB8AC3E}">
        <p14:creationId xmlns:p14="http://schemas.microsoft.com/office/powerpoint/2010/main" val="886343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8763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8100" y="1295400"/>
            <a:ext cx="9144000" cy="5029200"/>
          </a:xfrm>
          <a:prstGeom prst="rect">
            <a:avLst/>
          </a:prstGeom>
          <a:noFill/>
        </p:spPr>
      </p:pic>
    </p:spTree>
    <p:extLst>
      <p:ext uri="{BB962C8B-B14F-4D97-AF65-F5344CB8AC3E}">
        <p14:creationId xmlns:p14="http://schemas.microsoft.com/office/powerpoint/2010/main" val="2858963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954088" y="381000"/>
            <a:ext cx="6970712" cy="685800"/>
          </a:xfrm>
          <a:prstGeom prst="rect">
            <a:avLst/>
          </a:prstGeom>
        </p:spPr>
        <p:txBody>
          <a:bodyPr rtlCol="0">
            <a:normAutofit fontScale="900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CN"/>
              <a:t>Cube: A Lattice of Cuboids</a:t>
            </a:r>
            <a:endParaRPr lang="en-US" altLang="zh-CN" dirty="0"/>
          </a:p>
        </p:txBody>
      </p:sp>
      <p:grpSp>
        <p:nvGrpSpPr>
          <p:cNvPr id="3" name="Group 73"/>
          <p:cNvGrpSpPr>
            <a:grpSpLocks/>
          </p:cNvGrpSpPr>
          <p:nvPr/>
        </p:nvGrpSpPr>
        <p:grpSpPr bwMode="auto">
          <a:xfrm>
            <a:off x="609600" y="1524000"/>
            <a:ext cx="8261350" cy="4481513"/>
            <a:chOff x="384" y="1209"/>
            <a:chExt cx="5204" cy="2823"/>
          </a:xfrm>
        </p:grpSpPr>
        <p:sp>
          <p:nvSpPr>
            <p:cNvPr id="4" name="AutoShape 3"/>
            <p:cNvSpPr>
              <a:spLocks noChangeArrowheads="1"/>
            </p:cNvSpPr>
            <p:nvPr/>
          </p:nvSpPr>
          <p:spPr bwMode="auto">
            <a:xfrm>
              <a:off x="1872" y="1440"/>
              <a:ext cx="144" cy="144"/>
            </a:xfrm>
            <a:prstGeom prst="flowChartConnector">
              <a:avLst/>
            </a:prstGeom>
            <a:solidFill>
              <a:schemeClr val="bg1"/>
            </a:solidFill>
            <a:ln w="9525">
              <a:solidFill>
                <a:schemeClr val="tx1"/>
              </a:solidFill>
              <a:round/>
              <a:headEnd/>
              <a:tailEnd/>
            </a:ln>
          </p:spPr>
          <p:txBody>
            <a:bodyPr wrap="none" anchor="ctr"/>
            <a:lstStyle/>
            <a:p>
              <a:endParaRPr lang="en-IN"/>
            </a:p>
          </p:txBody>
        </p:sp>
        <p:sp>
          <p:nvSpPr>
            <p:cNvPr id="5" name="AutoShape 4"/>
            <p:cNvSpPr>
              <a:spLocks noChangeArrowheads="1"/>
            </p:cNvSpPr>
            <p:nvPr/>
          </p:nvSpPr>
          <p:spPr bwMode="auto">
            <a:xfrm>
              <a:off x="816" y="1968"/>
              <a:ext cx="144" cy="144"/>
            </a:xfrm>
            <a:prstGeom prst="flowChartConnector">
              <a:avLst/>
            </a:prstGeom>
            <a:solidFill>
              <a:schemeClr val="bg1"/>
            </a:solidFill>
            <a:ln w="9525">
              <a:solidFill>
                <a:schemeClr val="tx1"/>
              </a:solidFill>
              <a:round/>
              <a:headEnd/>
              <a:tailEnd/>
            </a:ln>
          </p:spPr>
          <p:txBody>
            <a:bodyPr wrap="none" anchor="ctr"/>
            <a:lstStyle/>
            <a:p>
              <a:endParaRPr lang="en-IN"/>
            </a:p>
          </p:txBody>
        </p:sp>
        <p:sp>
          <p:nvSpPr>
            <p:cNvPr id="6" name="AutoShape 5"/>
            <p:cNvSpPr>
              <a:spLocks noChangeArrowheads="1"/>
            </p:cNvSpPr>
            <p:nvPr/>
          </p:nvSpPr>
          <p:spPr bwMode="auto">
            <a:xfrm>
              <a:off x="1536" y="1968"/>
              <a:ext cx="144" cy="144"/>
            </a:xfrm>
            <a:prstGeom prst="flowChartConnector">
              <a:avLst/>
            </a:prstGeom>
            <a:solidFill>
              <a:schemeClr val="bg1"/>
            </a:solidFill>
            <a:ln w="9525">
              <a:solidFill>
                <a:schemeClr val="tx1"/>
              </a:solidFill>
              <a:round/>
              <a:headEnd/>
              <a:tailEnd/>
            </a:ln>
          </p:spPr>
          <p:txBody>
            <a:bodyPr wrap="none" anchor="ctr"/>
            <a:lstStyle/>
            <a:p>
              <a:endParaRPr lang="en-IN"/>
            </a:p>
          </p:txBody>
        </p:sp>
        <p:sp>
          <p:nvSpPr>
            <p:cNvPr id="7" name="AutoShape 6"/>
            <p:cNvSpPr>
              <a:spLocks noChangeArrowheads="1"/>
            </p:cNvSpPr>
            <p:nvPr/>
          </p:nvSpPr>
          <p:spPr bwMode="auto">
            <a:xfrm>
              <a:off x="2256" y="1968"/>
              <a:ext cx="144" cy="144"/>
            </a:xfrm>
            <a:prstGeom prst="flowChartConnector">
              <a:avLst/>
            </a:prstGeom>
            <a:solidFill>
              <a:schemeClr val="bg1"/>
            </a:solidFill>
            <a:ln w="9525">
              <a:solidFill>
                <a:schemeClr val="tx1"/>
              </a:solidFill>
              <a:round/>
              <a:headEnd/>
              <a:tailEnd/>
            </a:ln>
          </p:spPr>
          <p:txBody>
            <a:bodyPr wrap="none" anchor="ctr"/>
            <a:lstStyle/>
            <a:p>
              <a:endParaRPr lang="en-IN"/>
            </a:p>
          </p:txBody>
        </p:sp>
        <p:sp>
          <p:nvSpPr>
            <p:cNvPr id="8" name="AutoShape 7"/>
            <p:cNvSpPr>
              <a:spLocks noChangeArrowheads="1"/>
            </p:cNvSpPr>
            <p:nvPr/>
          </p:nvSpPr>
          <p:spPr bwMode="auto">
            <a:xfrm>
              <a:off x="1728" y="2592"/>
              <a:ext cx="144" cy="144"/>
            </a:xfrm>
            <a:prstGeom prst="flowChartConnector">
              <a:avLst/>
            </a:prstGeom>
            <a:solidFill>
              <a:schemeClr val="bg1"/>
            </a:solidFill>
            <a:ln w="9525">
              <a:solidFill>
                <a:schemeClr val="tx1"/>
              </a:solidFill>
              <a:round/>
              <a:headEnd/>
              <a:tailEnd/>
            </a:ln>
          </p:spPr>
          <p:txBody>
            <a:bodyPr wrap="none" anchor="ctr"/>
            <a:lstStyle/>
            <a:p>
              <a:endParaRPr lang="en-IN"/>
            </a:p>
          </p:txBody>
        </p:sp>
        <p:sp>
          <p:nvSpPr>
            <p:cNvPr id="9" name="AutoShape 8"/>
            <p:cNvSpPr>
              <a:spLocks noChangeArrowheads="1"/>
            </p:cNvSpPr>
            <p:nvPr/>
          </p:nvSpPr>
          <p:spPr bwMode="auto">
            <a:xfrm>
              <a:off x="2976" y="2592"/>
              <a:ext cx="144" cy="144"/>
            </a:xfrm>
            <a:prstGeom prst="flowChartConnector">
              <a:avLst/>
            </a:prstGeom>
            <a:solidFill>
              <a:schemeClr val="bg1"/>
            </a:solidFill>
            <a:ln w="9525">
              <a:solidFill>
                <a:schemeClr val="tx1"/>
              </a:solidFill>
              <a:round/>
              <a:headEnd/>
              <a:tailEnd/>
            </a:ln>
          </p:spPr>
          <p:txBody>
            <a:bodyPr wrap="none" anchor="ctr"/>
            <a:lstStyle/>
            <a:p>
              <a:endParaRPr lang="en-IN"/>
            </a:p>
          </p:txBody>
        </p:sp>
        <p:sp>
          <p:nvSpPr>
            <p:cNvPr id="10" name="AutoShape 9"/>
            <p:cNvSpPr>
              <a:spLocks noChangeArrowheads="1"/>
            </p:cNvSpPr>
            <p:nvPr/>
          </p:nvSpPr>
          <p:spPr bwMode="auto">
            <a:xfrm>
              <a:off x="2400" y="2592"/>
              <a:ext cx="144" cy="144"/>
            </a:xfrm>
            <a:prstGeom prst="flowChartConnector">
              <a:avLst/>
            </a:prstGeom>
            <a:solidFill>
              <a:schemeClr val="bg1"/>
            </a:solidFill>
            <a:ln w="9525">
              <a:solidFill>
                <a:schemeClr val="tx1"/>
              </a:solidFill>
              <a:round/>
              <a:headEnd/>
              <a:tailEnd/>
            </a:ln>
          </p:spPr>
          <p:txBody>
            <a:bodyPr wrap="none" anchor="ctr"/>
            <a:lstStyle/>
            <a:p>
              <a:endParaRPr lang="en-IN"/>
            </a:p>
          </p:txBody>
        </p:sp>
        <p:sp>
          <p:nvSpPr>
            <p:cNvPr id="11" name="AutoShape 10"/>
            <p:cNvSpPr>
              <a:spLocks noChangeArrowheads="1"/>
            </p:cNvSpPr>
            <p:nvPr/>
          </p:nvSpPr>
          <p:spPr bwMode="auto">
            <a:xfrm>
              <a:off x="1056" y="2592"/>
              <a:ext cx="144" cy="144"/>
            </a:xfrm>
            <a:prstGeom prst="flowChartConnector">
              <a:avLst/>
            </a:prstGeom>
            <a:solidFill>
              <a:schemeClr val="bg1"/>
            </a:solidFill>
            <a:ln w="9525">
              <a:solidFill>
                <a:schemeClr val="tx1"/>
              </a:solidFill>
              <a:round/>
              <a:headEnd/>
              <a:tailEnd/>
            </a:ln>
          </p:spPr>
          <p:txBody>
            <a:bodyPr wrap="none" anchor="ctr"/>
            <a:lstStyle/>
            <a:p>
              <a:endParaRPr lang="en-IN"/>
            </a:p>
          </p:txBody>
        </p:sp>
        <p:sp>
          <p:nvSpPr>
            <p:cNvPr id="12" name="AutoShape 11"/>
            <p:cNvSpPr>
              <a:spLocks noChangeArrowheads="1"/>
            </p:cNvSpPr>
            <p:nvPr/>
          </p:nvSpPr>
          <p:spPr bwMode="auto">
            <a:xfrm>
              <a:off x="384" y="2592"/>
              <a:ext cx="144" cy="144"/>
            </a:xfrm>
            <a:prstGeom prst="flowChartConnector">
              <a:avLst/>
            </a:prstGeom>
            <a:solidFill>
              <a:schemeClr val="bg1"/>
            </a:solidFill>
            <a:ln w="9525">
              <a:solidFill>
                <a:schemeClr val="tx1"/>
              </a:solidFill>
              <a:round/>
              <a:headEnd/>
              <a:tailEnd/>
            </a:ln>
          </p:spPr>
          <p:txBody>
            <a:bodyPr wrap="none" anchor="ctr"/>
            <a:lstStyle/>
            <a:p>
              <a:endParaRPr lang="en-IN"/>
            </a:p>
          </p:txBody>
        </p:sp>
        <p:sp>
          <p:nvSpPr>
            <p:cNvPr id="13" name="AutoShape 12"/>
            <p:cNvSpPr>
              <a:spLocks noChangeArrowheads="1"/>
            </p:cNvSpPr>
            <p:nvPr/>
          </p:nvSpPr>
          <p:spPr bwMode="auto">
            <a:xfrm>
              <a:off x="2880" y="2016"/>
              <a:ext cx="144" cy="144"/>
            </a:xfrm>
            <a:prstGeom prst="flowChartConnector">
              <a:avLst/>
            </a:prstGeom>
            <a:solidFill>
              <a:schemeClr val="bg1"/>
            </a:solidFill>
            <a:ln w="9525">
              <a:solidFill>
                <a:schemeClr val="tx1"/>
              </a:solidFill>
              <a:round/>
              <a:headEnd/>
              <a:tailEnd/>
            </a:ln>
          </p:spPr>
          <p:txBody>
            <a:bodyPr wrap="none" anchor="ctr"/>
            <a:lstStyle/>
            <a:p>
              <a:endParaRPr lang="en-IN"/>
            </a:p>
          </p:txBody>
        </p:sp>
        <p:sp>
          <p:nvSpPr>
            <p:cNvPr id="14" name="AutoShape 13"/>
            <p:cNvSpPr>
              <a:spLocks noChangeArrowheads="1"/>
            </p:cNvSpPr>
            <p:nvPr/>
          </p:nvSpPr>
          <p:spPr bwMode="auto">
            <a:xfrm>
              <a:off x="816" y="3264"/>
              <a:ext cx="144" cy="144"/>
            </a:xfrm>
            <a:prstGeom prst="flowChartConnector">
              <a:avLst/>
            </a:prstGeom>
            <a:solidFill>
              <a:schemeClr val="bg1"/>
            </a:solidFill>
            <a:ln w="9525">
              <a:solidFill>
                <a:schemeClr val="tx1"/>
              </a:solidFill>
              <a:round/>
              <a:headEnd/>
              <a:tailEnd/>
            </a:ln>
          </p:spPr>
          <p:txBody>
            <a:bodyPr wrap="none" anchor="ctr"/>
            <a:lstStyle/>
            <a:p>
              <a:endParaRPr lang="en-IN"/>
            </a:p>
          </p:txBody>
        </p:sp>
        <p:sp>
          <p:nvSpPr>
            <p:cNvPr id="15" name="AutoShape 14"/>
            <p:cNvSpPr>
              <a:spLocks noChangeArrowheads="1"/>
            </p:cNvSpPr>
            <p:nvPr/>
          </p:nvSpPr>
          <p:spPr bwMode="auto">
            <a:xfrm>
              <a:off x="3552" y="2592"/>
              <a:ext cx="144" cy="144"/>
            </a:xfrm>
            <a:prstGeom prst="flowChartConnector">
              <a:avLst/>
            </a:prstGeom>
            <a:solidFill>
              <a:schemeClr val="bg1"/>
            </a:solidFill>
            <a:ln w="9525">
              <a:solidFill>
                <a:schemeClr val="tx1"/>
              </a:solidFill>
              <a:round/>
              <a:headEnd/>
              <a:tailEnd/>
            </a:ln>
          </p:spPr>
          <p:txBody>
            <a:bodyPr wrap="none" anchor="ctr"/>
            <a:lstStyle/>
            <a:p>
              <a:endParaRPr lang="en-IN"/>
            </a:p>
          </p:txBody>
        </p:sp>
        <p:sp>
          <p:nvSpPr>
            <p:cNvPr id="16" name="AutoShape 15"/>
            <p:cNvSpPr>
              <a:spLocks noChangeArrowheads="1"/>
            </p:cNvSpPr>
            <p:nvPr/>
          </p:nvSpPr>
          <p:spPr bwMode="auto">
            <a:xfrm>
              <a:off x="1920" y="3888"/>
              <a:ext cx="144" cy="144"/>
            </a:xfrm>
            <a:prstGeom prst="flowChartConnector">
              <a:avLst/>
            </a:prstGeom>
            <a:solidFill>
              <a:schemeClr val="bg1"/>
            </a:solidFill>
            <a:ln w="9525">
              <a:solidFill>
                <a:schemeClr val="tx1"/>
              </a:solidFill>
              <a:round/>
              <a:headEnd/>
              <a:tailEnd/>
            </a:ln>
          </p:spPr>
          <p:txBody>
            <a:bodyPr wrap="none" anchor="ctr"/>
            <a:lstStyle/>
            <a:p>
              <a:endParaRPr lang="en-IN"/>
            </a:p>
          </p:txBody>
        </p:sp>
        <p:sp>
          <p:nvSpPr>
            <p:cNvPr id="17" name="AutoShape 16"/>
            <p:cNvSpPr>
              <a:spLocks noChangeArrowheads="1"/>
            </p:cNvSpPr>
            <p:nvPr/>
          </p:nvSpPr>
          <p:spPr bwMode="auto">
            <a:xfrm>
              <a:off x="2784" y="3264"/>
              <a:ext cx="144" cy="144"/>
            </a:xfrm>
            <a:prstGeom prst="flowChartConnector">
              <a:avLst/>
            </a:prstGeom>
            <a:solidFill>
              <a:schemeClr val="bg1"/>
            </a:solidFill>
            <a:ln w="9525">
              <a:solidFill>
                <a:schemeClr val="tx1"/>
              </a:solidFill>
              <a:round/>
              <a:headEnd/>
              <a:tailEnd/>
            </a:ln>
          </p:spPr>
          <p:txBody>
            <a:bodyPr wrap="none" anchor="ctr"/>
            <a:lstStyle/>
            <a:p>
              <a:endParaRPr lang="en-IN"/>
            </a:p>
          </p:txBody>
        </p:sp>
        <p:sp>
          <p:nvSpPr>
            <p:cNvPr id="18" name="AutoShape 17"/>
            <p:cNvSpPr>
              <a:spLocks noChangeArrowheads="1"/>
            </p:cNvSpPr>
            <p:nvPr/>
          </p:nvSpPr>
          <p:spPr bwMode="auto">
            <a:xfrm>
              <a:off x="2112" y="3264"/>
              <a:ext cx="144" cy="144"/>
            </a:xfrm>
            <a:prstGeom prst="flowChartConnector">
              <a:avLst/>
            </a:prstGeom>
            <a:solidFill>
              <a:schemeClr val="bg1"/>
            </a:solidFill>
            <a:ln w="9525">
              <a:solidFill>
                <a:schemeClr val="tx1"/>
              </a:solidFill>
              <a:round/>
              <a:headEnd/>
              <a:tailEnd/>
            </a:ln>
          </p:spPr>
          <p:txBody>
            <a:bodyPr wrap="none" anchor="ctr"/>
            <a:lstStyle/>
            <a:p>
              <a:endParaRPr lang="en-IN"/>
            </a:p>
          </p:txBody>
        </p:sp>
        <p:sp>
          <p:nvSpPr>
            <p:cNvPr id="19" name="AutoShape 18"/>
            <p:cNvSpPr>
              <a:spLocks noChangeArrowheads="1"/>
            </p:cNvSpPr>
            <p:nvPr/>
          </p:nvSpPr>
          <p:spPr bwMode="auto">
            <a:xfrm>
              <a:off x="1440" y="3264"/>
              <a:ext cx="144" cy="144"/>
            </a:xfrm>
            <a:prstGeom prst="flowChartConnector">
              <a:avLst/>
            </a:prstGeom>
            <a:solidFill>
              <a:schemeClr val="bg1"/>
            </a:solidFill>
            <a:ln w="9525">
              <a:solidFill>
                <a:schemeClr val="tx1"/>
              </a:solidFill>
              <a:round/>
              <a:headEnd/>
              <a:tailEnd/>
            </a:ln>
          </p:spPr>
          <p:txBody>
            <a:bodyPr wrap="none" anchor="ctr"/>
            <a:lstStyle/>
            <a:p>
              <a:endParaRPr lang="en-IN"/>
            </a:p>
          </p:txBody>
        </p:sp>
        <p:sp>
          <p:nvSpPr>
            <p:cNvPr id="20" name="Text Box 19"/>
            <p:cNvSpPr txBox="1">
              <a:spLocks noChangeArrowheads="1"/>
            </p:cNvSpPr>
            <p:nvPr/>
          </p:nvSpPr>
          <p:spPr bwMode="auto">
            <a:xfrm>
              <a:off x="1766" y="1209"/>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algn="ctr"/>
              <a:r>
                <a:rPr lang="en-US" altLang="zh-CN" sz="2000">
                  <a:latin typeface="Times New Roman" pitchFamily="18" charset="0"/>
                </a:rPr>
                <a:t>all</a:t>
              </a:r>
              <a:endParaRPr lang="en-US" altLang="zh-CN" sz="2400">
                <a:latin typeface="Times New Roman" pitchFamily="18" charset="0"/>
              </a:endParaRPr>
            </a:p>
          </p:txBody>
        </p:sp>
        <p:sp>
          <p:nvSpPr>
            <p:cNvPr id="21" name="Text Box 20"/>
            <p:cNvSpPr txBox="1">
              <a:spLocks noChangeArrowheads="1"/>
            </p:cNvSpPr>
            <p:nvPr/>
          </p:nvSpPr>
          <p:spPr bwMode="auto">
            <a:xfrm>
              <a:off x="758" y="1737"/>
              <a:ext cx="3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en-US" altLang="zh-CN" sz="2000">
                  <a:latin typeface="Times New Roman" pitchFamily="18" charset="0"/>
                </a:rPr>
                <a:t>time</a:t>
              </a:r>
              <a:endParaRPr lang="en-US" altLang="zh-CN" sz="2400">
                <a:latin typeface="Times New Roman" pitchFamily="18" charset="0"/>
              </a:endParaRPr>
            </a:p>
          </p:txBody>
        </p:sp>
        <p:sp>
          <p:nvSpPr>
            <p:cNvPr id="22" name="Text Box 21"/>
            <p:cNvSpPr txBox="1">
              <a:spLocks noChangeArrowheads="1"/>
            </p:cNvSpPr>
            <p:nvPr/>
          </p:nvSpPr>
          <p:spPr bwMode="auto">
            <a:xfrm>
              <a:off x="1478" y="1737"/>
              <a:ext cx="3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en-US" altLang="zh-CN" sz="2000">
                  <a:latin typeface="Times New Roman" pitchFamily="18" charset="0"/>
                </a:rPr>
                <a:t>item</a:t>
              </a:r>
              <a:endParaRPr lang="en-US" altLang="zh-CN" sz="2400">
                <a:latin typeface="Times New Roman" pitchFamily="18" charset="0"/>
              </a:endParaRPr>
            </a:p>
          </p:txBody>
        </p:sp>
        <p:sp>
          <p:nvSpPr>
            <p:cNvPr id="23" name="Text Box 22"/>
            <p:cNvSpPr txBox="1">
              <a:spLocks noChangeArrowheads="1"/>
            </p:cNvSpPr>
            <p:nvPr/>
          </p:nvSpPr>
          <p:spPr bwMode="auto">
            <a:xfrm>
              <a:off x="2198" y="1737"/>
              <a:ext cx="63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en-US" altLang="zh-CN" sz="2000">
                  <a:latin typeface="Times New Roman" pitchFamily="18" charset="0"/>
                </a:rPr>
                <a:t>location</a:t>
              </a:r>
              <a:endParaRPr lang="en-US" altLang="zh-CN" sz="2400">
                <a:latin typeface="Times New Roman" pitchFamily="18" charset="0"/>
              </a:endParaRPr>
            </a:p>
          </p:txBody>
        </p:sp>
        <p:sp>
          <p:nvSpPr>
            <p:cNvPr id="24" name="Text Box 23"/>
            <p:cNvSpPr txBox="1">
              <a:spLocks noChangeArrowheads="1"/>
            </p:cNvSpPr>
            <p:nvPr/>
          </p:nvSpPr>
          <p:spPr bwMode="auto">
            <a:xfrm>
              <a:off x="2918" y="1737"/>
              <a:ext cx="63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en-US" altLang="zh-CN" sz="2000">
                  <a:latin typeface="Times New Roman" pitchFamily="18" charset="0"/>
                </a:rPr>
                <a:t>supplier</a:t>
              </a:r>
              <a:endParaRPr lang="en-US" altLang="zh-CN" sz="2400">
                <a:latin typeface="Times New Roman" pitchFamily="18" charset="0"/>
              </a:endParaRPr>
            </a:p>
          </p:txBody>
        </p:sp>
        <p:sp>
          <p:nvSpPr>
            <p:cNvPr id="25" name="Line 24"/>
            <p:cNvSpPr>
              <a:spLocks noChangeShapeType="1"/>
            </p:cNvSpPr>
            <p:nvPr/>
          </p:nvSpPr>
          <p:spPr bwMode="auto">
            <a:xfrm flipH="1">
              <a:off x="864" y="1488"/>
              <a:ext cx="1056"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6" name="Line 25"/>
            <p:cNvSpPr>
              <a:spLocks noChangeShapeType="1"/>
            </p:cNvSpPr>
            <p:nvPr/>
          </p:nvSpPr>
          <p:spPr bwMode="auto">
            <a:xfrm flipH="1">
              <a:off x="1632" y="1488"/>
              <a:ext cx="288"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7" name="Line 26"/>
            <p:cNvSpPr>
              <a:spLocks noChangeShapeType="1"/>
            </p:cNvSpPr>
            <p:nvPr/>
          </p:nvSpPr>
          <p:spPr bwMode="auto">
            <a:xfrm>
              <a:off x="1920" y="1488"/>
              <a:ext cx="384"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8" name="Line 27"/>
            <p:cNvSpPr>
              <a:spLocks noChangeShapeType="1"/>
            </p:cNvSpPr>
            <p:nvPr/>
          </p:nvSpPr>
          <p:spPr bwMode="auto">
            <a:xfrm>
              <a:off x="1920" y="1488"/>
              <a:ext cx="1056"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9" name="Line 28"/>
            <p:cNvSpPr>
              <a:spLocks noChangeShapeType="1"/>
            </p:cNvSpPr>
            <p:nvPr/>
          </p:nvSpPr>
          <p:spPr bwMode="auto">
            <a:xfrm flipH="1">
              <a:off x="432" y="2016"/>
              <a:ext cx="432"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0" name="Line 29"/>
            <p:cNvSpPr>
              <a:spLocks noChangeShapeType="1"/>
            </p:cNvSpPr>
            <p:nvPr/>
          </p:nvSpPr>
          <p:spPr bwMode="auto">
            <a:xfrm>
              <a:off x="864" y="2016"/>
              <a:ext cx="24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1" name="Line 30"/>
            <p:cNvSpPr>
              <a:spLocks noChangeShapeType="1"/>
            </p:cNvSpPr>
            <p:nvPr/>
          </p:nvSpPr>
          <p:spPr bwMode="auto">
            <a:xfrm>
              <a:off x="864" y="2016"/>
              <a:ext cx="912"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2" name="Line 31"/>
            <p:cNvSpPr>
              <a:spLocks noChangeShapeType="1"/>
            </p:cNvSpPr>
            <p:nvPr/>
          </p:nvSpPr>
          <p:spPr bwMode="auto">
            <a:xfrm flipH="1">
              <a:off x="432" y="2016"/>
              <a:ext cx="120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3" name="Line 32"/>
            <p:cNvSpPr>
              <a:spLocks noChangeShapeType="1"/>
            </p:cNvSpPr>
            <p:nvPr/>
          </p:nvSpPr>
          <p:spPr bwMode="auto">
            <a:xfrm>
              <a:off x="1632" y="2016"/>
              <a:ext cx="816"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4" name="Line 33"/>
            <p:cNvSpPr>
              <a:spLocks noChangeShapeType="1"/>
            </p:cNvSpPr>
            <p:nvPr/>
          </p:nvSpPr>
          <p:spPr bwMode="auto">
            <a:xfrm>
              <a:off x="1632" y="2016"/>
              <a:ext cx="1392"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5" name="Line 34"/>
            <p:cNvSpPr>
              <a:spLocks noChangeShapeType="1"/>
            </p:cNvSpPr>
            <p:nvPr/>
          </p:nvSpPr>
          <p:spPr bwMode="auto">
            <a:xfrm>
              <a:off x="2304" y="2016"/>
              <a:ext cx="144"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6" name="Line 35"/>
            <p:cNvSpPr>
              <a:spLocks noChangeShapeType="1"/>
            </p:cNvSpPr>
            <p:nvPr/>
          </p:nvSpPr>
          <p:spPr bwMode="auto">
            <a:xfrm>
              <a:off x="2304" y="2016"/>
              <a:ext cx="1296"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7" name="Line 36"/>
            <p:cNvSpPr>
              <a:spLocks noChangeShapeType="1"/>
            </p:cNvSpPr>
            <p:nvPr/>
          </p:nvSpPr>
          <p:spPr bwMode="auto">
            <a:xfrm flipH="1">
              <a:off x="1104" y="2016"/>
              <a:ext cx="120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8" name="Line 37"/>
            <p:cNvSpPr>
              <a:spLocks noChangeShapeType="1"/>
            </p:cNvSpPr>
            <p:nvPr/>
          </p:nvSpPr>
          <p:spPr bwMode="auto">
            <a:xfrm flipH="1">
              <a:off x="1776" y="2064"/>
              <a:ext cx="120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9" name="Line 38"/>
            <p:cNvSpPr>
              <a:spLocks noChangeShapeType="1"/>
            </p:cNvSpPr>
            <p:nvPr/>
          </p:nvSpPr>
          <p:spPr bwMode="auto">
            <a:xfrm>
              <a:off x="2976" y="2064"/>
              <a:ext cx="48"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40" name="Line 39"/>
            <p:cNvSpPr>
              <a:spLocks noChangeShapeType="1"/>
            </p:cNvSpPr>
            <p:nvPr/>
          </p:nvSpPr>
          <p:spPr bwMode="auto">
            <a:xfrm>
              <a:off x="2976" y="2064"/>
              <a:ext cx="62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41" name="Line 40"/>
            <p:cNvSpPr>
              <a:spLocks noChangeShapeType="1"/>
            </p:cNvSpPr>
            <p:nvPr/>
          </p:nvSpPr>
          <p:spPr bwMode="auto">
            <a:xfrm>
              <a:off x="432" y="2640"/>
              <a:ext cx="432"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42" name="Line 41"/>
            <p:cNvSpPr>
              <a:spLocks noChangeShapeType="1"/>
            </p:cNvSpPr>
            <p:nvPr/>
          </p:nvSpPr>
          <p:spPr bwMode="auto">
            <a:xfrm>
              <a:off x="432" y="2640"/>
              <a:ext cx="1056"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43" name="Line 42"/>
            <p:cNvSpPr>
              <a:spLocks noChangeShapeType="1"/>
            </p:cNvSpPr>
            <p:nvPr/>
          </p:nvSpPr>
          <p:spPr bwMode="auto">
            <a:xfrm flipH="1">
              <a:off x="864" y="2640"/>
              <a:ext cx="240"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44" name="Line 43"/>
            <p:cNvSpPr>
              <a:spLocks noChangeShapeType="1"/>
            </p:cNvSpPr>
            <p:nvPr/>
          </p:nvSpPr>
          <p:spPr bwMode="auto">
            <a:xfrm>
              <a:off x="1104" y="2640"/>
              <a:ext cx="1056"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45" name="Line 44"/>
            <p:cNvSpPr>
              <a:spLocks noChangeShapeType="1"/>
            </p:cNvSpPr>
            <p:nvPr/>
          </p:nvSpPr>
          <p:spPr bwMode="auto">
            <a:xfrm flipH="1">
              <a:off x="1488" y="2640"/>
              <a:ext cx="288"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46" name="Line 45"/>
            <p:cNvSpPr>
              <a:spLocks noChangeShapeType="1"/>
            </p:cNvSpPr>
            <p:nvPr/>
          </p:nvSpPr>
          <p:spPr bwMode="auto">
            <a:xfrm>
              <a:off x="1776" y="2640"/>
              <a:ext cx="384"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47" name="Line 46"/>
            <p:cNvSpPr>
              <a:spLocks noChangeShapeType="1"/>
            </p:cNvSpPr>
            <p:nvPr/>
          </p:nvSpPr>
          <p:spPr bwMode="auto">
            <a:xfrm flipH="1">
              <a:off x="864" y="2640"/>
              <a:ext cx="1584"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48" name="Line 47"/>
            <p:cNvSpPr>
              <a:spLocks noChangeShapeType="1"/>
            </p:cNvSpPr>
            <p:nvPr/>
          </p:nvSpPr>
          <p:spPr bwMode="auto">
            <a:xfrm>
              <a:off x="2448" y="2640"/>
              <a:ext cx="384"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49" name="Line 48"/>
            <p:cNvSpPr>
              <a:spLocks noChangeShapeType="1"/>
            </p:cNvSpPr>
            <p:nvPr/>
          </p:nvSpPr>
          <p:spPr bwMode="auto">
            <a:xfrm flipH="1">
              <a:off x="1488" y="2640"/>
              <a:ext cx="1536"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0" name="Line 49"/>
            <p:cNvSpPr>
              <a:spLocks noChangeShapeType="1"/>
            </p:cNvSpPr>
            <p:nvPr/>
          </p:nvSpPr>
          <p:spPr bwMode="auto">
            <a:xfrm flipH="1">
              <a:off x="2832" y="2640"/>
              <a:ext cx="192"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 name="Line 50"/>
            <p:cNvSpPr>
              <a:spLocks noChangeShapeType="1"/>
            </p:cNvSpPr>
            <p:nvPr/>
          </p:nvSpPr>
          <p:spPr bwMode="auto">
            <a:xfrm flipH="1">
              <a:off x="2832" y="2640"/>
              <a:ext cx="768"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 name="Line 51"/>
            <p:cNvSpPr>
              <a:spLocks noChangeShapeType="1"/>
            </p:cNvSpPr>
            <p:nvPr/>
          </p:nvSpPr>
          <p:spPr bwMode="auto">
            <a:xfrm flipH="1">
              <a:off x="2160" y="2640"/>
              <a:ext cx="1440"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3" name="Line 52"/>
            <p:cNvSpPr>
              <a:spLocks noChangeShapeType="1"/>
            </p:cNvSpPr>
            <p:nvPr/>
          </p:nvSpPr>
          <p:spPr bwMode="auto">
            <a:xfrm>
              <a:off x="864" y="3360"/>
              <a:ext cx="110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4" name="Line 53"/>
            <p:cNvSpPr>
              <a:spLocks noChangeShapeType="1"/>
            </p:cNvSpPr>
            <p:nvPr/>
          </p:nvSpPr>
          <p:spPr bwMode="auto">
            <a:xfrm>
              <a:off x="1488" y="3312"/>
              <a:ext cx="528"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5" name="Line 54"/>
            <p:cNvSpPr>
              <a:spLocks noChangeShapeType="1"/>
            </p:cNvSpPr>
            <p:nvPr/>
          </p:nvSpPr>
          <p:spPr bwMode="auto">
            <a:xfrm flipH="1">
              <a:off x="2016" y="3312"/>
              <a:ext cx="144"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6" name="Line 55"/>
            <p:cNvSpPr>
              <a:spLocks noChangeShapeType="1"/>
            </p:cNvSpPr>
            <p:nvPr/>
          </p:nvSpPr>
          <p:spPr bwMode="auto">
            <a:xfrm flipH="1">
              <a:off x="1968" y="3360"/>
              <a:ext cx="864"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7" name="Text Box 57"/>
            <p:cNvSpPr txBox="1">
              <a:spLocks noChangeArrowheads="1"/>
            </p:cNvSpPr>
            <p:nvPr/>
          </p:nvSpPr>
          <p:spPr bwMode="auto">
            <a:xfrm>
              <a:off x="806" y="2343"/>
              <a:ext cx="82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en-US" altLang="zh-CN" sz="1600" b="1">
                  <a:latin typeface="Times New Roman" pitchFamily="18" charset="0"/>
                </a:rPr>
                <a:t>time,location</a:t>
              </a:r>
              <a:endParaRPr lang="en-US" altLang="zh-CN" sz="2400">
                <a:latin typeface="Times New Roman" pitchFamily="18" charset="0"/>
              </a:endParaRPr>
            </a:p>
          </p:txBody>
        </p:sp>
        <p:sp>
          <p:nvSpPr>
            <p:cNvPr id="58" name="Text Box 58"/>
            <p:cNvSpPr txBox="1">
              <a:spLocks noChangeArrowheads="1"/>
            </p:cNvSpPr>
            <p:nvPr/>
          </p:nvSpPr>
          <p:spPr bwMode="auto">
            <a:xfrm>
              <a:off x="1430" y="2679"/>
              <a:ext cx="84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en-US" altLang="zh-CN" sz="1600" b="1">
                  <a:latin typeface="Times New Roman" pitchFamily="18" charset="0"/>
                </a:rPr>
                <a:t>time,supplier</a:t>
              </a:r>
              <a:endParaRPr lang="en-US" altLang="zh-CN" sz="2400">
                <a:latin typeface="Times New Roman" pitchFamily="18" charset="0"/>
              </a:endParaRPr>
            </a:p>
          </p:txBody>
        </p:sp>
        <p:sp>
          <p:nvSpPr>
            <p:cNvPr id="59" name="Text Box 59"/>
            <p:cNvSpPr txBox="1">
              <a:spLocks noChangeArrowheads="1"/>
            </p:cNvSpPr>
            <p:nvPr/>
          </p:nvSpPr>
          <p:spPr bwMode="auto">
            <a:xfrm>
              <a:off x="2102" y="2343"/>
              <a:ext cx="82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en-US" altLang="zh-CN" sz="1600" b="1">
                  <a:latin typeface="Times New Roman" pitchFamily="18" charset="0"/>
                </a:rPr>
                <a:t>item,location</a:t>
              </a:r>
              <a:endParaRPr lang="en-US" altLang="zh-CN" sz="2400">
                <a:latin typeface="Times New Roman" pitchFamily="18" charset="0"/>
              </a:endParaRPr>
            </a:p>
          </p:txBody>
        </p:sp>
        <p:sp>
          <p:nvSpPr>
            <p:cNvPr id="60" name="Text Box 60"/>
            <p:cNvSpPr txBox="1">
              <a:spLocks noChangeArrowheads="1"/>
            </p:cNvSpPr>
            <p:nvPr/>
          </p:nvSpPr>
          <p:spPr bwMode="auto">
            <a:xfrm>
              <a:off x="2678" y="2727"/>
              <a:ext cx="84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en-US" altLang="zh-CN" sz="1600" b="1">
                  <a:latin typeface="Times New Roman" pitchFamily="18" charset="0"/>
                </a:rPr>
                <a:t>item,supplier</a:t>
              </a:r>
              <a:endParaRPr lang="en-US" altLang="zh-CN" sz="2400">
                <a:latin typeface="Times New Roman" pitchFamily="18" charset="0"/>
              </a:endParaRPr>
            </a:p>
          </p:txBody>
        </p:sp>
        <p:sp>
          <p:nvSpPr>
            <p:cNvPr id="61" name="Text Box 61"/>
            <p:cNvSpPr txBox="1">
              <a:spLocks noChangeArrowheads="1"/>
            </p:cNvSpPr>
            <p:nvPr/>
          </p:nvSpPr>
          <p:spPr bwMode="auto">
            <a:xfrm>
              <a:off x="3398" y="2343"/>
              <a:ext cx="10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en-US" altLang="zh-CN" sz="1600" b="1" dirty="0" err="1">
                  <a:latin typeface="Times New Roman" pitchFamily="18" charset="0"/>
                </a:rPr>
                <a:t>location,supplier</a:t>
              </a:r>
              <a:endParaRPr lang="en-US" altLang="zh-CN" sz="2400" dirty="0">
                <a:latin typeface="Times New Roman" pitchFamily="18" charset="0"/>
              </a:endParaRPr>
            </a:p>
          </p:txBody>
        </p:sp>
        <p:sp>
          <p:nvSpPr>
            <p:cNvPr id="62" name="Text Box 63"/>
            <p:cNvSpPr txBox="1">
              <a:spLocks noChangeArrowheads="1"/>
            </p:cNvSpPr>
            <p:nvPr/>
          </p:nvSpPr>
          <p:spPr bwMode="auto">
            <a:xfrm>
              <a:off x="1046" y="3463"/>
              <a:ext cx="98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en-US" altLang="zh-CN" sz="1400" b="1">
                  <a:latin typeface="Times New Roman" pitchFamily="18" charset="0"/>
                </a:rPr>
                <a:t>time,item,supplier</a:t>
              </a:r>
              <a:endParaRPr lang="en-US" altLang="zh-CN" sz="2400">
                <a:latin typeface="Times New Roman" pitchFamily="18" charset="0"/>
              </a:endParaRPr>
            </a:p>
          </p:txBody>
        </p:sp>
        <p:sp>
          <p:nvSpPr>
            <p:cNvPr id="63" name="Text Box 64"/>
            <p:cNvSpPr txBox="1">
              <a:spLocks noChangeArrowheads="1"/>
            </p:cNvSpPr>
            <p:nvPr/>
          </p:nvSpPr>
          <p:spPr bwMode="auto">
            <a:xfrm>
              <a:off x="1728" y="3024"/>
              <a:ext cx="115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en-US" altLang="zh-CN" sz="1400" b="1">
                  <a:latin typeface="Times New Roman" pitchFamily="18" charset="0"/>
                </a:rPr>
                <a:t>time,location,supplier</a:t>
              </a:r>
              <a:endParaRPr lang="en-US" altLang="zh-CN" sz="2400">
                <a:latin typeface="Times New Roman" pitchFamily="18" charset="0"/>
              </a:endParaRPr>
            </a:p>
          </p:txBody>
        </p:sp>
        <p:sp>
          <p:nvSpPr>
            <p:cNvPr id="64" name="Text Box 66"/>
            <p:cNvSpPr txBox="1">
              <a:spLocks noChangeArrowheads="1"/>
            </p:cNvSpPr>
            <p:nvPr/>
          </p:nvSpPr>
          <p:spPr bwMode="auto">
            <a:xfrm>
              <a:off x="2486" y="3447"/>
              <a:ext cx="130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en-US" altLang="zh-CN" sz="1600" b="1">
                  <a:latin typeface="Times New Roman" pitchFamily="18" charset="0"/>
                </a:rPr>
                <a:t>item,location,supplier</a:t>
              </a:r>
              <a:endParaRPr lang="en-US" altLang="zh-CN" sz="2400">
                <a:latin typeface="Times New Roman" pitchFamily="18" charset="0"/>
              </a:endParaRPr>
            </a:p>
          </p:txBody>
        </p:sp>
        <p:sp>
          <p:nvSpPr>
            <p:cNvPr id="65" name="Text Box 68"/>
            <p:cNvSpPr txBox="1">
              <a:spLocks noChangeArrowheads="1"/>
            </p:cNvSpPr>
            <p:nvPr/>
          </p:nvSpPr>
          <p:spPr bwMode="auto">
            <a:xfrm>
              <a:off x="4320" y="1296"/>
              <a:ext cx="12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zh-CN" altLang="en-US" sz="2000">
                  <a:latin typeface="Times New Roman" pitchFamily="18" charset="0"/>
                </a:rPr>
                <a:t>0-</a:t>
              </a:r>
              <a:r>
                <a:rPr lang="en-US" altLang="zh-CN" sz="2000">
                  <a:latin typeface="Times New Roman" pitchFamily="18" charset="0"/>
                </a:rPr>
                <a:t>D(apex) cuboid</a:t>
              </a:r>
              <a:endParaRPr lang="en-US" altLang="zh-CN" sz="2400">
                <a:latin typeface="Times New Roman" pitchFamily="18" charset="0"/>
              </a:endParaRPr>
            </a:p>
          </p:txBody>
        </p:sp>
        <p:sp>
          <p:nvSpPr>
            <p:cNvPr id="66" name="Text Box 69"/>
            <p:cNvSpPr txBox="1">
              <a:spLocks noChangeArrowheads="1"/>
            </p:cNvSpPr>
            <p:nvPr/>
          </p:nvSpPr>
          <p:spPr bwMode="auto">
            <a:xfrm>
              <a:off x="4310" y="1881"/>
              <a:ext cx="9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zh-CN" altLang="en-US" sz="2000">
                  <a:latin typeface="Times New Roman" pitchFamily="18" charset="0"/>
                </a:rPr>
                <a:t>1-</a:t>
              </a:r>
              <a:r>
                <a:rPr lang="en-US" altLang="zh-CN" sz="2000">
                  <a:latin typeface="Times New Roman" pitchFamily="18" charset="0"/>
                </a:rPr>
                <a:t>D cuboids</a:t>
              </a:r>
              <a:endParaRPr lang="en-US" altLang="zh-CN" sz="2400">
                <a:latin typeface="Times New Roman" pitchFamily="18" charset="0"/>
              </a:endParaRPr>
            </a:p>
          </p:txBody>
        </p:sp>
        <p:sp>
          <p:nvSpPr>
            <p:cNvPr id="67" name="Text Box 70"/>
            <p:cNvSpPr txBox="1">
              <a:spLocks noChangeArrowheads="1"/>
            </p:cNvSpPr>
            <p:nvPr/>
          </p:nvSpPr>
          <p:spPr bwMode="auto">
            <a:xfrm>
              <a:off x="4310" y="2553"/>
              <a:ext cx="9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zh-CN" altLang="en-US" sz="2000">
                  <a:latin typeface="Times New Roman" pitchFamily="18" charset="0"/>
                </a:rPr>
                <a:t>2-</a:t>
              </a:r>
              <a:r>
                <a:rPr lang="en-US" altLang="zh-CN" sz="2000">
                  <a:latin typeface="Times New Roman" pitchFamily="18" charset="0"/>
                </a:rPr>
                <a:t>D cuboids</a:t>
              </a:r>
              <a:endParaRPr lang="en-US" altLang="zh-CN" sz="2400">
                <a:latin typeface="Times New Roman" pitchFamily="18" charset="0"/>
              </a:endParaRPr>
            </a:p>
          </p:txBody>
        </p:sp>
        <p:sp>
          <p:nvSpPr>
            <p:cNvPr id="68" name="Text Box 71"/>
            <p:cNvSpPr txBox="1">
              <a:spLocks noChangeArrowheads="1"/>
            </p:cNvSpPr>
            <p:nvPr/>
          </p:nvSpPr>
          <p:spPr bwMode="auto">
            <a:xfrm>
              <a:off x="4310" y="3129"/>
              <a:ext cx="9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zh-CN" altLang="en-US" sz="2000">
                  <a:latin typeface="Times New Roman" pitchFamily="18" charset="0"/>
                </a:rPr>
                <a:t>3-</a:t>
              </a:r>
              <a:r>
                <a:rPr lang="en-US" altLang="zh-CN" sz="2000">
                  <a:latin typeface="Times New Roman" pitchFamily="18" charset="0"/>
                </a:rPr>
                <a:t>D cuboids</a:t>
              </a:r>
              <a:endParaRPr lang="en-US" altLang="zh-CN" sz="2400">
                <a:latin typeface="Times New Roman" pitchFamily="18" charset="0"/>
              </a:endParaRPr>
            </a:p>
          </p:txBody>
        </p:sp>
        <p:sp>
          <p:nvSpPr>
            <p:cNvPr id="69" name="Text Box 72"/>
            <p:cNvSpPr txBox="1">
              <a:spLocks noChangeArrowheads="1"/>
            </p:cNvSpPr>
            <p:nvPr/>
          </p:nvSpPr>
          <p:spPr bwMode="auto">
            <a:xfrm>
              <a:off x="4358" y="3705"/>
              <a:ext cx="123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zh-CN" altLang="en-US" sz="2000">
                  <a:latin typeface="Times New Roman" pitchFamily="18" charset="0"/>
                </a:rPr>
                <a:t>4-</a:t>
              </a:r>
              <a:r>
                <a:rPr lang="en-US" altLang="zh-CN" sz="2000">
                  <a:latin typeface="Times New Roman" pitchFamily="18" charset="0"/>
                </a:rPr>
                <a:t>D(base) cuboid</a:t>
              </a:r>
              <a:endParaRPr lang="en-US" altLang="zh-CN" sz="2400">
                <a:latin typeface="Times New Roman" pitchFamily="18" charset="0"/>
              </a:endParaRPr>
            </a:p>
          </p:txBody>
        </p:sp>
      </p:grpSp>
    </p:spTree>
    <p:extLst>
      <p:ext uri="{BB962C8B-B14F-4D97-AF65-F5344CB8AC3E}">
        <p14:creationId xmlns:p14="http://schemas.microsoft.com/office/powerpoint/2010/main" val="7861793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5693866"/>
          </a:xfrm>
          <a:prstGeom prst="rect">
            <a:avLst/>
          </a:prstGeom>
        </p:spPr>
        <p:txBody>
          <a:bodyPr wrap="square">
            <a:spAutoFit/>
          </a:bodyPr>
          <a:lstStyle/>
          <a:p>
            <a:pPr algn="ctr"/>
            <a:r>
              <a:rPr lang="en-US" sz="2800" dirty="0">
                <a:solidFill>
                  <a:srgbClr val="FF0000"/>
                </a:solidFill>
                <a:latin typeface="Times New Roman" pitchFamily="18" charset="0"/>
                <a:cs typeface="Times New Roman" pitchFamily="18" charset="0"/>
              </a:rPr>
              <a:t>Conceptual Modeling of Data Warehouses</a:t>
            </a:r>
          </a:p>
          <a:p>
            <a:pPr algn="just">
              <a:lnSpc>
                <a:spcPct val="130000"/>
              </a:lnSpc>
            </a:pPr>
            <a:r>
              <a:rPr lang="en-US" sz="2200" dirty="0">
                <a:latin typeface="Times New Roman" pitchFamily="18" charset="0"/>
                <a:cs typeface="Times New Roman" pitchFamily="18" charset="0"/>
              </a:rPr>
              <a:t>Modeling data warehouses: dimensions &amp; measures</a:t>
            </a:r>
          </a:p>
          <a:p>
            <a:pPr lvl="1" algn="just">
              <a:lnSpc>
                <a:spcPct val="130000"/>
              </a:lnSpc>
              <a:spcBef>
                <a:spcPct val="10000"/>
              </a:spcBef>
            </a:pPr>
            <a:r>
              <a:rPr lang="en-US" sz="2200" u="sng" dirty="0">
                <a:solidFill>
                  <a:schemeClr val="hlink"/>
                </a:solidFill>
                <a:latin typeface="Times New Roman" pitchFamily="18" charset="0"/>
                <a:cs typeface="Times New Roman" pitchFamily="18" charset="0"/>
              </a:rPr>
              <a:t>Star schema</a:t>
            </a:r>
            <a:r>
              <a:rPr lang="en-US" sz="2200" dirty="0">
                <a:latin typeface="Times New Roman" pitchFamily="18" charset="0"/>
                <a:cs typeface="Times New Roman" pitchFamily="18" charset="0"/>
              </a:rPr>
              <a:t>: </a:t>
            </a:r>
            <a:r>
              <a:rPr lang="en-US" sz="2200" dirty="0">
                <a:solidFill>
                  <a:srgbClr val="006666"/>
                </a:solidFill>
                <a:latin typeface="Times New Roman" pitchFamily="18" charset="0"/>
                <a:cs typeface="Times New Roman" pitchFamily="18" charset="0"/>
              </a:rPr>
              <a:t>A fact table in the middle connected to a set of dimension tables </a:t>
            </a:r>
          </a:p>
          <a:p>
            <a:pPr lvl="1" algn="just">
              <a:lnSpc>
                <a:spcPct val="130000"/>
              </a:lnSpc>
              <a:spcBef>
                <a:spcPct val="10000"/>
              </a:spcBef>
            </a:pPr>
            <a:r>
              <a:rPr lang="en-US" sz="2200" u="sng" dirty="0">
                <a:solidFill>
                  <a:schemeClr val="hlink"/>
                </a:solidFill>
                <a:latin typeface="Times New Roman" pitchFamily="18" charset="0"/>
                <a:cs typeface="Times New Roman" pitchFamily="18" charset="0"/>
              </a:rPr>
              <a:t>Snowflake schema</a:t>
            </a:r>
            <a:r>
              <a:rPr lang="en-US" sz="2200" dirty="0">
                <a:latin typeface="Times New Roman" pitchFamily="18" charset="0"/>
                <a:cs typeface="Times New Roman" pitchFamily="18" charset="0"/>
              </a:rPr>
              <a:t>:  </a:t>
            </a:r>
            <a:r>
              <a:rPr lang="en-US" sz="2200" dirty="0">
                <a:solidFill>
                  <a:srgbClr val="006666"/>
                </a:solidFill>
                <a:latin typeface="Times New Roman" pitchFamily="18" charset="0"/>
                <a:cs typeface="Times New Roman" pitchFamily="18" charset="0"/>
              </a:rPr>
              <a:t>A refinement of star schema where some dimensional hierarchy is </a:t>
            </a:r>
            <a:r>
              <a:rPr lang="en-US" sz="2200" dirty="0">
                <a:solidFill>
                  <a:schemeClr val="folHlink"/>
                </a:solidFill>
                <a:latin typeface="Times New Roman" pitchFamily="18" charset="0"/>
                <a:cs typeface="Times New Roman" pitchFamily="18" charset="0"/>
              </a:rPr>
              <a:t>normalized</a:t>
            </a:r>
            <a:r>
              <a:rPr lang="en-US" sz="2200" dirty="0">
                <a:solidFill>
                  <a:srgbClr val="006666"/>
                </a:solidFill>
                <a:latin typeface="Times New Roman" pitchFamily="18" charset="0"/>
                <a:cs typeface="Times New Roman" pitchFamily="18" charset="0"/>
              </a:rPr>
              <a:t> into a set of smaller dimension tables</a:t>
            </a:r>
            <a:r>
              <a:rPr lang="en-US" sz="2200" dirty="0">
                <a:latin typeface="Times New Roman" pitchFamily="18" charset="0"/>
                <a:cs typeface="Times New Roman" pitchFamily="18" charset="0"/>
              </a:rPr>
              <a:t>, forming a shape similar to snowflake</a:t>
            </a:r>
          </a:p>
          <a:p>
            <a:pPr lvl="1" algn="just">
              <a:lnSpc>
                <a:spcPct val="130000"/>
              </a:lnSpc>
              <a:spcBef>
                <a:spcPct val="10000"/>
              </a:spcBef>
            </a:pPr>
            <a:r>
              <a:rPr lang="en-US" sz="2200" u="sng" dirty="0">
                <a:solidFill>
                  <a:schemeClr val="hlink"/>
                </a:solidFill>
                <a:latin typeface="Times New Roman" pitchFamily="18" charset="0"/>
                <a:cs typeface="Times New Roman" pitchFamily="18" charset="0"/>
              </a:rPr>
              <a:t>Fact constellations</a:t>
            </a:r>
            <a:r>
              <a:rPr lang="en-US" sz="2200" dirty="0">
                <a:latin typeface="Times New Roman" pitchFamily="18" charset="0"/>
                <a:cs typeface="Times New Roman" pitchFamily="18" charset="0"/>
              </a:rPr>
              <a:t>:  </a:t>
            </a:r>
            <a:r>
              <a:rPr lang="en-US" sz="2200" dirty="0">
                <a:solidFill>
                  <a:srgbClr val="006666"/>
                </a:solidFill>
                <a:latin typeface="Times New Roman" pitchFamily="18" charset="0"/>
                <a:cs typeface="Times New Roman" pitchFamily="18" charset="0"/>
              </a:rPr>
              <a:t>Multiple fact tables share dimension tables</a:t>
            </a:r>
            <a:r>
              <a:rPr lang="en-US" sz="2200" dirty="0">
                <a:latin typeface="Times New Roman" pitchFamily="18" charset="0"/>
                <a:cs typeface="Times New Roman" pitchFamily="18" charset="0"/>
              </a:rPr>
              <a:t>, viewed as a collection of stars, therefore called </a:t>
            </a:r>
            <a:r>
              <a:rPr lang="en-US" sz="2200" dirty="0">
                <a:solidFill>
                  <a:schemeClr val="folHlink"/>
                </a:solidFill>
                <a:latin typeface="Times New Roman" pitchFamily="18" charset="0"/>
                <a:cs typeface="Times New Roman" pitchFamily="18" charset="0"/>
              </a:rPr>
              <a:t>galaxy schema</a:t>
            </a:r>
            <a:r>
              <a:rPr lang="en-US" sz="2200" dirty="0">
                <a:latin typeface="Times New Roman" pitchFamily="18" charset="0"/>
                <a:cs typeface="Times New Roman" pitchFamily="18" charset="0"/>
              </a:rPr>
              <a:t> or fact constellation </a:t>
            </a:r>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8105352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0"/>
            <a:ext cx="86868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3394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0"/>
            <a:ext cx="8839199"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5078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0"/>
            <a:ext cx="8762999"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18889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610600" cy="5478423"/>
          </a:xfrm>
          <a:prstGeom prst="rect">
            <a:avLst/>
          </a:prstGeom>
        </p:spPr>
        <p:txBody>
          <a:bodyPr wrap="square">
            <a:spAutoFit/>
          </a:bodyPr>
          <a:lstStyle/>
          <a:p>
            <a:pPr algn="ctr"/>
            <a:r>
              <a:rPr lang="en-US" sz="3200" u="sng" dirty="0">
                <a:solidFill>
                  <a:srgbClr val="FF0000"/>
                </a:solidFill>
                <a:latin typeface="Times New Roman" pitchFamily="18" charset="0"/>
                <a:cs typeface="Times New Roman" pitchFamily="18" charset="0"/>
              </a:rPr>
              <a:t>Cube Definition Syntax in DMQL</a:t>
            </a:r>
          </a:p>
          <a:p>
            <a:pPr algn="ct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Cube Definition (Fact Table)</a:t>
            </a:r>
          </a:p>
          <a:p>
            <a:pPr lvl="1"/>
            <a:r>
              <a:rPr lang="en-US" sz="2400" dirty="0">
                <a:solidFill>
                  <a:schemeClr val="hlink"/>
                </a:solidFill>
                <a:latin typeface="Times New Roman" pitchFamily="18" charset="0"/>
                <a:cs typeface="Times New Roman" pitchFamily="18" charset="0"/>
              </a:rPr>
              <a:t>define cube</a:t>
            </a:r>
            <a:r>
              <a:rPr lang="en-US" sz="2400" dirty="0">
                <a:latin typeface="Times New Roman" pitchFamily="18" charset="0"/>
                <a:cs typeface="Times New Roman" pitchFamily="18" charset="0"/>
              </a:rPr>
              <a:t> &lt;</a:t>
            </a:r>
            <a:r>
              <a:rPr lang="en-US" sz="2400" dirty="0" err="1">
                <a:latin typeface="Times New Roman" pitchFamily="18" charset="0"/>
                <a:cs typeface="Times New Roman" pitchFamily="18" charset="0"/>
              </a:rPr>
              <a:t>cube_name</a:t>
            </a:r>
            <a:r>
              <a:rPr lang="en-US" sz="2400" dirty="0">
                <a:latin typeface="Times New Roman" pitchFamily="18" charset="0"/>
                <a:cs typeface="Times New Roman" pitchFamily="18" charset="0"/>
              </a:rPr>
              <a:t>&gt; [&lt;</a:t>
            </a:r>
            <a:r>
              <a:rPr lang="en-US" sz="2400" dirty="0" err="1">
                <a:latin typeface="Times New Roman" pitchFamily="18" charset="0"/>
                <a:cs typeface="Times New Roman" pitchFamily="18" charset="0"/>
              </a:rPr>
              <a:t>dimension_list</a:t>
            </a:r>
            <a:r>
              <a:rPr lang="en-US" sz="2400" dirty="0">
                <a:latin typeface="Times New Roman" pitchFamily="18" charset="0"/>
                <a:cs typeface="Times New Roman" pitchFamily="18" charset="0"/>
              </a:rPr>
              <a:t>&gt;]:         &lt;</a:t>
            </a:r>
            <a:r>
              <a:rPr lang="en-US" sz="2400" dirty="0" err="1">
                <a:latin typeface="Times New Roman" pitchFamily="18" charset="0"/>
                <a:cs typeface="Times New Roman" pitchFamily="18" charset="0"/>
              </a:rPr>
              <a:t>measure_list</a:t>
            </a:r>
            <a:r>
              <a:rPr lang="en-US" sz="2400" dirty="0">
                <a:latin typeface="Times New Roman" pitchFamily="18" charset="0"/>
                <a:cs typeface="Times New Roman" pitchFamily="18" charset="0"/>
              </a:rPr>
              <a:t>&gt;</a:t>
            </a:r>
          </a:p>
          <a:p>
            <a:r>
              <a:rPr lang="en-US" sz="2400" dirty="0">
                <a:latin typeface="Times New Roman" pitchFamily="18" charset="0"/>
                <a:cs typeface="Times New Roman" pitchFamily="18" charset="0"/>
              </a:rPr>
              <a:t>Dimension Definition (Dimension Table)</a:t>
            </a:r>
            <a:endParaRPr lang="en-US" sz="2400" b="1" dirty="0">
              <a:latin typeface="Times New Roman" pitchFamily="18" charset="0"/>
              <a:cs typeface="Times New Roman" pitchFamily="18" charset="0"/>
            </a:endParaRPr>
          </a:p>
          <a:p>
            <a:pPr lvl="1"/>
            <a:r>
              <a:rPr lang="en-US" sz="2400" dirty="0">
                <a:solidFill>
                  <a:schemeClr val="hlink"/>
                </a:solidFill>
                <a:latin typeface="Times New Roman" pitchFamily="18" charset="0"/>
                <a:cs typeface="Times New Roman" pitchFamily="18" charset="0"/>
              </a:rPr>
              <a:t>define dimension</a:t>
            </a:r>
            <a:r>
              <a:rPr lang="en-US" sz="2400" dirty="0">
                <a:latin typeface="Times New Roman" pitchFamily="18" charset="0"/>
                <a:cs typeface="Times New Roman" pitchFamily="18" charset="0"/>
              </a:rPr>
              <a:t> &lt;</a:t>
            </a:r>
            <a:r>
              <a:rPr lang="en-US" sz="2400" dirty="0" err="1">
                <a:latin typeface="Times New Roman" pitchFamily="18" charset="0"/>
                <a:cs typeface="Times New Roman" pitchFamily="18" charset="0"/>
              </a:rPr>
              <a:t>dimension_name</a:t>
            </a:r>
            <a:r>
              <a:rPr lang="en-US" sz="2400" dirty="0">
                <a:latin typeface="Times New Roman" pitchFamily="18" charset="0"/>
                <a:cs typeface="Times New Roman" pitchFamily="18" charset="0"/>
              </a:rPr>
              <a:t>&gt; </a:t>
            </a:r>
            <a:r>
              <a:rPr lang="en-US" sz="2400" dirty="0">
                <a:solidFill>
                  <a:schemeClr val="hlink"/>
                </a:solidFill>
                <a:latin typeface="Times New Roman" pitchFamily="18" charset="0"/>
                <a:cs typeface="Times New Roman" pitchFamily="18" charset="0"/>
              </a:rPr>
              <a:t>as</a:t>
            </a:r>
            <a:r>
              <a:rPr lang="en-US" sz="2400" dirty="0">
                <a:latin typeface="Times New Roman" pitchFamily="18" charset="0"/>
                <a:cs typeface="Times New Roman" pitchFamily="18" charset="0"/>
              </a:rPr>
              <a:t> (&lt;</a:t>
            </a:r>
            <a:r>
              <a:rPr lang="en-US" sz="2400" dirty="0" err="1">
                <a:latin typeface="Times New Roman" pitchFamily="18" charset="0"/>
                <a:cs typeface="Times New Roman" pitchFamily="18" charset="0"/>
              </a:rPr>
              <a:t>attribute_or_subdimension_list</a:t>
            </a:r>
            <a:r>
              <a:rPr lang="en-US" sz="2400" dirty="0">
                <a:latin typeface="Times New Roman" pitchFamily="18" charset="0"/>
                <a:cs typeface="Times New Roman" pitchFamily="18" charset="0"/>
              </a:rPr>
              <a:t>&gt;)</a:t>
            </a:r>
          </a:p>
          <a:p>
            <a:r>
              <a:rPr lang="en-US" sz="2400" dirty="0">
                <a:latin typeface="Times New Roman" pitchFamily="18" charset="0"/>
                <a:cs typeface="Times New Roman" pitchFamily="18" charset="0"/>
              </a:rPr>
              <a:t>Special Case (Shared Dimension Tables)</a:t>
            </a:r>
            <a:endParaRPr lang="en-US" sz="2400" dirty="0">
              <a:solidFill>
                <a:schemeClr val="hlink"/>
              </a:solidFill>
              <a:latin typeface="Times New Roman" pitchFamily="18" charset="0"/>
              <a:cs typeface="Times New Roman" pitchFamily="18" charset="0"/>
            </a:endParaRPr>
          </a:p>
          <a:p>
            <a:pPr lvl="1"/>
            <a:r>
              <a:rPr lang="en-US" sz="2400" dirty="0">
                <a:solidFill>
                  <a:srgbClr val="121328"/>
                </a:solidFill>
                <a:latin typeface="Times New Roman" pitchFamily="18" charset="0"/>
                <a:cs typeface="Times New Roman" pitchFamily="18" charset="0"/>
              </a:rPr>
              <a:t>First time as “cube definition”</a:t>
            </a:r>
          </a:p>
          <a:p>
            <a:pPr lvl="1"/>
            <a:r>
              <a:rPr lang="en-US" sz="2400" dirty="0">
                <a:solidFill>
                  <a:schemeClr val="hlink"/>
                </a:solidFill>
                <a:latin typeface="Times New Roman" pitchFamily="18" charset="0"/>
                <a:cs typeface="Times New Roman" pitchFamily="18" charset="0"/>
              </a:rPr>
              <a:t>define dimension</a:t>
            </a:r>
            <a:r>
              <a:rPr lang="en-US" sz="2400" dirty="0">
                <a:latin typeface="Times New Roman" pitchFamily="18" charset="0"/>
                <a:cs typeface="Times New Roman" pitchFamily="18" charset="0"/>
              </a:rPr>
              <a:t> &lt;</a:t>
            </a:r>
            <a:r>
              <a:rPr lang="en-US" sz="2400" dirty="0" err="1">
                <a:latin typeface="Times New Roman" pitchFamily="18" charset="0"/>
                <a:cs typeface="Times New Roman" pitchFamily="18" charset="0"/>
              </a:rPr>
              <a:t>dimension_name</a:t>
            </a:r>
            <a:r>
              <a:rPr lang="en-US" sz="2400" dirty="0">
                <a:latin typeface="Times New Roman" pitchFamily="18" charset="0"/>
                <a:cs typeface="Times New Roman" pitchFamily="18" charset="0"/>
              </a:rPr>
              <a:t>&gt; </a:t>
            </a:r>
            <a:r>
              <a:rPr lang="en-US" sz="2400" dirty="0">
                <a:solidFill>
                  <a:schemeClr val="hlink"/>
                </a:solidFill>
                <a:latin typeface="Times New Roman" pitchFamily="18" charset="0"/>
                <a:cs typeface="Times New Roman" pitchFamily="18" charset="0"/>
              </a:rPr>
              <a:t>as</a:t>
            </a:r>
            <a:r>
              <a:rPr lang="en-US" sz="2400" dirty="0">
                <a:latin typeface="Times New Roman" pitchFamily="18" charset="0"/>
                <a:cs typeface="Times New Roman" pitchFamily="18" charset="0"/>
              </a:rPr>
              <a:t> &lt;</a:t>
            </a:r>
            <a:r>
              <a:rPr lang="en-US" sz="2400" dirty="0" err="1">
                <a:latin typeface="Times New Roman" pitchFamily="18" charset="0"/>
                <a:cs typeface="Times New Roman" pitchFamily="18" charset="0"/>
              </a:rPr>
              <a:t>dimension_name_first_time</a:t>
            </a:r>
            <a:r>
              <a:rPr lang="en-US" sz="2400" dirty="0">
                <a:latin typeface="Times New Roman" pitchFamily="18" charset="0"/>
                <a:cs typeface="Times New Roman" pitchFamily="18" charset="0"/>
              </a:rPr>
              <a:t>&gt; </a:t>
            </a:r>
            <a:r>
              <a:rPr lang="en-US" sz="2400" dirty="0">
                <a:solidFill>
                  <a:schemeClr val="hlink"/>
                </a:solidFill>
                <a:latin typeface="Times New Roman" pitchFamily="18" charset="0"/>
                <a:cs typeface="Times New Roman" pitchFamily="18" charset="0"/>
              </a:rPr>
              <a:t>in cube</a:t>
            </a:r>
            <a:r>
              <a:rPr lang="en-US" sz="2400" dirty="0">
                <a:latin typeface="Times New Roman" pitchFamily="18" charset="0"/>
                <a:cs typeface="Times New Roman" pitchFamily="18" charset="0"/>
              </a:rPr>
              <a:t> &lt;</a:t>
            </a:r>
            <a:r>
              <a:rPr lang="en-US" sz="2400" dirty="0" err="1">
                <a:latin typeface="Times New Roman" pitchFamily="18" charset="0"/>
                <a:cs typeface="Times New Roman" pitchFamily="18" charset="0"/>
              </a:rPr>
              <a:t>cube_name_first_time</a:t>
            </a:r>
            <a:r>
              <a:rPr lang="en-US" sz="2400" dirty="0">
                <a:latin typeface="Times New Roman" pitchFamily="18" charset="0"/>
                <a:cs typeface="Times New Roman" pitchFamily="18" charset="0"/>
              </a:rPr>
              <a:t>&gt;</a:t>
            </a:r>
          </a:p>
          <a:p>
            <a:endParaRPr lang="en-US" dirty="0"/>
          </a:p>
          <a:p>
            <a:endParaRPr lang="en-US" dirty="0"/>
          </a:p>
          <a:p>
            <a:endParaRPr lang="en-IN" dirty="0"/>
          </a:p>
        </p:txBody>
      </p:sp>
    </p:spTree>
    <p:extLst>
      <p:ext uri="{BB962C8B-B14F-4D97-AF65-F5344CB8AC3E}">
        <p14:creationId xmlns:p14="http://schemas.microsoft.com/office/powerpoint/2010/main" val="4353314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5478423"/>
          </a:xfrm>
          <a:prstGeom prst="rect">
            <a:avLst/>
          </a:prstGeom>
        </p:spPr>
        <p:txBody>
          <a:bodyPr wrap="square">
            <a:spAutoFit/>
          </a:bodyPr>
          <a:lstStyle/>
          <a:p>
            <a:pPr algn="ctr"/>
            <a:r>
              <a:rPr lang="en-US" sz="3200" u="sng" dirty="0">
                <a:solidFill>
                  <a:srgbClr val="FF0000"/>
                </a:solidFill>
                <a:latin typeface="Times New Roman" pitchFamily="18" charset="0"/>
                <a:cs typeface="Times New Roman" pitchFamily="18" charset="0"/>
              </a:rPr>
              <a:t>Defining Star Schema in DMQL</a:t>
            </a:r>
            <a:endParaRPr lang="en-US" sz="2400" u="sng" dirty="0">
              <a:solidFill>
                <a:srgbClr val="FF0000"/>
              </a:solidFill>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r>
              <a:rPr lang="en-US" sz="2400" dirty="0">
                <a:solidFill>
                  <a:schemeClr val="hlink"/>
                </a:solidFill>
                <a:latin typeface="Times New Roman" pitchFamily="18" charset="0"/>
                <a:cs typeface="Times New Roman" pitchFamily="18" charset="0"/>
              </a:rPr>
              <a:t>define cube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sales_star</a:t>
            </a:r>
            <a:r>
              <a:rPr lang="en-US" sz="2400" dirty="0">
                <a:latin typeface="Times New Roman" pitchFamily="18" charset="0"/>
                <a:cs typeface="Times New Roman" pitchFamily="18" charset="0"/>
              </a:rPr>
              <a:t> [time, item, branch, location]:</a:t>
            </a:r>
          </a:p>
          <a:p>
            <a:pPr lvl="2"/>
            <a:r>
              <a:rPr lang="en-US" sz="2400" dirty="0" err="1">
                <a:solidFill>
                  <a:srgbClr val="006666"/>
                </a:solidFill>
                <a:latin typeface="Times New Roman" pitchFamily="18" charset="0"/>
                <a:cs typeface="Times New Roman" pitchFamily="18" charset="0"/>
              </a:rPr>
              <a:t>dollars_sold</a:t>
            </a:r>
            <a:r>
              <a:rPr lang="en-US" sz="2400" dirty="0">
                <a:solidFill>
                  <a:srgbClr val="006666"/>
                </a:solidFill>
                <a:latin typeface="Times New Roman" pitchFamily="18" charset="0"/>
                <a:cs typeface="Times New Roman" pitchFamily="18" charset="0"/>
              </a:rPr>
              <a:t> = sum(</a:t>
            </a:r>
            <a:r>
              <a:rPr lang="en-US" sz="2400" dirty="0" err="1">
                <a:solidFill>
                  <a:srgbClr val="006666"/>
                </a:solidFill>
                <a:latin typeface="Times New Roman" pitchFamily="18" charset="0"/>
                <a:cs typeface="Times New Roman" pitchFamily="18" charset="0"/>
              </a:rPr>
              <a:t>sales_in_dollars</a:t>
            </a:r>
            <a:r>
              <a:rPr lang="en-US" sz="2400" dirty="0">
                <a:solidFill>
                  <a:srgbClr val="006666"/>
                </a:solidFill>
                <a:latin typeface="Times New Roman" pitchFamily="18" charset="0"/>
                <a:cs typeface="Times New Roman" pitchFamily="18" charset="0"/>
              </a:rPr>
              <a:t>), </a:t>
            </a:r>
            <a:r>
              <a:rPr lang="en-US" sz="2400" dirty="0" err="1">
                <a:solidFill>
                  <a:srgbClr val="006666"/>
                </a:solidFill>
                <a:latin typeface="Times New Roman" pitchFamily="18" charset="0"/>
                <a:cs typeface="Times New Roman" pitchFamily="18" charset="0"/>
              </a:rPr>
              <a:t>avg_sales</a:t>
            </a:r>
            <a:r>
              <a:rPr lang="en-US" sz="2400" dirty="0">
                <a:solidFill>
                  <a:srgbClr val="006666"/>
                </a:solidFill>
                <a:latin typeface="Times New Roman" pitchFamily="18" charset="0"/>
                <a:cs typeface="Times New Roman" pitchFamily="18" charset="0"/>
              </a:rPr>
              <a:t> = </a:t>
            </a:r>
            <a:r>
              <a:rPr lang="en-US" sz="2400" dirty="0" err="1">
                <a:solidFill>
                  <a:srgbClr val="006666"/>
                </a:solidFill>
                <a:latin typeface="Times New Roman" pitchFamily="18" charset="0"/>
                <a:cs typeface="Times New Roman" pitchFamily="18" charset="0"/>
              </a:rPr>
              <a:t>avg</a:t>
            </a:r>
            <a:r>
              <a:rPr lang="en-US" sz="2400" dirty="0">
                <a:solidFill>
                  <a:srgbClr val="006666"/>
                </a:solidFill>
                <a:latin typeface="Times New Roman" pitchFamily="18" charset="0"/>
                <a:cs typeface="Times New Roman" pitchFamily="18" charset="0"/>
              </a:rPr>
              <a:t>(</a:t>
            </a:r>
            <a:r>
              <a:rPr lang="en-US" sz="2400" dirty="0" err="1">
                <a:solidFill>
                  <a:srgbClr val="006666"/>
                </a:solidFill>
                <a:latin typeface="Times New Roman" pitchFamily="18" charset="0"/>
                <a:cs typeface="Times New Roman" pitchFamily="18" charset="0"/>
              </a:rPr>
              <a:t>sales_in_dollars</a:t>
            </a:r>
            <a:r>
              <a:rPr lang="en-US" sz="2400" dirty="0">
                <a:solidFill>
                  <a:srgbClr val="006666"/>
                </a:solidFill>
                <a:latin typeface="Times New Roman" pitchFamily="18" charset="0"/>
                <a:cs typeface="Times New Roman" pitchFamily="18" charset="0"/>
              </a:rPr>
              <a:t>), </a:t>
            </a:r>
            <a:r>
              <a:rPr lang="en-US" sz="2400" dirty="0" err="1">
                <a:solidFill>
                  <a:srgbClr val="006666"/>
                </a:solidFill>
                <a:latin typeface="Times New Roman" pitchFamily="18" charset="0"/>
                <a:cs typeface="Times New Roman" pitchFamily="18" charset="0"/>
              </a:rPr>
              <a:t>units_sold</a:t>
            </a:r>
            <a:r>
              <a:rPr lang="en-US" sz="2400" dirty="0">
                <a:solidFill>
                  <a:srgbClr val="006666"/>
                </a:solidFill>
                <a:latin typeface="Times New Roman" pitchFamily="18" charset="0"/>
                <a:cs typeface="Times New Roman" pitchFamily="18" charset="0"/>
              </a:rPr>
              <a:t> = count(*)</a:t>
            </a:r>
          </a:p>
          <a:p>
            <a:r>
              <a:rPr lang="en-US" sz="2400" dirty="0">
                <a:solidFill>
                  <a:schemeClr val="hlink"/>
                </a:solidFill>
                <a:latin typeface="Times New Roman" pitchFamily="18" charset="0"/>
                <a:cs typeface="Times New Roman" pitchFamily="18" charset="0"/>
              </a:rPr>
              <a:t>define dimension</a:t>
            </a:r>
            <a:r>
              <a:rPr lang="en-US" sz="2400" dirty="0">
                <a:latin typeface="Times New Roman" pitchFamily="18" charset="0"/>
                <a:cs typeface="Times New Roman" pitchFamily="18" charset="0"/>
              </a:rPr>
              <a:t> time </a:t>
            </a:r>
            <a:r>
              <a:rPr lang="en-US" sz="2400" dirty="0">
                <a:solidFill>
                  <a:schemeClr val="hlink"/>
                </a:solidFill>
                <a:latin typeface="Times New Roman" pitchFamily="18" charset="0"/>
                <a:cs typeface="Times New Roman" pitchFamily="18" charset="0"/>
              </a:rPr>
              <a:t>as </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time_key</a:t>
            </a:r>
            <a:r>
              <a:rPr lang="en-US" sz="2400" dirty="0">
                <a:latin typeface="Times New Roman" pitchFamily="18" charset="0"/>
                <a:cs typeface="Times New Roman" pitchFamily="18" charset="0"/>
              </a:rPr>
              <a:t>, day, </a:t>
            </a:r>
            <a:r>
              <a:rPr lang="en-US" sz="2400" dirty="0" err="1">
                <a:latin typeface="Times New Roman" pitchFamily="18" charset="0"/>
                <a:cs typeface="Times New Roman" pitchFamily="18" charset="0"/>
              </a:rPr>
              <a:t>day_of_week</a:t>
            </a:r>
            <a:r>
              <a:rPr lang="en-US" sz="2400" dirty="0">
                <a:latin typeface="Times New Roman" pitchFamily="18" charset="0"/>
                <a:cs typeface="Times New Roman" pitchFamily="18" charset="0"/>
              </a:rPr>
              <a:t>, month, quarter, year)</a:t>
            </a:r>
          </a:p>
          <a:p>
            <a:r>
              <a:rPr lang="en-US" sz="2400" dirty="0">
                <a:solidFill>
                  <a:schemeClr val="hlink"/>
                </a:solidFill>
                <a:latin typeface="Times New Roman" pitchFamily="18" charset="0"/>
                <a:cs typeface="Times New Roman" pitchFamily="18" charset="0"/>
              </a:rPr>
              <a:t>define dimension </a:t>
            </a:r>
            <a:r>
              <a:rPr lang="en-US" sz="2400" dirty="0">
                <a:latin typeface="Times New Roman" pitchFamily="18" charset="0"/>
                <a:cs typeface="Times New Roman" pitchFamily="18" charset="0"/>
              </a:rPr>
              <a:t>item </a:t>
            </a:r>
            <a:r>
              <a:rPr lang="en-US" sz="2400" dirty="0">
                <a:solidFill>
                  <a:schemeClr val="hlink"/>
                </a:solidFill>
                <a:latin typeface="Times New Roman" pitchFamily="18" charset="0"/>
                <a:cs typeface="Times New Roman" pitchFamily="18" charset="0"/>
              </a:rPr>
              <a:t>as </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item_key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item_name</a:t>
            </a:r>
            <a:r>
              <a:rPr lang="en-US" sz="2400" dirty="0">
                <a:latin typeface="Times New Roman" pitchFamily="18" charset="0"/>
                <a:cs typeface="Times New Roman" pitchFamily="18" charset="0"/>
              </a:rPr>
              <a:t>, brand, type, </a:t>
            </a:r>
            <a:r>
              <a:rPr lang="en-US" sz="2400" dirty="0" err="1">
                <a:latin typeface="Times New Roman" pitchFamily="18" charset="0"/>
                <a:cs typeface="Times New Roman" pitchFamily="18" charset="0"/>
              </a:rPr>
              <a:t>supplier_type</a:t>
            </a:r>
            <a:r>
              <a:rPr lang="en-US" sz="2400" dirty="0">
                <a:latin typeface="Times New Roman" pitchFamily="18" charset="0"/>
                <a:cs typeface="Times New Roman" pitchFamily="18" charset="0"/>
              </a:rPr>
              <a:t>)</a:t>
            </a:r>
          </a:p>
          <a:p>
            <a:r>
              <a:rPr lang="en-US" sz="2400" dirty="0">
                <a:solidFill>
                  <a:schemeClr val="hlink"/>
                </a:solidFill>
                <a:latin typeface="Times New Roman" pitchFamily="18" charset="0"/>
                <a:cs typeface="Times New Roman" pitchFamily="18" charset="0"/>
              </a:rPr>
              <a:t>define dimension </a:t>
            </a:r>
            <a:r>
              <a:rPr lang="en-US" sz="2400" dirty="0">
                <a:latin typeface="Times New Roman" pitchFamily="18" charset="0"/>
                <a:cs typeface="Times New Roman" pitchFamily="18" charset="0"/>
              </a:rPr>
              <a:t>branch </a:t>
            </a:r>
            <a:r>
              <a:rPr lang="en-US" sz="2400" dirty="0">
                <a:solidFill>
                  <a:schemeClr val="hlink"/>
                </a:solidFill>
                <a:latin typeface="Times New Roman" pitchFamily="18" charset="0"/>
                <a:cs typeface="Times New Roman" pitchFamily="18" charset="0"/>
              </a:rPr>
              <a:t>as</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branch_key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branch_name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branch_type</a:t>
            </a:r>
            <a:r>
              <a:rPr lang="en-US" sz="2400" dirty="0">
                <a:latin typeface="Times New Roman" pitchFamily="18" charset="0"/>
                <a:cs typeface="Times New Roman" pitchFamily="18" charset="0"/>
              </a:rPr>
              <a:t>)</a:t>
            </a:r>
          </a:p>
          <a:p>
            <a:r>
              <a:rPr lang="en-US" sz="2400" dirty="0">
                <a:solidFill>
                  <a:schemeClr val="hlink"/>
                </a:solidFill>
                <a:latin typeface="Times New Roman" pitchFamily="18" charset="0"/>
                <a:cs typeface="Times New Roman" pitchFamily="18" charset="0"/>
              </a:rPr>
              <a:t>define dimension</a:t>
            </a:r>
            <a:r>
              <a:rPr lang="en-US" sz="2400" dirty="0">
                <a:latin typeface="Times New Roman" pitchFamily="18" charset="0"/>
                <a:cs typeface="Times New Roman" pitchFamily="18" charset="0"/>
              </a:rPr>
              <a:t> location </a:t>
            </a:r>
            <a:r>
              <a:rPr lang="en-US" sz="2400" dirty="0">
                <a:solidFill>
                  <a:schemeClr val="hlink"/>
                </a:solidFill>
                <a:latin typeface="Times New Roman" pitchFamily="18" charset="0"/>
                <a:cs typeface="Times New Roman" pitchFamily="18" charset="0"/>
              </a:rPr>
              <a:t>as</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location_key</a:t>
            </a:r>
            <a:r>
              <a:rPr lang="en-US" sz="2400" dirty="0">
                <a:latin typeface="Times New Roman" pitchFamily="18" charset="0"/>
                <a:cs typeface="Times New Roman" pitchFamily="18" charset="0"/>
              </a:rPr>
              <a:t>, street, city, </a:t>
            </a:r>
            <a:r>
              <a:rPr lang="en-US" sz="2400" dirty="0" err="1">
                <a:latin typeface="Times New Roman" pitchFamily="18" charset="0"/>
                <a:cs typeface="Times New Roman" pitchFamily="18" charset="0"/>
              </a:rPr>
              <a:t>province_or_state</a:t>
            </a:r>
            <a:r>
              <a:rPr lang="en-US" sz="2400" dirty="0">
                <a:latin typeface="Times New Roman" pitchFamily="18" charset="0"/>
                <a:cs typeface="Times New Roman" pitchFamily="18" charset="0"/>
              </a:rPr>
              <a:t>, country)</a:t>
            </a:r>
          </a:p>
          <a:p>
            <a:endParaRPr lang="en-US" dirty="0"/>
          </a:p>
          <a:p>
            <a:endParaRPr lang="en-US" dirty="0"/>
          </a:p>
          <a:p>
            <a:endParaRPr lang="en-IN" dirty="0"/>
          </a:p>
        </p:txBody>
      </p:sp>
    </p:spTree>
    <p:extLst>
      <p:ext uri="{BB962C8B-B14F-4D97-AF65-F5344CB8AC3E}">
        <p14:creationId xmlns:p14="http://schemas.microsoft.com/office/powerpoint/2010/main" val="1315116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2999" cy="5847755"/>
          </a:xfrm>
          <a:prstGeom prst="rect">
            <a:avLst/>
          </a:prstGeom>
        </p:spPr>
        <p:txBody>
          <a:bodyPr wrap="square">
            <a:spAutoFit/>
          </a:bodyPr>
          <a:lstStyle/>
          <a:p>
            <a:pPr algn="ctr"/>
            <a:r>
              <a:rPr lang="en-US" sz="3200" dirty="0">
                <a:solidFill>
                  <a:srgbClr val="FF0000"/>
                </a:solidFill>
                <a:latin typeface="Times New Roman" pitchFamily="18" charset="0"/>
                <a:cs typeface="Times New Roman" pitchFamily="18" charset="0"/>
              </a:rPr>
              <a:t>Defining Snowflake Schema in DMQL</a:t>
            </a:r>
          </a:p>
          <a:p>
            <a:endParaRPr lang="en-US" sz="2400" dirty="0">
              <a:latin typeface="Times New Roman" pitchFamily="18" charset="0"/>
              <a:cs typeface="Times New Roman" pitchFamily="18" charset="0"/>
            </a:endParaRPr>
          </a:p>
          <a:p>
            <a:pPr>
              <a:lnSpc>
                <a:spcPct val="110000"/>
              </a:lnSpc>
            </a:pPr>
            <a:r>
              <a:rPr lang="en-US" sz="2400" dirty="0">
                <a:solidFill>
                  <a:schemeClr val="hlink"/>
                </a:solidFill>
                <a:latin typeface="Times New Roman" pitchFamily="18" charset="0"/>
                <a:cs typeface="Times New Roman" pitchFamily="18" charset="0"/>
              </a:rPr>
              <a:t>define cube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sales_snowflake</a:t>
            </a:r>
            <a:r>
              <a:rPr lang="en-US" sz="2400" dirty="0">
                <a:latin typeface="Times New Roman" pitchFamily="18" charset="0"/>
                <a:cs typeface="Times New Roman" pitchFamily="18" charset="0"/>
              </a:rPr>
              <a:t> [time, item, branch, location]:</a:t>
            </a:r>
          </a:p>
          <a:p>
            <a:pPr lvl="2">
              <a:lnSpc>
                <a:spcPct val="110000"/>
              </a:lnSpc>
            </a:pPr>
            <a:r>
              <a:rPr lang="en-US" sz="2400" dirty="0" err="1">
                <a:solidFill>
                  <a:srgbClr val="006666"/>
                </a:solidFill>
                <a:latin typeface="Times New Roman" pitchFamily="18" charset="0"/>
                <a:cs typeface="Times New Roman" pitchFamily="18" charset="0"/>
              </a:rPr>
              <a:t>dollars_sold</a:t>
            </a:r>
            <a:r>
              <a:rPr lang="en-US" sz="2400" dirty="0">
                <a:solidFill>
                  <a:srgbClr val="006666"/>
                </a:solidFill>
                <a:latin typeface="Times New Roman" pitchFamily="18" charset="0"/>
                <a:cs typeface="Times New Roman" pitchFamily="18" charset="0"/>
              </a:rPr>
              <a:t> = sum(</a:t>
            </a:r>
            <a:r>
              <a:rPr lang="en-US" sz="2400" dirty="0" err="1">
                <a:solidFill>
                  <a:srgbClr val="006666"/>
                </a:solidFill>
                <a:latin typeface="Times New Roman" pitchFamily="18" charset="0"/>
                <a:cs typeface="Times New Roman" pitchFamily="18" charset="0"/>
              </a:rPr>
              <a:t>sales_in_dollars</a:t>
            </a:r>
            <a:r>
              <a:rPr lang="en-US" sz="2400" dirty="0">
                <a:solidFill>
                  <a:srgbClr val="006666"/>
                </a:solidFill>
                <a:latin typeface="Times New Roman" pitchFamily="18" charset="0"/>
                <a:cs typeface="Times New Roman" pitchFamily="18" charset="0"/>
              </a:rPr>
              <a:t>), </a:t>
            </a:r>
            <a:r>
              <a:rPr lang="en-US" sz="2400" dirty="0" err="1">
                <a:solidFill>
                  <a:srgbClr val="006666"/>
                </a:solidFill>
                <a:latin typeface="Times New Roman" pitchFamily="18" charset="0"/>
                <a:cs typeface="Times New Roman" pitchFamily="18" charset="0"/>
              </a:rPr>
              <a:t>avg_sales</a:t>
            </a:r>
            <a:r>
              <a:rPr lang="en-US" sz="2400" dirty="0">
                <a:solidFill>
                  <a:srgbClr val="006666"/>
                </a:solidFill>
                <a:latin typeface="Times New Roman" pitchFamily="18" charset="0"/>
                <a:cs typeface="Times New Roman" pitchFamily="18" charset="0"/>
              </a:rPr>
              <a:t> = </a:t>
            </a:r>
            <a:r>
              <a:rPr lang="en-US" sz="2400" dirty="0" err="1">
                <a:solidFill>
                  <a:srgbClr val="006666"/>
                </a:solidFill>
                <a:latin typeface="Times New Roman" pitchFamily="18" charset="0"/>
                <a:cs typeface="Times New Roman" pitchFamily="18" charset="0"/>
              </a:rPr>
              <a:t>avg</a:t>
            </a:r>
            <a:r>
              <a:rPr lang="en-US" sz="2400" dirty="0">
                <a:solidFill>
                  <a:srgbClr val="006666"/>
                </a:solidFill>
                <a:latin typeface="Times New Roman" pitchFamily="18" charset="0"/>
                <a:cs typeface="Times New Roman" pitchFamily="18" charset="0"/>
              </a:rPr>
              <a:t>(</a:t>
            </a:r>
            <a:r>
              <a:rPr lang="en-US" sz="2400" dirty="0" err="1">
                <a:solidFill>
                  <a:srgbClr val="006666"/>
                </a:solidFill>
                <a:latin typeface="Times New Roman" pitchFamily="18" charset="0"/>
                <a:cs typeface="Times New Roman" pitchFamily="18" charset="0"/>
              </a:rPr>
              <a:t>sales_in_dollars</a:t>
            </a:r>
            <a:r>
              <a:rPr lang="en-US" sz="2400" dirty="0">
                <a:solidFill>
                  <a:srgbClr val="006666"/>
                </a:solidFill>
                <a:latin typeface="Times New Roman" pitchFamily="18" charset="0"/>
                <a:cs typeface="Times New Roman" pitchFamily="18" charset="0"/>
              </a:rPr>
              <a:t>), </a:t>
            </a:r>
            <a:r>
              <a:rPr lang="en-US" sz="2400" dirty="0" err="1">
                <a:solidFill>
                  <a:srgbClr val="006666"/>
                </a:solidFill>
                <a:latin typeface="Times New Roman" pitchFamily="18" charset="0"/>
                <a:cs typeface="Times New Roman" pitchFamily="18" charset="0"/>
              </a:rPr>
              <a:t>units_sold</a:t>
            </a:r>
            <a:r>
              <a:rPr lang="en-US" sz="2400" dirty="0">
                <a:solidFill>
                  <a:srgbClr val="006666"/>
                </a:solidFill>
                <a:latin typeface="Times New Roman" pitchFamily="18" charset="0"/>
                <a:cs typeface="Times New Roman" pitchFamily="18" charset="0"/>
              </a:rPr>
              <a:t> = count(*)</a:t>
            </a:r>
          </a:p>
          <a:p>
            <a:pPr>
              <a:lnSpc>
                <a:spcPct val="110000"/>
              </a:lnSpc>
            </a:pPr>
            <a:r>
              <a:rPr lang="en-US" sz="2400" dirty="0">
                <a:solidFill>
                  <a:schemeClr val="hlink"/>
                </a:solidFill>
                <a:latin typeface="Times New Roman" pitchFamily="18" charset="0"/>
                <a:cs typeface="Times New Roman" pitchFamily="18" charset="0"/>
              </a:rPr>
              <a:t>define dimension</a:t>
            </a:r>
            <a:r>
              <a:rPr lang="en-US" sz="2400" dirty="0">
                <a:latin typeface="Times New Roman" pitchFamily="18" charset="0"/>
                <a:cs typeface="Times New Roman" pitchFamily="18" charset="0"/>
              </a:rPr>
              <a:t> time </a:t>
            </a:r>
            <a:r>
              <a:rPr lang="en-US" sz="2400" dirty="0">
                <a:solidFill>
                  <a:schemeClr val="hlink"/>
                </a:solidFill>
                <a:latin typeface="Times New Roman" pitchFamily="18" charset="0"/>
                <a:cs typeface="Times New Roman" pitchFamily="18" charset="0"/>
              </a:rPr>
              <a:t>as </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time_key</a:t>
            </a:r>
            <a:r>
              <a:rPr lang="en-US" sz="2400" dirty="0">
                <a:latin typeface="Times New Roman" pitchFamily="18" charset="0"/>
                <a:cs typeface="Times New Roman" pitchFamily="18" charset="0"/>
              </a:rPr>
              <a:t>, day, </a:t>
            </a:r>
            <a:r>
              <a:rPr lang="en-US" sz="2400" dirty="0" err="1">
                <a:latin typeface="Times New Roman" pitchFamily="18" charset="0"/>
                <a:cs typeface="Times New Roman" pitchFamily="18" charset="0"/>
              </a:rPr>
              <a:t>day_of_week</a:t>
            </a:r>
            <a:r>
              <a:rPr lang="en-US" sz="2400" dirty="0">
                <a:latin typeface="Times New Roman" pitchFamily="18" charset="0"/>
                <a:cs typeface="Times New Roman" pitchFamily="18" charset="0"/>
              </a:rPr>
              <a:t>, month, quarter, year)</a:t>
            </a:r>
          </a:p>
          <a:p>
            <a:pPr>
              <a:lnSpc>
                <a:spcPct val="110000"/>
              </a:lnSpc>
            </a:pPr>
            <a:r>
              <a:rPr lang="en-US" sz="2400" dirty="0">
                <a:solidFill>
                  <a:schemeClr val="hlink"/>
                </a:solidFill>
                <a:latin typeface="Times New Roman" pitchFamily="18" charset="0"/>
                <a:cs typeface="Times New Roman" pitchFamily="18" charset="0"/>
              </a:rPr>
              <a:t>define dimension </a:t>
            </a:r>
            <a:r>
              <a:rPr lang="en-US" sz="2400" dirty="0">
                <a:latin typeface="Times New Roman" pitchFamily="18" charset="0"/>
                <a:cs typeface="Times New Roman" pitchFamily="18" charset="0"/>
              </a:rPr>
              <a:t>item </a:t>
            </a:r>
            <a:r>
              <a:rPr lang="en-US" sz="2400" dirty="0">
                <a:solidFill>
                  <a:schemeClr val="hlink"/>
                </a:solidFill>
                <a:latin typeface="Times New Roman" pitchFamily="18" charset="0"/>
                <a:cs typeface="Times New Roman" pitchFamily="18" charset="0"/>
              </a:rPr>
              <a:t>as </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item_key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item_name</a:t>
            </a:r>
            <a:r>
              <a:rPr lang="en-US" sz="2400" dirty="0">
                <a:latin typeface="Times New Roman" pitchFamily="18" charset="0"/>
                <a:cs typeface="Times New Roman" pitchFamily="18" charset="0"/>
              </a:rPr>
              <a:t>, brand, type, </a:t>
            </a:r>
            <a:r>
              <a:rPr lang="en-US" sz="2400" dirty="0">
                <a:solidFill>
                  <a:schemeClr val="tx2"/>
                </a:solidFill>
                <a:latin typeface="Times New Roman" pitchFamily="18" charset="0"/>
                <a:cs typeface="Times New Roman" pitchFamily="18" charset="0"/>
              </a:rPr>
              <a:t>supplier(</a:t>
            </a:r>
            <a:r>
              <a:rPr lang="en-US" sz="2400" dirty="0" err="1">
                <a:solidFill>
                  <a:schemeClr val="tx2"/>
                </a:solidFill>
                <a:latin typeface="Times New Roman" pitchFamily="18" charset="0"/>
                <a:cs typeface="Times New Roman" pitchFamily="18" charset="0"/>
              </a:rPr>
              <a:t>supplier_key</a:t>
            </a:r>
            <a:r>
              <a:rPr lang="en-US" sz="2400" dirty="0">
                <a:solidFill>
                  <a:schemeClr val="tx2"/>
                </a:solidFill>
                <a:latin typeface="Times New Roman" pitchFamily="18" charset="0"/>
                <a:cs typeface="Times New Roman" pitchFamily="18" charset="0"/>
              </a:rPr>
              <a:t>, </a:t>
            </a:r>
            <a:r>
              <a:rPr lang="en-US" sz="2400" dirty="0" err="1">
                <a:solidFill>
                  <a:schemeClr val="tx2"/>
                </a:solidFill>
                <a:latin typeface="Times New Roman" pitchFamily="18" charset="0"/>
                <a:cs typeface="Times New Roman" pitchFamily="18" charset="0"/>
              </a:rPr>
              <a:t>supplier_type</a:t>
            </a:r>
            <a:r>
              <a:rPr lang="en-US" sz="2400" dirty="0">
                <a:solidFill>
                  <a:schemeClr val="tx2"/>
                </a:solidFill>
                <a:latin typeface="Times New Roman" pitchFamily="18" charset="0"/>
                <a:cs typeface="Times New Roman" pitchFamily="18" charset="0"/>
              </a:rPr>
              <a:t>))</a:t>
            </a:r>
          </a:p>
          <a:p>
            <a:pPr>
              <a:lnSpc>
                <a:spcPct val="110000"/>
              </a:lnSpc>
            </a:pPr>
            <a:r>
              <a:rPr lang="en-US" sz="2400" dirty="0">
                <a:solidFill>
                  <a:schemeClr val="hlink"/>
                </a:solidFill>
                <a:latin typeface="Times New Roman" pitchFamily="18" charset="0"/>
                <a:cs typeface="Times New Roman" pitchFamily="18" charset="0"/>
              </a:rPr>
              <a:t>define dimension </a:t>
            </a:r>
            <a:r>
              <a:rPr lang="en-US" sz="2400" dirty="0">
                <a:latin typeface="Times New Roman" pitchFamily="18" charset="0"/>
                <a:cs typeface="Times New Roman" pitchFamily="18" charset="0"/>
              </a:rPr>
              <a:t>branch </a:t>
            </a:r>
            <a:r>
              <a:rPr lang="en-US" sz="2400" dirty="0">
                <a:solidFill>
                  <a:schemeClr val="hlink"/>
                </a:solidFill>
                <a:latin typeface="Times New Roman" pitchFamily="18" charset="0"/>
                <a:cs typeface="Times New Roman" pitchFamily="18" charset="0"/>
              </a:rPr>
              <a:t>as</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branch_key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branch_name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branch_type</a:t>
            </a:r>
            <a:r>
              <a:rPr lang="en-US" sz="2400" dirty="0">
                <a:latin typeface="Times New Roman" pitchFamily="18" charset="0"/>
                <a:cs typeface="Times New Roman" pitchFamily="18" charset="0"/>
              </a:rPr>
              <a:t>)</a:t>
            </a:r>
          </a:p>
          <a:p>
            <a:pPr>
              <a:lnSpc>
                <a:spcPct val="110000"/>
              </a:lnSpc>
            </a:pPr>
            <a:r>
              <a:rPr lang="en-US" sz="2400" dirty="0">
                <a:solidFill>
                  <a:schemeClr val="hlink"/>
                </a:solidFill>
                <a:latin typeface="Times New Roman" pitchFamily="18" charset="0"/>
                <a:cs typeface="Times New Roman" pitchFamily="18" charset="0"/>
              </a:rPr>
              <a:t>define dimension</a:t>
            </a:r>
            <a:r>
              <a:rPr lang="en-US" sz="2400" dirty="0">
                <a:latin typeface="Times New Roman" pitchFamily="18" charset="0"/>
                <a:cs typeface="Times New Roman" pitchFamily="18" charset="0"/>
              </a:rPr>
              <a:t> location </a:t>
            </a:r>
            <a:r>
              <a:rPr lang="en-US" sz="2400" dirty="0">
                <a:solidFill>
                  <a:schemeClr val="hlink"/>
                </a:solidFill>
                <a:latin typeface="Times New Roman" pitchFamily="18" charset="0"/>
                <a:cs typeface="Times New Roman" pitchFamily="18" charset="0"/>
              </a:rPr>
              <a:t>as</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location_key</a:t>
            </a:r>
            <a:r>
              <a:rPr lang="en-US" sz="2400" dirty="0">
                <a:latin typeface="Times New Roman" pitchFamily="18" charset="0"/>
                <a:cs typeface="Times New Roman" pitchFamily="18" charset="0"/>
              </a:rPr>
              <a:t>, street, </a:t>
            </a:r>
            <a:r>
              <a:rPr lang="en-US" sz="2400" dirty="0">
                <a:solidFill>
                  <a:schemeClr val="tx2"/>
                </a:solidFill>
                <a:latin typeface="Times New Roman" pitchFamily="18" charset="0"/>
                <a:cs typeface="Times New Roman" pitchFamily="18" charset="0"/>
              </a:rPr>
              <a:t>city(</a:t>
            </a:r>
            <a:r>
              <a:rPr lang="en-US" sz="2400" dirty="0" err="1">
                <a:solidFill>
                  <a:schemeClr val="tx2"/>
                </a:solidFill>
                <a:latin typeface="Times New Roman" pitchFamily="18" charset="0"/>
                <a:cs typeface="Times New Roman" pitchFamily="18" charset="0"/>
              </a:rPr>
              <a:t>city_key</a:t>
            </a:r>
            <a:r>
              <a:rPr lang="en-US" sz="2400" dirty="0">
                <a:solidFill>
                  <a:schemeClr val="tx2"/>
                </a:solidFill>
                <a:latin typeface="Times New Roman" pitchFamily="18" charset="0"/>
                <a:cs typeface="Times New Roman" pitchFamily="18" charset="0"/>
              </a:rPr>
              <a:t>, </a:t>
            </a:r>
            <a:r>
              <a:rPr lang="en-US" sz="2400" dirty="0" err="1">
                <a:solidFill>
                  <a:schemeClr val="tx2"/>
                </a:solidFill>
                <a:latin typeface="Times New Roman" pitchFamily="18" charset="0"/>
                <a:cs typeface="Times New Roman" pitchFamily="18" charset="0"/>
              </a:rPr>
              <a:t>province_or_state</a:t>
            </a:r>
            <a:r>
              <a:rPr lang="en-US" sz="2400" dirty="0">
                <a:solidFill>
                  <a:schemeClr val="tx2"/>
                </a:solidFill>
                <a:latin typeface="Times New Roman" pitchFamily="18" charset="0"/>
                <a:cs typeface="Times New Roman" pitchFamily="18" charset="0"/>
              </a:rPr>
              <a:t>, country))</a:t>
            </a:r>
          </a:p>
          <a:p>
            <a:endParaRPr lang="en-US" dirty="0"/>
          </a:p>
          <a:p>
            <a:endParaRPr lang="en-US" dirty="0"/>
          </a:p>
          <a:p>
            <a:endParaRPr lang="en-IN" dirty="0"/>
          </a:p>
        </p:txBody>
      </p:sp>
    </p:spTree>
    <p:extLst>
      <p:ext uri="{BB962C8B-B14F-4D97-AF65-F5344CB8AC3E}">
        <p14:creationId xmlns:p14="http://schemas.microsoft.com/office/powerpoint/2010/main" val="20523503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686800" cy="6346353"/>
          </a:xfrm>
          <a:prstGeom prst="rect">
            <a:avLst/>
          </a:prstGeom>
        </p:spPr>
        <p:txBody>
          <a:bodyPr wrap="square">
            <a:spAutoFit/>
          </a:bodyPr>
          <a:lstStyle/>
          <a:p>
            <a:pPr algn="ctr"/>
            <a:r>
              <a:rPr lang="en-US" sz="2800" dirty="0">
                <a:solidFill>
                  <a:srgbClr val="FF0000"/>
                </a:solidFill>
                <a:latin typeface="Times New Roman" pitchFamily="18" charset="0"/>
                <a:cs typeface="Times New Roman" pitchFamily="18" charset="0"/>
              </a:rPr>
              <a:t>Defining Fact Constellation in DMQL</a:t>
            </a:r>
          </a:p>
          <a:p>
            <a:pPr algn="just"/>
            <a:endParaRPr lang="en-US" sz="2200" dirty="0">
              <a:latin typeface="Times New Roman" pitchFamily="18" charset="0"/>
              <a:cs typeface="Times New Roman" pitchFamily="18" charset="0"/>
            </a:endParaRPr>
          </a:p>
          <a:p>
            <a:pPr algn="just">
              <a:lnSpc>
                <a:spcPct val="90000"/>
              </a:lnSpc>
            </a:pPr>
            <a:r>
              <a:rPr lang="en-US" sz="2200" dirty="0">
                <a:solidFill>
                  <a:schemeClr val="hlink"/>
                </a:solidFill>
                <a:latin typeface="Times New Roman" pitchFamily="18" charset="0"/>
                <a:cs typeface="Times New Roman" pitchFamily="18" charset="0"/>
              </a:rPr>
              <a:t>define cube</a:t>
            </a:r>
            <a:r>
              <a:rPr lang="en-US" sz="2200" dirty="0">
                <a:latin typeface="Times New Roman" pitchFamily="18" charset="0"/>
                <a:cs typeface="Times New Roman" pitchFamily="18" charset="0"/>
              </a:rPr>
              <a:t> sales [time, item, branch, location]:</a:t>
            </a:r>
          </a:p>
          <a:p>
            <a:pPr lvl="2" algn="just">
              <a:lnSpc>
                <a:spcPct val="90000"/>
              </a:lnSpc>
            </a:pPr>
            <a:r>
              <a:rPr lang="en-US" sz="2200" dirty="0" err="1">
                <a:solidFill>
                  <a:srgbClr val="006666"/>
                </a:solidFill>
                <a:latin typeface="Times New Roman" pitchFamily="18" charset="0"/>
                <a:cs typeface="Times New Roman" pitchFamily="18" charset="0"/>
              </a:rPr>
              <a:t>dollars_sold</a:t>
            </a:r>
            <a:r>
              <a:rPr lang="en-US" sz="2200" dirty="0">
                <a:solidFill>
                  <a:srgbClr val="006666"/>
                </a:solidFill>
                <a:latin typeface="Times New Roman" pitchFamily="18" charset="0"/>
                <a:cs typeface="Times New Roman" pitchFamily="18" charset="0"/>
              </a:rPr>
              <a:t> = sum(</a:t>
            </a:r>
            <a:r>
              <a:rPr lang="en-US" sz="2200" dirty="0" err="1">
                <a:solidFill>
                  <a:srgbClr val="006666"/>
                </a:solidFill>
                <a:latin typeface="Times New Roman" pitchFamily="18" charset="0"/>
                <a:cs typeface="Times New Roman" pitchFamily="18" charset="0"/>
              </a:rPr>
              <a:t>sales_in_dollars</a:t>
            </a:r>
            <a:r>
              <a:rPr lang="en-US" sz="2200" dirty="0">
                <a:solidFill>
                  <a:srgbClr val="006666"/>
                </a:solidFill>
                <a:latin typeface="Times New Roman" pitchFamily="18" charset="0"/>
                <a:cs typeface="Times New Roman" pitchFamily="18" charset="0"/>
              </a:rPr>
              <a:t>), </a:t>
            </a:r>
            <a:r>
              <a:rPr lang="en-US" sz="2200" dirty="0" err="1">
                <a:solidFill>
                  <a:srgbClr val="006666"/>
                </a:solidFill>
                <a:latin typeface="Times New Roman" pitchFamily="18" charset="0"/>
                <a:cs typeface="Times New Roman" pitchFamily="18" charset="0"/>
              </a:rPr>
              <a:t>avg_sales</a:t>
            </a:r>
            <a:r>
              <a:rPr lang="en-US" sz="2200" dirty="0">
                <a:solidFill>
                  <a:srgbClr val="006666"/>
                </a:solidFill>
                <a:latin typeface="Times New Roman" pitchFamily="18" charset="0"/>
                <a:cs typeface="Times New Roman" pitchFamily="18" charset="0"/>
              </a:rPr>
              <a:t> = </a:t>
            </a:r>
            <a:r>
              <a:rPr lang="en-US" sz="2200" dirty="0" err="1">
                <a:solidFill>
                  <a:srgbClr val="006666"/>
                </a:solidFill>
                <a:latin typeface="Times New Roman" pitchFamily="18" charset="0"/>
                <a:cs typeface="Times New Roman" pitchFamily="18" charset="0"/>
              </a:rPr>
              <a:t>avg</a:t>
            </a:r>
            <a:r>
              <a:rPr lang="en-US" sz="2200" dirty="0">
                <a:solidFill>
                  <a:srgbClr val="006666"/>
                </a:solidFill>
                <a:latin typeface="Times New Roman" pitchFamily="18" charset="0"/>
                <a:cs typeface="Times New Roman" pitchFamily="18" charset="0"/>
              </a:rPr>
              <a:t>(</a:t>
            </a:r>
            <a:r>
              <a:rPr lang="en-US" sz="2200" dirty="0" err="1">
                <a:solidFill>
                  <a:srgbClr val="006666"/>
                </a:solidFill>
                <a:latin typeface="Times New Roman" pitchFamily="18" charset="0"/>
                <a:cs typeface="Times New Roman" pitchFamily="18" charset="0"/>
              </a:rPr>
              <a:t>sales_in_dollars</a:t>
            </a:r>
            <a:r>
              <a:rPr lang="en-US" sz="2200" dirty="0">
                <a:solidFill>
                  <a:srgbClr val="006666"/>
                </a:solidFill>
                <a:latin typeface="Times New Roman" pitchFamily="18" charset="0"/>
                <a:cs typeface="Times New Roman" pitchFamily="18" charset="0"/>
              </a:rPr>
              <a:t>), </a:t>
            </a:r>
            <a:r>
              <a:rPr lang="en-US" sz="2200" dirty="0" err="1">
                <a:solidFill>
                  <a:srgbClr val="006666"/>
                </a:solidFill>
                <a:latin typeface="Times New Roman" pitchFamily="18" charset="0"/>
                <a:cs typeface="Times New Roman" pitchFamily="18" charset="0"/>
              </a:rPr>
              <a:t>units_sold</a:t>
            </a:r>
            <a:r>
              <a:rPr lang="en-US" sz="2200" dirty="0">
                <a:solidFill>
                  <a:srgbClr val="006666"/>
                </a:solidFill>
                <a:latin typeface="Times New Roman" pitchFamily="18" charset="0"/>
                <a:cs typeface="Times New Roman" pitchFamily="18" charset="0"/>
              </a:rPr>
              <a:t> = count(*)</a:t>
            </a:r>
          </a:p>
          <a:p>
            <a:pPr algn="just">
              <a:lnSpc>
                <a:spcPct val="90000"/>
              </a:lnSpc>
            </a:pPr>
            <a:r>
              <a:rPr lang="en-US" sz="2200" dirty="0">
                <a:solidFill>
                  <a:schemeClr val="hlink"/>
                </a:solidFill>
                <a:latin typeface="Times New Roman" pitchFamily="18" charset="0"/>
                <a:cs typeface="Times New Roman" pitchFamily="18" charset="0"/>
              </a:rPr>
              <a:t>define dimension</a:t>
            </a:r>
            <a:r>
              <a:rPr lang="en-US" sz="2200" dirty="0">
                <a:latin typeface="Times New Roman" pitchFamily="18" charset="0"/>
                <a:cs typeface="Times New Roman" pitchFamily="18" charset="0"/>
              </a:rPr>
              <a:t> time </a:t>
            </a:r>
            <a:r>
              <a:rPr lang="en-US" sz="2200" dirty="0">
                <a:solidFill>
                  <a:schemeClr val="hlink"/>
                </a:solidFill>
                <a:latin typeface="Times New Roman" pitchFamily="18" charset="0"/>
                <a:cs typeface="Times New Roman" pitchFamily="18" charset="0"/>
              </a:rPr>
              <a:t>as </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time_key</a:t>
            </a:r>
            <a:r>
              <a:rPr lang="en-US" sz="2200" dirty="0">
                <a:latin typeface="Times New Roman" pitchFamily="18" charset="0"/>
                <a:cs typeface="Times New Roman" pitchFamily="18" charset="0"/>
              </a:rPr>
              <a:t>, day, </a:t>
            </a:r>
            <a:r>
              <a:rPr lang="en-US" sz="2200" dirty="0" err="1">
                <a:latin typeface="Times New Roman" pitchFamily="18" charset="0"/>
                <a:cs typeface="Times New Roman" pitchFamily="18" charset="0"/>
              </a:rPr>
              <a:t>day_of_week</a:t>
            </a:r>
            <a:r>
              <a:rPr lang="en-US" sz="2200" dirty="0">
                <a:latin typeface="Times New Roman" pitchFamily="18" charset="0"/>
                <a:cs typeface="Times New Roman" pitchFamily="18" charset="0"/>
              </a:rPr>
              <a:t>, month, quarter, year)</a:t>
            </a:r>
          </a:p>
          <a:p>
            <a:pPr algn="just">
              <a:lnSpc>
                <a:spcPct val="90000"/>
              </a:lnSpc>
            </a:pPr>
            <a:r>
              <a:rPr lang="en-US" sz="2200" dirty="0">
                <a:solidFill>
                  <a:schemeClr val="hlink"/>
                </a:solidFill>
                <a:latin typeface="Times New Roman" pitchFamily="18" charset="0"/>
                <a:cs typeface="Times New Roman" pitchFamily="18" charset="0"/>
              </a:rPr>
              <a:t>define dimension </a:t>
            </a:r>
            <a:r>
              <a:rPr lang="en-US" sz="2200" dirty="0">
                <a:latin typeface="Times New Roman" pitchFamily="18" charset="0"/>
                <a:cs typeface="Times New Roman" pitchFamily="18" charset="0"/>
              </a:rPr>
              <a:t>item </a:t>
            </a:r>
            <a:r>
              <a:rPr lang="en-US" sz="2200" dirty="0">
                <a:solidFill>
                  <a:schemeClr val="hlink"/>
                </a:solidFill>
                <a:latin typeface="Times New Roman" pitchFamily="18" charset="0"/>
                <a:cs typeface="Times New Roman" pitchFamily="18" charset="0"/>
              </a:rPr>
              <a:t>as </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item_key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item_name</a:t>
            </a:r>
            <a:r>
              <a:rPr lang="en-US" sz="2200" dirty="0">
                <a:latin typeface="Times New Roman" pitchFamily="18" charset="0"/>
                <a:cs typeface="Times New Roman" pitchFamily="18" charset="0"/>
              </a:rPr>
              <a:t>, brand, type, </a:t>
            </a:r>
            <a:r>
              <a:rPr lang="en-US" sz="2200" dirty="0" err="1">
                <a:latin typeface="Times New Roman" pitchFamily="18" charset="0"/>
                <a:cs typeface="Times New Roman" pitchFamily="18" charset="0"/>
              </a:rPr>
              <a:t>supplier_type</a:t>
            </a:r>
            <a:r>
              <a:rPr lang="en-US" sz="2200" dirty="0">
                <a:latin typeface="Times New Roman" pitchFamily="18" charset="0"/>
                <a:cs typeface="Times New Roman" pitchFamily="18" charset="0"/>
              </a:rPr>
              <a:t>)</a:t>
            </a:r>
          </a:p>
          <a:p>
            <a:pPr algn="just">
              <a:lnSpc>
                <a:spcPct val="90000"/>
              </a:lnSpc>
            </a:pPr>
            <a:r>
              <a:rPr lang="en-US" sz="2200" dirty="0">
                <a:solidFill>
                  <a:schemeClr val="hlink"/>
                </a:solidFill>
                <a:latin typeface="Times New Roman" pitchFamily="18" charset="0"/>
                <a:cs typeface="Times New Roman" pitchFamily="18" charset="0"/>
              </a:rPr>
              <a:t>define dimension </a:t>
            </a:r>
            <a:r>
              <a:rPr lang="en-US" sz="2200" dirty="0">
                <a:latin typeface="Times New Roman" pitchFamily="18" charset="0"/>
                <a:cs typeface="Times New Roman" pitchFamily="18" charset="0"/>
              </a:rPr>
              <a:t>branch </a:t>
            </a:r>
            <a:r>
              <a:rPr lang="en-US" sz="2200" dirty="0">
                <a:solidFill>
                  <a:schemeClr val="hlink"/>
                </a:solidFill>
                <a:latin typeface="Times New Roman" pitchFamily="18" charset="0"/>
                <a:cs typeface="Times New Roman" pitchFamily="18" charset="0"/>
              </a:rPr>
              <a:t>as</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branch_key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branch_name</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branch_type</a:t>
            </a:r>
            <a:r>
              <a:rPr lang="en-US" sz="2200" dirty="0">
                <a:latin typeface="Times New Roman" pitchFamily="18" charset="0"/>
                <a:cs typeface="Times New Roman" pitchFamily="18" charset="0"/>
              </a:rPr>
              <a:t>)</a:t>
            </a:r>
          </a:p>
          <a:p>
            <a:pPr algn="just">
              <a:lnSpc>
                <a:spcPct val="90000"/>
              </a:lnSpc>
            </a:pPr>
            <a:r>
              <a:rPr lang="en-US" sz="2200" dirty="0">
                <a:solidFill>
                  <a:schemeClr val="hlink"/>
                </a:solidFill>
                <a:latin typeface="Times New Roman" pitchFamily="18" charset="0"/>
                <a:cs typeface="Times New Roman" pitchFamily="18" charset="0"/>
              </a:rPr>
              <a:t>define dimension</a:t>
            </a:r>
            <a:r>
              <a:rPr lang="en-US" sz="2200" dirty="0">
                <a:latin typeface="Times New Roman" pitchFamily="18" charset="0"/>
                <a:cs typeface="Times New Roman" pitchFamily="18" charset="0"/>
              </a:rPr>
              <a:t> location </a:t>
            </a:r>
            <a:r>
              <a:rPr lang="en-US" sz="2200" dirty="0">
                <a:solidFill>
                  <a:schemeClr val="hlink"/>
                </a:solidFill>
                <a:latin typeface="Times New Roman" pitchFamily="18" charset="0"/>
                <a:cs typeface="Times New Roman" pitchFamily="18" charset="0"/>
              </a:rPr>
              <a:t>as</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location_key</a:t>
            </a:r>
            <a:r>
              <a:rPr lang="en-US" sz="2200" dirty="0">
                <a:latin typeface="Times New Roman" pitchFamily="18" charset="0"/>
                <a:cs typeface="Times New Roman" pitchFamily="18" charset="0"/>
              </a:rPr>
              <a:t>, street, city, </a:t>
            </a:r>
            <a:r>
              <a:rPr lang="en-US" sz="2200" dirty="0" err="1">
                <a:latin typeface="Times New Roman" pitchFamily="18" charset="0"/>
                <a:cs typeface="Times New Roman" pitchFamily="18" charset="0"/>
              </a:rPr>
              <a:t>province_or_state</a:t>
            </a:r>
            <a:r>
              <a:rPr lang="en-US" sz="2200" dirty="0">
                <a:latin typeface="Times New Roman" pitchFamily="18" charset="0"/>
                <a:cs typeface="Times New Roman" pitchFamily="18" charset="0"/>
              </a:rPr>
              <a:t>, country)</a:t>
            </a:r>
          </a:p>
          <a:p>
            <a:pPr algn="just">
              <a:lnSpc>
                <a:spcPct val="90000"/>
              </a:lnSpc>
            </a:pPr>
            <a:r>
              <a:rPr lang="en-US" sz="2200" dirty="0">
                <a:solidFill>
                  <a:schemeClr val="hlink"/>
                </a:solidFill>
                <a:latin typeface="Times New Roman" pitchFamily="18" charset="0"/>
                <a:cs typeface="Times New Roman" pitchFamily="18" charset="0"/>
              </a:rPr>
              <a:t>define cube</a:t>
            </a:r>
            <a:r>
              <a:rPr lang="en-US" sz="2200" dirty="0">
                <a:latin typeface="Times New Roman" pitchFamily="18" charset="0"/>
                <a:cs typeface="Times New Roman" pitchFamily="18" charset="0"/>
              </a:rPr>
              <a:t> shipping [time, item, shipper, </a:t>
            </a:r>
            <a:r>
              <a:rPr lang="en-US" sz="2200" dirty="0" err="1">
                <a:latin typeface="Times New Roman" pitchFamily="18" charset="0"/>
                <a:cs typeface="Times New Roman" pitchFamily="18" charset="0"/>
              </a:rPr>
              <a:t>from_location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to_location</a:t>
            </a:r>
            <a:r>
              <a:rPr lang="en-US" sz="2200" dirty="0">
                <a:latin typeface="Times New Roman" pitchFamily="18" charset="0"/>
                <a:cs typeface="Times New Roman" pitchFamily="18" charset="0"/>
              </a:rPr>
              <a:t>]:</a:t>
            </a:r>
          </a:p>
          <a:p>
            <a:pPr lvl="2" algn="just">
              <a:lnSpc>
                <a:spcPct val="90000"/>
              </a:lnSpc>
            </a:pPr>
            <a:r>
              <a:rPr lang="en-US" sz="2200" dirty="0" err="1">
                <a:solidFill>
                  <a:srgbClr val="006666"/>
                </a:solidFill>
                <a:latin typeface="Times New Roman" pitchFamily="18" charset="0"/>
                <a:cs typeface="Times New Roman" pitchFamily="18" charset="0"/>
              </a:rPr>
              <a:t>dollar_cost</a:t>
            </a:r>
            <a:r>
              <a:rPr lang="en-US" sz="2200" dirty="0">
                <a:solidFill>
                  <a:srgbClr val="006666"/>
                </a:solidFill>
                <a:latin typeface="Times New Roman" pitchFamily="18" charset="0"/>
                <a:cs typeface="Times New Roman" pitchFamily="18" charset="0"/>
              </a:rPr>
              <a:t> = sum(</a:t>
            </a:r>
            <a:r>
              <a:rPr lang="en-US" sz="2200" dirty="0" err="1">
                <a:solidFill>
                  <a:srgbClr val="006666"/>
                </a:solidFill>
                <a:latin typeface="Times New Roman" pitchFamily="18" charset="0"/>
                <a:cs typeface="Times New Roman" pitchFamily="18" charset="0"/>
              </a:rPr>
              <a:t>cost_in_dollars</a:t>
            </a:r>
            <a:r>
              <a:rPr lang="en-US" sz="2200" dirty="0">
                <a:solidFill>
                  <a:srgbClr val="006666"/>
                </a:solidFill>
                <a:latin typeface="Times New Roman" pitchFamily="18" charset="0"/>
                <a:cs typeface="Times New Roman" pitchFamily="18" charset="0"/>
              </a:rPr>
              <a:t>), </a:t>
            </a:r>
            <a:r>
              <a:rPr lang="en-US" sz="2200" dirty="0" err="1">
                <a:solidFill>
                  <a:srgbClr val="006666"/>
                </a:solidFill>
                <a:latin typeface="Times New Roman" pitchFamily="18" charset="0"/>
                <a:cs typeface="Times New Roman" pitchFamily="18" charset="0"/>
              </a:rPr>
              <a:t>unit_shipped</a:t>
            </a:r>
            <a:r>
              <a:rPr lang="en-US" sz="2200" dirty="0">
                <a:solidFill>
                  <a:srgbClr val="006666"/>
                </a:solidFill>
                <a:latin typeface="Times New Roman" pitchFamily="18" charset="0"/>
                <a:cs typeface="Times New Roman" pitchFamily="18" charset="0"/>
              </a:rPr>
              <a:t> = count(*)</a:t>
            </a:r>
          </a:p>
          <a:p>
            <a:pPr algn="just">
              <a:lnSpc>
                <a:spcPct val="90000"/>
              </a:lnSpc>
            </a:pPr>
            <a:r>
              <a:rPr lang="en-US" sz="2200" dirty="0">
                <a:solidFill>
                  <a:schemeClr val="hlink"/>
                </a:solidFill>
                <a:latin typeface="Times New Roman" pitchFamily="18" charset="0"/>
                <a:cs typeface="Times New Roman" pitchFamily="18" charset="0"/>
              </a:rPr>
              <a:t>define dimension</a:t>
            </a:r>
            <a:r>
              <a:rPr lang="en-US" sz="2200" dirty="0">
                <a:latin typeface="Times New Roman" pitchFamily="18" charset="0"/>
                <a:cs typeface="Times New Roman" pitchFamily="18" charset="0"/>
              </a:rPr>
              <a:t> time </a:t>
            </a:r>
            <a:r>
              <a:rPr lang="en-US" sz="2200" dirty="0">
                <a:solidFill>
                  <a:schemeClr val="hlink"/>
                </a:solidFill>
                <a:latin typeface="Times New Roman" pitchFamily="18" charset="0"/>
                <a:cs typeface="Times New Roman" pitchFamily="18" charset="0"/>
              </a:rPr>
              <a:t>as </a:t>
            </a:r>
            <a:r>
              <a:rPr lang="en-US" sz="2200" dirty="0">
                <a:latin typeface="Times New Roman" pitchFamily="18" charset="0"/>
                <a:cs typeface="Times New Roman" pitchFamily="18" charset="0"/>
              </a:rPr>
              <a:t>time </a:t>
            </a:r>
            <a:r>
              <a:rPr lang="en-US" sz="2200" dirty="0">
                <a:solidFill>
                  <a:schemeClr val="hlink"/>
                </a:solidFill>
                <a:latin typeface="Times New Roman" pitchFamily="18" charset="0"/>
                <a:cs typeface="Times New Roman" pitchFamily="18" charset="0"/>
              </a:rPr>
              <a:t>in cube</a:t>
            </a:r>
            <a:r>
              <a:rPr lang="en-US" sz="2200" dirty="0">
                <a:latin typeface="Times New Roman" pitchFamily="18" charset="0"/>
                <a:cs typeface="Times New Roman" pitchFamily="18" charset="0"/>
              </a:rPr>
              <a:t> sales</a:t>
            </a:r>
          </a:p>
          <a:p>
            <a:pPr algn="just">
              <a:lnSpc>
                <a:spcPct val="90000"/>
              </a:lnSpc>
            </a:pPr>
            <a:r>
              <a:rPr lang="en-US" sz="2200" dirty="0">
                <a:solidFill>
                  <a:schemeClr val="hlink"/>
                </a:solidFill>
                <a:latin typeface="Times New Roman" pitchFamily="18" charset="0"/>
                <a:cs typeface="Times New Roman" pitchFamily="18" charset="0"/>
              </a:rPr>
              <a:t>define dimension </a:t>
            </a:r>
            <a:r>
              <a:rPr lang="en-US" sz="2200" dirty="0">
                <a:latin typeface="Times New Roman" pitchFamily="18" charset="0"/>
                <a:cs typeface="Times New Roman" pitchFamily="18" charset="0"/>
              </a:rPr>
              <a:t>item </a:t>
            </a:r>
            <a:r>
              <a:rPr lang="en-US" sz="2200" dirty="0">
                <a:solidFill>
                  <a:schemeClr val="hlink"/>
                </a:solidFill>
                <a:latin typeface="Times New Roman" pitchFamily="18" charset="0"/>
                <a:cs typeface="Times New Roman" pitchFamily="18" charset="0"/>
              </a:rPr>
              <a:t>as </a:t>
            </a:r>
            <a:r>
              <a:rPr lang="en-US" sz="2200" dirty="0">
                <a:latin typeface="Times New Roman" pitchFamily="18" charset="0"/>
                <a:cs typeface="Times New Roman" pitchFamily="18" charset="0"/>
              </a:rPr>
              <a:t>item </a:t>
            </a:r>
            <a:r>
              <a:rPr lang="en-US" sz="2200" dirty="0">
                <a:solidFill>
                  <a:schemeClr val="hlink"/>
                </a:solidFill>
                <a:latin typeface="Times New Roman" pitchFamily="18" charset="0"/>
                <a:cs typeface="Times New Roman" pitchFamily="18" charset="0"/>
              </a:rPr>
              <a:t>in cube</a:t>
            </a:r>
            <a:r>
              <a:rPr lang="en-US" sz="2200" dirty="0">
                <a:latin typeface="Times New Roman" pitchFamily="18" charset="0"/>
                <a:cs typeface="Times New Roman" pitchFamily="18" charset="0"/>
              </a:rPr>
              <a:t> sales</a:t>
            </a:r>
          </a:p>
          <a:p>
            <a:pPr algn="just">
              <a:lnSpc>
                <a:spcPct val="90000"/>
              </a:lnSpc>
            </a:pPr>
            <a:r>
              <a:rPr lang="en-US" sz="2200" dirty="0">
                <a:solidFill>
                  <a:schemeClr val="hlink"/>
                </a:solidFill>
                <a:latin typeface="Times New Roman" pitchFamily="18" charset="0"/>
                <a:cs typeface="Times New Roman" pitchFamily="18" charset="0"/>
              </a:rPr>
              <a:t>define dimension </a:t>
            </a:r>
            <a:r>
              <a:rPr lang="en-US" sz="2200" dirty="0">
                <a:latin typeface="Times New Roman" pitchFamily="18" charset="0"/>
                <a:cs typeface="Times New Roman" pitchFamily="18" charset="0"/>
              </a:rPr>
              <a:t>shipper </a:t>
            </a:r>
            <a:r>
              <a:rPr lang="en-US" sz="2200" dirty="0">
                <a:solidFill>
                  <a:schemeClr val="hlink"/>
                </a:solidFill>
                <a:latin typeface="Times New Roman" pitchFamily="18" charset="0"/>
                <a:cs typeface="Times New Roman" pitchFamily="18" charset="0"/>
              </a:rPr>
              <a:t>as</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shipper_key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shipper_name</a:t>
            </a:r>
            <a:r>
              <a:rPr lang="en-US" sz="2200" dirty="0">
                <a:latin typeface="Times New Roman" pitchFamily="18" charset="0"/>
                <a:cs typeface="Times New Roman" pitchFamily="18" charset="0"/>
              </a:rPr>
              <a:t>, location</a:t>
            </a:r>
            <a:r>
              <a:rPr lang="en-US" sz="2200" dirty="0">
                <a:solidFill>
                  <a:schemeClr val="hlink"/>
                </a:solidFill>
                <a:latin typeface="Times New Roman" pitchFamily="18" charset="0"/>
                <a:cs typeface="Times New Roman" pitchFamily="18" charset="0"/>
              </a:rPr>
              <a:t> as</a:t>
            </a:r>
            <a:r>
              <a:rPr lang="en-US" sz="2200" dirty="0">
                <a:latin typeface="Times New Roman" pitchFamily="18" charset="0"/>
                <a:cs typeface="Times New Roman" pitchFamily="18" charset="0"/>
              </a:rPr>
              <a:t> location </a:t>
            </a:r>
            <a:r>
              <a:rPr lang="en-US" sz="2200" dirty="0">
                <a:solidFill>
                  <a:schemeClr val="hlink"/>
                </a:solidFill>
                <a:latin typeface="Times New Roman" pitchFamily="18" charset="0"/>
                <a:cs typeface="Times New Roman" pitchFamily="18" charset="0"/>
              </a:rPr>
              <a:t>in cube</a:t>
            </a:r>
            <a:r>
              <a:rPr lang="en-US" sz="2200" dirty="0">
                <a:latin typeface="Times New Roman" pitchFamily="18" charset="0"/>
                <a:cs typeface="Times New Roman" pitchFamily="18" charset="0"/>
              </a:rPr>
              <a:t> sales, </a:t>
            </a:r>
            <a:r>
              <a:rPr lang="en-US" sz="2200" dirty="0" err="1">
                <a:latin typeface="Times New Roman" pitchFamily="18" charset="0"/>
                <a:cs typeface="Times New Roman" pitchFamily="18" charset="0"/>
              </a:rPr>
              <a:t>shipper_type</a:t>
            </a:r>
            <a:r>
              <a:rPr lang="en-US" sz="2200" dirty="0">
                <a:latin typeface="Times New Roman" pitchFamily="18" charset="0"/>
                <a:cs typeface="Times New Roman" pitchFamily="18" charset="0"/>
              </a:rPr>
              <a:t>)</a:t>
            </a:r>
          </a:p>
          <a:p>
            <a:pPr algn="just">
              <a:lnSpc>
                <a:spcPct val="90000"/>
              </a:lnSpc>
            </a:pPr>
            <a:r>
              <a:rPr lang="en-US" sz="2200" dirty="0">
                <a:solidFill>
                  <a:schemeClr val="hlink"/>
                </a:solidFill>
                <a:latin typeface="Times New Roman" pitchFamily="18" charset="0"/>
                <a:cs typeface="Times New Roman" pitchFamily="18" charset="0"/>
              </a:rPr>
              <a:t>define dimension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from_location</a:t>
            </a:r>
            <a:r>
              <a:rPr lang="en-US" sz="2200" dirty="0">
                <a:latin typeface="Times New Roman" pitchFamily="18" charset="0"/>
                <a:cs typeface="Times New Roman" pitchFamily="18" charset="0"/>
              </a:rPr>
              <a:t> </a:t>
            </a:r>
            <a:r>
              <a:rPr lang="en-US" sz="2200" dirty="0">
                <a:solidFill>
                  <a:schemeClr val="hlink"/>
                </a:solidFill>
                <a:latin typeface="Times New Roman" pitchFamily="18" charset="0"/>
                <a:cs typeface="Times New Roman" pitchFamily="18" charset="0"/>
              </a:rPr>
              <a:t>as</a:t>
            </a:r>
            <a:r>
              <a:rPr lang="en-US" sz="2200" dirty="0">
                <a:latin typeface="Times New Roman" pitchFamily="18" charset="0"/>
                <a:cs typeface="Times New Roman" pitchFamily="18" charset="0"/>
              </a:rPr>
              <a:t> location </a:t>
            </a:r>
            <a:r>
              <a:rPr lang="en-US" sz="2200" dirty="0">
                <a:solidFill>
                  <a:schemeClr val="hlink"/>
                </a:solidFill>
                <a:latin typeface="Times New Roman" pitchFamily="18" charset="0"/>
                <a:cs typeface="Times New Roman" pitchFamily="18" charset="0"/>
              </a:rPr>
              <a:t>in cube</a:t>
            </a:r>
            <a:r>
              <a:rPr lang="en-US" sz="2200" dirty="0">
                <a:latin typeface="Times New Roman" pitchFamily="18" charset="0"/>
                <a:cs typeface="Times New Roman" pitchFamily="18" charset="0"/>
              </a:rPr>
              <a:t> sales</a:t>
            </a:r>
          </a:p>
          <a:p>
            <a:pPr algn="just">
              <a:lnSpc>
                <a:spcPct val="90000"/>
              </a:lnSpc>
            </a:pPr>
            <a:r>
              <a:rPr lang="en-US" sz="2200" dirty="0">
                <a:solidFill>
                  <a:schemeClr val="hlink"/>
                </a:solidFill>
                <a:latin typeface="Times New Roman" pitchFamily="18" charset="0"/>
                <a:cs typeface="Times New Roman" pitchFamily="18" charset="0"/>
              </a:rPr>
              <a:t>define dimension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to_location</a:t>
            </a:r>
            <a:r>
              <a:rPr lang="en-US" sz="2200" dirty="0">
                <a:latin typeface="Times New Roman" pitchFamily="18" charset="0"/>
                <a:cs typeface="Times New Roman" pitchFamily="18" charset="0"/>
              </a:rPr>
              <a:t> </a:t>
            </a:r>
            <a:r>
              <a:rPr lang="en-US" sz="2200" dirty="0">
                <a:solidFill>
                  <a:schemeClr val="hlink"/>
                </a:solidFill>
                <a:latin typeface="Times New Roman" pitchFamily="18" charset="0"/>
                <a:cs typeface="Times New Roman" pitchFamily="18" charset="0"/>
              </a:rPr>
              <a:t>as</a:t>
            </a:r>
            <a:r>
              <a:rPr lang="en-US" sz="2200" dirty="0">
                <a:latin typeface="Times New Roman" pitchFamily="18" charset="0"/>
                <a:cs typeface="Times New Roman" pitchFamily="18" charset="0"/>
              </a:rPr>
              <a:t> location </a:t>
            </a:r>
            <a:r>
              <a:rPr lang="en-US" sz="2200" dirty="0">
                <a:solidFill>
                  <a:schemeClr val="hlink"/>
                </a:solidFill>
                <a:latin typeface="Times New Roman" pitchFamily="18" charset="0"/>
                <a:cs typeface="Times New Roman" pitchFamily="18" charset="0"/>
              </a:rPr>
              <a:t>in cube</a:t>
            </a:r>
            <a:r>
              <a:rPr lang="en-US" sz="2200" dirty="0">
                <a:latin typeface="Times New Roman" pitchFamily="18" charset="0"/>
                <a:cs typeface="Times New Roman" pitchFamily="18" charset="0"/>
              </a:rPr>
              <a:t> sales</a:t>
            </a:r>
            <a:endParaRPr lang="en-US" dirty="0"/>
          </a:p>
        </p:txBody>
      </p:sp>
    </p:spTree>
    <p:extLst>
      <p:ext uri="{BB962C8B-B14F-4D97-AF65-F5344CB8AC3E}">
        <p14:creationId xmlns:p14="http://schemas.microsoft.com/office/powerpoint/2010/main" val="301774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6555641"/>
          </a:xfrm>
          <a:prstGeom prst="rect">
            <a:avLst/>
          </a:prstGeom>
        </p:spPr>
        <p:txBody>
          <a:bodyPr wrap="square">
            <a:spAutoFit/>
          </a:bodyPr>
          <a:lstStyle/>
          <a:p>
            <a:pPr algn="just"/>
            <a:r>
              <a:rPr lang="en-US" sz="2400" dirty="0">
                <a:solidFill>
                  <a:srgbClr val="FF0000"/>
                </a:solidFill>
                <a:latin typeface="Times New Roman" pitchFamily="18" charset="0"/>
                <a:cs typeface="Times New Roman" pitchFamily="18" charset="0"/>
              </a:rPr>
              <a:t>Dimensions: The Role of Concept Hierarchies </a:t>
            </a:r>
          </a:p>
          <a:p>
            <a:pPr algn="just"/>
            <a:r>
              <a:rPr lang="en-US" sz="2200" dirty="0">
                <a:latin typeface="Times New Roman" pitchFamily="18" charset="0"/>
                <a:cs typeface="Times New Roman" pitchFamily="18" charset="0"/>
              </a:rPr>
              <a:t>	A concept hierarchy defines a sequence of mappings from a set of low-level concepts to higher-level (or) more general concepts. Consider a concept hierarchy for the dimension location. City values for location include Vancouver, Toronto, New York, and Chicago. Each city, however, can be mapped to the province or state to which it belongs.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For example, Vancouver can be mapped to British Columbia, and Chicago to Illinois. The provinces and states can in turn be mapped to the country (e.g., Canada or the United States) to which they belong. These mappings form a concept hierarchy for the dimension location, mapping a set of low-level concepts(i.e., cities) to higher-level, more general concepts (i.e., countries). This concept hierarchy is illustrated in Figure 4.9.</a:t>
            </a:r>
          </a:p>
          <a:p>
            <a:pPr algn="just"/>
            <a:r>
              <a:rPr lang="en-US" sz="2200" dirty="0">
                <a:latin typeface="Times New Roman" pitchFamily="18" charset="0"/>
                <a:cs typeface="Times New Roman" pitchFamily="18" charset="0"/>
              </a:rPr>
              <a:t>	Many concept hierarchies are implicit within the database schema. For example, suppose that the dimension location is described by the attributes number, street, city, province or state, zip code, and country. These attributes are related by a total order, forming a concept hierarchy such as “street &lt; city &lt; province or state &lt; country.” This hierarchy is shown in Figure 4.10.</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3368306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87630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51071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
            <a:ext cx="88392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02518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04800"/>
            <a:ext cx="8610600" cy="5977021"/>
          </a:xfrm>
          <a:prstGeom prst="rect">
            <a:avLst/>
          </a:prstGeom>
        </p:spPr>
        <p:txBody>
          <a:bodyPr wrap="square">
            <a:spAutoFit/>
          </a:bodyPr>
          <a:lstStyle/>
          <a:p>
            <a:pPr algn="ctr"/>
            <a:r>
              <a:rPr lang="en-US" sz="3200" dirty="0">
                <a:solidFill>
                  <a:srgbClr val="FF0000"/>
                </a:solidFill>
                <a:latin typeface="Times New Roman" pitchFamily="18" charset="0"/>
                <a:cs typeface="Times New Roman" pitchFamily="18" charset="0"/>
              </a:rPr>
              <a:t>Measures of Data Cube: Three Categories</a:t>
            </a:r>
          </a:p>
          <a:p>
            <a:endParaRPr lang="en-US" sz="2400" dirty="0">
              <a:latin typeface="Times New Roman" pitchFamily="18" charset="0"/>
              <a:cs typeface="Times New Roman" pitchFamily="18" charset="0"/>
            </a:endParaRPr>
          </a:p>
          <a:p>
            <a:pPr>
              <a:lnSpc>
                <a:spcPct val="110000"/>
              </a:lnSpc>
            </a:pPr>
            <a:r>
              <a:rPr lang="en-US" sz="2400" u="sng" dirty="0">
                <a:solidFill>
                  <a:schemeClr val="hlink"/>
                </a:solidFill>
                <a:latin typeface="Times New Roman" pitchFamily="18" charset="0"/>
                <a:cs typeface="Times New Roman" pitchFamily="18" charset="0"/>
              </a:rPr>
              <a:t>Distributive</a:t>
            </a:r>
            <a:r>
              <a:rPr lang="en-US" sz="2400" dirty="0">
                <a:latin typeface="Times New Roman" pitchFamily="18" charset="0"/>
                <a:cs typeface="Times New Roman" pitchFamily="18" charset="0"/>
              </a:rPr>
              <a:t>: if the result derived by applying the function to </a:t>
            </a:r>
            <a:r>
              <a:rPr lang="en-US" sz="2400" i="1" dirty="0">
                <a:latin typeface="Times New Roman" pitchFamily="18" charset="0"/>
                <a:cs typeface="Times New Roman" pitchFamily="18" charset="0"/>
              </a:rPr>
              <a:t>n </a:t>
            </a:r>
            <a:r>
              <a:rPr lang="en-US" sz="2400" dirty="0">
                <a:latin typeface="Times New Roman" pitchFamily="18" charset="0"/>
                <a:cs typeface="Times New Roman" pitchFamily="18" charset="0"/>
              </a:rPr>
              <a:t>aggregate values is the same as that derived by applying the function on all the data without partitioning</a:t>
            </a:r>
          </a:p>
          <a:p>
            <a:pPr lvl="2">
              <a:lnSpc>
                <a:spcPct val="110000"/>
              </a:lnSpc>
            </a:pPr>
            <a:r>
              <a:rPr lang="en-US" sz="2400" dirty="0">
                <a:latin typeface="Times New Roman" pitchFamily="18" charset="0"/>
                <a:cs typeface="Times New Roman" pitchFamily="18" charset="0"/>
              </a:rPr>
              <a:t>E.g., count(), sum(), min(), max()</a:t>
            </a:r>
          </a:p>
          <a:p>
            <a:pPr>
              <a:lnSpc>
                <a:spcPct val="110000"/>
              </a:lnSpc>
            </a:pPr>
            <a:r>
              <a:rPr lang="en-US" sz="2400" u="sng" dirty="0">
                <a:solidFill>
                  <a:schemeClr val="hlink"/>
                </a:solidFill>
                <a:latin typeface="Times New Roman" pitchFamily="18" charset="0"/>
                <a:cs typeface="Times New Roman" pitchFamily="18" charset="0"/>
              </a:rPr>
              <a:t>Algebraic</a:t>
            </a:r>
            <a:r>
              <a:rPr lang="en-US" sz="2400" dirty="0">
                <a:solidFill>
                  <a:srgbClr val="121328"/>
                </a:solidFill>
                <a:latin typeface="Times New Roman" pitchFamily="18" charset="0"/>
                <a:cs typeface="Times New Roman" pitchFamily="18" charset="0"/>
              </a:rPr>
              <a:t>:</a:t>
            </a:r>
            <a:r>
              <a:rPr lang="en-US" sz="2400" dirty="0">
                <a:solidFill>
                  <a:schemeClr val="hlink"/>
                </a:solidFill>
                <a:latin typeface="Times New Roman" pitchFamily="18" charset="0"/>
                <a:cs typeface="Times New Roman" pitchFamily="18" charset="0"/>
              </a:rPr>
              <a:t> </a:t>
            </a:r>
            <a:r>
              <a:rPr lang="en-US" sz="2400" dirty="0">
                <a:latin typeface="Times New Roman" pitchFamily="18" charset="0"/>
                <a:cs typeface="Times New Roman" pitchFamily="18" charset="0"/>
              </a:rPr>
              <a:t>if it can be computed by an algebraic function with </a:t>
            </a:r>
            <a:r>
              <a:rPr lang="en-US" sz="2400" i="1" dirty="0">
                <a:latin typeface="Times New Roman" pitchFamily="18" charset="0"/>
                <a:cs typeface="Times New Roman" pitchFamily="18" charset="0"/>
              </a:rPr>
              <a:t>M</a:t>
            </a:r>
            <a:r>
              <a:rPr lang="en-US" sz="2400" dirty="0">
                <a:latin typeface="Times New Roman" pitchFamily="18" charset="0"/>
                <a:cs typeface="Times New Roman" pitchFamily="18" charset="0"/>
              </a:rPr>
              <a:t> arguments (where</a:t>
            </a:r>
            <a:r>
              <a:rPr lang="en-US" sz="2400" i="1" dirty="0">
                <a:latin typeface="Times New Roman" pitchFamily="18" charset="0"/>
                <a:cs typeface="Times New Roman" pitchFamily="18" charset="0"/>
              </a:rPr>
              <a:t> M</a:t>
            </a:r>
            <a:r>
              <a:rPr lang="en-US" sz="2400" dirty="0">
                <a:latin typeface="Times New Roman" pitchFamily="18" charset="0"/>
                <a:cs typeface="Times New Roman" pitchFamily="18" charset="0"/>
              </a:rPr>
              <a:t> is a bounded integer), each of which is obtained by applying a distributive aggregate function</a:t>
            </a:r>
            <a:endParaRPr lang="en-US" sz="2400" dirty="0">
              <a:solidFill>
                <a:srgbClr val="121328"/>
              </a:solidFill>
              <a:latin typeface="Times New Roman" pitchFamily="18" charset="0"/>
              <a:cs typeface="Times New Roman" pitchFamily="18" charset="0"/>
            </a:endParaRPr>
          </a:p>
          <a:p>
            <a:pPr lvl="2">
              <a:lnSpc>
                <a:spcPct val="110000"/>
              </a:lnSpc>
            </a:pPr>
            <a:r>
              <a:rPr lang="en-US" sz="2400" dirty="0">
                <a:solidFill>
                  <a:srgbClr val="121328"/>
                </a:solidFill>
                <a:latin typeface="Times New Roman" pitchFamily="18" charset="0"/>
                <a:cs typeface="Times New Roman" pitchFamily="18" charset="0"/>
              </a:rPr>
              <a:t>E.g.,</a:t>
            </a:r>
            <a:r>
              <a:rPr lang="en-US" sz="2400" dirty="0">
                <a:solidFill>
                  <a:schemeClr val="hlink"/>
                </a:solidFill>
                <a:latin typeface="Times New Roman" pitchFamily="18" charset="0"/>
                <a:cs typeface="Times New Roman" pitchFamily="18" charset="0"/>
              </a:rPr>
              <a:t>  </a:t>
            </a:r>
            <a:r>
              <a:rPr lang="en-US" sz="2400" dirty="0" err="1">
                <a:solidFill>
                  <a:srgbClr val="121328"/>
                </a:solidFill>
                <a:latin typeface="Times New Roman" pitchFamily="18" charset="0"/>
                <a:cs typeface="Times New Roman" pitchFamily="18" charset="0"/>
              </a:rPr>
              <a:t>avg</a:t>
            </a:r>
            <a:r>
              <a:rPr lang="en-US" sz="2400" dirty="0">
                <a:solidFill>
                  <a:srgbClr val="121328"/>
                </a:solidFill>
                <a:latin typeface="Times New Roman" pitchFamily="18" charset="0"/>
                <a:cs typeface="Times New Roman" pitchFamily="18" charset="0"/>
              </a:rPr>
              <a:t>(), </a:t>
            </a:r>
            <a:r>
              <a:rPr lang="en-US" sz="2400" dirty="0" err="1">
                <a:solidFill>
                  <a:srgbClr val="121328"/>
                </a:solidFill>
                <a:latin typeface="Times New Roman" pitchFamily="18" charset="0"/>
                <a:cs typeface="Times New Roman" pitchFamily="18" charset="0"/>
              </a:rPr>
              <a:t>min_N</a:t>
            </a:r>
            <a:r>
              <a:rPr lang="en-US" sz="2400" dirty="0">
                <a:solidFill>
                  <a:srgbClr val="121328"/>
                </a:solidFill>
                <a:latin typeface="Times New Roman" pitchFamily="18" charset="0"/>
                <a:cs typeface="Times New Roman" pitchFamily="18" charset="0"/>
              </a:rPr>
              <a:t>(), </a:t>
            </a:r>
            <a:r>
              <a:rPr lang="en-US" sz="2400" dirty="0" err="1">
                <a:solidFill>
                  <a:srgbClr val="121328"/>
                </a:solidFill>
                <a:latin typeface="Times New Roman" pitchFamily="18" charset="0"/>
                <a:cs typeface="Times New Roman" pitchFamily="18" charset="0"/>
              </a:rPr>
              <a:t>standard_deviation</a:t>
            </a:r>
            <a:r>
              <a:rPr lang="en-US" sz="2400" dirty="0">
                <a:solidFill>
                  <a:srgbClr val="121328"/>
                </a:solidFill>
                <a:latin typeface="Times New Roman" pitchFamily="18" charset="0"/>
                <a:cs typeface="Times New Roman" pitchFamily="18" charset="0"/>
              </a:rPr>
              <a:t>()</a:t>
            </a:r>
          </a:p>
          <a:p>
            <a:pPr>
              <a:lnSpc>
                <a:spcPct val="110000"/>
              </a:lnSpc>
            </a:pPr>
            <a:r>
              <a:rPr lang="en-US" sz="2400" u="sng" dirty="0">
                <a:solidFill>
                  <a:schemeClr val="hlink"/>
                </a:solidFill>
                <a:latin typeface="Times New Roman" pitchFamily="18" charset="0"/>
                <a:cs typeface="Times New Roman" pitchFamily="18" charset="0"/>
              </a:rPr>
              <a:t>Holistic</a:t>
            </a:r>
            <a:r>
              <a:rPr lang="en-US" sz="2400" dirty="0">
                <a:solidFill>
                  <a:schemeClr val="hlink"/>
                </a:solidFill>
                <a:latin typeface="Times New Roman" pitchFamily="18" charset="0"/>
                <a:cs typeface="Times New Roman" pitchFamily="18" charset="0"/>
              </a:rPr>
              <a:t>: </a:t>
            </a:r>
            <a:r>
              <a:rPr lang="en-US" sz="2400" dirty="0">
                <a:latin typeface="Times New Roman" pitchFamily="18" charset="0"/>
                <a:cs typeface="Times New Roman" pitchFamily="18" charset="0"/>
              </a:rPr>
              <a:t>if there is no constant bound on the storage size needed to describe a </a:t>
            </a:r>
            <a:r>
              <a:rPr lang="en-US" sz="2400" dirty="0" err="1">
                <a:latin typeface="Times New Roman" pitchFamily="18" charset="0"/>
                <a:cs typeface="Times New Roman" pitchFamily="18" charset="0"/>
              </a:rPr>
              <a:t>subaggregate</a:t>
            </a:r>
            <a:r>
              <a:rPr lang="en-US" sz="2400" dirty="0">
                <a:latin typeface="Times New Roman" pitchFamily="18" charset="0"/>
                <a:cs typeface="Times New Roman" pitchFamily="18" charset="0"/>
              </a:rPr>
              <a:t>.</a:t>
            </a:r>
            <a:r>
              <a:rPr lang="en-US" sz="2400" dirty="0">
                <a:solidFill>
                  <a:schemeClr val="hlink"/>
                </a:solidFill>
                <a:latin typeface="Times New Roman" pitchFamily="18" charset="0"/>
                <a:cs typeface="Times New Roman" pitchFamily="18" charset="0"/>
              </a:rPr>
              <a:t>  </a:t>
            </a:r>
          </a:p>
          <a:p>
            <a:pPr lvl="2">
              <a:lnSpc>
                <a:spcPct val="110000"/>
              </a:lnSpc>
            </a:pPr>
            <a:r>
              <a:rPr lang="en-US" sz="2400" dirty="0">
                <a:latin typeface="Times New Roman" pitchFamily="18" charset="0"/>
                <a:cs typeface="Times New Roman" pitchFamily="18" charset="0"/>
              </a:rPr>
              <a:t>E.g., median(), mode(), rank()</a:t>
            </a:r>
          </a:p>
          <a:p>
            <a:endParaRPr lang="en-US" dirty="0"/>
          </a:p>
          <a:p>
            <a:endParaRPr lang="en-IN" dirty="0"/>
          </a:p>
        </p:txBody>
      </p:sp>
    </p:spTree>
    <p:extLst>
      <p:ext uri="{BB962C8B-B14F-4D97-AF65-F5344CB8AC3E}">
        <p14:creationId xmlns:p14="http://schemas.microsoft.com/office/powerpoint/2010/main" val="21792570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228600"/>
            <a:ext cx="8991600" cy="5201424"/>
          </a:xfrm>
          <a:prstGeom prst="rect">
            <a:avLst/>
          </a:prstGeom>
        </p:spPr>
        <p:txBody>
          <a:bodyPr wrap="square">
            <a:spAutoFit/>
          </a:bodyPr>
          <a:lstStyle/>
          <a:p>
            <a:pPr algn="ctr"/>
            <a:r>
              <a:rPr lang="en-US" sz="4000" b="1" u="sng" dirty="0"/>
              <a:t>Typical OLAP Operations</a:t>
            </a:r>
            <a:endParaRPr lang="en-US" sz="2000" b="1" u="sng" dirty="0">
              <a:solidFill>
                <a:schemeClr val="hlink"/>
              </a:solidFill>
            </a:endParaRPr>
          </a:p>
          <a:p>
            <a:endParaRPr lang="en-US" sz="2000" dirty="0">
              <a:solidFill>
                <a:schemeClr val="hlink"/>
              </a:solidFill>
            </a:endParaRPr>
          </a:p>
          <a:p>
            <a:pPr algn="just"/>
            <a:r>
              <a:rPr lang="en-US" sz="2200" dirty="0">
                <a:solidFill>
                  <a:schemeClr val="hlink"/>
                </a:solidFill>
                <a:latin typeface="Times New Roman" pitchFamily="18" charset="0"/>
                <a:cs typeface="Times New Roman" pitchFamily="18" charset="0"/>
              </a:rPr>
              <a:t>Roll up (drill-up):</a:t>
            </a:r>
            <a:r>
              <a:rPr lang="en-US" sz="2200" dirty="0">
                <a:latin typeface="Times New Roman" pitchFamily="18" charset="0"/>
                <a:cs typeface="Times New Roman" pitchFamily="18" charset="0"/>
              </a:rPr>
              <a:t> summarize data</a:t>
            </a:r>
          </a:p>
          <a:p>
            <a:pPr lvl="1" algn="just"/>
            <a:r>
              <a:rPr lang="en-US" sz="2200" i="1" dirty="0">
                <a:latin typeface="Times New Roman" pitchFamily="18" charset="0"/>
                <a:cs typeface="Times New Roman" pitchFamily="18" charset="0"/>
              </a:rPr>
              <a:t>by climbing up hierarchy or by dimension reduction</a:t>
            </a:r>
            <a:endParaRPr lang="en-US" sz="2200" dirty="0">
              <a:latin typeface="Times New Roman" pitchFamily="18" charset="0"/>
              <a:cs typeface="Times New Roman" pitchFamily="18" charset="0"/>
            </a:endParaRPr>
          </a:p>
          <a:p>
            <a:pPr algn="just"/>
            <a:r>
              <a:rPr lang="en-US" sz="2200" dirty="0">
                <a:solidFill>
                  <a:schemeClr val="hlink"/>
                </a:solidFill>
                <a:latin typeface="Times New Roman" pitchFamily="18" charset="0"/>
                <a:cs typeface="Times New Roman" pitchFamily="18" charset="0"/>
              </a:rPr>
              <a:t>Drill down (roll down):</a:t>
            </a:r>
            <a:r>
              <a:rPr lang="en-US" sz="2200" dirty="0">
                <a:latin typeface="Times New Roman" pitchFamily="18" charset="0"/>
                <a:cs typeface="Times New Roman" pitchFamily="18" charset="0"/>
              </a:rPr>
              <a:t> reverse of roll-up</a:t>
            </a:r>
          </a:p>
          <a:p>
            <a:pPr lvl="1" algn="just"/>
            <a:r>
              <a:rPr lang="en-US" sz="2200" i="1" dirty="0">
                <a:latin typeface="Times New Roman" pitchFamily="18" charset="0"/>
                <a:cs typeface="Times New Roman" pitchFamily="18" charset="0"/>
              </a:rPr>
              <a:t>from higher level summary to lower level summary or detailed data, or introducing new dimensions</a:t>
            </a:r>
          </a:p>
          <a:p>
            <a:pPr algn="just"/>
            <a:r>
              <a:rPr lang="en-US" sz="2200" dirty="0">
                <a:solidFill>
                  <a:schemeClr val="hlink"/>
                </a:solidFill>
                <a:latin typeface="Times New Roman" pitchFamily="18" charset="0"/>
                <a:cs typeface="Times New Roman" pitchFamily="18" charset="0"/>
              </a:rPr>
              <a:t>Slice and dice:</a:t>
            </a:r>
            <a:r>
              <a:rPr lang="en-US" sz="2200" dirty="0">
                <a:latin typeface="Times New Roman" pitchFamily="18" charset="0"/>
                <a:cs typeface="Times New Roman" pitchFamily="18" charset="0"/>
              </a:rPr>
              <a:t> </a:t>
            </a:r>
            <a:r>
              <a:rPr lang="en-US" sz="2200" i="1" dirty="0">
                <a:latin typeface="Times New Roman" pitchFamily="18" charset="0"/>
                <a:cs typeface="Times New Roman" pitchFamily="18" charset="0"/>
              </a:rPr>
              <a:t>project and select</a:t>
            </a:r>
            <a:r>
              <a:rPr lang="en-US" sz="2200" dirty="0">
                <a:latin typeface="Times New Roman" pitchFamily="18" charset="0"/>
                <a:cs typeface="Times New Roman" pitchFamily="18" charset="0"/>
              </a:rPr>
              <a:t> </a:t>
            </a:r>
          </a:p>
          <a:p>
            <a:pPr algn="just"/>
            <a:r>
              <a:rPr lang="en-US" sz="2200" dirty="0">
                <a:solidFill>
                  <a:schemeClr val="hlink"/>
                </a:solidFill>
                <a:latin typeface="Times New Roman" pitchFamily="18" charset="0"/>
                <a:cs typeface="Times New Roman" pitchFamily="18" charset="0"/>
              </a:rPr>
              <a:t>Pivot (rotate):</a:t>
            </a:r>
            <a:r>
              <a:rPr lang="en-US" sz="2200" dirty="0">
                <a:latin typeface="Times New Roman" pitchFamily="18" charset="0"/>
                <a:cs typeface="Times New Roman" pitchFamily="18" charset="0"/>
              </a:rPr>
              <a:t> </a:t>
            </a:r>
          </a:p>
          <a:p>
            <a:pPr lvl="1" algn="just"/>
            <a:r>
              <a:rPr lang="en-US" sz="2200" i="1" dirty="0">
                <a:latin typeface="Times New Roman" pitchFamily="18" charset="0"/>
                <a:cs typeface="Times New Roman" pitchFamily="18" charset="0"/>
              </a:rPr>
              <a:t>reorient the cube, visualization, 3D to series of 2D planes</a:t>
            </a:r>
          </a:p>
          <a:p>
            <a:pPr algn="just"/>
            <a:r>
              <a:rPr lang="en-US" sz="2200" dirty="0">
                <a:latin typeface="Times New Roman" pitchFamily="18" charset="0"/>
                <a:cs typeface="Times New Roman" pitchFamily="18" charset="0"/>
              </a:rPr>
              <a:t>Other operations</a:t>
            </a:r>
          </a:p>
          <a:p>
            <a:pPr lvl="1" algn="just"/>
            <a:r>
              <a:rPr lang="en-US" sz="2200" i="1" dirty="0">
                <a:solidFill>
                  <a:schemeClr val="hlink"/>
                </a:solidFill>
                <a:latin typeface="Times New Roman" pitchFamily="18" charset="0"/>
                <a:cs typeface="Times New Roman" pitchFamily="18" charset="0"/>
              </a:rPr>
              <a:t>drill across:</a:t>
            </a:r>
            <a:r>
              <a:rPr lang="en-US" sz="2200" i="1" dirty="0">
                <a:latin typeface="Times New Roman" pitchFamily="18" charset="0"/>
                <a:cs typeface="Times New Roman" pitchFamily="18" charset="0"/>
              </a:rPr>
              <a:t> involving (across) more than one fact table</a:t>
            </a:r>
            <a:endParaRPr lang="en-US" sz="2200" dirty="0">
              <a:latin typeface="Times New Roman" pitchFamily="18" charset="0"/>
              <a:cs typeface="Times New Roman" pitchFamily="18" charset="0"/>
            </a:endParaRPr>
          </a:p>
          <a:p>
            <a:pPr lvl="1" algn="just"/>
            <a:r>
              <a:rPr lang="en-US" sz="2200" i="1" dirty="0">
                <a:solidFill>
                  <a:schemeClr val="hlink"/>
                </a:solidFill>
                <a:latin typeface="Times New Roman" pitchFamily="18" charset="0"/>
                <a:cs typeface="Times New Roman" pitchFamily="18" charset="0"/>
              </a:rPr>
              <a:t>drill through:</a:t>
            </a:r>
            <a:r>
              <a:rPr lang="en-US" sz="2200" i="1" dirty="0">
                <a:latin typeface="Times New Roman" pitchFamily="18" charset="0"/>
                <a:cs typeface="Times New Roman" pitchFamily="18" charset="0"/>
              </a:rPr>
              <a:t> through the bottom level of the cube to its back-end relational tables (using SQL)</a:t>
            </a: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16241571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
            <a:ext cx="868680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52655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8763000" cy="64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8386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1" y="228600"/>
            <a:ext cx="83820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38767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1"/>
            <a:ext cx="8839200" cy="2954655"/>
          </a:xfrm>
          <a:prstGeom prst="rect">
            <a:avLst/>
          </a:prstGeom>
        </p:spPr>
        <p:txBody>
          <a:bodyPr wrap="square">
            <a:spAutoFit/>
          </a:bodyPr>
          <a:lstStyle/>
          <a:p>
            <a:pPr algn="just"/>
            <a:r>
              <a:rPr lang="en-IN" sz="2400" dirty="0">
                <a:solidFill>
                  <a:srgbClr val="FF0000"/>
                </a:solidFill>
                <a:latin typeface="Times New Roman" pitchFamily="18" charset="0"/>
                <a:cs typeface="Times New Roman" pitchFamily="18" charset="0"/>
              </a:rPr>
              <a:t>A </a:t>
            </a:r>
            <a:r>
              <a:rPr lang="en-IN" sz="2400" dirty="0" err="1">
                <a:solidFill>
                  <a:srgbClr val="FF0000"/>
                </a:solidFill>
                <a:latin typeface="Times New Roman" pitchFamily="18" charset="0"/>
                <a:cs typeface="Times New Roman" pitchFamily="18" charset="0"/>
              </a:rPr>
              <a:t>Starnet</a:t>
            </a:r>
            <a:r>
              <a:rPr lang="en-IN" sz="2400" dirty="0">
                <a:solidFill>
                  <a:srgbClr val="FF0000"/>
                </a:solidFill>
                <a:latin typeface="Times New Roman" pitchFamily="18" charset="0"/>
                <a:cs typeface="Times New Roman" pitchFamily="18" charset="0"/>
              </a:rPr>
              <a:t> Query Model for Querying Multidimensional Databases:</a:t>
            </a:r>
          </a:p>
          <a:p>
            <a:pPr algn="just"/>
            <a:r>
              <a:rPr lang="en-US" sz="2200" dirty="0">
                <a:latin typeface="Times New Roman" pitchFamily="18" charset="0"/>
                <a:cs typeface="Times New Roman" pitchFamily="18" charset="0"/>
              </a:rPr>
              <a:t>	</a:t>
            </a:r>
            <a:r>
              <a:rPr lang="en-US" sz="2000" dirty="0">
                <a:latin typeface="Times New Roman" pitchFamily="18" charset="0"/>
                <a:cs typeface="Times New Roman" pitchFamily="18" charset="0"/>
              </a:rPr>
              <a:t>The querying of multidimensional databases can be based on a </a:t>
            </a:r>
            <a:r>
              <a:rPr lang="en-US" sz="2000" dirty="0" err="1">
                <a:latin typeface="Times New Roman" pitchFamily="18" charset="0"/>
                <a:cs typeface="Times New Roman" pitchFamily="18" charset="0"/>
              </a:rPr>
              <a:t>starnet</a:t>
            </a:r>
            <a:r>
              <a:rPr lang="en-US" sz="2000" dirty="0">
                <a:latin typeface="Times New Roman" pitchFamily="18" charset="0"/>
                <a:cs typeface="Times New Roman" pitchFamily="18" charset="0"/>
              </a:rPr>
              <a:t> model, which consists of radial lines emanating from a central point, where each line represents a concept hierarchy for a dimension.</a:t>
            </a:r>
          </a:p>
          <a:p>
            <a:pPr algn="just"/>
            <a:r>
              <a:rPr lang="en-US" sz="2000" b="1" dirty="0">
                <a:latin typeface="Times New Roman" pitchFamily="18" charset="0"/>
                <a:cs typeface="Times New Roman" pitchFamily="18" charset="0"/>
              </a:rPr>
              <a:t>Ex:  </a:t>
            </a:r>
            <a:r>
              <a:rPr lang="en-US" sz="2000" b="1" dirty="0" err="1">
                <a:latin typeface="Times New Roman" pitchFamily="18" charset="0"/>
                <a:cs typeface="Times New Roman" pitchFamily="18" charset="0"/>
              </a:rPr>
              <a:t>Starnet</a:t>
            </a:r>
            <a:r>
              <a:rPr lang="en-US" sz="2000" dirty="0">
                <a:latin typeface="Times New Roman" pitchFamily="18" charset="0"/>
                <a:cs typeface="Times New Roman" pitchFamily="18" charset="0"/>
              </a:rPr>
              <a:t>     </a:t>
            </a:r>
          </a:p>
          <a:p>
            <a:pPr algn="just"/>
            <a:r>
              <a:rPr lang="en-US" sz="2000" dirty="0">
                <a:latin typeface="Times New Roman" pitchFamily="18" charset="0"/>
                <a:cs typeface="Times New Roman" pitchFamily="18" charset="0"/>
              </a:rPr>
              <a:t>	A </a:t>
            </a:r>
            <a:r>
              <a:rPr lang="en-US" sz="2000" dirty="0" err="1">
                <a:latin typeface="Times New Roman" pitchFamily="18" charset="0"/>
                <a:cs typeface="Times New Roman" pitchFamily="18" charset="0"/>
              </a:rPr>
              <a:t>starnet</a:t>
            </a:r>
            <a:r>
              <a:rPr lang="en-US" sz="2000" dirty="0">
                <a:latin typeface="Times New Roman" pitchFamily="18" charset="0"/>
                <a:cs typeface="Times New Roman" pitchFamily="18" charset="0"/>
              </a:rPr>
              <a:t> query model for the </a:t>
            </a:r>
            <a:r>
              <a:rPr lang="en-US" sz="2000" dirty="0" err="1">
                <a:latin typeface="Times New Roman" pitchFamily="18" charset="0"/>
                <a:cs typeface="Times New Roman" pitchFamily="18" charset="0"/>
              </a:rPr>
              <a:t>AllElectronics</a:t>
            </a:r>
            <a:r>
              <a:rPr lang="en-US" sz="2000" dirty="0">
                <a:latin typeface="Times New Roman" pitchFamily="18" charset="0"/>
                <a:cs typeface="Times New Roman" pitchFamily="18" charset="0"/>
              </a:rPr>
              <a:t> data warehouse is shown in Figure 4.13. This </a:t>
            </a:r>
            <a:r>
              <a:rPr lang="en-US" sz="2000" dirty="0" err="1">
                <a:latin typeface="Times New Roman" pitchFamily="18" charset="0"/>
                <a:cs typeface="Times New Roman" pitchFamily="18" charset="0"/>
              </a:rPr>
              <a:t>starnet</a:t>
            </a:r>
            <a:r>
              <a:rPr lang="en-US" sz="2000" dirty="0">
                <a:latin typeface="Times New Roman" pitchFamily="18" charset="0"/>
                <a:cs typeface="Times New Roman" pitchFamily="18" charset="0"/>
              </a:rPr>
              <a:t> consists of four radial lines, representing concept hierarchies for the dimensions location, customer, item, and time, respectively. Each line consists of footprints representing abstraction levels of the dimension.</a:t>
            </a:r>
            <a:endParaRPr lang="en-IN" sz="20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107056"/>
            <a:ext cx="7010400" cy="3694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79038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2999" cy="6555641"/>
          </a:xfrm>
          <a:prstGeom prst="rect">
            <a:avLst/>
          </a:prstGeom>
        </p:spPr>
        <p:txBody>
          <a:bodyPr wrap="square">
            <a:spAutoFit/>
          </a:bodyPr>
          <a:lstStyle/>
          <a:p>
            <a:pPr algn="ctr"/>
            <a:r>
              <a:rPr lang="en-IN" sz="2400" u="sng" dirty="0">
                <a:solidFill>
                  <a:srgbClr val="FF0000"/>
                </a:solidFill>
                <a:latin typeface="Times New Roman" pitchFamily="18" charset="0"/>
                <a:cs typeface="Times New Roman" pitchFamily="18" charset="0"/>
              </a:rPr>
              <a:t>Data Warehouse Design and Usage</a:t>
            </a:r>
          </a:p>
          <a:p>
            <a:pPr algn="just"/>
            <a:r>
              <a:rPr lang="en-US" sz="2200" dirty="0">
                <a:latin typeface="Times New Roman" pitchFamily="18" charset="0"/>
                <a:cs typeface="Times New Roman" pitchFamily="18" charset="0"/>
              </a:rPr>
              <a:t>What goes into a data warehouse design? </a:t>
            </a:r>
          </a:p>
          <a:p>
            <a:pPr algn="just"/>
            <a:r>
              <a:rPr lang="en-US" sz="2200" dirty="0">
                <a:latin typeface="Times New Roman" pitchFamily="18" charset="0"/>
                <a:cs typeface="Times New Roman" pitchFamily="18" charset="0"/>
              </a:rPr>
              <a:t>How are data warehouses used? </a:t>
            </a:r>
          </a:p>
          <a:p>
            <a:pPr algn="just"/>
            <a:r>
              <a:rPr lang="en-US" sz="2200" dirty="0">
                <a:latin typeface="Times New Roman" pitchFamily="18" charset="0"/>
                <a:cs typeface="Times New Roman" pitchFamily="18" charset="0"/>
              </a:rPr>
              <a:t>How do data warehousing and OLAP relate to data mining?</a:t>
            </a:r>
          </a:p>
          <a:p>
            <a:pPr algn="just"/>
            <a:endParaRPr lang="en-US" sz="2200" dirty="0">
              <a:latin typeface="Times New Roman" pitchFamily="18" charset="0"/>
              <a:cs typeface="Times New Roman" pitchFamily="18" charset="0"/>
            </a:endParaRPr>
          </a:p>
          <a:p>
            <a:pPr algn="just"/>
            <a:r>
              <a:rPr lang="en-US" sz="2200" dirty="0">
                <a:solidFill>
                  <a:srgbClr val="00B0F0"/>
                </a:solidFill>
                <a:latin typeface="Times New Roman" pitchFamily="18" charset="0"/>
                <a:cs typeface="Times New Roman" pitchFamily="18" charset="0"/>
              </a:rPr>
              <a:t>A Business Analysis Framework for Data Warehouse Design:</a:t>
            </a:r>
          </a:p>
          <a:p>
            <a:pPr algn="just"/>
            <a:r>
              <a:rPr lang="en-US" sz="2200" dirty="0">
                <a:latin typeface="Times New Roman" pitchFamily="18" charset="0"/>
                <a:cs typeface="Times New Roman" pitchFamily="18" charset="0"/>
              </a:rPr>
              <a:t>	To design an effective data warehouse we need to understand and analyze business needs and construct a business analysis framework. The construction of a large and complex information system can be viewed as the construction of a large and complex building, for which the owner, architect, and builder have different views. These views are combined to form a complex framework that represents the top-down, business-driven, or owner’s perspective, as well as the bottom-up, builder-driven, or implementer's view of the information system.</a:t>
            </a:r>
          </a:p>
          <a:p>
            <a:pPr algn="just"/>
            <a:endParaRPr lang="en-US" sz="2200" dirty="0">
              <a:latin typeface="Times New Roman" pitchFamily="18" charset="0"/>
              <a:cs typeface="Times New Roman" pitchFamily="18" charset="0"/>
            </a:endParaRPr>
          </a:p>
          <a:p>
            <a:pPr algn="just"/>
            <a:r>
              <a:rPr lang="en-US" sz="2200" dirty="0">
                <a:solidFill>
                  <a:srgbClr val="00B0F0"/>
                </a:solidFill>
                <a:latin typeface="Times New Roman" pitchFamily="18" charset="0"/>
                <a:cs typeface="Times New Roman" pitchFamily="18" charset="0"/>
              </a:rPr>
              <a:t>Four different views regarding a data warehouse design must be considered:</a:t>
            </a:r>
          </a:p>
          <a:p>
            <a:pPr algn="just"/>
            <a:r>
              <a:rPr lang="en-US" sz="2200" dirty="0">
                <a:latin typeface="Times New Roman" pitchFamily="18" charset="0"/>
                <a:cs typeface="Times New Roman" pitchFamily="18" charset="0"/>
              </a:rPr>
              <a:t>	The </a:t>
            </a:r>
            <a:r>
              <a:rPr lang="en-US" sz="2200" b="1" dirty="0">
                <a:latin typeface="Times New Roman" pitchFamily="18" charset="0"/>
                <a:cs typeface="Times New Roman" pitchFamily="18" charset="0"/>
              </a:rPr>
              <a:t>top-down view </a:t>
            </a:r>
            <a:r>
              <a:rPr lang="en-US" sz="2200" dirty="0">
                <a:latin typeface="Times New Roman" pitchFamily="18" charset="0"/>
                <a:cs typeface="Times New Roman" pitchFamily="18" charset="0"/>
              </a:rPr>
              <a:t>allows the selection of the relevant information necessary for the data warehouse. This information matches current and future business needs.</a:t>
            </a:r>
          </a:p>
        </p:txBody>
      </p:sp>
    </p:spTree>
    <p:extLst>
      <p:ext uri="{BB962C8B-B14F-4D97-AF65-F5344CB8AC3E}">
        <p14:creationId xmlns:p14="http://schemas.microsoft.com/office/powerpoint/2010/main" val="34580181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2999" cy="5170646"/>
          </a:xfrm>
          <a:prstGeom prst="rect">
            <a:avLst/>
          </a:prstGeom>
        </p:spPr>
        <p:txBody>
          <a:bodyPr wrap="square">
            <a:spAutoFit/>
          </a:bodyPr>
          <a:lstStyle/>
          <a:p>
            <a:pPr algn="just"/>
            <a:r>
              <a:rPr lang="en-US" sz="2200" dirty="0">
                <a:latin typeface="Times New Roman" pitchFamily="18" charset="0"/>
                <a:cs typeface="Times New Roman" pitchFamily="18" charset="0"/>
              </a:rPr>
              <a:t>	The </a:t>
            </a:r>
            <a:r>
              <a:rPr lang="en-US" sz="2200" b="1" dirty="0">
                <a:latin typeface="Times New Roman" pitchFamily="18" charset="0"/>
                <a:cs typeface="Times New Roman" pitchFamily="18" charset="0"/>
              </a:rPr>
              <a:t>data source view </a:t>
            </a:r>
            <a:r>
              <a:rPr lang="en-US" sz="2200" dirty="0">
                <a:latin typeface="Times New Roman" pitchFamily="18" charset="0"/>
                <a:cs typeface="Times New Roman" pitchFamily="18" charset="0"/>
              </a:rPr>
              <a:t>exposes the information being captured, stored, and managed by operational systems. This information may be documented at various levels of detail and accuracy, from individual data source tables to integrated data source tables.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The </a:t>
            </a:r>
            <a:r>
              <a:rPr lang="en-US" sz="2200" b="1" dirty="0">
                <a:latin typeface="Times New Roman" pitchFamily="18" charset="0"/>
                <a:cs typeface="Times New Roman" pitchFamily="18" charset="0"/>
              </a:rPr>
              <a:t>data warehouse view </a:t>
            </a:r>
            <a:r>
              <a:rPr lang="en-US" sz="2200" dirty="0">
                <a:latin typeface="Times New Roman" pitchFamily="18" charset="0"/>
                <a:cs typeface="Times New Roman" pitchFamily="18" charset="0"/>
              </a:rPr>
              <a:t>includes fact tables and dimension tables. It represents the information that is stored inside the data warehouse, including </a:t>
            </a:r>
            <a:r>
              <a:rPr lang="en-US" sz="2200" dirty="0" err="1">
                <a:latin typeface="Times New Roman" pitchFamily="18" charset="0"/>
                <a:cs typeface="Times New Roman" pitchFamily="18" charset="0"/>
              </a:rPr>
              <a:t>precalculated</a:t>
            </a:r>
            <a:r>
              <a:rPr lang="en-US" sz="2200" dirty="0">
                <a:latin typeface="Times New Roman" pitchFamily="18" charset="0"/>
                <a:cs typeface="Times New Roman" pitchFamily="18" charset="0"/>
              </a:rPr>
              <a:t> totals and counts, as well as information regarding the source, date, and time of origin, added to provide historical context.</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Finally, </a:t>
            </a:r>
            <a:r>
              <a:rPr lang="en-US" sz="2200" b="1" dirty="0">
                <a:latin typeface="Times New Roman" pitchFamily="18" charset="0"/>
                <a:cs typeface="Times New Roman" pitchFamily="18" charset="0"/>
              </a:rPr>
              <a:t>the business query view </a:t>
            </a:r>
            <a:r>
              <a:rPr lang="en-US" sz="2200" dirty="0">
                <a:latin typeface="Times New Roman" pitchFamily="18" charset="0"/>
                <a:cs typeface="Times New Roman" pitchFamily="18" charset="0"/>
              </a:rPr>
              <a:t>is the data perspective in the data warehouse from the end-user’s viewpoint.</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Building and using a data warehouse is a complex task because it requires business skills, technology skills, and program management skills.</a:t>
            </a:r>
          </a:p>
        </p:txBody>
      </p:sp>
    </p:spTree>
    <p:extLst>
      <p:ext uri="{BB962C8B-B14F-4D97-AF65-F5344CB8AC3E}">
        <p14:creationId xmlns:p14="http://schemas.microsoft.com/office/powerpoint/2010/main" val="20726979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2999" cy="6386364"/>
          </a:xfrm>
          <a:prstGeom prst="rect">
            <a:avLst/>
          </a:prstGeom>
        </p:spPr>
        <p:txBody>
          <a:bodyPr wrap="square">
            <a:spAutoFit/>
          </a:bodyPr>
          <a:lstStyle/>
          <a:p>
            <a:r>
              <a:rPr lang="en-US" sz="2400" dirty="0">
                <a:solidFill>
                  <a:srgbClr val="FF0000"/>
                </a:solidFill>
                <a:latin typeface="Times New Roman" pitchFamily="18" charset="0"/>
                <a:cs typeface="Times New Roman" pitchFamily="18" charset="0"/>
              </a:rPr>
              <a:t>Data Warehouse Design Process</a:t>
            </a:r>
          </a:p>
          <a:p>
            <a:pPr algn="just"/>
            <a:r>
              <a:rPr lang="en-US" sz="2200" dirty="0">
                <a:latin typeface="Times New Roman" pitchFamily="18" charset="0"/>
                <a:cs typeface="Times New Roman" pitchFamily="18" charset="0"/>
              </a:rPr>
              <a:t>	A data warehouse can be built using a top-down approach, a bottom-up approach, or a combination of both. </a:t>
            </a:r>
          </a:p>
          <a:p>
            <a:pPr algn="just"/>
            <a:r>
              <a:rPr lang="en-US" sz="2200" dirty="0">
                <a:latin typeface="Times New Roman" pitchFamily="18" charset="0"/>
                <a:cs typeface="Times New Roman" pitchFamily="18" charset="0"/>
              </a:rPr>
              <a:t>	The </a:t>
            </a:r>
            <a:r>
              <a:rPr lang="en-US" sz="2200" b="1" dirty="0">
                <a:latin typeface="Times New Roman" pitchFamily="18" charset="0"/>
                <a:cs typeface="Times New Roman" pitchFamily="18" charset="0"/>
              </a:rPr>
              <a:t>top-down approach </a:t>
            </a:r>
            <a:r>
              <a:rPr lang="en-US" sz="2200" dirty="0">
                <a:latin typeface="Times New Roman" pitchFamily="18" charset="0"/>
                <a:cs typeface="Times New Roman" pitchFamily="18" charset="0"/>
              </a:rPr>
              <a:t>starts with overall design and planning. It is useful in cases where the technology is mature and well known, and where the business problems that must be solved are clear and well understood. </a:t>
            </a:r>
          </a:p>
          <a:p>
            <a:pPr algn="just"/>
            <a:r>
              <a:rPr lang="en-US" sz="2200" dirty="0">
                <a:latin typeface="Times New Roman" pitchFamily="18" charset="0"/>
                <a:cs typeface="Times New Roman" pitchFamily="18" charset="0"/>
              </a:rPr>
              <a:t>	The </a:t>
            </a:r>
            <a:r>
              <a:rPr lang="en-US" sz="2200" b="1" dirty="0">
                <a:latin typeface="Times New Roman" pitchFamily="18" charset="0"/>
                <a:cs typeface="Times New Roman" pitchFamily="18" charset="0"/>
              </a:rPr>
              <a:t>bottom up approach </a:t>
            </a:r>
            <a:r>
              <a:rPr lang="en-US" sz="2200" dirty="0">
                <a:latin typeface="Times New Roman" pitchFamily="18" charset="0"/>
                <a:cs typeface="Times New Roman" pitchFamily="18" charset="0"/>
              </a:rPr>
              <a:t>starts with experiments and prototypes. This is useful in the early stage of business modeling and technology development. </a:t>
            </a:r>
          </a:p>
          <a:p>
            <a:pPr algn="just"/>
            <a:r>
              <a:rPr lang="en-US" sz="2200" dirty="0">
                <a:latin typeface="Times New Roman" pitchFamily="18" charset="0"/>
                <a:cs typeface="Times New Roman" pitchFamily="18" charset="0"/>
              </a:rPr>
              <a:t>	In the </a:t>
            </a:r>
            <a:r>
              <a:rPr lang="en-US" sz="2200" b="1" dirty="0">
                <a:latin typeface="Times New Roman" pitchFamily="18" charset="0"/>
                <a:cs typeface="Times New Roman" pitchFamily="18" charset="0"/>
              </a:rPr>
              <a:t>combined approach</a:t>
            </a:r>
            <a:r>
              <a:rPr lang="en-US" sz="2200" dirty="0">
                <a:latin typeface="Times New Roman" pitchFamily="18" charset="0"/>
                <a:cs typeface="Times New Roman" pitchFamily="18" charset="0"/>
              </a:rPr>
              <a:t>, an organization can exploit the planned and strategic nature of the top-down approach while retaining the rapid implementation and opportunistic application of the bottom-up approach.</a:t>
            </a:r>
          </a:p>
          <a:p>
            <a:pPr algn="just">
              <a:lnSpc>
                <a:spcPct val="110000"/>
              </a:lnSpc>
            </a:pPr>
            <a:r>
              <a:rPr lang="en-US" sz="2200" dirty="0">
                <a:solidFill>
                  <a:srgbClr val="00B0F0"/>
                </a:solidFill>
                <a:latin typeface="Times New Roman" pitchFamily="18" charset="0"/>
                <a:cs typeface="Times New Roman" pitchFamily="18" charset="0"/>
              </a:rPr>
              <a:t>From software engineering point of view:</a:t>
            </a:r>
          </a:p>
          <a:p>
            <a:pPr lvl="1" algn="just">
              <a:lnSpc>
                <a:spcPct val="110000"/>
              </a:lnSpc>
            </a:pPr>
            <a:r>
              <a:rPr lang="en-US" sz="2200" b="1" u="sng" dirty="0">
                <a:latin typeface="Times New Roman" pitchFamily="18" charset="0"/>
                <a:cs typeface="Times New Roman" pitchFamily="18" charset="0"/>
              </a:rPr>
              <a:t>Waterfal</a:t>
            </a:r>
            <a:r>
              <a:rPr lang="en-US" sz="2200" b="1" dirty="0">
                <a:latin typeface="Times New Roman" pitchFamily="18" charset="0"/>
                <a:cs typeface="Times New Roman" pitchFamily="18" charset="0"/>
              </a:rPr>
              <a:t>l:</a:t>
            </a:r>
            <a:r>
              <a:rPr lang="en-US" sz="2200" dirty="0">
                <a:latin typeface="Times New Roman" pitchFamily="18" charset="0"/>
                <a:cs typeface="Times New Roman" pitchFamily="18" charset="0"/>
              </a:rPr>
              <a:t> structured and systematic analysis at each step before proceeding to the next</a:t>
            </a:r>
          </a:p>
          <a:p>
            <a:pPr lvl="1" algn="just">
              <a:lnSpc>
                <a:spcPct val="110000"/>
              </a:lnSpc>
            </a:pPr>
            <a:r>
              <a:rPr lang="en-US" sz="2200" b="1" u="sng" dirty="0">
                <a:latin typeface="Times New Roman" pitchFamily="18" charset="0"/>
                <a:cs typeface="Times New Roman" pitchFamily="18" charset="0"/>
              </a:rPr>
              <a:t>Spiral</a:t>
            </a:r>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rapid generation of increasingly functional systems, short turn around time, quick turn around</a:t>
            </a:r>
          </a:p>
        </p:txBody>
      </p:sp>
    </p:spTree>
    <p:extLst>
      <p:ext uri="{BB962C8B-B14F-4D97-AF65-F5344CB8AC3E}">
        <p14:creationId xmlns:p14="http://schemas.microsoft.com/office/powerpoint/2010/main" val="27220808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4154984"/>
          </a:xfrm>
          <a:prstGeom prst="rect">
            <a:avLst/>
          </a:prstGeom>
        </p:spPr>
        <p:txBody>
          <a:bodyPr wrap="square">
            <a:spAutoFit/>
          </a:bodyPr>
          <a:lstStyle/>
          <a:p>
            <a:pPr algn="just"/>
            <a:r>
              <a:rPr lang="en-US" sz="2200" dirty="0">
                <a:solidFill>
                  <a:srgbClr val="00B0F0"/>
                </a:solidFill>
                <a:latin typeface="Times New Roman" pitchFamily="18" charset="0"/>
                <a:cs typeface="Times New Roman" pitchFamily="18" charset="0"/>
              </a:rPr>
              <a:t>The warehouse design process consists of the following steps: </a:t>
            </a:r>
          </a:p>
          <a:p>
            <a:pPr algn="just"/>
            <a:endParaRPr lang="en-US" sz="2200" dirty="0">
              <a:latin typeface="Times New Roman" pitchFamily="18" charset="0"/>
              <a:cs typeface="Times New Roman" pitchFamily="18" charset="0"/>
            </a:endParaRPr>
          </a:p>
          <a:p>
            <a:pPr marL="342900" indent="-342900" algn="just">
              <a:buAutoNum type="arabicPeriod"/>
            </a:pPr>
            <a:r>
              <a:rPr lang="en-US" sz="2200" dirty="0">
                <a:latin typeface="Times New Roman" pitchFamily="18" charset="0"/>
                <a:cs typeface="Times New Roman" pitchFamily="18" charset="0"/>
              </a:rPr>
              <a:t>Choose a business process to model (e.g., orders, invoices, shipments, inventory, account administration, sales, or the general ledger)</a:t>
            </a:r>
          </a:p>
          <a:p>
            <a:pPr marL="342900" indent="-342900" algn="just">
              <a:buAutoNum type="arabicPeriod"/>
            </a:pPr>
            <a:r>
              <a:rPr lang="en-US" sz="2200" dirty="0">
                <a:latin typeface="Times New Roman" pitchFamily="18" charset="0"/>
                <a:cs typeface="Times New Roman" pitchFamily="18" charset="0"/>
              </a:rPr>
              <a:t>Choose the business process grain, which is the fundamental, atomic level of data to be represented in the fact table for this process (e.g., individual transactions, individual daily snapshots, and so on). </a:t>
            </a:r>
          </a:p>
          <a:p>
            <a:pPr marL="342900" indent="-342900" algn="just">
              <a:buAutoNum type="arabicPeriod"/>
            </a:pPr>
            <a:r>
              <a:rPr lang="en-US" sz="2200" dirty="0">
                <a:latin typeface="Times New Roman" pitchFamily="18" charset="0"/>
                <a:cs typeface="Times New Roman" pitchFamily="18" charset="0"/>
              </a:rPr>
              <a:t>Choose the dimensions that will apply to each fact table record. Typical dimensions are time, item, customer, supplier, warehouse, transaction type, and status. </a:t>
            </a:r>
          </a:p>
          <a:p>
            <a:pPr marL="342900" indent="-342900" algn="just">
              <a:buAutoNum type="arabicPeriod"/>
            </a:pPr>
            <a:r>
              <a:rPr lang="en-US" sz="2200" dirty="0">
                <a:latin typeface="Times New Roman" pitchFamily="18" charset="0"/>
                <a:cs typeface="Times New Roman" pitchFamily="18" charset="0"/>
              </a:rPr>
              <a:t>Choose the measures that will populate each fact table record. Typical measures are numeric additive quantities like dollars sold and units sold.</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8431944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524863"/>
          </a:xfrm>
          <a:prstGeom prst="rect">
            <a:avLst/>
          </a:prstGeom>
        </p:spPr>
        <p:txBody>
          <a:bodyPr wrap="square">
            <a:spAutoFit/>
          </a:bodyPr>
          <a:lstStyle/>
          <a:p>
            <a:pPr algn="just"/>
            <a:r>
              <a:rPr lang="en-US" sz="2200" dirty="0">
                <a:latin typeface="Times New Roman" pitchFamily="18" charset="0"/>
                <a:cs typeface="Times New Roman" pitchFamily="18" charset="0"/>
              </a:rPr>
              <a:t>Data Warehouse Usage for Information Processing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Data warehouses and data marts are used in a wide range of applications. Business executives use the data in data warehouses and data marts to perform data analysis and make strategic decisions.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There are three kinds of data warehouse applications: information processing, analytical processing, and data mining. Information processing supports querying, basic statistical analysis, and reporting using crosstabs, tables, charts, or graphs.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Analytical processing supports basic OLAP operations, including slice-and-dice, drill-down, roll-up, and pivoting. It generally operates on historic data in both summarized and detailed forms.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Data mining supports knowledge discovery by finding hidden patterns and associations, constructing analytical models, performing classification and prediction, and presenting the mining results using visualization tools.</a:t>
            </a:r>
          </a:p>
        </p:txBody>
      </p:sp>
    </p:spTree>
    <p:extLst>
      <p:ext uri="{BB962C8B-B14F-4D97-AF65-F5344CB8AC3E}">
        <p14:creationId xmlns:p14="http://schemas.microsoft.com/office/powerpoint/2010/main" val="7989655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1"/>
            <a:ext cx="8763000" cy="5816977"/>
          </a:xfrm>
          <a:prstGeom prst="rect">
            <a:avLst/>
          </a:prstGeom>
        </p:spPr>
        <p:txBody>
          <a:bodyPr wrap="square">
            <a:spAutoFit/>
          </a:bodyPr>
          <a:lstStyle/>
          <a:p>
            <a:pPr algn="just"/>
            <a:r>
              <a:rPr lang="en-US" sz="2400" dirty="0">
                <a:solidFill>
                  <a:srgbClr val="FF0000"/>
                </a:solidFill>
                <a:latin typeface="Times New Roman" pitchFamily="18" charset="0"/>
                <a:cs typeface="Times New Roman" pitchFamily="18" charset="0"/>
              </a:rPr>
              <a:t>From Online Analytical Processing to Multidimensional Data Mining: </a:t>
            </a:r>
          </a:p>
          <a:p>
            <a:pPr algn="just"/>
            <a:r>
              <a:rPr lang="en-US" sz="2200" dirty="0">
                <a:latin typeface="Times New Roman" pitchFamily="18" charset="0"/>
                <a:cs typeface="Times New Roman" pitchFamily="18" charset="0"/>
              </a:rPr>
              <a:t>	The data mining field has conducted substantial research regarding mining on various data types, including relational data, data from data warehouses, transaction data, time-series data, spatial data, text data, and flat files. </a:t>
            </a:r>
          </a:p>
          <a:p>
            <a:pPr algn="just"/>
            <a:r>
              <a:rPr lang="en-US" sz="2200" dirty="0">
                <a:latin typeface="Times New Roman" pitchFamily="18" charset="0"/>
                <a:cs typeface="Times New Roman" pitchFamily="18" charset="0"/>
              </a:rPr>
              <a:t>	Multidimensional data mining integrates OLAP with data mining to uncover knowledge in multidimensional databases. Among the many different paradigms and architectures of data mining systems, multidimensional data mining is particularly important for the following reasons:</a:t>
            </a:r>
          </a:p>
          <a:p>
            <a:pPr algn="just"/>
            <a:endParaRPr lang="en-US" sz="2200" dirty="0">
              <a:latin typeface="Times New Roman" pitchFamily="18" charset="0"/>
              <a:cs typeface="Times New Roman" pitchFamily="18" charset="0"/>
            </a:endParaRPr>
          </a:p>
          <a:p>
            <a:pPr marL="400050" indent="-400050" algn="just">
              <a:buAutoNum type="romanLcPeriod"/>
            </a:pPr>
            <a:r>
              <a:rPr lang="en-US" sz="2200" dirty="0">
                <a:latin typeface="Times New Roman" pitchFamily="18" charset="0"/>
                <a:cs typeface="Times New Roman" pitchFamily="18" charset="0"/>
              </a:rPr>
              <a:t>High quality of data in data warehouses</a:t>
            </a:r>
          </a:p>
          <a:p>
            <a:pPr marL="400050" indent="-400050" algn="just">
              <a:buAutoNum type="romanLcPeriod"/>
            </a:pPr>
            <a:r>
              <a:rPr lang="en-US" sz="2200" dirty="0">
                <a:latin typeface="Times New Roman" pitchFamily="18" charset="0"/>
                <a:cs typeface="Times New Roman" pitchFamily="18" charset="0"/>
              </a:rPr>
              <a:t>Available information processing infrastructure surrounding data warehouses</a:t>
            </a:r>
          </a:p>
          <a:p>
            <a:pPr marL="400050" indent="-400050" algn="just">
              <a:buAutoNum type="romanLcPeriod"/>
            </a:pPr>
            <a:r>
              <a:rPr lang="en-US" sz="2200" dirty="0">
                <a:latin typeface="Times New Roman" pitchFamily="18" charset="0"/>
                <a:cs typeface="Times New Roman" pitchFamily="18" charset="0"/>
              </a:rPr>
              <a:t>OLAP-based exploration of multidimensional data</a:t>
            </a:r>
          </a:p>
          <a:p>
            <a:pPr marL="400050" indent="-400050" algn="just">
              <a:buAutoNum type="romanLcPeriod"/>
            </a:pPr>
            <a:r>
              <a:rPr lang="en-US" sz="2200" dirty="0">
                <a:latin typeface="Times New Roman" pitchFamily="18" charset="0"/>
                <a:cs typeface="Times New Roman" pitchFamily="18" charset="0"/>
              </a:rPr>
              <a:t>Online selection of data mining functions</a:t>
            </a:r>
          </a:p>
          <a:p>
            <a:pPr marL="400050" indent="-400050">
              <a:buAutoNum type="romanLcPeriod"/>
            </a:pPr>
            <a:endParaRPr lang="en-IN" dirty="0"/>
          </a:p>
        </p:txBody>
      </p:sp>
    </p:spTree>
    <p:extLst>
      <p:ext uri="{BB962C8B-B14F-4D97-AF65-F5344CB8AC3E}">
        <p14:creationId xmlns:p14="http://schemas.microsoft.com/office/powerpoint/2010/main" val="26947511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6555641"/>
          </a:xfrm>
          <a:prstGeom prst="rect">
            <a:avLst/>
          </a:prstGeom>
        </p:spPr>
        <p:txBody>
          <a:bodyPr wrap="square">
            <a:spAutoFit/>
          </a:bodyPr>
          <a:lstStyle/>
          <a:p>
            <a:pPr algn="ctr"/>
            <a:r>
              <a:rPr lang="en-US" sz="2400" u="sng" dirty="0">
                <a:solidFill>
                  <a:srgbClr val="FF0000"/>
                </a:solidFill>
                <a:latin typeface="Times New Roman" pitchFamily="18" charset="0"/>
                <a:cs typeface="Times New Roman" pitchFamily="18" charset="0"/>
              </a:rPr>
              <a:t>Data Warehouse Implementation </a:t>
            </a:r>
          </a:p>
          <a:p>
            <a:pPr algn="just"/>
            <a:r>
              <a:rPr lang="en-US" sz="2200" dirty="0">
                <a:latin typeface="Times New Roman" pitchFamily="18" charset="0"/>
                <a:cs typeface="Times New Roman" pitchFamily="18" charset="0"/>
              </a:rPr>
              <a:t>	Data warehouses contain huge volumes of data. OLAP servers demand that decision support queries be answered in the order of seconds. Therefore, it is crucial for data warehouse systems to support highly efficient cube computation techniques, access methods, and query processing techniques.</a:t>
            </a:r>
          </a:p>
          <a:p>
            <a:pPr algn="just"/>
            <a:endParaRPr lang="en-US" sz="2200" dirty="0">
              <a:latin typeface="Times New Roman" pitchFamily="18" charset="0"/>
              <a:cs typeface="Times New Roman" pitchFamily="18" charset="0"/>
            </a:endParaRPr>
          </a:p>
          <a:p>
            <a:pPr algn="just"/>
            <a:r>
              <a:rPr lang="en-US" sz="2200" b="1" dirty="0">
                <a:latin typeface="Times New Roman" pitchFamily="18" charset="0"/>
                <a:cs typeface="Times New Roman" pitchFamily="18" charset="0"/>
              </a:rPr>
              <a:t>Efficient Data Cube Computation: An Overview</a:t>
            </a:r>
          </a:p>
          <a:p>
            <a:pPr algn="just"/>
            <a:r>
              <a:rPr lang="en-US" dirty="0"/>
              <a:t>	</a:t>
            </a:r>
            <a:r>
              <a:rPr lang="en-US" sz="2200" dirty="0">
                <a:latin typeface="Times New Roman" pitchFamily="18" charset="0"/>
                <a:cs typeface="Times New Roman" pitchFamily="18" charset="0"/>
              </a:rPr>
              <a:t>Multidimensional data analysis is the efficient computation of aggregations across many sets of dimensions. In SQL terms, these aggregations are referred to as group-</a:t>
            </a:r>
            <a:r>
              <a:rPr lang="en-US" sz="2200" dirty="0" err="1">
                <a:latin typeface="Times New Roman" pitchFamily="18" charset="0"/>
                <a:cs typeface="Times New Roman" pitchFamily="18" charset="0"/>
              </a:rPr>
              <a:t>by’s</a:t>
            </a:r>
            <a:r>
              <a:rPr lang="en-US" sz="2200" dirty="0">
                <a:latin typeface="Times New Roman" pitchFamily="18" charset="0"/>
                <a:cs typeface="Times New Roman" pitchFamily="18" charset="0"/>
              </a:rPr>
              <a:t>. Each group-by can be represented by a cuboid, where the set of group-</a:t>
            </a:r>
            <a:r>
              <a:rPr lang="en-US" sz="2200" dirty="0" err="1">
                <a:latin typeface="Times New Roman" pitchFamily="18" charset="0"/>
                <a:cs typeface="Times New Roman" pitchFamily="18" charset="0"/>
              </a:rPr>
              <a:t>by’s</a:t>
            </a:r>
            <a:r>
              <a:rPr lang="en-US" sz="2200" dirty="0">
                <a:latin typeface="Times New Roman" pitchFamily="18" charset="0"/>
                <a:cs typeface="Times New Roman" pitchFamily="18" charset="0"/>
              </a:rPr>
              <a:t> forms a lattice of cuboids defining a data cube. The issues relating to the efficient computation of data cubes are:</a:t>
            </a:r>
          </a:p>
          <a:p>
            <a:pPr algn="just"/>
            <a:endParaRPr lang="en-US" sz="2200" dirty="0">
              <a:latin typeface="Times New Roman" pitchFamily="18" charset="0"/>
              <a:cs typeface="Times New Roman" pitchFamily="18" charset="0"/>
            </a:endParaRPr>
          </a:p>
          <a:p>
            <a:pPr algn="just"/>
            <a:r>
              <a:rPr lang="en-US" sz="2200" b="1" dirty="0">
                <a:solidFill>
                  <a:srgbClr val="00B050"/>
                </a:solidFill>
                <a:latin typeface="Times New Roman" pitchFamily="18" charset="0"/>
                <a:cs typeface="Times New Roman" pitchFamily="18" charset="0"/>
              </a:rPr>
              <a:t>The compute cube Operator and the Curse of Dimensionality:</a:t>
            </a:r>
          </a:p>
          <a:p>
            <a:pPr algn="just"/>
            <a:r>
              <a:rPr lang="en-US" sz="2200" dirty="0">
                <a:latin typeface="Times New Roman" pitchFamily="18" charset="0"/>
                <a:cs typeface="Times New Roman" pitchFamily="18" charset="0"/>
              </a:rPr>
              <a:t>	The compute cube operator computes aggregates over all subsets of the dimensions specified in the operation. This can require excessive storage space, especially for large numbers of dimensions.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0942964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5509200"/>
          </a:xfrm>
          <a:prstGeom prst="rect">
            <a:avLst/>
          </a:prstGeom>
        </p:spPr>
        <p:txBody>
          <a:bodyPr wrap="square">
            <a:spAutoFit/>
          </a:bodyPr>
          <a:lstStyle/>
          <a:p>
            <a:pPr algn="just"/>
            <a:r>
              <a:rPr lang="en-US" sz="2200" b="1" dirty="0">
                <a:latin typeface="Times New Roman" pitchFamily="18" charset="0"/>
                <a:cs typeface="Times New Roman" pitchFamily="18" charset="0"/>
              </a:rPr>
              <a:t>Example:  </a:t>
            </a:r>
            <a:r>
              <a:rPr lang="en-US" sz="2200" dirty="0">
                <a:latin typeface="Times New Roman" pitchFamily="18" charset="0"/>
                <a:cs typeface="Times New Roman" pitchFamily="18" charset="0"/>
              </a:rPr>
              <a:t>A data cube is a lattice of cuboids. Suppose that you want to create a data cube for </a:t>
            </a:r>
            <a:r>
              <a:rPr lang="en-US" sz="2200"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sales that contains the following: city, item, year, and sales in dollars. You want to be able to analyze the data, with queries such as the following: </a:t>
            </a:r>
          </a:p>
          <a:p>
            <a:pPr marL="514350" indent="-514350" algn="just">
              <a:buFont typeface="+mj-lt"/>
              <a:buAutoNum type="romanLcPeriod"/>
            </a:pPr>
            <a:r>
              <a:rPr lang="en-US" sz="2200" dirty="0">
                <a:latin typeface="Times New Roman" pitchFamily="18" charset="0"/>
                <a:cs typeface="Times New Roman" pitchFamily="18" charset="0"/>
              </a:rPr>
              <a:t>“Compute the sum of sales, grouping by city and item.” </a:t>
            </a:r>
          </a:p>
          <a:p>
            <a:pPr marL="514350" indent="-514350" algn="just">
              <a:buFont typeface="+mj-lt"/>
              <a:buAutoNum type="romanLcPeriod"/>
            </a:pPr>
            <a:r>
              <a:rPr lang="en-US" sz="2200" dirty="0">
                <a:latin typeface="Times New Roman" pitchFamily="18" charset="0"/>
                <a:cs typeface="Times New Roman" pitchFamily="18" charset="0"/>
              </a:rPr>
              <a:t>“Compute the sum of sales, grouping by city.” </a:t>
            </a:r>
          </a:p>
          <a:p>
            <a:pPr marL="514350" indent="-514350" algn="just">
              <a:buFont typeface="+mj-lt"/>
              <a:buAutoNum type="romanLcPeriod"/>
            </a:pPr>
            <a:r>
              <a:rPr lang="en-US" sz="2200" dirty="0">
                <a:latin typeface="Times New Roman" pitchFamily="18" charset="0"/>
                <a:cs typeface="Times New Roman" pitchFamily="18" charset="0"/>
              </a:rPr>
              <a:t>“Compute the sum of sales, grouping by item.”</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Taking the three attributes, city, item, and year, as the dimensions for the data cube, and sales in dollars as the measure, the total number of cuboids, or group </a:t>
            </a:r>
            <a:r>
              <a:rPr lang="en-US" sz="2200" dirty="0" err="1">
                <a:latin typeface="Times New Roman" pitchFamily="18" charset="0"/>
                <a:cs typeface="Times New Roman" pitchFamily="18" charset="0"/>
              </a:rPr>
              <a:t>by’s</a:t>
            </a:r>
            <a:r>
              <a:rPr lang="en-US" sz="2200" dirty="0">
                <a:latin typeface="Times New Roman" pitchFamily="18" charset="0"/>
                <a:cs typeface="Times New Roman" pitchFamily="18" charset="0"/>
              </a:rPr>
              <a:t>, that can be computed for this data cube is 2</a:t>
            </a:r>
            <a:r>
              <a:rPr lang="en-US" sz="2200" baseline="30000" dirty="0">
                <a:latin typeface="Times New Roman" pitchFamily="18" charset="0"/>
                <a:cs typeface="Times New Roman" pitchFamily="18" charset="0"/>
              </a:rPr>
              <a:t>3</a:t>
            </a:r>
            <a:r>
              <a:rPr lang="en-US" sz="2200" dirty="0">
                <a:latin typeface="Times New Roman" pitchFamily="18" charset="0"/>
                <a:cs typeface="Times New Roman" pitchFamily="18" charset="0"/>
              </a:rPr>
              <a:t> = 8.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The possible group-</a:t>
            </a:r>
            <a:r>
              <a:rPr lang="en-US" sz="2200" dirty="0" err="1">
                <a:latin typeface="Times New Roman" pitchFamily="18" charset="0"/>
                <a:cs typeface="Times New Roman" pitchFamily="18" charset="0"/>
              </a:rPr>
              <a:t>by’s</a:t>
            </a:r>
            <a:r>
              <a:rPr lang="en-US" sz="2200" dirty="0">
                <a:latin typeface="Times New Roman" pitchFamily="18" charset="0"/>
                <a:cs typeface="Times New Roman" pitchFamily="18" charset="0"/>
              </a:rPr>
              <a:t> are the following: {(city, item, year), (city, item), (city, year), (item, year), (city), (item), (year), ()} where () means that the group-by is empty. These group-</a:t>
            </a:r>
            <a:r>
              <a:rPr lang="en-US" sz="2200" dirty="0" err="1">
                <a:latin typeface="Times New Roman" pitchFamily="18" charset="0"/>
                <a:cs typeface="Times New Roman" pitchFamily="18" charset="0"/>
              </a:rPr>
              <a:t>by’s</a:t>
            </a:r>
            <a:r>
              <a:rPr lang="en-US" sz="2200" dirty="0">
                <a:latin typeface="Times New Roman" pitchFamily="18" charset="0"/>
                <a:cs typeface="Times New Roman" pitchFamily="18" charset="0"/>
              </a:rPr>
              <a:t> form a lattice of cuboids for the data cube, as shown in Figure.</a:t>
            </a:r>
          </a:p>
        </p:txBody>
      </p:sp>
    </p:spTree>
    <p:extLst>
      <p:ext uri="{BB962C8B-B14F-4D97-AF65-F5344CB8AC3E}">
        <p14:creationId xmlns:p14="http://schemas.microsoft.com/office/powerpoint/2010/main" val="16758674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28600"/>
            <a:ext cx="7543799"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16236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6186309"/>
          </a:xfrm>
          <a:prstGeom prst="rect">
            <a:avLst/>
          </a:prstGeom>
        </p:spPr>
        <p:txBody>
          <a:bodyPr wrap="square">
            <a:spAutoFit/>
          </a:bodyPr>
          <a:lstStyle/>
          <a:p>
            <a:pPr algn="just"/>
            <a:r>
              <a:rPr lang="en-US" sz="2200" dirty="0">
                <a:latin typeface="Times New Roman" pitchFamily="18" charset="0"/>
                <a:cs typeface="Times New Roman" pitchFamily="18" charset="0"/>
              </a:rPr>
              <a:t>	The base cuboid contains all three dimensions, city, item, and year. It can return the total sales for any combination of the three dimensions. </a:t>
            </a:r>
            <a:r>
              <a:rPr lang="en-US" sz="2200" b="1" dirty="0">
                <a:latin typeface="Times New Roman" pitchFamily="18" charset="0"/>
                <a:cs typeface="Times New Roman" pitchFamily="18" charset="0"/>
              </a:rPr>
              <a:t>Note: </a:t>
            </a:r>
            <a:r>
              <a:rPr lang="en-US" sz="2200" dirty="0">
                <a:latin typeface="Times New Roman" pitchFamily="18" charset="0"/>
                <a:cs typeface="Times New Roman" pitchFamily="18" charset="0"/>
              </a:rPr>
              <a:t>The apex cuboid, or 0-D cuboid, refers to the case where the group-by is empty. It contains the total sum of all sales.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The base cuboid is the least generalized (most specific) of the cuboids. The apex cuboid is the most generalized (least specific) of the cuboids, and is often denoted as all.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If we start at the apex cuboid and explore downward in the lattice, this is equivalent to drilling down within the data cube. If we start at the base cuboid and explore upward, this is akin to rolling up.</a:t>
            </a:r>
          </a:p>
          <a:p>
            <a:pPr algn="just"/>
            <a:r>
              <a:rPr lang="en-US" sz="2200" dirty="0">
                <a:latin typeface="Times New Roman" pitchFamily="18" charset="0"/>
                <a:cs typeface="Times New Roman" pitchFamily="18" charset="0"/>
              </a:rPr>
              <a:t>	The SQL syntax, the data cube in Example could be defined as:      </a:t>
            </a:r>
            <a:r>
              <a:rPr lang="en-US" sz="2200" b="1" dirty="0">
                <a:latin typeface="Times New Roman" pitchFamily="18" charset="0"/>
                <a:cs typeface="Times New Roman" pitchFamily="18" charset="0"/>
              </a:rPr>
              <a:t>define cube sales cube [city, item, year]: sum(sales in dollars) </a:t>
            </a:r>
          </a:p>
          <a:p>
            <a:pPr algn="just"/>
            <a:r>
              <a:rPr lang="en-US" sz="2200" dirty="0">
                <a:latin typeface="Times New Roman" pitchFamily="18" charset="0"/>
                <a:cs typeface="Times New Roman" pitchFamily="18" charset="0"/>
              </a:rPr>
              <a:t>	For a cube with n dimensions, there are a total of 2</a:t>
            </a:r>
            <a:r>
              <a:rPr lang="en-US" sz="2200" baseline="30000" dirty="0">
                <a:latin typeface="Times New Roman" pitchFamily="18" charset="0"/>
                <a:cs typeface="Times New Roman" pitchFamily="18" charset="0"/>
              </a:rPr>
              <a:t>n</a:t>
            </a:r>
            <a:r>
              <a:rPr lang="en-US" sz="2200" dirty="0">
                <a:latin typeface="Times New Roman" pitchFamily="18" charset="0"/>
                <a:cs typeface="Times New Roman" pitchFamily="18" charset="0"/>
              </a:rPr>
              <a:t> cuboids, including the base cuboid. A statement such as compute cube sales cube would explicitly instruct the system to compute the sales aggregate cuboids for all eight subsets of the set {city, item, year} including the empty subset.</a:t>
            </a:r>
          </a:p>
        </p:txBody>
      </p:sp>
    </p:spTree>
    <p:extLst>
      <p:ext uri="{BB962C8B-B14F-4D97-AF65-F5344CB8AC3E}">
        <p14:creationId xmlns:p14="http://schemas.microsoft.com/office/powerpoint/2010/main" val="25861326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6463308"/>
          </a:xfrm>
          <a:prstGeom prst="rect">
            <a:avLst/>
          </a:prstGeom>
        </p:spPr>
        <p:txBody>
          <a:bodyPr wrap="square">
            <a:spAutoFit/>
          </a:bodyPr>
          <a:lstStyle/>
          <a:p>
            <a:pPr algn="just"/>
            <a:r>
              <a:rPr lang="en-US" sz="2200" dirty="0">
                <a:latin typeface="Times New Roman" pitchFamily="18" charset="0"/>
                <a:cs typeface="Times New Roman" pitchFamily="18" charset="0"/>
              </a:rPr>
              <a:t>	It is good idea to compute in advance all or at least some of the cuboids in a data cube. </a:t>
            </a:r>
            <a:r>
              <a:rPr lang="en-US" sz="2200" dirty="0" err="1">
                <a:latin typeface="Times New Roman" pitchFamily="18" charset="0"/>
                <a:cs typeface="Times New Roman" pitchFamily="18" charset="0"/>
              </a:rPr>
              <a:t>Precomputation</a:t>
            </a:r>
            <a:r>
              <a:rPr lang="en-US" sz="2200" dirty="0">
                <a:latin typeface="Times New Roman" pitchFamily="18" charset="0"/>
                <a:cs typeface="Times New Roman" pitchFamily="18" charset="0"/>
              </a:rPr>
              <a:t> leads to fast response time and avoids some redundant computation.</a:t>
            </a:r>
          </a:p>
          <a:p>
            <a:pPr algn="just"/>
            <a:r>
              <a:rPr lang="en-US" sz="2200" dirty="0">
                <a:latin typeface="Times New Roman" pitchFamily="18" charset="0"/>
                <a:cs typeface="Times New Roman" pitchFamily="18" charset="0"/>
              </a:rPr>
              <a:t>	A major challenge related to this </a:t>
            </a:r>
            <a:r>
              <a:rPr lang="en-US" sz="2200" dirty="0" err="1">
                <a:latin typeface="Times New Roman" pitchFamily="18" charset="0"/>
                <a:cs typeface="Times New Roman" pitchFamily="18" charset="0"/>
              </a:rPr>
              <a:t>precomputation</a:t>
            </a:r>
            <a:r>
              <a:rPr lang="en-US" sz="2200" dirty="0">
                <a:latin typeface="Times New Roman" pitchFamily="18" charset="0"/>
                <a:cs typeface="Times New Roman" pitchFamily="18" charset="0"/>
              </a:rPr>
              <a:t> is, required storage space may explode if all the cuboids in a data cube are </a:t>
            </a:r>
            <a:r>
              <a:rPr lang="en-US" sz="2200" dirty="0" err="1">
                <a:latin typeface="Times New Roman" pitchFamily="18" charset="0"/>
                <a:cs typeface="Times New Roman" pitchFamily="18" charset="0"/>
              </a:rPr>
              <a:t>precomputed</a:t>
            </a:r>
            <a:r>
              <a:rPr lang="en-US" sz="2200" dirty="0">
                <a:latin typeface="Times New Roman" pitchFamily="18" charset="0"/>
                <a:cs typeface="Times New Roman" pitchFamily="18" charset="0"/>
              </a:rPr>
              <a:t>, especially when the cube has many dimensions. The storage requirements are even more excessive when many of the dimensions have associated concept hierarchies, each with multiple levels. This problem is referred to as the curse of dimensionality.</a:t>
            </a:r>
          </a:p>
          <a:p>
            <a:endParaRPr lang="en-US" dirty="0"/>
          </a:p>
          <a:p>
            <a:pPr algn="just"/>
            <a:r>
              <a:rPr lang="en-US" sz="2200" dirty="0">
                <a:latin typeface="Times New Roman" pitchFamily="18" charset="0"/>
                <a:cs typeface="Times New Roman" pitchFamily="18" charset="0"/>
              </a:rPr>
              <a:t>For an n-dimensional data cube, the total number of cuboids  that can be generated is: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where L</a:t>
            </a:r>
            <a:r>
              <a:rPr lang="en-US" sz="2200" baseline="-25000" dirty="0">
                <a:latin typeface="Times New Roman" pitchFamily="18" charset="0"/>
                <a:cs typeface="Times New Roman" pitchFamily="18" charset="0"/>
              </a:rPr>
              <a:t>i</a:t>
            </a:r>
            <a:r>
              <a:rPr lang="en-US" sz="2200" dirty="0">
                <a:latin typeface="Times New Roman" pitchFamily="18" charset="0"/>
                <a:cs typeface="Times New Roman" pitchFamily="18" charset="0"/>
              </a:rPr>
              <a:t> is the number of levels associated with dimension i. One is added to L</a:t>
            </a:r>
            <a:r>
              <a:rPr lang="en-US" sz="2200" baseline="-25000" dirty="0">
                <a:latin typeface="Times New Roman" pitchFamily="18" charset="0"/>
                <a:cs typeface="Times New Roman" pitchFamily="18" charset="0"/>
              </a:rPr>
              <a:t>i </a:t>
            </a:r>
            <a:r>
              <a:rPr lang="en-US" sz="2200" dirty="0">
                <a:latin typeface="Times New Roman" pitchFamily="18" charset="0"/>
                <a:cs typeface="Times New Roman" pitchFamily="18" charset="0"/>
              </a:rPr>
              <a:t>to include the virtual top level, all.</a:t>
            </a:r>
          </a:p>
          <a:p>
            <a:pPr algn="just"/>
            <a:r>
              <a:rPr lang="en-US" sz="2200" dirty="0">
                <a:latin typeface="Times New Roman" pitchFamily="18" charset="0"/>
                <a:cs typeface="Times New Roman" pitchFamily="18" charset="0"/>
              </a:rPr>
              <a:t>	From this we realize that it is unrealistic to </a:t>
            </a:r>
            <a:r>
              <a:rPr lang="en-US" sz="2200" dirty="0" err="1">
                <a:latin typeface="Times New Roman" pitchFamily="18" charset="0"/>
                <a:cs typeface="Times New Roman" pitchFamily="18" charset="0"/>
              </a:rPr>
              <a:t>precompute</a:t>
            </a:r>
            <a:r>
              <a:rPr lang="en-US" sz="2200" dirty="0">
                <a:latin typeface="Times New Roman" pitchFamily="18" charset="0"/>
                <a:cs typeface="Times New Roman" pitchFamily="18" charset="0"/>
              </a:rPr>
              <a:t> and materialize all of the cuboids that can possibly be generated for a data cube. If there are many cuboids, and these cuboids are large in size, a more reasonable option is partial materialization.</a:t>
            </a:r>
            <a:endParaRPr lang="en-US" sz="2200" baseline="-250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886201"/>
            <a:ext cx="4267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45301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58847"/>
            <a:ext cx="8839200" cy="6186309"/>
          </a:xfrm>
          <a:prstGeom prst="rect">
            <a:avLst/>
          </a:prstGeom>
        </p:spPr>
        <p:txBody>
          <a:bodyPr wrap="square">
            <a:spAutoFit/>
          </a:bodyPr>
          <a:lstStyle/>
          <a:p>
            <a:pPr algn="just"/>
            <a:r>
              <a:rPr lang="en-US" sz="2200" dirty="0">
                <a:solidFill>
                  <a:srgbClr val="FF0000"/>
                </a:solidFill>
                <a:latin typeface="Times New Roman" pitchFamily="18" charset="0"/>
                <a:cs typeface="Times New Roman" pitchFamily="18" charset="0"/>
              </a:rPr>
              <a:t>Partial Materialization: Selected Computation of Cuboids </a:t>
            </a:r>
          </a:p>
          <a:p>
            <a:pPr algn="just"/>
            <a:r>
              <a:rPr lang="en-US" sz="2200" dirty="0">
                <a:latin typeface="Times New Roman" pitchFamily="18" charset="0"/>
                <a:cs typeface="Times New Roman" pitchFamily="18" charset="0"/>
              </a:rPr>
              <a:t>	There are three choices for data cube materialization given a base cuboid: </a:t>
            </a:r>
          </a:p>
          <a:p>
            <a:pPr marL="457200" indent="-457200" algn="just">
              <a:buAutoNum type="arabicPeriod"/>
            </a:pPr>
            <a:r>
              <a:rPr lang="en-US" sz="2200" dirty="0">
                <a:latin typeface="Times New Roman" pitchFamily="18" charset="0"/>
                <a:cs typeface="Times New Roman" pitchFamily="18" charset="0"/>
              </a:rPr>
              <a:t>No materialization: Do not </a:t>
            </a:r>
            <a:r>
              <a:rPr lang="en-US" sz="2200" dirty="0" err="1">
                <a:latin typeface="Times New Roman" pitchFamily="18" charset="0"/>
                <a:cs typeface="Times New Roman" pitchFamily="18" charset="0"/>
              </a:rPr>
              <a:t>precompute</a:t>
            </a:r>
            <a:r>
              <a:rPr lang="en-US" sz="2200" dirty="0">
                <a:latin typeface="Times New Roman" pitchFamily="18" charset="0"/>
                <a:cs typeface="Times New Roman" pitchFamily="18" charset="0"/>
              </a:rPr>
              <a:t> any of the “</a:t>
            </a:r>
            <a:r>
              <a:rPr lang="en-US" sz="2200" dirty="0" err="1">
                <a:latin typeface="Times New Roman" pitchFamily="18" charset="0"/>
                <a:cs typeface="Times New Roman" pitchFamily="18" charset="0"/>
              </a:rPr>
              <a:t>nonbase</a:t>
            </a:r>
            <a:r>
              <a:rPr lang="en-US" sz="2200" dirty="0">
                <a:latin typeface="Times New Roman" pitchFamily="18" charset="0"/>
                <a:cs typeface="Times New Roman" pitchFamily="18" charset="0"/>
              </a:rPr>
              <a:t>” cuboids. This leads to computing expensive multidimensional aggregates on-the-fly, which can be extremely slow. </a:t>
            </a:r>
          </a:p>
          <a:p>
            <a:pPr marL="457200" indent="-457200" algn="just">
              <a:buAutoNum type="arabicPeriod"/>
            </a:pPr>
            <a:r>
              <a:rPr lang="en-US" sz="2200" dirty="0">
                <a:latin typeface="Times New Roman" pitchFamily="18" charset="0"/>
                <a:cs typeface="Times New Roman" pitchFamily="18" charset="0"/>
              </a:rPr>
              <a:t>Full materialization: </a:t>
            </a:r>
            <a:r>
              <a:rPr lang="en-US" sz="2200" dirty="0" err="1">
                <a:latin typeface="Times New Roman" pitchFamily="18" charset="0"/>
                <a:cs typeface="Times New Roman" pitchFamily="18" charset="0"/>
              </a:rPr>
              <a:t>Precompute</a:t>
            </a:r>
            <a:r>
              <a:rPr lang="en-US" sz="2200" dirty="0">
                <a:latin typeface="Times New Roman" pitchFamily="18" charset="0"/>
                <a:cs typeface="Times New Roman" pitchFamily="18" charset="0"/>
              </a:rPr>
              <a:t> all of the cuboids. The resulting lattice of computed cuboids is referred to as the full cube. This choice typically requires huge amounts of memory space in order to store all of the </a:t>
            </a:r>
            <a:r>
              <a:rPr lang="en-US" sz="2200" dirty="0" err="1">
                <a:latin typeface="Times New Roman" pitchFamily="18" charset="0"/>
                <a:cs typeface="Times New Roman" pitchFamily="18" charset="0"/>
              </a:rPr>
              <a:t>precomputed</a:t>
            </a:r>
            <a:r>
              <a:rPr lang="en-US" sz="2200" dirty="0">
                <a:latin typeface="Times New Roman" pitchFamily="18" charset="0"/>
                <a:cs typeface="Times New Roman" pitchFamily="18" charset="0"/>
              </a:rPr>
              <a:t> cuboids. </a:t>
            </a:r>
          </a:p>
          <a:p>
            <a:pPr marL="457200" indent="-457200" algn="just">
              <a:buAutoNum type="arabicPeriod"/>
            </a:pPr>
            <a:r>
              <a:rPr lang="en-US" sz="2200" dirty="0">
                <a:latin typeface="Times New Roman" pitchFamily="18" charset="0"/>
                <a:cs typeface="Times New Roman" pitchFamily="18" charset="0"/>
              </a:rPr>
              <a:t>Partial materialization: Selectively compute a proper subset of the whole set of possible cuboids. Alternatively, we may compute a subset of the cube, which contains only those cells that satisfy some user-specified criterion, such as where the tuple count of each cell is above some threshold. We will use the term </a:t>
            </a:r>
            <a:r>
              <a:rPr lang="en-US" sz="2200" dirty="0" err="1">
                <a:latin typeface="Times New Roman" pitchFamily="18" charset="0"/>
                <a:cs typeface="Times New Roman" pitchFamily="18" charset="0"/>
              </a:rPr>
              <a:t>subcube</a:t>
            </a:r>
            <a:r>
              <a:rPr lang="en-US" sz="2200" dirty="0">
                <a:latin typeface="Times New Roman" pitchFamily="18" charset="0"/>
                <a:cs typeface="Times New Roman" pitchFamily="18" charset="0"/>
              </a:rPr>
              <a:t> to refer to the latter case, where only some of the cells may be </a:t>
            </a:r>
            <a:r>
              <a:rPr lang="en-US" sz="2200" dirty="0" err="1">
                <a:latin typeface="Times New Roman" pitchFamily="18" charset="0"/>
                <a:cs typeface="Times New Roman" pitchFamily="18" charset="0"/>
              </a:rPr>
              <a:t>precomputed</a:t>
            </a:r>
            <a:r>
              <a:rPr lang="en-US" sz="2200" dirty="0">
                <a:latin typeface="Times New Roman" pitchFamily="18" charset="0"/>
                <a:cs typeface="Times New Roman" pitchFamily="18" charset="0"/>
              </a:rPr>
              <a:t> for various cuboids. Partial materialization represents an interesting trade-off between storage space and response time.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055413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6186309"/>
          </a:xfrm>
          <a:prstGeom prst="rect">
            <a:avLst/>
          </a:prstGeom>
        </p:spPr>
        <p:txBody>
          <a:bodyPr wrap="square">
            <a:spAutoFit/>
          </a:bodyPr>
          <a:lstStyle/>
          <a:p>
            <a:pPr algn="just"/>
            <a:r>
              <a:rPr lang="en-US" dirty="0"/>
              <a:t>	</a:t>
            </a:r>
            <a:r>
              <a:rPr lang="en-US" sz="2200" dirty="0">
                <a:latin typeface="Times New Roman" pitchFamily="18" charset="0"/>
                <a:cs typeface="Times New Roman" pitchFamily="18" charset="0"/>
              </a:rPr>
              <a:t>The partial materialization of cuboids or </a:t>
            </a:r>
            <a:r>
              <a:rPr lang="en-US" sz="2200" dirty="0" err="1">
                <a:latin typeface="Times New Roman" pitchFamily="18" charset="0"/>
                <a:cs typeface="Times New Roman" pitchFamily="18" charset="0"/>
              </a:rPr>
              <a:t>subcubes</a:t>
            </a:r>
            <a:r>
              <a:rPr lang="en-US" sz="2200" dirty="0">
                <a:latin typeface="Times New Roman" pitchFamily="18" charset="0"/>
                <a:cs typeface="Times New Roman" pitchFamily="18" charset="0"/>
              </a:rPr>
              <a:t> should consider three factors: </a:t>
            </a:r>
          </a:p>
          <a:p>
            <a:pPr marL="457200" indent="-457200" algn="just">
              <a:buAutoNum type="arabicParenBoth"/>
            </a:pPr>
            <a:r>
              <a:rPr lang="en-US" sz="2200" dirty="0">
                <a:latin typeface="Times New Roman" pitchFamily="18" charset="0"/>
                <a:cs typeface="Times New Roman" pitchFamily="18" charset="0"/>
              </a:rPr>
              <a:t>Identify the subset of cuboids or </a:t>
            </a:r>
            <a:r>
              <a:rPr lang="en-US" sz="2200" dirty="0" err="1">
                <a:latin typeface="Times New Roman" pitchFamily="18" charset="0"/>
                <a:cs typeface="Times New Roman" pitchFamily="18" charset="0"/>
              </a:rPr>
              <a:t>subcubes</a:t>
            </a:r>
            <a:r>
              <a:rPr lang="en-US" sz="2200" dirty="0">
                <a:latin typeface="Times New Roman" pitchFamily="18" charset="0"/>
                <a:cs typeface="Times New Roman" pitchFamily="18" charset="0"/>
              </a:rPr>
              <a:t> to materialize; </a:t>
            </a:r>
          </a:p>
          <a:p>
            <a:pPr marL="457200" indent="-457200" algn="just">
              <a:buAutoNum type="arabicParenBoth"/>
            </a:pPr>
            <a:r>
              <a:rPr lang="en-US" sz="2200" dirty="0">
                <a:latin typeface="Times New Roman" pitchFamily="18" charset="0"/>
                <a:cs typeface="Times New Roman" pitchFamily="18" charset="0"/>
              </a:rPr>
              <a:t>Exploit the materialized cuboids or </a:t>
            </a:r>
            <a:r>
              <a:rPr lang="en-US" sz="2200" dirty="0" err="1">
                <a:latin typeface="Times New Roman" pitchFamily="18" charset="0"/>
                <a:cs typeface="Times New Roman" pitchFamily="18" charset="0"/>
              </a:rPr>
              <a:t>subcubes</a:t>
            </a:r>
            <a:r>
              <a:rPr lang="en-US" sz="2200" dirty="0">
                <a:latin typeface="Times New Roman" pitchFamily="18" charset="0"/>
                <a:cs typeface="Times New Roman" pitchFamily="18" charset="0"/>
              </a:rPr>
              <a:t> during query processing; and</a:t>
            </a:r>
          </a:p>
          <a:p>
            <a:pPr marL="457200" indent="-457200" algn="just">
              <a:buAutoNum type="arabicParenBoth"/>
            </a:pPr>
            <a:r>
              <a:rPr lang="en-US" sz="2200" dirty="0">
                <a:latin typeface="Times New Roman" pitchFamily="18" charset="0"/>
                <a:cs typeface="Times New Roman" pitchFamily="18" charset="0"/>
              </a:rPr>
              <a:t>Efficiently update the materialized cuboids or </a:t>
            </a:r>
            <a:r>
              <a:rPr lang="en-US" sz="2200" dirty="0" err="1">
                <a:latin typeface="Times New Roman" pitchFamily="18" charset="0"/>
                <a:cs typeface="Times New Roman" pitchFamily="18" charset="0"/>
              </a:rPr>
              <a:t>subcubes</a:t>
            </a:r>
            <a:r>
              <a:rPr lang="en-US" sz="2200" dirty="0">
                <a:latin typeface="Times New Roman" pitchFamily="18" charset="0"/>
                <a:cs typeface="Times New Roman" pitchFamily="18" charset="0"/>
              </a:rPr>
              <a:t> during load and refresh.</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The selection of the subset of cuboids or </a:t>
            </a:r>
            <a:r>
              <a:rPr lang="en-US" sz="2200" dirty="0" err="1">
                <a:latin typeface="Times New Roman" pitchFamily="18" charset="0"/>
                <a:cs typeface="Times New Roman" pitchFamily="18" charset="0"/>
              </a:rPr>
              <a:t>subcubes</a:t>
            </a:r>
            <a:r>
              <a:rPr lang="en-US" sz="2200" dirty="0">
                <a:latin typeface="Times New Roman" pitchFamily="18" charset="0"/>
                <a:cs typeface="Times New Roman" pitchFamily="18" charset="0"/>
              </a:rPr>
              <a:t> to materialize should take into account the queries in the workload, their frequencies, and their accessing costs. The selection must also consider the broad context of physical database design such as the generation and selection of indices. A popular approach is to materialize the cuboids set on which other frequently referenced cuboids are based.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Another common strategy is to materialize a shell cube. This involves </a:t>
            </a:r>
            <a:r>
              <a:rPr lang="en-US" sz="2200" dirty="0" err="1">
                <a:latin typeface="Times New Roman" pitchFamily="18" charset="0"/>
                <a:cs typeface="Times New Roman" pitchFamily="18" charset="0"/>
              </a:rPr>
              <a:t>precomputing</a:t>
            </a:r>
            <a:r>
              <a:rPr lang="en-US" sz="2200" dirty="0">
                <a:latin typeface="Times New Roman" pitchFamily="18" charset="0"/>
                <a:cs typeface="Times New Roman" pitchFamily="18" charset="0"/>
              </a:rPr>
              <a:t> the cuboids for only a small number of dimensions (e.g., three to five) of a data cube.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6528594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1"/>
            <a:ext cx="8763000" cy="6401753"/>
          </a:xfrm>
          <a:prstGeom prst="rect">
            <a:avLst/>
          </a:prstGeom>
        </p:spPr>
        <p:txBody>
          <a:bodyPr wrap="square">
            <a:spAutoFit/>
          </a:bodyPr>
          <a:lstStyle/>
          <a:p>
            <a:pPr algn="just"/>
            <a:r>
              <a:rPr lang="en-US" sz="2200" dirty="0">
                <a:latin typeface="Times New Roman" pitchFamily="18" charset="0"/>
                <a:cs typeface="Times New Roman" pitchFamily="18" charset="0"/>
              </a:rPr>
              <a:t>	Once the selected cuboids have been materialized, it is important to take advantage of them during query processing. This involves several issues, such as how to determine the relevant cuboid(s) from among the candidate materialized cuboids, how to use available index structures on the materialized cuboids, and how to transform the OLAP operations onto the selected cuboid(s).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Finally, during load and refresh, the materialized cuboids should be updated efficiently. Parallelism and incremental update techniques for this operation should be explored.</a:t>
            </a:r>
          </a:p>
          <a:p>
            <a:pPr algn="just"/>
            <a:endParaRPr lang="en-US" sz="2200" dirty="0">
              <a:latin typeface="Times New Roman" pitchFamily="18" charset="0"/>
              <a:cs typeface="Times New Roman" pitchFamily="18" charset="0"/>
            </a:endParaRPr>
          </a:p>
          <a:p>
            <a:pPr algn="just"/>
            <a:r>
              <a:rPr lang="en-US" sz="2800" dirty="0">
                <a:solidFill>
                  <a:srgbClr val="FF0000"/>
                </a:solidFill>
                <a:latin typeface="Times New Roman" pitchFamily="18" charset="0"/>
                <a:cs typeface="Times New Roman" pitchFamily="18" charset="0"/>
              </a:rPr>
              <a:t>Indexing OLAP Data: Bitmap Index and Join Index</a:t>
            </a:r>
          </a:p>
          <a:p>
            <a:pPr algn="just"/>
            <a:r>
              <a:rPr lang="en-US" sz="2200" dirty="0">
                <a:latin typeface="Times New Roman" pitchFamily="18" charset="0"/>
                <a:cs typeface="Times New Roman" pitchFamily="18" charset="0"/>
              </a:rPr>
              <a:t>	The bitmap indexing method is popular in OLAP products because it allows quick searching in data cubes. The bitmap index is an alternative representation of the record ID (RID) list. In the bitmap index for a given attribute, there is a distinct bit vector, </a:t>
            </a:r>
            <a:r>
              <a:rPr lang="en-US" sz="2200" dirty="0" err="1">
                <a:latin typeface="Times New Roman" pitchFamily="18" charset="0"/>
                <a:cs typeface="Times New Roman" pitchFamily="18" charset="0"/>
              </a:rPr>
              <a:t>Bv</a:t>
            </a:r>
            <a:r>
              <a:rPr lang="en-US" sz="2200" dirty="0">
                <a:latin typeface="Times New Roman" pitchFamily="18" charset="0"/>
                <a:cs typeface="Times New Roman" pitchFamily="18" charset="0"/>
              </a:rPr>
              <a:t>, for each value v in the attribute’s domain. If a given attribute’s domain consists of n values, then n bits are needed for each entry in the bitmap index</a:t>
            </a:r>
            <a:endParaRPr lang="en-IN" sz="22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7227862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76200"/>
            <a:ext cx="8839200" cy="6647974"/>
          </a:xfrm>
          <a:prstGeom prst="rect">
            <a:avLst/>
          </a:prstGeom>
        </p:spPr>
        <p:txBody>
          <a:bodyPr wrap="square">
            <a:spAutoFit/>
          </a:bodyPr>
          <a:lstStyle/>
          <a:p>
            <a:pPr algn="just"/>
            <a:r>
              <a:rPr lang="en-US" sz="2200" dirty="0">
                <a:latin typeface="Times New Roman" pitchFamily="18" charset="0"/>
                <a:cs typeface="Times New Roman" pitchFamily="18" charset="0"/>
              </a:rPr>
              <a:t>	If the attribute has the value v for a given row in the data table, then the bit representing that value is set to 1 in the corresponding row of the bitmap index. All other bits for that row are set to 0. </a:t>
            </a:r>
          </a:p>
          <a:p>
            <a:pPr algn="just"/>
            <a:r>
              <a:rPr lang="en-US" sz="2000" dirty="0">
                <a:latin typeface="Times New Roman" pitchFamily="18" charset="0"/>
                <a:cs typeface="Times New Roman" pitchFamily="18" charset="0"/>
              </a:rPr>
              <a:t>	</a:t>
            </a:r>
            <a:r>
              <a:rPr lang="en-US" sz="2000" dirty="0">
                <a:solidFill>
                  <a:srgbClr val="FF0000"/>
                </a:solidFill>
                <a:latin typeface="Times New Roman" pitchFamily="18" charset="0"/>
                <a:cs typeface="Times New Roman" pitchFamily="18" charset="0"/>
              </a:rPr>
              <a:t>Ex: Bitmap indexing. </a:t>
            </a:r>
            <a:r>
              <a:rPr lang="en-US" sz="2000" dirty="0">
                <a:latin typeface="Times New Roman" pitchFamily="18" charset="0"/>
                <a:cs typeface="Times New Roman" pitchFamily="18" charset="0"/>
              </a:rPr>
              <a:t>In the </a:t>
            </a:r>
            <a:r>
              <a:rPr lang="en-US" sz="2000" dirty="0" err="1">
                <a:latin typeface="Times New Roman" pitchFamily="18" charset="0"/>
                <a:cs typeface="Times New Roman" pitchFamily="18" charset="0"/>
              </a:rPr>
              <a:t>AllElectronics</a:t>
            </a:r>
            <a:r>
              <a:rPr lang="en-US" sz="2000" dirty="0">
                <a:latin typeface="Times New Roman" pitchFamily="18" charset="0"/>
                <a:cs typeface="Times New Roman" pitchFamily="18" charset="0"/>
              </a:rPr>
              <a:t> data warehouse, suppose the dimension item at the top level has four values: “home entertainment,” “computer,” “phone,” and “security.” Each value (e.g., “computer”) is represented by a bit vector in the item bitmap index table. Suppose that the cube is stored as a relation table with 100,000 rows. Because the domain of item consists of four values, the bitmap index table requires four bit vectors (or lists), each with 100,000 bits.</a:t>
            </a: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                              Fig: Indexing OLAP data using bitmap indices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971800"/>
            <a:ext cx="86868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0987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763000" cy="5170646"/>
          </a:xfrm>
          <a:prstGeom prst="rect">
            <a:avLst/>
          </a:prstGeom>
        </p:spPr>
        <p:txBody>
          <a:bodyPr wrap="square">
            <a:spAutoFit/>
          </a:bodyPr>
          <a:lstStyle/>
          <a:p>
            <a:pPr algn="just"/>
            <a:r>
              <a:rPr lang="en-US" sz="2200" dirty="0">
                <a:latin typeface="Times New Roman" pitchFamily="18" charset="0"/>
                <a:cs typeface="Times New Roman" pitchFamily="18" charset="0"/>
              </a:rPr>
              <a:t>	The join indexing method gained popularity from its use in relational database query processing. Traditional indexing maps the value in a given column to a list of rows having that value. In contrast, join indexing registers the joinable rows of two relations from a relational database. For example, if two relations R.RID, A and S.B, SID join on the attributes A and B, then the join index record contains the pair .RID, SID, where RID and SID are record identifiers from the R and S relations, respectively. Hence, the join index records can identify joinable tuples without performing costly join operations.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Join indexing. In Example 3.4, we defined a star schema for </a:t>
            </a:r>
            <a:r>
              <a:rPr lang="en-US" sz="2200"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of the form “sales star [time, item, branch, location]: dollars sold sum (sales in dollars).” An example of a join index relationship between the sales fact table and the location and item dimension tables is shown in Figure 4.16.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3769873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255" y="0"/>
            <a:ext cx="8077200" cy="3223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256" y="3223347"/>
            <a:ext cx="8077200" cy="3406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23821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915400" cy="6555641"/>
          </a:xfrm>
          <a:prstGeom prst="rect">
            <a:avLst/>
          </a:prstGeom>
        </p:spPr>
        <p:txBody>
          <a:bodyPr wrap="square">
            <a:spAutoFit/>
          </a:bodyPr>
          <a:lstStyle/>
          <a:p>
            <a:pPr algn="ctr"/>
            <a:r>
              <a:rPr lang="en-US" sz="2400" u="sng" dirty="0">
                <a:solidFill>
                  <a:srgbClr val="FF0000"/>
                </a:solidFill>
                <a:latin typeface="Times New Roman" pitchFamily="18" charset="0"/>
                <a:cs typeface="Times New Roman" pitchFamily="18" charset="0"/>
              </a:rPr>
              <a:t>Efficient Processing of OLAP Queries</a:t>
            </a:r>
          </a:p>
          <a:p>
            <a:pPr algn="just"/>
            <a:r>
              <a:rPr lang="en-US" sz="2200" dirty="0">
                <a:latin typeface="Times New Roman" pitchFamily="18" charset="0"/>
                <a:cs typeface="Times New Roman" pitchFamily="18" charset="0"/>
              </a:rPr>
              <a:t>	The purpose of materializing cuboids and constructing OLAP index structures is to speed up query processing in data cubes. Given materialized views, query processing should proceed as follows: </a:t>
            </a:r>
          </a:p>
          <a:p>
            <a:pPr algn="just"/>
            <a:r>
              <a:rPr lang="en-US" sz="2200" dirty="0">
                <a:latin typeface="Times New Roman" pitchFamily="18" charset="0"/>
                <a:cs typeface="Times New Roman" pitchFamily="18" charset="0"/>
              </a:rPr>
              <a:t>1. Determine which operations should be performed on the available cuboids</a:t>
            </a:r>
          </a:p>
          <a:p>
            <a:pPr algn="just"/>
            <a:r>
              <a:rPr lang="en-US" sz="2200" dirty="0">
                <a:latin typeface="Times New Roman" pitchFamily="18" charset="0"/>
                <a:cs typeface="Times New Roman" pitchFamily="18" charset="0"/>
              </a:rPr>
              <a:t>2. Determine to which materialized cuboid(s) the relevant operations should be applied</a:t>
            </a:r>
          </a:p>
          <a:p>
            <a:pPr algn="just"/>
            <a:r>
              <a:rPr lang="en-US" sz="2200" dirty="0">
                <a:solidFill>
                  <a:srgbClr val="FF0000"/>
                </a:solidFill>
                <a:latin typeface="Times New Roman" pitchFamily="18" charset="0"/>
                <a:cs typeface="Times New Roman" pitchFamily="18" charset="0"/>
              </a:rPr>
              <a:t>Ex:</a:t>
            </a:r>
            <a:r>
              <a:rPr lang="en-US" sz="2200" dirty="0">
                <a:latin typeface="Times New Roman" pitchFamily="18" charset="0"/>
                <a:cs typeface="Times New Roman" pitchFamily="18" charset="0"/>
              </a:rPr>
              <a:t> OLAP query processing. Suppose that we define a data cube for </a:t>
            </a:r>
            <a:r>
              <a:rPr lang="en-US" sz="2200"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of the form “sales cube [time, item, location]: sum(sales in dollars).” The dimension hierarchies used are “day &lt; month &lt; quarter &lt; year” for time; “item name &lt; brand &lt; type” for item; and “street &lt; city &lt; province or state &lt; country” for location. </a:t>
            </a:r>
          </a:p>
          <a:p>
            <a:pPr algn="just"/>
            <a:r>
              <a:rPr lang="en-US" sz="2200" dirty="0">
                <a:latin typeface="Times New Roman" pitchFamily="18" charset="0"/>
                <a:cs typeface="Times New Roman" pitchFamily="18" charset="0"/>
              </a:rPr>
              <a:t>	Suppose that the query to be processed is on brand, province or state, with the selection constant “year = 2010.” Also, suppose that there are four materialized cuboids available, as follows: </a:t>
            </a:r>
          </a:p>
          <a:p>
            <a:pPr algn="just"/>
            <a:r>
              <a:rPr lang="en-US" sz="2200" dirty="0">
                <a:latin typeface="Times New Roman" pitchFamily="18" charset="0"/>
                <a:cs typeface="Times New Roman" pitchFamily="18" charset="0"/>
              </a:rPr>
              <a:t>cuboid 1: {year, item name, city} </a:t>
            </a:r>
          </a:p>
          <a:p>
            <a:pPr algn="just"/>
            <a:r>
              <a:rPr lang="en-US" sz="2200" dirty="0">
                <a:latin typeface="Times New Roman" pitchFamily="18" charset="0"/>
                <a:cs typeface="Times New Roman" pitchFamily="18" charset="0"/>
              </a:rPr>
              <a:t>cuboid 2: {year, brand, country} </a:t>
            </a:r>
          </a:p>
          <a:p>
            <a:pPr algn="just"/>
            <a:r>
              <a:rPr lang="en-US" sz="2200" dirty="0">
                <a:latin typeface="Times New Roman" pitchFamily="18" charset="0"/>
                <a:cs typeface="Times New Roman" pitchFamily="18" charset="0"/>
              </a:rPr>
              <a:t>cuboid 3: {year, brand, province or state} </a:t>
            </a:r>
          </a:p>
          <a:p>
            <a:pPr algn="just"/>
            <a:r>
              <a:rPr lang="en-US" sz="2200" dirty="0">
                <a:latin typeface="Times New Roman" pitchFamily="18" charset="0"/>
                <a:cs typeface="Times New Roman" pitchFamily="18" charset="0"/>
              </a:rPr>
              <a:t>cuboid 4: {item name, province or state}, where year = 2010</a:t>
            </a:r>
          </a:p>
        </p:txBody>
      </p:sp>
    </p:spTree>
    <p:extLst>
      <p:ext uri="{BB962C8B-B14F-4D97-AF65-F5344CB8AC3E}">
        <p14:creationId xmlns:p14="http://schemas.microsoft.com/office/powerpoint/2010/main" val="32426109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915400" cy="6370975"/>
          </a:xfrm>
          <a:prstGeom prst="rect">
            <a:avLst/>
          </a:prstGeom>
        </p:spPr>
        <p:txBody>
          <a:bodyPr wrap="square">
            <a:spAutoFit/>
          </a:bodyPr>
          <a:lstStyle/>
          <a:p>
            <a:pPr algn="just"/>
            <a:r>
              <a:rPr lang="en-US" sz="2200" dirty="0">
                <a:latin typeface="Times New Roman" pitchFamily="18" charset="0"/>
                <a:cs typeface="Times New Roman" pitchFamily="18" charset="0"/>
              </a:rPr>
              <a:t>“Which of these four cuboids should be selected to process the query?” Finer-granularity data cannot be generated from coarser-granularity data. Therefore, cuboid 2 cannot be used because country is a more general concept than province or state. Cuboids 1, 3, and 4 can be used to process the query because: </a:t>
            </a:r>
          </a:p>
          <a:p>
            <a:pPr marL="457200" indent="-457200" algn="just">
              <a:buAutoNum type="arabicParenBoth"/>
            </a:pPr>
            <a:r>
              <a:rPr lang="en-US" sz="2200" dirty="0">
                <a:latin typeface="Times New Roman" pitchFamily="18" charset="0"/>
                <a:cs typeface="Times New Roman" pitchFamily="18" charset="0"/>
              </a:rPr>
              <a:t>they have the same set or a superset of the  dimensions in the query, </a:t>
            </a:r>
          </a:p>
          <a:p>
            <a:pPr marL="457200" indent="-457200" algn="just">
              <a:buAutoNum type="arabicParenBoth"/>
            </a:pPr>
            <a:r>
              <a:rPr lang="en-US" sz="2200" dirty="0">
                <a:latin typeface="Times New Roman" pitchFamily="18" charset="0"/>
                <a:cs typeface="Times New Roman" pitchFamily="18" charset="0"/>
              </a:rPr>
              <a:t>the selection clause in the query can imply the selection in the cuboid, and </a:t>
            </a:r>
          </a:p>
          <a:p>
            <a:pPr marL="457200" indent="-457200" algn="just">
              <a:buAutoNum type="arabicParenBoth"/>
            </a:pPr>
            <a:r>
              <a:rPr lang="en-US" sz="2200" dirty="0">
                <a:latin typeface="Times New Roman" pitchFamily="18" charset="0"/>
                <a:cs typeface="Times New Roman" pitchFamily="18" charset="0"/>
              </a:rPr>
              <a:t>the abstraction levels for the item and location dimensions in these cuboids are at a finer level than brand and province or state, respectively.</a:t>
            </a:r>
          </a:p>
          <a:p>
            <a:pPr algn="just"/>
            <a:endParaRPr lang="en-US" sz="2200" dirty="0">
              <a:latin typeface="Times New Roman" pitchFamily="18" charset="0"/>
              <a:cs typeface="Times New Roman" pitchFamily="18" charset="0"/>
            </a:endParaRPr>
          </a:p>
          <a:p>
            <a:pPr algn="just"/>
            <a:r>
              <a:rPr lang="en-IN" sz="2200" b="1" u="sng" dirty="0">
                <a:solidFill>
                  <a:srgbClr val="FF0000"/>
                </a:solidFill>
                <a:latin typeface="Times New Roman" pitchFamily="18" charset="0"/>
                <a:cs typeface="Times New Roman" pitchFamily="18" charset="0"/>
              </a:rPr>
              <a:t>OLAP Server Architectures: ROLAP versus MOLAP versus HOLAP</a:t>
            </a:r>
          </a:p>
          <a:p>
            <a:pPr algn="just"/>
            <a:r>
              <a:rPr lang="en-US" sz="2200" dirty="0">
                <a:latin typeface="Times New Roman" pitchFamily="18" charset="0"/>
                <a:cs typeface="Times New Roman" pitchFamily="18" charset="0"/>
              </a:rPr>
              <a:t>	Logically, OLAP servers present business users with multidimensional data from data warehouses or data marts, without concerns regarding how or where the data are stored. However, the physical architecture and implementation of OLAP servers must consider data storage issues. Implementations of a warehouse server for OLAP processing include the following:</a:t>
            </a:r>
            <a:endParaRPr lang="en-US" sz="2200" b="1" u="sng"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0986669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915400" cy="6186309"/>
          </a:xfrm>
          <a:prstGeom prst="rect">
            <a:avLst/>
          </a:prstGeom>
        </p:spPr>
        <p:txBody>
          <a:bodyPr wrap="square">
            <a:spAutoFit/>
          </a:bodyPr>
          <a:lstStyle/>
          <a:p>
            <a:pPr algn="just"/>
            <a:r>
              <a:rPr lang="en-US" sz="2200" b="1" dirty="0">
                <a:latin typeface="Times New Roman" pitchFamily="18" charset="0"/>
                <a:cs typeface="Times New Roman" pitchFamily="18" charset="0"/>
              </a:rPr>
              <a:t>Relational OLAP (ROLAP)servers: </a:t>
            </a:r>
            <a:r>
              <a:rPr lang="en-US" sz="2200" dirty="0">
                <a:latin typeface="Times New Roman" pitchFamily="18" charset="0"/>
                <a:cs typeface="Times New Roman" pitchFamily="18" charset="0"/>
              </a:rPr>
              <a:t>These are the intermediate servers that stand in between a relational back-end server and client front-end tools. They use a relational or extended-relational DBMS to store and manage warehouse data, and OLAP middleware to support missing pieces. ROLAP servers include optimization for each DBMS back end, implementation of aggregation navigation logic, and additional tools and services. ROLAP technology tends to have greater scalability than MOLAP technology.</a:t>
            </a:r>
            <a:endParaRPr lang="en-IN" sz="2200" b="1" u="sng" dirty="0">
              <a:solidFill>
                <a:srgbClr val="FF0000"/>
              </a:solidFill>
              <a:latin typeface="Times New Roman" pitchFamily="18" charset="0"/>
              <a:cs typeface="Times New Roman" pitchFamily="18" charset="0"/>
            </a:endParaRPr>
          </a:p>
          <a:p>
            <a:pPr algn="just"/>
            <a:r>
              <a:rPr lang="en-US" sz="2200" b="1" dirty="0">
                <a:latin typeface="Times New Roman" pitchFamily="18" charset="0"/>
                <a:cs typeface="Times New Roman" pitchFamily="18" charset="0"/>
              </a:rPr>
              <a:t>Multidimensional OLAP(MOLAP)servers: </a:t>
            </a:r>
            <a:r>
              <a:rPr lang="en-US" sz="2200" dirty="0">
                <a:latin typeface="Times New Roman" pitchFamily="18" charset="0"/>
                <a:cs typeface="Times New Roman" pitchFamily="18" charset="0"/>
              </a:rPr>
              <a:t>These servers support multidimensional data views through array-based multidimensional storage engines. They map multi dimensional views directly to data cube array structures. The advantage of using a data cube is that it allows fast indexing to </a:t>
            </a:r>
            <a:r>
              <a:rPr lang="en-US" sz="2200" dirty="0" err="1">
                <a:latin typeface="Times New Roman" pitchFamily="18" charset="0"/>
                <a:cs typeface="Times New Roman" pitchFamily="18" charset="0"/>
              </a:rPr>
              <a:t>precomputed</a:t>
            </a:r>
            <a:r>
              <a:rPr lang="en-US" sz="2200" dirty="0">
                <a:latin typeface="Times New Roman" pitchFamily="18" charset="0"/>
                <a:cs typeface="Times New Roman" pitchFamily="18" charset="0"/>
              </a:rPr>
              <a:t> summarized data. </a:t>
            </a:r>
          </a:p>
          <a:p>
            <a:pPr algn="just"/>
            <a:r>
              <a:rPr lang="en-US" sz="2200" b="1" dirty="0">
                <a:latin typeface="Times New Roman" pitchFamily="18" charset="0"/>
                <a:cs typeface="Times New Roman" pitchFamily="18" charset="0"/>
              </a:rPr>
              <a:t>Hybrid OLAP(HOLAP)servers: </a:t>
            </a:r>
            <a:r>
              <a:rPr lang="en-US" sz="2200" dirty="0">
                <a:latin typeface="Times New Roman" pitchFamily="18" charset="0"/>
                <a:cs typeface="Times New Roman" pitchFamily="18" charset="0"/>
              </a:rPr>
              <a:t>The hybrid OLAP approach combines ROLAP and MOLAP technology, benefiting from the greater scalability of ROLAP and the faster computation of MOLAP. For example, a HOLAP server may allow large volumes  </a:t>
            </a:r>
            <a:r>
              <a:rPr lang="en-IN" sz="2200" dirty="0">
                <a:latin typeface="Times New Roman" pitchFamily="18" charset="0"/>
                <a:cs typeface="Times New Roman" pitchFamily="18" charset="0"/>
              </a:rPr>
              <a:t>of detailed data to be stored in a relational database, while aggregations are kept in a separate MOLAP store. The Microsoft SQL Server 2000 supports a hybrid OLAP server.</a:t>
            </a:r>
            <a:endParaRPr lang="en-IN" sz="2200" b="1" u="sng"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9400247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2800767"/>
          </a:xfrm>
          <a:prstGeom prst="rect">
            <a:avLst/>
          </a:prstGeom>
        </p:spPr>
        <p:txBody>
          <a:bodyPr wrap="square">
            <a:spAutoFit/>
          </a:bodyPr>
          <a:lstStyle/>
          <a:p>
            <a:pPr algn="just"/>
            <a:r>
              <a:rPr lang="en-IN" sz="2200" dirty="0">
                <a:latin typeface="Times New Roman" pitchFamily="18" charset="0"/>
                <a:cs typeface="Times New Roman" pitchFamily="18" charset="0"/>
              </a:rPr>
              <a:t>Specialized SQL servers: To meet the growing demand of OLAP processing in relational databases, some database system vendors implement specialized SQL servers that provide advanced query language and query processing support for SQL queries over star and snow flake schemas in a read-only environment. </a:t>
            </a: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Ex: A ROLAP data store. Following Table shows a summary fact table that contains both base fact data and aggregated data.</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352800"/>
            <a:ext cx="83820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61640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3515</TotalTime>
  <Words>6921</Words>
  <Application>Microsoft Office PowerPoint</Application>
  <PresentationFormat>On-screen Show (4:3)</PresentationFormat>
  <Paragraphs>386</Paragraphs>
  <Slides>62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india</dc:creator>
  <cp:lastModifiedBy>ADMIN</cp:lastModifiedBy>
  <cp:revision>88</cp:revision>
  <dcterms:created xsi:type="dcterms:W3CDTF">2006-08-16T00:00:00Z</dcterms:created>
  <dcterms:modified xsi:type="dcterms:W3CDTF">2026-07-04T07:22:12Z</dcterms:modified>
</cp:coreProperties>
</file>