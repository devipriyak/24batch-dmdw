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6" r:id="rId8"/>
    <p:sldId id="262" r:id="rId9"/>
    <p:sldId id="263" r:id="rId10"/>
    <p:sldId id="264"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48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6920BF3-C214-9D91-698B-7B10D59C12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342F1738-5AB6-AB7B-DB9E-C52D5CAF1A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DE424151-CC96-BAB7-0CB8-DE0B5FA95CE9}"/>
              </a:ext>
            </a:extLst>
          </p:cNvPr>
          <p:cNvSpPr>
            <a:spLocks noGrp="1"/>
          </p:cNvSpPr>
          <p:nvPr>
            <p:ph type="dt" sz="half" idx="10"/>
          </p:nvPr>
        </p:nvSpPr>
        <p:spPr/>
        <p:txBody>
          <a:bodyPr/>
          <a:lstStyle/>
          <a:p>
            <a:fld id="{E2EB14DD-0F44-4373-B4B9-09A8219FDA5F}" type="datetimeFigureOut">
              <a:rPr lang="en-IN" smtClean="0"/>
              <a:t>26-09-2025</a:t>
            </a:fld>
            <a:endParaRPr lang="en-IN"/>
          </a:p>
        </p:txBody>
      </p:sp>
      <p:sp>
        <p:nvSpPr>
          <p:cNvPr id="5" name="Footer Placeholder 4">
            <a:extLst>
              <a:ext uri="{FF2B5EF4-FFF2-40B4-BE49-F238E27FC236}">
                <a16:creationId xmlns="" xmlns:a16="http://schemas.microsoft.com/office/drawing/2014/main" id="{A9E3812B-4DC8-F492-F5E8-9A65B7D945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B53BB9D4-EF08-1331-2AAC-3AC3D8FC1B85}"/>
              </a:ext>
            </a:extLst>
          </p:cNvPr>
          <p:cNvSpPr>
            <a:spLocks noGrp="1"/>
          </p:cNvSpPr>
          <p:nvPr>
            <p:ph type="sldNum" sz="quarter" idx="12"/>
          </p:nvPr>
        </p:nvSpPr>
        <p:spPr/>
        <p:txBody>
          <a:bodyPr/>
          <a:lstStyle/>
          <a:p>
            <a:fld id="{10914086-44E0-41E4-BC61-43DE96D43B57}" type="slidenum">
              <a:rPr lang="en-IN" smtClean="0"/>
              <a:t>‹#›</a:t>
            </a:fld>
            <a:endParaRPr lang="en-IN"/>
          </a:p>
        </p:txBody>
      </p:sp>
    </p:spTree>
    <p:extLst>
      <p:ext uri="{BB962C8B-B14F-4D97-AF65-F5344CB8AC3E}">
        <p14:creationId xmlns:p14="http://schemas.microsoft.com/office/powerpoint/2010/main" val="3152811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9D0B0D-0E4F-7D37-5FEF-64E84A9109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2E283539-1F40-66E3-C4C5-AE8CAB4514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A158AB8F-74B9-701B-04CE-64554AE05115}"/>
              </a:ext>
            </a:extLst>
          </p:cNvPr>
          <p:cNvSpPr>
            <a:spLocks noGrp="1"/>
          </p:cNvSpPr>
          <p:nvPr>
            <p:ph type="dt" sz="half" idx="10"/>
          </p:nvPr>
        </p:nvSpPr>
        <p:spPr/>
        <p:txBody>
          <a:bodyPr/>
          <a:lstStyle/>
          <a:p>
            <a:fld id="{E2EB14DD-0F44-4373-B4B9-09A8219FDA5F}" type="datetimeFigureOut">
              <a:rPr lang="en-IN" smtClean="0"/>
              <a:t>26-09-2025</a:t>
            </a:fld>
            <a:endParaRPr lang="en-IN"/>
          </a:p>
        </p:txBody>
      </p:sp>
      <p:sp>
        <p:nvSpPr>
          <p:cNvPr id="5" name="Footer Placeholder 4">
            <a:extLst>
              <a:ext uri="{FF2B5EF4-FFF2-40B4-BE49-F238E27FC236}">
                <a16:creationId xmlns="" xmlns:a16="http://schemas.microsoft.com/office/drawing/2014/main" id="{C60C73E1-B12B-21A5-9D91-8E8DB79CC9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B64B63C0-2809-89C4-3085-208E5FE60FDC}"/>
              </a:ext>
            </a:extLst>
          </p:cNvPr>
          <p:cNvSpPr>
            <a:spLocks noGrp="1"/>
          </p:cNvSpPr>
          <p:nvPr>
            <p:ph type="sldNum" sz="quarter" idx="12"/>
          </p:nvPr>
        </p:nvSpPr>
        <p:spPr/>
        <p:txBody>
          <a:bodyPr/>
          <a:lstStyle/>
          <a:p>
            <a:fld id="{10914086-44E0-41E4-BC61-43DE96D43B57}" type="slidenum">
              <a:rPr lang="en-IN" smtClean="0"/>
              <a:t>‹#›</a:t>
            </a:fld>
            <a:endParaRPr lang="en-IN"/>
          </a:p>
        </p:txBody>
      </p:sp>
    </p:spTree>
    <p:extLst>
      <p:ext uri="{BB962C8B-B14F-4D97-AF65-F5344CB8AC3E}">
        <p14:creationId xmlns:p14="http://schemas.microsoft.com/office/powerpoint/2010/main" val="216467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B1A9C81-35A2-5D9B-54ED-B382C85406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57DBEA6-C6AC-AB1E-C182-959238DED8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7B0DED4F-D467-8C40-E156-0253FA2E6FD9}"/>
              </a:ext>
            </a:extLst>
          </p:cNvPr>
          <p:cNvSpPr>
            <a:spLocks noGrp="1"/>
          </p:cNvSpPr>
          <p:nvPr>
            <p:ph type="dt" sz="half" idx="10"/>
          </p:nvPr>
        </p:nvSpPr>
        <p:spPr/>
        <p:txBody>
          <a:bodyPr/>
          <a:lstStyle/>
          <a:p>
            <a:fld id="{E2EB14DD-0F44-4373-B4B9-09A8219FDA5F}" type="datetimeFigureOut">
              <a:rPr lang="en-IN" smtClean="0"/>
              <a:t>26-09-2025</a:t>
            </a:fld>
            <a:endParaRPr lang="en-IN"/>
          </a:p>
        </p:txBody>
      </p:sp>
      <p:sp>
        <p:nvSpPr>
          <p:cNvPr id="5" name="Footer Placeholder 4">
            <a:extLst>
              <a:ext uri="{FF2B5EF4-FFF2-40B4-BE49-F238E27FC236}">
                <a16:creationId xmlns="" xmlns:a16="http://schemas.microsoft.com/office/drawing/2014/main" id="{1DDF7FAC-7E2F-F7AE-58CA-C845978911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3A849D26-8DDE-61EE-3627-4C72A32C8C9F}"/>
              </a:ext>
            </a:extLst>
          </p:cNvPr>
          <p:cNvSpPr>
            <a:spLocks noGrp="1"/>
          </p:cNvSpPr>
          <p:nvPr>
            <p:ph type="sldNum" sz="quarter" idx="12"/>
          </p:nvPr>
        </p:nvSpPr>
        <p:spPr/>
        <p:txBody>
          <a:bodyPr/>
          <a:lstStyle/>
          <a:p>
            <a:fld id="{10914086-44E0-41E4-BC61-43DE96D43B57}" type="slidenum">
              <a:rPr lang="en-IN" smtClean="0"/>
              <a:t>‹#›</a:t>
            </a:fld>
            <a:endParaRPr lang="en-IN"/>
          </a:p>
        </p:txBody>
      </p:sp>
    </p:spTree>
    <p:extLst>
      <p:ext uri="{BB962C8B-B14F-4D97-AF65-F5344CB8AC3E}">
        <p14:creationId xmlns:p14="http://schemas.microsoft.com/office/powerpoint/2010/main" val="47648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E225FB-C36B-C925-E84B-E8D13A57F9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7A101658-3C3B-DB1D-2821-5AEF9025C7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28B7A197-1D63-79E3-3F40-3DF611EE1E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6B444F3E-A073-58E8-0540-40DC1545FA36}"/>
              </a:ext>
            </a:extLst>
          </p:cNvPr>
          <p:cNvSpPr>
            <a:spLocks noGrp="1"/>
          </p:cNvSpPr>
          <p:nvPr>
            <p:ph type="dt" sz="half" idx="10"/>
          </p:nvPr>
        </p:nvSpPr>
        <p:spPr/>
        <p:txBody>
          <a:bodyPr/>
          <a:lstStyle/>
          <a:p>
            <a:fld id="{E2EB14DD-0F44-4373-B4B9-09A8219FDA5F}" type="datetimeFigureOut">
              <a:rPr lang="en-IN" smtClean="0"/>
              <a:t>26-09-2025</a:t>
            </a:fld>
            <a:endParaRPr lang="en-IN"/>
          </a:p>
        </p:txBody>
      </p:sp>
      <p:sp>
        <p:nvSpPr>
          <p:cNvPr id="6" name="Footer Placeholder 5">
            <a:extLst>
              <a:ext uri="{FF2B5EF4-FFF2-40B4-BE49-F238E27FC236}">
                <a16:creationId xmlns="" xmlns:a16="http://schemas.microsoft.com/office/drawing/2014/main" id="{95EE22B2-D091-D2EA-A2D1-0F16C51E84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445B7817-7F91-3634-624F-AB3C76B930BD}"/>
              </a:ext>
            </a:extLst>
          </p:cNvPr>
          <p:cNvSpPr>
            <a:spLocks noGrp="1"/>
          </p:cNvSpPr>
          <p:nvPr>
            <p:ph type="sldNum" sz="quarter" idx="12"/>
          </p:nvPr>
        </p:nvSpPr>
        <p:spPr/>
        <p:txBody>
          <a:bodyPr/>
          <a:lstStyle/>
          <a:p>
            <a:fld id="{10914086-44E0-41E4-BC61-43DE96D43B57}" type="slidenum">
              <a:rPr lang="en-IN" smtClean="0"/>
              <a:t>‹#›</a:t>
            </a:fld>
            <a:endParaRPr lang="en-IN"/>
          </a:p>
        </p:txBody>
      </p:sp>
    </p:spTree>
    <p:extLst>
      <p:ext uri="{BB962C8B-B14F-4D97-AF65-F5344CB8AC3E}">
        <p14:creationId xmlns:p14="http://schemas.microsoft.com/office/powerpoint/2010/main" val="3113878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E20C10-ED72-36DB-1A4B-E06CFF62A8F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2A93D2E-F126-6272-6831-377B5EB76D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C1901819-F419-61E5-91A6-E646B2F69D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F15A10FB-C3C9-8DB3-0ED0-9881A9F00B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A4A468E8-DB77-E246-C9DD-CE54B3A5BB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B2282750-7653-47F4-7701-4306703ED5EE}"/>
              </a:ext>
            </a:extLst>
          </p:cNvPr>
          <p:cNvSpPr>
            <a:spLocks noGrp="1"/>
          </p:cNvSpPr>
          <p:nvPr>
            <p:ph type="dt" sz="half" idx="10"/>
          </p:nvPr>
        </p:nvSpPr>
        <p:spPr/>
        <p:txBody>
          <a:bodyPr/>
          <a:lstStyle/>
          <a:p>
            <a:fld id="{E2EB14DD-0F44-4373-B4B9-09A8219FDA5F}" type="datetimeFigureOut">
              <a:rPr lang="en-IN" smtClean="0"/>
              <a:t>26-09-2025</a:t>
            </a:fld>
            <a:endParaRPr lang="en-IN"/>
          </a:p>
        </p:txBody>
      </p:sp>
      <p:sp>
        <p:nvSpPr>
          <p:cNvPr id="8" name="Footer Placeholder 7">
            <a:extLst>
              <a:ext uri="{FF2B5EF4-FFF2-40B4-BE49-F238E27FC236}">
                <a16:creationId xmlns="" xmlns:a16="http://schemas.microsoft.com/office/drawing/2014/main" id="{57A682CD-018C-0A24-E085-32E17850CA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8DA296BC-8368-8DCD-2E12-A946DED261F1}"/>
              </a:ext>
            </a:extLst>
          </p:cNvPr>
          <p:cNvSpPr>
            <a:spLocks noGrp="1"/>
          </p:cNvSpPr>
          <p:nvPr>
            <p:ph type="sldNum" sz="quarter" idx="12"/>
          </p:nvPr>
        </p:nvSpPr>
        <p:spPr/>
        <p:txBody>
          <a:bodyPr/>
          <a:lstStyle/>
          <a:p>
            <a:fld id="{10914086-44E0-41E4-BC61-43DE96D43B57}" type="slidenum">
              <a:rPr lang="en-IN" smtClean="0"/>
              <a:t>‹#›</a:t>
            </a:fld>
            <a:endParaRPr lang="en-IN"/>
          </a:p>
        </p:txBody>
      </p:sp>
    </p:spTree>
    <p:extLst>
      <p:ext uri="{BB962C8B-B14F-4D97-AF65-F5344CB8AC3E}">
        <p14:creationId xmlns:p14="http://schemas.microsoft.com/office/powerpoint/2010/main" val="25917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1F0D44-CDDC-1C80-BABD-D85BB2E2E8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F0A498C8-FECD-E2F0-12E0-2EDB425EC75A}"/>
              </a:ext>
            </a:extLst>
          </p:cNvPr>
          <p:cNvSpPr>
            <a:spLocks noGrp="1"/>
          </p:cNvSpPr>
          <p:nvPr>
            <p:ph type="dt" sz="half" idx="10"/>
          </p:nvPr>
        </p:nvSpPr>
        <p:spPr/>
        <p:txBody>
          <a:bodyPr/>
          <a:lstStyle/>
          <a:p>
            <a:fld id="{E2EB14DD-0F44-4373-B4B9-09A8219FDA5F}" type="datetimeFigureOut">
              <a:rPr lang="en-IN" smtClean="0"/>
              <a:t>26-09-2025</a:t>
            </a:fld>
            <a:endParaRPr lang="en-IN"/>
          </a:p>
        </p:txBody>
      </p:sp>
      <p:sp>
        <p:nvSpPr>
          <p:cNvPr id="4" name="Footer Placeholder 3">
            <a:extLst>
              <a:ext uri="{FF2B5EF4-FFF2-40B4-BE49-F238E27FC236}">
                <a16:creationId xmlns="" xmlns:a16="http://schemas.microsoft.com/office/drawing/2014/main" id="{51FCA49B-3B11-2B87-9B9D-5CB7208BD4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CFB503ED-96C7-0DD0-8674-BEC87DC16767}"/>
              </a:ext>
            </a:extLst>
          </p:cNvPr>
          <p:cNvSpPr>
            <a:spLocks noGrp="1"/>
          </p:cNvSpPr>
          <p:nvPr>
            <p:ph type="sldNum" sz="quarter" idx="12"/>
          </p:nvPr>
        </p:nvSpPr>
        <p:spPr/>
        <p:txBody>
          <a:bodyPr/>
          <a:lstStyle/>
          <a:p>
            <a:fld id="{10914086-44E0-41E4-BC61-43DE96D43B57}" type="slidenum">
              <a:rPr lang="en-IN" smtClean="0"/>
              <a:t>‹#›</a:t>
            </a:fld>
            <a:endParaRPr lang="en-IN"/>
          </a:p>
        </p:txBody>
      </p:sp>
    </p:spTree>
    <p:extLst>
      <p:ext uri="{BB962C8B-B14F-4D97-AF65-F5344CB8AC3E}">
        <p14:creationId xmlns:p14="http://schemas.microsoft.com/office/powerpoint/2010/main" val="4233098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3C45D52-1108-0FF2-3FC0-74D701D7371C}"/>
              </a:ext>
            </a:extLst>
          </p:cNvPr>
          <p:cNvSpPr>
            <a:spLocks noGrp="1"/>
          </p:cNvSpPr>
          <p:nvPr>
            <p:ph type="dt" sz="half" idx="10"/>
          </p:nvPr>
        </p:nvSpPr>
        <p:spPr/>
        <p:txBody>
          <a:bodyPr/>
          <a:lstStyle/>
          <a:p>
            <a:fld id="{E2EB14DD-0F44-4373-B4B9-09A8219FDA5F}" type="datetimeFigureOut">
              <a:rPr lang="en-IN" smtClean="0"/>
              <a:t>26-09-2025</a:t>
            </a:fld>
            <a:endParaRPr lang="en-IN"/>
          </a:p>
        </p:txBody>
      </p:sp>
      <p:sp>
        <p:nvSpPr>
          <p:cNvPr id="3" name="Footer Placeholder 2">
            <a:extLst>
              <a:ext uri="{FF2B5EF4-FFF2-40B4-BE49-F238E27FC236}">
                <a16:creationId xmlns="" xmlns:a16="http://schemas.microsoft.com/office/drawing/2014/main" id="{0C488A2D-A1FB-21F8-6257-9A5C8DF71F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70494097-BA72-26D3-EBFC-98897631078D}"/>
              </a:ext>
            </a:extLst>
          </p:cNvPr>
          <p:cNvSpPr>
            <a:spLocks noGrp="1"/>
          </p:cNvSpPr>
          <p:nvPr>
            <p:ph type="sldNum" sz="quarter" idx="12"/>
          </p:nvPr>
        </p:nvSpPr>
        <p:spPr/>
        <p:txBody>
          <a:bodyPr/>
          <a:lstStyle/>
          <a:p>
            <a:fld id="{10914086-44E0-41E4-BC61-43DE96D43B57}" type="slidenum">
              <a:rPr lang="en-IN" smtClean="0"/>
              <a:t>‹#›</a:t>
            </a:fld>
            <a:endParaRPr lang="en-IN"/>
          </a:p>
        </p:txBody>
      </p:sp>
    </p:spTree>
    <p:extLst>
      <p:ext uri="{BB962C8B-B14F-4D97-AF65-F5344CB8AC3E}">
        <p14:creationId xmlns:p14="http://schemas.microsoft.com/office/powerpoint/2010/main" val="3070597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49EF199-4C50-4B12-C3C8-3FF9FFAB9A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F166F98E-651C-826A-7DB7-17F5051E94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4767DC06-8A96-76E3-31AD-13DDE51AB8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E0B43E8B-6A45-321D-1178-375D09E5EBFF}"/>
              </a:ext>
            </a:extLst>
          </p:cNvPr>
          <p:cNvSpPr>
            <a:spLocks noGrp="1"/>
          </p:cNvSpPr>
          <p:nvPr>
            <p:ph type="dt" sz="half" idx="10"/>
          </p:nvPr>
        </p:nvSpPr>
        <p:spPr/>
        <p:txBody>
          <a:bodyPr/>
          <a:lstStyle/>
          <a:p>
            <a:fld id="{E2EB14DD-0F44-4373-B4B9-09A8219FDA5F}" type="datetimeFigureOut">
              <a:rPr lang="en-IN" smtClean="0"/>
              <a:t>26-09-2025</a:t>
            </a:fld>
            <a:endParaRPr lang="en-IN"/>
          </a:p>
        </p:txBody>
      </p:sp>
      <p:sp>
        <p:nvSpPr>
          <p:cNvPr id="6" name="Footer Placeholder 5">
            <a:extLst>
              <a:ext uri="{FF2B5EF4-FFF2-40B4-BE49-F238E27FC236}">
                <a16:creationId xmlns="" xmlns:a16="http://schemas.microsoft.com/office/drawing/2014/main" id="{749DE99C-E36C-8A52-36B0-704FC1463B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E3D8C9DD-4417-21DD-86D8-AD80133C3D21}"/>
              </a:ext>
            </a:extLst>
          </p:cNvPr>
          <p:cNvSpPr>
            <a:spLocks noGrp="1"/>
          </p:cNvSpPr>
          <p:nvPr>
            <p:ph type="sldNum" sz="quarter" idx="12"/>
          </p:nvPr>
        </p:nvSpPr>
        <p:spPr/>
        <p:txBody>
          <a:bodyPr/>
          <a:lstStyle/>
          <a:p>
            <a:fld id="{10914086-44E0-41E4-BC61-43DE96D43B57}" type="slidenum">
              <a:rPr lang="en-IN" smtClean="0"/>
              <a:t>‹#›</a:t>
            </a:fld>
            <a:endParaRPr lang="en-IN"/>
          </a:p>
        </p:txBody>
      </p:sp>
    </p:spTree>
    <p:extLst>
      <p:ext uri="{BB962C8B-B14F-4D97-AF65-F5344CB8AC3E}">
        <p14:creationId xmlns:p14="http://schemas.microsoft.com/office/powerpoint/2010/main" val="459196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E9613F-3BCB-F598-F6B3-E635450CD0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91AC4081-165D-CA7C-1906-50A696CA40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E4BD053D-B924-58C0-8CFA-A4FA9F6FD2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0D465A2-F375-E780-C840-F497724BBD4E}"/>
              </a:ext>
            </a:extLst>
          </p:cNvPr>
          <p:cNvSpPr>
            <a:spLocks noGrp="1"/>
          </p:cNvSpPr>
          <p:nvPr>
            <p:ph type="dt" sz="half" idx="10"/>
          </p:nvPr>
        </p:nvSpPr>
        <p:spPr/>
        <p:txBody>
          <a:bodyPr/>
          <a:lstStyle/>
          <a:p>
            <a:fld id="{E2EB14DD-0F44-4373-B4B9-09A8219FDA5F}" type="datetimeFigureOut">
              <a:rPr lang="en-IN" smtClean="0"/>
              <a:t>26-09-2025</a:t>
            </a:fld>
            <a:endParaRPr lang="en-IN"/>
          </a:p>
        </p:txBody>
      </p:sp>
      <p:sp>
        <p:nvSpPr>
          <p:cNvPr id="6" name="Footer Placeholder 5">
            <a:extLst>
              <a:ext uri="{FF2B5EF4-FFF2-40B4-BE49-F238E27FC236}">
                <a16:creationId xmlns="" xmlns:a16="http://schemas.microsoft.com/office/drawing/2014/main" id="{31FDBC5C-53C9-A445-93D3-4B1C8805CA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BDF4B0F4-6568-B0C8-3DAA-0ED5D71077F7}"/>
              </a:ext>
            </a:extLst>
          </p:cNvPr>
          <p:cNvSpPr>
            <a:spLocks noGrp="1"/>
          </p:cNvSpPr>
          <p:nvPr>
            <p:ph type="sldNum" sz="quarter" idx="12"/>
          </p:nvPr>
        </p:nvSpPr>
        <p:spPr/>
        <p:txBody>
          <a:bodyPr/>
          <a:lstStyle/>
          <a:p>
            <a:fld id="{10914086-44E0-41E4-BC61-43DE96D43B57}" type="slidenum">
              <a:rPr lang="en-IN" smtClean="0"/>
              <a:t>‹#›</a:t>
            </a:fld>
            <a:endParaRPr lang="en-IN"/>
          </a:p>
        </p:txBody>
      </p:sp>
    </p:spTree>
    <p:extLst>
      <p:ext uri="{BB962C8B-B14F-4D97-AF65-F5344CB8AC3E}">
        <p14:creationId xmlns:p14="http://schemas.microsoft.com/office/powerpoint/2010/main" val="2457846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D4E0EA-56D7-650A-5AE5-5A2475EA854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59799341-1E40-0CBA-D68D-40617381A0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E63E48E-1B1F-441D-D555-2F3332552150}"/>
              </a:ext>
            </a:extLst>
          </p:cNvPr>
          <p:cNvSpPr>
            <a:spLocks noGrp="1"/>
          </p:cNvSpPr>
          <p:nvPr>
            <p:ph type="dt" sz="half" idx="10"/>
          </p:nvPr>
        </p:nvSpPr>
        <p:spPr/>
        <p:txBody>
          <a:bodyPr/>
          <a:lstStyle/>
          <a:p>
            <a:fld id="{E2EB14DD-0F44-4373-B4B9-09A8219FDA5F}" type="datetimeFigureOut">
              <a:rPr lang="en-IN" smtClean="0"/>
              <a:t>26-09-2025</a:t>
            </a:fld>
            <a:endParaRPr lang="en-IN"/>
          </a:p>
        </p:txBody>
      </p:sp>
      <p:sp>
        <p:nvSpPr>
          <p:cNvPr id="5" name="Footer Placeholder 4">
            <a:extLst>
              <a:ext uri="{FF2B5EF4-FFF2-40B4-BE49-F238E27FC236}">
                <a16:creationId xmlns="" xmlns:a16="http://schemas.microsoft.com/office/drawing/2014/main" id="{B096C968-0349-131C-7D63-79450FD740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9725A49-3A0E-EB27-728B-3A6BE079BC4F}"/>
              </a:ext>
            </a:extLst>
          </p:cNvPr>
          <p:cNvSpPr>
            <a:spLocks noGrp="1"/>
          </p:cNvSpPr>
          <p:nvPr>
            <p:ph type="sldNum" sz="quarter" idx="12"/>
          </p:nvPr>
        </p:nvSpPr>
        <p:spPr/>
        <p:txBody>
          <a:bodyPr/>
          <a:lstStyle/>
          <a:p>
            <a:fld id="{10914086-44E0-41E4-BC61-43DE96D43B57}" type="slidenum">
              <a:rPr lang="en-IN" smtClean="0"/>
              <a:t>‹#›</a:t>
            </a:fld>
            <a:endParaRPr lang="en-IN"/>
          </a:p>
        </p:txBody>
      </p:sp>
    </p:spTree>
    <p:extLst>
      <p:ext uri="{BB962C8B-B14F-4D97-AF65-F5344CB8AC3E}">
        <p14:creationId xmlns:p14="http://schemas.microsoft.com/office/powerpoint/2010/main" val="1983185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BA0E516B-6C65-06C6-59B0-DB4973B0CE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1FD7C93D-2A10-F6E4-FD35-1B4ED1B8A9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876AF7E-EE05-C46B-0F82-186A8EBE8EB7}"/>
              </a:ext>
            </a:extLst>
          </p:cNvPr>
          <p:cNvSpPr>
            <a:spLocks noGrp="1"/>
          </p:cNvSpPr>
          <p:nvPr>
            <p:ph type="dt" sz="half" idx="10"/>
          </p:nvPr>
        </p:nvSpPr>
        <p:spPr/>
        <p:txBody>
          <a:bodyPr/>
          <a:lstStyle/>
          <a:p>
            <a:fld id="{E2EB14DD-0F44-4373-B4B9-09A8219FDA5F}" type="datetimeFigureOut">
              <a:rPr lang="en-IN" smtClean="0"/>
              <a:t>26-09-2025</a:t>
            </a:fld>
            <a:endParaRPr lang="en-IN"/>
          </a:p>
        </p:txBody>
      </p:sp>
      <p:sp>
        <p:nvSpPr>
          <p:cNvPr id="5" name="Footer Placeholder 4">
            <a:extLst>
              <a:ext uri="{FF2B5EF4-FFF2-40B4-BE49-F238E27FC236}">
                <a16:creationId xmlns="" xmlns:a16="http://schemas.microsoft.com/office/drawing/2014/main" id="{A4A98D34-0D10-516E-AFA2-911E35978A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3A3578FC-2DD4-E486-C8AC-EB32AE10F073}"/>
              </a:ext>
            </a:extLst>
          </p:cNvPr>
          <p:cNvSpPr>
            <a:spLocks noGrp="1"/>
          </p:cNvSpPr>
          <p:nvPr>
            <p:ph type="sldNum" sz="quarter" idx="12"/>
          </p:nvPr>
        </p:nvSpPr>
        <p:spPr/>
        <p:txBody>
          <a:bodyPr/>
          <a:lstStyle/>
          <a:p>
            <a:fld id="{10914086-44E0-41E4-BC61-43DE96D43B57}" type="slidenum">
              <a:rPr lang="en-IN" smtClean="0"/>
              <a:t>‹#›</a:t>
            </a:fld>
            <a:endParaRPr lang="en-IN"/>
          </a:p>
        </p:txBody>
      </p:sp>
    </p:spTree>
    <p:extLst>
      <p:ext uri="{BB962C8B-B14F-4D97-AF65-F5344CB8AC3E}">
        <p14:creationId xmlns:p14="http://schemas.microsoft.com/office/powerpoint/2010/main" val="2104873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6D3FCE94-CFDA-FB11-8385-760B3504BB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1C14D6EB-2524-F4E7-353C-C6EED22AFE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0CACD8E3-BF4F-0AFA-4C1E-973632F862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EB14DD-0F44-4373-B4B9-09A8219FDA5F}" type="datetimeFigureOut">
              <a:rPr lang="en-IN" smtClean="0"/>
              <a:t>26-09-2025</a:t>
            </a:fld>
            <a:endParaRPr lang="en-IN"/>
          </a:p>
        </p:txBody>
      </p:sp>
      <p:sp>
        <p:nvSpPr>
          <p:cNvPr id="5" name="Footer Placeholder 4">
            <a:extLst>
              <a:ext uri="{FF2B5EF4-FFF2-40B4-BE49-F238E27FC236}">
                <a16:creationId xmlns="" xmlns:a16="http://schemas.microsoft.com/office/drawing/2014/main" id="{40D0D436-0FD0-446B-A2EB-07A342BBB0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F704BFE6-424F-3EEE-34FD-4C0666F72B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914086-44E0-41E4-BC61-43DE96D43B57}" type="slidenum">
              <a:rPr lang="en-IN" smtClean="0"/>
              <a:t>‹#›</a:t>
            </a:fld>
            <a:endParaRPr lang="en-IN"/>
          </a:p>
        </p:txBody>
      </p:sp>
    </p:spTree>
    <p:extLst>
      <p:ext uri="{BB962C8B-B14F-4D97-AF65-F5344CB8AC3E}">
        <p14:creationId xmlns:p14="http://schemas.microsoft.com/office/powerpoint/2010/main" val="2849913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8931" y="438411"/>
            <a:ext cx="10872591" cy="4585871"/>
          </a:xfrm>
          <a:prstGeom prst="rect">
            <a:avLst/>
          </a:prstGeom>
        </p:spPr>
        <p:txBody>
          <a:bodyPr wrap="square">
            <a:spAutoFit/>
          </a:bodyPr>
          <a:lstStyle/>
          <a:p>
            <a:pPr algn="ctr"/>
            <a:r>
              <a:rPr lang="en-US" sz="2800" b="1" u="sng" dirty="0">
                <a:solidFill>
                  <a:srgbClr val="FF0000"/>
                </a:solidFill>
                <a:latin typeface="Times New Roman" pitchFamily="18" charset="0"/>
                <a:cs typeface="Times New Roman" pitchFamily="18" charset="0"/>
              </a:rPr>
              <a:t>UNIT–III</a:t>
            </a:r>
            <a:r>
              <a:rPr lang="en-US" sz="2800" dirty="0">
                <a:latin typeface="Times New Roman" pitchFamily="18" charset="0"/>
                <a:cs typeface="Times New Roman" pitchFamily="18" charset="0"/>
              </a:rPr>
              <a:t> </a:t>
            </a:r>
          </a:p>
          <a:p>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pPr algn="just"/>
            <a:r>
              <a:rPr lang="en-US" sz="2400" b="1" dirty="0">
                <a:solidFill>
                  <a:srgbClr val="00B050"/>
                </a:solidFill>
                <a:latin typeface="Times New Roman" pitchFamily="18" charset="0"/>
                <a:cs typeface="Times New Roman" pitchFamily="18" charset="0"/>
              </a:rPr>
              <a:t>Classification:</a:t>
            </a:r>
            <a:r>
              <a:rPr lang="en-US" sz="2400" dirty="0">
                <a:solidFill>
                  <a:srgbClr val="00B050"/>
                </a:solidFill>
                <a:latin typeface="Times New Roman" pitchFamily="18" charset="0"/>
                <a:cs typeface="Times New Roman" pitchFamily="18" charset="0"/>
              </a:rPr>
              <a:t> </a:t>
            </a:r>
            <a:r>
              <a:rPr lang="en-US" sz="2400" dirty="0">
                <a:latin typeface="Times New Roman" pitchFamily="18" charset="0"/>
                <a:cs typeface="Times New Roman" pitchFamily="18" charset="0"/>
              </a:rPr>
              <a:t>Basic Concepts, General Approach to solving a classification problem, </a:t>
            </a:r>
          </a:p>
          <a:p>
            <a:pPr algn="just"/>
            <a:endParaRPr lang="en-US" sz="2400" dirty="0" smtClean="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r>
              <a:rPr lang="en-US" sz="2400" b="1" dirty="0">
                <a:solidFill>
                  <a:srgbClr val="00B050"/>
                </a:solidFill>
                <a:latin typeface="Times New Roman" pitchFamily="18" charset="0"/>
                <a:cs typeface="Times New Roman" pitchFamily="18" charset="0"/>
              </a:rPr>
              <a:t>Decision Tree Induction: </a:t>
            </a:r>
            <a:r>
              <a:rPr lang="en-US" sz="2400" dirty="0">
                <a:latin typeface="Times New Roman" pitchFamily="18" charset="0"/>
                <a:cs typeface="Times New Roman" pitchFamily="18" charset="0"/>
              </a:rPr>
              <a:t>Attribute Selection Measures, Tree Pruning, Scalability and Decision Tree Induction, Visual Mining for Decision Tree Induction, </a:t>
            </a:r>
          </a:p>
          <a:p>
            <a:pPr algn="just"/>
            <a:endParaRPr lang="en-US" sz="2400" dirty="0" smtClean="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r>
              <a:rPr lang="en-US" sz="2400" b="1" dirty="0">
                <a:solidFill>
                  <a:srgbClr val="00B050"/>
                </a:solidFill>
                <a:latin typeface="Times New Roman" pitchFamily="18" charset="0"/>
                <a:cs typeface="Times New Roman" pitchFamily="18" charset="0"/>
              </a:rPr>
              <a:t>Bayesian Classification Methods: </a:t>
            </a:r>
            <a:r>
              <a:rPr lang="en-US" sz="2400" dirty="0">
                <a:latin typeface="Times New Roman" pitchFamily="18" charset="0"/>
                <a:cs typeface="Times New Roman" pitchFamily="18" charset="0"/>
              </a:rPr>
              <a:t>Bayes Theorem, Naïve Bayes Classification, Rule-Based Classification, Model Evaluation and Selection.</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225698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70572CD3-E15B-A6ED-F28E-787F69DD0221}"/>
              </a:ext>
            </a:extLst>
          </p:cNvPr>
          <p:cNvSpPr txBox="1"/>
          <p:nvPr/>
        </p:nvSpPr>
        <p:spPr>
          <a:xfrm>
            <a:off x="604911" y="281354"/>
            <a:ext cx="10761783" cy="6278642"/>
          </a:xfrm>
          <a:prstGeom prst="rect">
            <a:avLst/>
          </a:prstGeom>
          <a:noFill/>
        </p:spPr>
        <p:txBody>
          <a:bodyPr wrap="square">
            <a:spAutoFit/>
          </a:bodyPr>
          <a:lstStyle/>
          <a:p>
            <a:pPr algn="ctr"/>
            <a:r>
              <a:rPr lang="en-IN" sz="2800" b="1" dirty="0">
                <a:solidFill>
                  <a:srgbClr val="FF0000"/>
                </a:solidFill>
                <a:latin typeface="Times New Roman" panose="02020603050405020304" pitchFamily="18" charset="0"/>
                <a:cs typeface="Times New Roman" panose="02020603050405020304" pitchFamily="18" charset="0"/>
              </a:rPr>
              <a:t>Rule-Based Classification</a:t>
            </a:r>
            <a:endParaRPr lang="en-US" sz="2800" b="0" i="0" u="none" strike="noStrike" baseline="0" dirty="0">
              <a:solidFill>
                <a:srgbClr val="FF0000"/>
              </a:solidFill>
              <a:latin typeface="Times New Roman" panose="02020603050405020304" pitchFamily="18" charset="0"/>
              <a:cs typeface="Times New Roman" panose="02020603050405020304" pitchFamily="18" charset="0"/>
            </a:endParaRPr>
          </a:p>
          <a:p>
            <a:pPr algn="just"/>
            <a:r>
              <a:rPr lang="en-US" sz="2200" b="0" i="0" u="none" strike="noStrike" baseline="0" dirty="0">
                <a:latin typeface="Times New Roman" panose="02020603050405020304" pitchFamily="18" charset="0"/>
                <a:cs typeface="Times New Roman" panose="02020603050405020304" pitchFamily="18" charset="0"/>
              </a:rPr>
              <a:t>	Here, we look at rule-based classifiers, where the learned model is represented</a:t>
            </a:r>
          </a:p>
          <a:p>
            <a:pPr algn="just"/>
            <a:r>
              <a:rPr lang="en-US" sz="2200" b="0" i="0" u="none" strike="noStrike" baseline="0" dirty="0">
                <a:latin typeface="Times New Roman" panose="02020603050405020304" pitchFamily="18" charset="0"/>
                <a:cs typeface="Times New Roman" panose="02020603050405020304" pitchFamily="18" charset="0"/>
              </a:rPr>
              <a:t>as a set of IF-THEN rules. We first examine how such rules are used for classification. We then study ways in which they can be generated, either from a decision</a:t>
            </a:r>
          </a:p>
          <a:p>
            <a:pPr algn="just"/>
            <a:r>
              <a:rPr lang="en-US" sz="2200" b="0" i="0" u="none" strike="noStrike" baseline="0" dirty="0">
                <a:latin typeface="Times New Roman" panose="02020603050405020304" pitchFamily="18" charset="0"/>
                <a:cs typeface="Times New Roman" panose="02020603050405020304" pitchFamily="18" charset="0"/>
              </a:rPr>
              <a:t>tree or directly from the training data using a </a:t>
            </a:r>
            <a:r>
              <a:rPr lang="en-US" sz="2200" b="0" i="1" u="none" strike="noStrike" baseline="0" dirty="0">
                <a:latin typeface="Times New Roman" panose="02020603050405020304" pitchFamily="18" charset="0"/>
                <a:cs typeface="Times New Roman" panose="02020603050405020304" pitchFamily="18" charset="0"/>
              </a:rPr>
              <a:t>sequential covering </a:t>
            </a:r>
            <a:r>
              <a:rPr lang="en-IN" sz="2200" b="0" i="1" u="none" strike="noStrike" baseline="0" dirty="0">
                <a:latin typeface="Times New Roman" panose="02020603050405020304" pitchFamily="18" charset="0"/>
                <a:cs typeface="Times New Roman" panose="02020603050405020304" pitchFamily="18" charset="0"/>
              </a:rPr>
              <a:t>algorithm</a:t>
            </a:r>
            <a:r>
              <a:rPr lang="en-IN" sz="2200" b="0" i="0" u="none" strike="noStrike" baseline="0" dirty="0">
                <a:latin typeface="Times New Roman" panose="02020603050405020304" pitchFamily="18" charset="0"/>
                <a:cs typeface="Times New Roman" panose="02020603050405020304" pitchFamily="18" charset="0"/>
              </a:rPr>
              <a:t>.</a:t>
            </a:r>
          </a:p>
          <a:p>
            <a:pPr algn="just"/>
            <a:endParaRPr lang="en-US" sz="2200" dirty="0">
              <a:latin typeface="Times New Roman" panose="02020603050405020304" pitchFamily="18" charset="0"/>
              <a:cs typeface="Times New Roman" panose="02020603050405020304" pitchFamily="18" charset="0"/>
            </a:endParaRPr>
          </a:p>
          <a:p>
            <a:pPr algn="just"/>
            <a:r>
              <a:rPr lang="en-US" sz="2200" b="1" i="0" u="none" strike="noStrike" baseline="0" dirty="0">
                <a:solidFill>
                  <a:srgbClr val="00B050"/>
                </a:solidFill>
                <a:latin typeface="Times New Roman" panose="02020603050405020304" pitchFamily="18" charset="0"/>
                <a:cs typeface="Times New Roman" panose="02020603050405020304" pitchFamily="18" charset="0"/>
              </a:rPr>
              <a:t>Using IF-THEN Rules for Classification</a:t>
            </a:r>
          </a:p>
          <a:p>
            <a:pPr algn="just"/>
            <a:r>
              <a:rPr lang="en-US" sz="2200" b="0" i="0" u="none" strike="noStrike" baseline="0" dirty="0">
                <a:latin typeface="Times New Roman" panose="02020603050405020304" pitchFamily="18" charset="0"/>
                <a:cs typeface="Times New Roman" panose="02020603050405020304" pitchFamily="18" charset="0"/>
              </a:rPr>
              <a:t>	Rules are a good way of representing information or bits of knowledge. A </a:t>
            </a:r>
            <a:r>
              <a:rPr lang="en-US" sz="2200" b="1" i="0" u="none" strike="noStrike" baseline="0" dirty="0">
                <a:latin typeface="Times New Roman" panose="02020603050405020304" pitchFamily="18" charset="0"/>
                <a:cs typeface="Times New Roman" panose="02020603050405020304" pitchFamily="18" charset="0"/>
              </a:rPr>
              <a:t>rule-based classifier </a:t>
            </a:r>
            <a:r>
              <a:rPr lang="en-US" sz="2200" b="0" i="0" u="none" strike="noStrike" baseline="0" dirty="0">
                <a:latin typeface="Times New Roman" panose="02020603050405020304" pitchFamily="18" charset="0"/>
                <a:cs typeface="Times New Roman" panose="02020603050405020304" pitchFamily="18" charset="0"/>
              </a:rPr>
              <a:t>uses a set of IF-THEN rules for classification. An </a:t>
            </a:r>
            <a:r>
              <a:rPr lang="en-US" sz="2200" b="1" i="0" u="none" strike="noStrike" baseline="0" dirty="0">
                <a:latin typeface="Times New Roman" panose="02020603050405020304" pitchFamily="18" charset="0"/>
                <a:cs typeface="Times New Roman" panose="02020603050405020304" pitchFamily="18" charset="0"/>
              </a:rPr>
              <a:t>IF-THEN </a:t>
            </a:r>
            <a:r>
              <a:rPr lang="en-US" sz="2200" b="0" i="0" u="none" strike="noStrike" baseline="0" dirty="0">
                <a:latin typeface="Times New Roman" panose="02020603050405020304" pitchFamily="18" charset="0"/>
                <a:cs typeface="Times New Roman" panose="02020603050405020304" pitchFamily="18" charset="0"/>
              </a:rPr>
              <a:t>rule is an expression </a:t>
            </a:r>
            <a:r>
              <a:rPr lang="en-IN" sz="2200" b="0" i="0" u="none" strike="noStrike" baseline="0" dirty="0">
                <a:latin typeface="Times New Roman" panose="02020603050405020304" pitchFamily="18" charset="0"/>
                <a:cs typeface="Times New Roman" panose="02020603050405020304" pitchFamily="18" charset="0"/>
              </a:rPr>
              <a:t>of the form: </a:t>
            </a:r>
          </a:p>
          <a:p>
            <a:pPr algn="just"/>
            <a:r>
              <a:rPr lang="en-IN" sz="2200" b="0" i="0" u="none" strike="noStrike" baseline="0" dirty="0">
                <a:solidFill>
                  <a:srgbClr val="7030A0"/>
                </a:solidFill>
                <a:latin typeface="Times New Roman" panose="02020603050405020304" pitchFamily="18" charset="0"/>
                <a:cs typeface="Times New Roman" panose="02020603050405020304" pitchFamily="18" charset="0"/>
              </a:rPr>
              <a:t>                                           IF </a:t>
            </a:r>
            <a:r>
              <a:rPr lang="en-IN" sz="2200" b="0" i="1" u="none" strike="noStrike" baseline="0" dirty="0">
                <a:solidFill>
                  <a:srgbClr val="7030A0"/>
                </a:solidFill>
                <a:latin typeface="Times New Roman" panose="02020603050405020304" pitchFamily="18" charset="0"/>
                <a:cs typeface="Times New Roman" panose="02020603050405020304" pitchFamily="18" charset="0"/>
              </a:rPr>
              <a:t>condition </a:t>
            </a:r>
            <a:r>
              <a:rPr lang="en-IN" sz="2200" b="0" i="0" u="none" strike="noStrike" baseline="0" dirty="0">
                <a:solidFill>
                  <a:srgbClr val="7030A0"/>
                </a:solidFill>
                <a:latin typeface="Times New Roman" panose="02020603050405020304" pitchFamily="18" charset="0"/>
                <a:cs typeface="Times New Roman" panose="02020603050405020304" pitchFamily="18" charset="0"/>
              </a:rPr>
              <a:t>THEN </a:t>
            </a:r>
            <a:r>
              <a:rPr lang="en-IN" sz="2200" b="0" i="1" u="none" strike="noStrike" baseline="0" dirty="0">
                <a:solidFill>
                  <a:srgbClr val="7030A0"/>
                </a:solidFill>
                <a:latin typeface="Times New Roman" panose="02020603050405020304" pitchFamily="18" charset="0"/>
                <a:cs typeface="Times New Roman" panose="02020603050405020304" pitchFamily="18" charset="0"/>
              </a:rPr>
              <a:t>conclusion</a:t>
            </a:r>
            <a:r>
              <a:rPr lang="en-IN" sz="2200" b="0" i="0" u="none" strike="noStrike" baseline="0" dirty="0">
                <a:solidFill>
                  <a:srgbClr val="7030A0"/>
                </a:solidFill>
                <a:latin typeface="Times New Roman" panose="02020603050405020304" pitchFamily="18" charset="0"/>
                <a:cs typeface="Times New Roman" panose="02020603050405020304" pitchFamily="18" charset="0"/>
              </a:rPr>
              <a:t>.</a:t>
            </a:r>
          </a:p>
          <a:p>
            <a:pPr algn="just"/>
            <a:endParaRPr lang="en-US" sz="2200" b="0" i="0" u="none" strike="noStrike" baseline="0" dirty="0">
              <a:latin typeface="Times New Roman" panose="02020603050405020304" pitchFamily="18" charset="0"/>
              <a:cs typeface="Times New Roman" panose="02020603050405020304" pitchFamily="18" charset="0"/>
            </a:endParaRPr>
          </a:p>
          <a:p>
            <a:pPr algn="just"/>
            <a:r>
              <a:rPr lang="en-US" sz="2200" b="0" i="0" u="none" strike="noStrike" baseline="0" dirty="0">
                <a:latin typeface="Times New Roman" panose="02020603050405020304" pitchFamily="18" charset="0"/>
                <a:cs typeface="Times New Roman" panose="02020603050405020304" pitchFamily="18" charset="0"/>
              </a:rPr>
              <a:t>An example is rule </a:t>
            </a:r>
            <a:r>
              <a:rPr lang="en-US" sz="2200" b="0" i="1" u="none" strike="noStrike" baseline="0" dirty="0">
                <a:latin typeface="Times New Roman" panose="02020603050405020304" pitchFamily="18" charset="0"/>
                <a:cs typeface="Times New Roman" panose="02020603050405020304" pitchFamily="18" charset="0"/>
              </a:rPr>
              <a:t>R</a:t>
            </a:r>
            <a:r>
              <a:rPr lang="en-US" sz="2200" b="0" i="0" u="none" strike="noStrike" baseline="0" dirty="0">
                <a:latin typeface="Times New Roman" panose="02020603050405020304" pitchFamily="18" charset="0"/>
                <a:cs typeface="Times New Roman" panose="02020603050405020304" pitchFamily="18" charset="0"/>
              </a:rPr>
              <a:t>1,</a:t>
            </a:r>
          </a:p>
          <a:p>
            <a:pPr algn="just"/>
            <a:r>
              <a:rPr lang="en-US" sz="2200" b="0" i="1" u="none" strike="noStrike" baseline="0" dirty="0">
                <a:latin typeface="Times New Roman" panose="02020603050405020304" pitchFamily="18" charset="0"/>
                <a:cs typeface="Times New Roman" panose="02020603050405020304" pitchFamily="18" charset="0"/>
              </a:rPr>
              <a:t>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R</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1: IF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age </a:t>
            </a:r>
            <a:r>
              <a:rPr lang="en-US" sz="2200" dirty="0">
                <a:solidFill>
                  <a:srgbClr val="7030A0"/>
                </a:solidFill>
                <a:latin typeface="Times New Roman" panose="02020603050405020304" pitchFamily="18" charset="0"/>
                <a:cs typeface="Times New Roman" panose="02020603050405020304" pitchFamily="18" charset="0"/>
              </a:rPr>
              <a:t>=</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youth </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AND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student </a:t>
            </a:r>
            <a:r>
              <a:rPr lang="en-US" sz="2200" dirty="0">
                <a:solidFill>
                  <a:srgbClr val="7030A0"/>
                </a:solidFill>
                <a:latin typeface="Times New Roman" panose="02020603050405020304" pitchFamily="18" charset="0"/>
                <a:cs typeface="Times New Roman" panose="02020603050405020304" pitchFamily="18" charset="0"/>
              </a:rPr>
              <a:t>=</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yes </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THEN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buys computer</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yes</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a:t>
            </a:r>
          </a:p>
          <a:p>
            <a:pPr algn="just"/>
            <a:r>
              <a:rPr lang="en-US" sz="2200" b="0" i="0" u="none" strike="noStrike" baseline="0" dirty="0">
                <a:latin typeface="Times New Roman" panose="02020603050405020304" pitchFamily="18" charset="0"/>
                <a:cs typeface="Times New Roman" panose="02020603050405020304" pitchFamily="18" charset="0"/>
              </a:rPr>
              <a:t>	The “IF” part (or left side) of a rule is known as the </a:t>
            </a:r>
            <a:r>
              <a:rPr lang="en-US" sz="2200" b="1" i="0" u="none" strike="noStrike" baseline="0" dirty="0">
                <a:latin typeface="Times New Roman" panose="02020603050405020304" pitchFamily="18" charset="0"/>
                <a:cs typeface="Times New Roman" panose="02020603050405020304" pitchFamily="18" charset="0"/>
              </a:rPr>
              <a:t>rule antecedent </a:t>
            </a:r>
            <a:r>
              <a:rPr lang="en-US" sz="2200" b="0" i="0" u="none" strike="noStrike" baseline="0" dirty="0">
                <a:latin typeface="Times New Roman" panose="02020603050405020304" pitchFamily="18" charset="0"/>
                <a:cs typeface="Times New Roman" panose="02020603050405020304" pitchFamily="18" charset="0"/>
              </a:rPr>
              <a:t>or </a:t>
            </a:r>
            <a:r>
              <a:rPr lang="en-US" sz="2200" b="1" i="0" u="none" strike="noStrike" baseline="0" dirty="0">
                <a:latin typeface="Times New Roman" panose="02020603050405020304" pitchFamily="18" charset="0"/>
                <a:cs typeface="Times New Roman" panose="02020603050405020304" pitchFamily="18" charset="0"/>
              </a:rPr>
              <a:t>precondition</a:t>
            </a:r>
            <a:r>
              <a:rPr lang="en-US" sz="2200" b="0" i="0" u="none" strike="noStrike" baseline="0" dirty="0">
                <a:latin typeface="Times New Roman" panose="02020603050405020304" pitchFamily="18" charset="0"/>
                <a:cs typeface="Times New Roman" panose="02020603050405020304" pitchFamily="18" charset="0"/>
              </a:rPr>
              <a:t>. The “THEN” part (or right side) is the </a:t>
            </a:r>
            <a:r>
              <a:rPr lang="en-US" sz="2200" b="1" i="0" u="none" strike="noStrike" baseline="0" dirty="0">
                <a:latin typeface="Times New Roman" panose="02020603050405020304" pitchFamily="18" charset="0"/>
                <a:cs typeface="Times New Roman" panose="02020603050405020304" pitchFamily="18" charset="0"/>
              </a:rPr>
              <a:t>rule consequent</a:t>
            </a:r>
            <a:r>
              <a:rPr lang="en-US" sz="2200" b="0" i="0" u="none" strike="noStrike" baseline="0" dirty="0">
                <a:latin typeface="Times New Roman" panose="02020603050405020304" pitchFamily="18" charset="0"/>
                <a:cs typeface="Times New Roman" panose="02020603050405020304" pitchFamily="18" charset="0"/>
              </a:rPr>
              <a:t>. In the rule antecedent, the condition consists of one or more </a:t>
            </a:r>
            <a:r>
              <a:rPr lang="en-US" sz="2200" b="0" i="1" u="none" strike="noStrike" baseline="0" dirty="0">
                <a:latin typeface="Times New Roman" panose="02020603050405020304" pitchFamily="18" charset="0"/>
                <a:cs typeface="Times New Roman" panose="02020603050405020304" pitchFamily="18" charset="0"/>
              </a:rPr>
              <a:t>attribute tests </a:t>
            </a:r>
            <a:r>
              <a:rPr lang="en-US" sz="2200" b="0" i="0" u="none" strike="noStrike" baseline="0" dirty="0">
                <a:latin typeface="Times New Roman" panose="02020603050405020304" pitchFamily="18" charset="0"/>
                <a:cs typeface="Times New Roman" panose="02020603050405020304" pitchFamily="18" charset="0"/>
              </a:rPr>
              <a:t>(e.g., </a:t>
            </a:r>
            <a:r>
              <a:rPr lang="en-US" sz="2200" b="0" i="1" u="none" strike="noStrike" baseline="0" dirty="0">
                <a:latin typeface="Times New Roman" panose="02020603050405020304" pitchFamily="18" charset="0"/>
                <a:cs typeface="Times New Roman" panose="02020603050405020304" pitchFamily="18" charset="0"/>
              </a:rPr>
              <a:t>age=youth </a:t>
            </a:r>
            <a:r>
              <a:rPr lang="en-US" sz="2200" b="0" i="0" u="none" strike="noStrike" baseline="0" dirty="0">
                <a:latin typeface="Times New Roman" panose="02020603050405020304" pitchFamily="18" charset="0"/>
                <a:cs typeface="Times New Roman" panose="02020603050405020304" pitchFamily="18" charset="0"/>
              </a:rPr>
              <a:t>and </a:t>
            </a:r>
            <a:r>
              <a:rPr lang="en-US" sz="2200" b="0" i="1" u="none" strike="noStrike" baseline="0" dirty="0">
                <a:latin typeface="Times New Roman" panose="02020603050405020304" pitchFamily="18" charset="0"/>
                <a:cs typeface="Times New Roman" panose="02020603050405020304" pitchFamily="18" charset="0"/>
              </a:rPr>
              <a:t>student </a:t>
            </a:r>
            <a:r>
              <a:rPr lang="en-US" sz="2200" dirty="0">
                <a:latin typeface="Times New Roman" panose="02020603050405020304" pitchFamily="18" charset="0"/>
                <a:cs typeface="Times New Roman" panose="02020603050405020304" pitchFamily="18" charset="0"/>
              </a:rPr>
              <a:t>=</a:t>
            </a:r>
            <a:r>
              <a:rPr lang="en-US" sz="2200" b="0" i="1" u="none" strike="noStrike" baseline="0" dirty="0">
                <a:latin typeface="Times New Roman" panose="02020603050405020304" pitchFamily="18" charset="0"/>
                <a:cs typeface="Times New Roman" panose="02020603050405020304" pitchFamily="18" charset="0"/>
              </a:rPr>
              <a:t>yes</a:t>
            </a:r>
            <a:r>
              <a:rPr lang="en-US" sz="2200" b="0" i="0" u="none" strike="noStrike" baseline="0"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that are logically ANDed.</a:t>
            </a:r>
          </a:p>
        </p:txBody>
      </p:sp>
    </p:spTree>
    <p:extLst>
      <p:ext uri="{BB962C8B-B14F-4D97-AF65-F5344CB8AC3E}">
        <p14:creationId xmlns:p14="http://schemas.microsoft.com/office/powerpoint/2010/main" val="3630966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AA268491-BC3F-4636-0CF5-CC1A458490DA}"/>
              </a:ext>
            </a:extLst>
          </p:cNvPr>
          <p:cNvSpPr txBox="1"/>
          <p:nvPr/>
        </p:nvSpPr>
        <p:spPr>
          <a:xfrm>
            <a:off x="900331" y="548640"/>
            <a:ext cx="11029071" cy="5847755"/>
          </a:xfrm>
          <a:prstGeom prst="rect">
            <a:avLst/>
          </a:prstGeom>
          <a:noFill/>
        </p:spPr>
        <p:txBody>
          <a:bodyPr wrap="square">
            <a:spAutoFit/>
          </a:bodyPr>
          <a:lstStyle/>
          <a:p>
            <a:pPr algn="just"/>
            <a:r>
              <a:rPr lang="en-US" sz="2200" b="0" i="1" u="none" strike="noStrike" baseline="0" dirty="0">
                <a:latin typeface="Times New Roman" panose="02020603050405020304" pitchFamily="18" charset="0"/>
                <a:cs typeface="Times New Roman" panose="02020603050405020304" pitchFamily="18" charset="0"/>
              </a:rPr>
              <a:t>R</a:t>
            </a:r>
            <a:r>
              <a:rPr lang="en-US" sz="2200" b="0" i="0" u="none" strike="noStrike" baseline="0" dirty="0">
                <a:latin typeface="Times New Roman" panose="02020603050405020304" pitchFamily="18" charset="0"/>
                <a:cs typeface="Times New Roman" panose="02020603050405020304" pitchFamily="18" charset="0"/>
              </a:rPr>
              <a:t>1 can also be written as:</a:t>
            </a:r>
          </a:p>
          <a:p>
            <a:pPr algn="just"/>
            <a:endParaRPr lang="en-US"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If the condition in a rule antecedent holds true for a given tuple, we say that the rule antecedent is </a:t>
            </a:r>
            <a:r>
              <a:rPr lang="en-US" sz="2200" b="1" dirty="0">
                <a:latin typeface="Times New Roman" panose="02020603050405020304" pitchFamily="18" charset="0"/>
                <a:cs typeface="Times New Roman" panose="02020603050405020304" pitchFamily="18" charset="0"/>
              </a:rPr>
              <a:t>satisfied </a:t>
            </a:r>
            <a:r>
              <a:rPr lang="en-US" sz="2200" dirty="0">
                <a:latin typeface="Times New Roman" panose="02020603050405020304" pitchFamily="18" charset="0"/>
                <a:cs typeface="Times New Roman" panose="02020603050405020304" pitchFamily="18" charset="0"/>
              </a:rPr>
              <a:t>and that the rule </a:t>
            </a:r>
            <a:r>
              <a:rPr lang="en-US" sz="2200" b="1" dirty="0">
                <a:latin typeface="Times New Roman" panose="02020603050405020304" pitchFamily="18" charset="0"/>
                <a:cs typeface="Times New Roman" panose="02020603050405020304" pitchFamily="18" charset="0"/>
              </a:rPr>
              <a:t>covers </a:t>
            </a:r>
            <a:r>
              <a:rPr lang="en-US" sz="2200" dirty="0">
                <a:latin typeface="Times New Roman" panose="02020603050405020304" pitchFamily="18" charset="0"/>
                <a:cs typeface="Times New Roman" panose="02020603050405020304" pitchFamily="18" charset="0"/>
              </a:rPr>
              <a:t>the tuple.</a:t>
            </a:r>
          </a:p>
          <a:p>
            <a:pPr algn="just"/>
            <a:endParaRPr lang="en-US"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That is, a rule’s coverage is the percentage of tuples that are covered by the rule. For a rule’s accuracy, gives what percentage of them the rule can correctly classify.</a:t>
            </a:r>
          </a:p>
        </p:txBody>
      </p:sp>
      <p:pic>
        <p:nvPicPr>
          <p:cNvPr id="5" name="Picture 4">
            <a:extLst>
              <a:ext uri="{FF2B5EF4-FFF2-40B4-BE49-F238E27FC236}">
                <a16:creationId xmlns="" xmlns:a16="http://schemas.microsoft.com/office/drawing/2014/main" id="{73F4AD0C-508B-698B-69E9-74F5F77DB564}"/>
              </a:ext>
            </a:extLst>
          </p:cNvPr>
          <p:cNvPicPr>
            <a:picLocks noChangeAspect="1"/>
          </p:cNvPicPr>
          <p:nvPr/>
        </p:nvPicPr>
        <p:blipFill>
          <a:blip r:embed="rId2"/>
          <a:stretch>
            <a:fillRect/>
          </a:stretch>
        </p:blipFill>
        <p:spPr>
          <a:xfrm>
            <a:off x="3319975" y="1041008"/>
            <a:ext cx="6203853" cy="829995"/>
          </a:xfrm>
          <a:prstGeom prst="rect">
            <a:avLst/>
          </a:prstGeom>
        </p:spPr>
      </p:pic>
      <p:pic>
        <p:nvPicPr>
          <p:cNvPr id="7" name="Picture 6">
            <a:extLst>
              <a:ext uri="{FF2B5EF4-FFF2-40B4-BE49-F238E27FC236}">
                <a16:creationId xmlns="" xmlns:a16="http://schemas.microsoft.com/office/drawing/2014/main" id="{63CE89D3-726B-3521-6565-F367AF48DC3E}"/>
              </a:ext>
            </a:extLst>
          </p:cNvPr>
          <p:cNvPicPr>
            <a:picLocks noChangeAspect="1"/>
          </p:cNvPicPr>
          <p:nvPr/>
        </p:nvPicPr>
        <p:blipFill>
          <a:blip r:embed="rId3"/>
          <a:stretch>
            <a:fillRect/>
          </a:stretch>
        </p:blipFill>
        <p:spPr>
          <a:xfrm>
            <a:off x="1378634" y="2743200"/>
            <a:ext cx="9913036" cy="2912012"/>
          </a:xfrm>
          <a:prstGeom prst="rect">
            <a:avLst/>
          </a:prstGeom>
        </p:spPr>
      </p:pic>
    </p:spTree>
    <p:extLst>
      <p:ext uri="{BB962C8B-B14F-4D97-AF65-F5344CB8AC3E}">
        <p14:creationId xmlns:p14="http://schemas.microsoft.com/office/powerpoint/2010/main" val="44798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D8F40C3F-D480-6226-26A5-B9168B82DC50}"/>
              </a:ext>
            </a:extLst>
          </p:cNvPr>
          <p:cNvSpPr txBox="1"/>
          <p:nvPr/>
        </p:nvSpPr>
        <p:spPr>
          <a:xfrm>
            <a:off x="590843" y="576776"/>
            <a:ext cx="11043139" cy="5509200"/>
          </a:xfrm>
          <a:prstGeom prst="rect">
            <a:avLst/>
          </a:prstGeom>
          <a:noFill/>
        </p:spPr>
        <p:txBody>
          <a:bodyPr wrap="square">
            <a:spAutoFit/>
          </a:bodyPr>
          <a:lstStyle/>
          <a:p>
            <a:pPr algn="just"/>
            <a:r>
              <a:rPr lang="en-US" sz="2200" b="1" i="0" u="none" strike="noStrike" baseline="0" dirty="0">
                <a:latin typeface="Times New Roman" panose="02020603050405020304" pitchFamily="18" charset="0"/>
                <a:cs typeface="Times New Roman" panose="02020603050405020304" pitchFamily="18" charset="0"/>
              </a:rPr>
              <a:t>Ex: Rule accuracy and coverage. </a:t>
            </a:r>
            <a:r>
              <a:rPr lang="en-US" sz="2200" b="0" i="0" u="none" strike="noStrike" baseline="0" dirty="0">
                <a:latin typeface="Times New Roman" panose="02020603050405020304" pitchFamily="18" charset="0"/>
                <a:cs typeface="Times New Roman" panose="02020603050405020304" pitchFamily="18" charset="0"/>
              </a:rPr>
              <a:t>Let’s take data in Table 8.1. (</a:t>
            </a:r>
            <a:r>
              <a:rPr lang="en-US" sz="2200" b="0" i="1" u="none" strike="noStrike" baseline="0" dirty="0" err="1">
                <a:latin typeface="Times New Roman" panose="02020603050405020304" pitchFamily="18" charset="0"/>
                <a:cs typeface="Times New Roman" panose="02020603050405020304" pitchFamily="18" charset="0"/>
              </a:rPr>
              <a:t>AllElectronics</a:t>
            </a:r>
            <a:r>
              <a:rPr lang="en-US" sz="2200" b="0" i="1" u="none" strike="noStrike" baseline="0" dirty="0">
                <a:latin typeface="Times New Roman" panose="02020603050405020304" pitchFamily="18" charset="0"/>
                <a:cs typeface="Times New Roman" panose="02020603050405020304" pitchFamily="18" charset="0"/>
              </a:rPr>
              <a:t> </a:t>
            </a:r>
            <a:r>
              <a:rPr lang="en-US" sz="2200" b="0" i="0" u="none" strike="noStrike" baseline="0" dirty="0">
                <a:latin typeface="Times New Roman" panose="02020603050405020304" pitchFamily="18" charset="0"/>
                <a:cs typeface="Times New Roman" panose="02020603050405020304" pitchFamily="18" charset="0"/>
              </a:rPr>
              <a:t>customer database). </a:t>
            </a:r>
            <a:r>
              <a:rPr lang="en-US" sz="2200" dirty="0">
                <a:latin typeface="Times New Roman" panose="02020603050405020304" pitchFamily="18" charset="0"/>
                <a:cs typeface="Times New Roman" panose="02020603050405020304" pitchFamily="18" charset="0"/>
              </a:rPr>
              <a:t> </a:t>
            </a:r>
            <a:r>
              <a:rPr lang="en-US" sz="2200" b="0" i="0" u="none" strike="noStrike" baseline="0" dirty="0">
                <a:latin typeface="Times New Roman" panose="02020603050405020304" pitchFamily="18" charset="0"/>
                <a:cs typeface="Times New Roman" panose="02020603050405020304" pitchFamily="18" charset="0"/>
              </a:rPr>
              <a:t>Consider rule </a:t>
            </a:r>
            <a:r>
              <a:rPr lang="en-US" sz="2200" b="0" i="1" u="none" strike="noStrike" baseline="0" dirty="0">
                <a:latin typeface="Times New Roman" panose="02020603050405020304" pitchFamily="18" charset="0"/>
                <a:cs typeface="Times New Roman" panose="02020603050405020304" pitchFamily="18" charset="0"/>
              </a:rPr>
              <a:t>R</a:t>
            </a:r>
            <a:r>
              <a:rPr lang="en-US" sz="2200" b="0" i="0" u="none" strike="noStrike" baseline="0" dirty="0">
                <a:latin typeface="Times New Roman" panose="02020603050405020304" pitchFamily="18" charset="0"/>
                <a:cs typeface="Times New Roman" panose="02020603050405020304" pitchFamily="18" charset="0"/>
              </a:rPr>
              <a:t>1, which covers 2 of the 14 tuples. It can correctly classify both tuples. Therefore</a:t>
            </a:r>
            <a:r>
              <a:rPr lang="en-US" sz="2200" dirty="0">
                <a:latin typeface="Times New Roman" panose="02020603050405020304" pitchFamily="18" charset="0"/>
                <a:cs typeface="Times New Roman" panose="02020603050405020304" pitchFamily="18" charset="0"/>
              </a:rPr>
              <a:t>:</a:t>
            </a:r>
            <a:endParaRPr lang="en-US" sz="2200" b="0" i="0" u="none" strike="noStrike" baseline="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coverage</a:t>
            </a:r>
            <a:r>
              <a:rPr lang="en-US" sz="2200" dirty="0">
                <a:solidFill>
                  <a:srgbClr val="7030A0"/>
                </a:solidFill>
                <a:latin typeface="Times New Roman" panose="02020603050405020304" pitchFamily="18" charset="0"/>
                <a:cs typeface="Times New Roman" panose="02020603050405020304" pitchFamily="18" charset="0"/>
              </a:rPr>
              <a:t>(</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R</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1</a:t>
            </a:r>
            <a:r>
              <a:rPr lang="en-US" sz="2200" dirty="0">
                <a:solidFill>
                  <a:srgbClr val="7030A0"/>
                </a:solidFill>
                <a:latin typeface="Times New Roman" panose="02020603050405020304" pitchFamily="18" charset="0"/>
                <a:cs typeface="Times New Roman" panose="02020603050405020304" pitchFamily="18" charset="0"/>
              </a:rPr>
              <a:t>)=</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 2</a:t>
            </a:r>
            <a:r>
              <a:rPr lang="en-US" sz="2200" dirty="0">
                <a:solidFill>
                  <a:srgbClr val="7030A0"/>
                </a:solidFill>
                <a:latin typeface="Times New Roman" panose="02020603050405020304" pitchFamily="18" charset="0"/>
                <a:cs typeface="Times New Roman" panose="02020603050405020304" pitchFamily="18" charset="0"/>
              </a:rPr>
              <a:t>/</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14 </a:t>
            </a:r>
            <a:r>
              <a:rPr lang="en-US" sz="2200" dirty="0">
                <a:solidFill>
                  <a:srgbClr val="7030A0"/>
                </a:solidFill>
                <a:latin typeface="Times New Roman" panose="02020603050405020304" pitchFamily="18" charset="0"/>
                <a:cs typeface="Times New Roman" panose="02020603050405020304" pitchFamily="18" charset="0"/>
              </a:rPr>
              <a:t>= </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14.28%         and          </a:t>
            </a:r>
            <a:r>
              <a:rPr lang="it-IT" sz="2200" b="0" i="1" u="none" strike="noStrike" baseline="0" dirty="0">
                <a:solidFill>
                  <a:srgbClr val="7030A0"/>
                </a:solidFill>
                <a:latin typeface="Times New Roman" panose="02020603050405020304" pitchFamily="18" charset="0"/>
                <a:cs typeface="Times New Roman" panose="02020603050405020304" pitchFamily="18" charset="0"/>
              </a:rPr>
              <a:t>accuracy</a:t>
            </a:r>
            <a:r>
              <a:rPr lang="it-IT" sz="2200" dirty="0">
                <a:solidFill>
                  <a:srgbClr val="7030A0"/>
                </a:solidFill>
                <a:latin typeface="Times New Roman" panose="02020603050405020304" pitchFamily="18" charset="0"/>
                <a:cs typeface="Times New Roman" panose="02020603050405020304" pitchFamily="18" charset="0"/>
              </a:rPr>
              <a:t>(</a:t>
            </a:r>
            <a:r>
              <a:rPr lang="it-IT" sz="2200" b="0" i="1" u="none" strike="noStrike" baseline="0" dirty="0">
                <a:solidFill>
                  <a:srgbClr val="7030A0"/>
                </a:solidFill>
                <a:latin typeface="Times New Roman" panose="02020603050405020304" pitchFamily="18" charset="0"/>
                <a:cs typeface="Times New Roman" panose="02020603050405020304" pitchFamily="18" charset="0"/>
              </a:rPr>
              <a:t>R</a:t>
            </a:r>
            <a:r>
              <a:rPr lang="it-IT" sz="2200" b="0" i="0" u="none" strike="noStrike" baseline="0" dirty="0">
                <a:solidFill>
                  <a:srgbClr val="7030A0"/>
                </a:solidFill>
                <a:latin typeface="Times New Roman" panose="02020603050405020304" pitchFamily="18" charset="0"/>
                <a:cs typeface="Times New Roman" panose="02020603050405020304" pitchFamily="18" charset="0"/>
              </a:rPr>
              <a:t>1</a:t>
            </a:r>
            <a:r>
              <a:rPr lang="it-IT" sz="2200" dirty="0">
                <a:solidFill>
                  <a:srgbClr val="7030A0"/>
                </a:solidFill>
                <a:latin typeface="Times New Roman" panose="02020603050405020304" pitchFamily="18" charset="0"/>
                <a:cs typeface="Times New Roman" panose="02020603050405020304" pitchFamily="18" charset="0"/>
              </a:rPr>
              <a:t>)=</a:t>
            </a:r>
            <a:r>
              <a:rPr lang="it-IT" sz="2200" b="0" i="0" u="none" strike="noStrike" baseline="0" dirty="0">
                <a:solidFill>
                  <a:srgbClr val="7030A0"/>
                </a:solidFill>
                <a:latin typeface="Times New Roman" panose="02020603050405020304" pitchFamily="18" charset="0"/>
                <a:cs typeface="Times New Roman" panose="02020603050405020304" pitchFamily="18" charset="0"/>
              </a:rPr>
              <a:t>2</a:t>
            </a:r>
            <a:r>
              <a:rPr lang="it-IT" sz="2200" dirty="0">
                <a:solidFill>
                  <a:srgbClr val="7030A0"/>
                </a:solidFill>
                <a:latin typeface="Times New Roman" panose="02020603050405020304" pitchFamily="18" charset="0"/>
                <a:cs typeface="Times New Roman" panose="02020603050405020304" pitchFamily="18" charset="0"/>
              </a:rPr>
              <a:t>/</a:t>
            </a:r>
            <a:r>
              <a:rPr lang="it-IT" sz="2200" b="0" i="0" u="none" strike="noStrike" baseline="0" dirty="0">
                <a:solidFill>
                  <a:srgbClr val="7030A0"/>
                </a:solidFill>
                <a:latin typeface="Times New Roman" panose="02020603050405020304" pitchFamily="18" charset="0"/>
                <a:cs typeface="Times New Roman" panose="02020603050405020304" pitchFamily="18" charset="0"/>
              </a:rPr>
              <a:t>2=100%.</a:t>
            </a:r>
          </a:p>
          <a:p>
            <a:pPr algn="just"/>
            <a:r>
              <a:rPr lang="it-IT" sz="2200" dirty="0">
                <a:solidFill>
                  <a:srgbClr val="7030A0"/>
                </a:solidFill>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Suppose we have</a:t>
            </a:r>
          </a:p>
          <a:p>
            <a:pPr algn="just"/>
            <a:endParaRPr lang="en-IN" sz="2200" dirty="0">
              <a:latin typeface="Times New Roman" panose="02020603050405020304" pitchFamily="18" charset="0"/>
              <a:cs typeface="Times New Roman" panose="02020603050405020304" pitchFamily="18" charset="0"/>
            </a:endParaRPr>
          </a:p>
          <a:p>
            <a:pPr algn="just"/>
            <a:r>
              <a:rPr lang="en-US" sz="2200" b="1" i="1" dirty="0">
                <a:solidFill>
                  <a:srgbClr val="7030A0"/>
                </a:solidFill>
                <a:latin typeface="Times New Roman" panose="02020603050405020304" pitchFamily="18" charset="0"/>
                <a:cs typeface="Times New Roman" panose="02020603050405020304" pitchFamily="18" charset="0"/>
              </a:rPr>
              <a:t>X=</a:t>
            </a:r>
            <a:r>
              <a:rPr lang="en-US" sz="2200" dirty="0">
                <a:solidFill>
                  <a:srgbClr val="7030A0"/>
                </a:solidFill>
                <a:latin typeface="Times New Roman" panose="02020603050405020304" pitchFamily="18" charset="0"/>
                <a:cs typeface="Times New Roman" panose="02020603050405020304" pitchFamily="18" charset="0"/>
              </a:rPr>
              <a:t> (</a:t>
            </a:r>
            <a:r>
              <a:rPr lang="en-US" sz="2200" i="1" dirty="0">
                <a:solidFill>
                  <a:srgbClr val="7030A0"/>
                </a:solidFill>
                <a:latin typeface="Times New Roman" panose="02020603050405020304" pitchFamily="18" charset="0"/>
                <a:cs typeface="Times New Roman" panose="02020603050405020304" pitchFamily="18" charset="0"/>
              </a:rPr>
              <a:t>age =</a:t>
            </a:r>
            <a:r>
              <a:rPr lang="en-US" sz="2200" dirty="0">
                <a:solidFill>
                  <a:srgbClr val="7030A0"/>
                </a:solidFill>
                <a:latin typeface="Times New Roman" panose="02020603050405020304" pitchFamily="18" charset="0"/>
                <a:cs typeface="Times New Roman" panose="02020603050405020304" pitchFamily="18" charset="0"/>
              </a:rPr>
              <a:t> </a:t>
            </a:r>
            <a:r>
              <a:rPr lang="en-US" sz="2200" i="1" dirty="0">
                <a:solidFill>
                  <a:srgbClr val="7030A0"/>
                </a:solidFill>
                <a:latin typeface="Times New Roman" panose="02020603050405020304" pitchFamily="18" charset="0"/>
                <a:cs typeface="Times New Roman" panose="02020603050405020304" pitchFamily="18" charset="0"/>
              </a:rPr>
              <a:t>youth, income =</a:t>
            </a:r>
            <a:r>
              <a:rPr lang="en-US" sz="2200" dirty="0">
                <a:solidFill>
                  <a:srgbClr val="7030A0"/>
                </a:solidFill>
                <a:latin typeface="Times New Roman" panose="02020603050405020304" pitchFamily="18" charset="0"/>
                <a:cs typeface="Times New Roman" panose="02020603050405020304" pitchFamily="18" charset="0"/>
              </a:rPr>
              <a:t> </a:t>
            </a:r>
            <a:r>
              <a:rPr lang="en-US" sz="2200" i="1" dirty="0">
                <a:solidFill>
                  <a:srgbClr val="7030A0"/>
                </a:solidFill>
                <a:latin typeface="Times New Roman" panose="02020603050405020304" pitchFamily="18" charset="0"/>
                <a:cs typeface="Times New Roman" panose="02020603050405020304" pitchFamily="18" charset="0"/>
              </a:rPr>
              <a:t>medium, student =</a:t>
            </a:r>
            <a:r>
              <a:rPr lang="en-US" sz="2200" dirty="0">
                <a:solidFill>
                  <a:srgbClr val="7030A0"/>
                </a:solidFill>
                <a:latin typeface="Times New Roman" panose="02020603050405020304" pitchFamily="18" charset="0"/>
                <a:cs typeface="Times New Roman" panose="02020603050405020304" pitchFamily="18" charset="0"/>
              </a:rPr>
              <a:t> </a:t>
            </a:r>
            <a:r>
              <a:rPr lang="en-US" sz="2200" i="1" dirty="0">
                <a:solidFill>
                  <a:srgbClr val="7030A0"/>
                </a:solidFill>
                <a:latin typeface="Times New Roman" panose="02020603050405020304" pitchFamily="18" charset="0"/>
                <a:cs typeface="Times New Roman" panose="02020603050405020304" pitchFamily="18" charset="0"/>
              </a:rPr>
              <a:t>yes, credit rating =</a:t>
            </a:r>
            <a:r>
              <a:rPr lang="en-US" sz="2200" dirty="0">
                <a:solidFill>
                  <a:srgbClr val="7030A0"/>
                </a:solidFill>
                <a:latin typeface="Times New Roman" panose="02020603050405020304" pitchFamily="18" charset="0"/>
                <a:cs typeface="Times New Roman" panose="02020603050405020304" pitchFamily="18" charset="0"/>
              </a:rPr>
              <a:t> </a:t>
            </a:r>
            <a:r>
              <a:rPr lang="en-US" sz="2200" i="1" dirty="0">
                <a:solidFill>
                  <a:srgbClr val="7030A0"/>
                </a:solidFill>
                <a:latin typeface="Times New Roman" panose="02020603050405020304" pitchFamily="18" charset="0"/>
                <a:cs typeface="Times New Roman" panose="02020603050405020304" pitchFamily="18" charset="0"/>
              </a:rPr>
              <a:t>fair</a:t>
            </a:r>
            <a:r>
              <a:rPr lang="en-US" sz="2200" dirty="0">
                <a:solidFill>
                  <a:srgbClr val="7030A0"/>
                </a:solidFill>
                <a:latin typeface="Times New Roman" panose="02020603050405020304" pitchFamily="18" charset="0"/>
                <a:cs typeface="Times New Roman" panose="02020603050405020304" pitchFamily="18" charset="0"/>
              </a:rPr>
              <a:t>). </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We would like to classify </a:t>
            </a:r>
            <a:r>
              <a:rPr lang="en-US" sz="2200" b="1" i="1" dirty="0">
                <a:latin typeface="Times New Roman" panose="02020603050405020304" pitchFamily="18" charset="0"/>
                <a:cs typeface="Times New Roman" panose="02020603050405020304" pitchFamily="18" charset="0"/>
              </a:rPr>
              <a:t>X </a:t>
            </a:r>
            <a:r>
              <a:rPr lang="en-US" sz="2200" dirty="0">
                <a:latin typeface="Times New Roman" panose="02020603050405020304" pitchFamily="18" charset="0"/>
                <a:cs typeface="Times New Roman" panose="02020603050405020304" pitchFamily="18" charset="0"/>
              </a:rPr>
              <a:t>according to </a:t>
            </a:r>
            <a:r>
              <a:rPr lang="en-US" sz="2200" i="1" dirty="0">
                <a:latin typeface="Times New Roman" panose="02020603050405020304" pitchFamily="18" charset="0"/>
                <a:cs typeface="Times New Roman" panose="02020603050405020304" pitchFamily="18" charset="0"/>
              </a:rPr>
              <a:t>buys computer=</a:t>
            </a:r>
            <a:r>
              <a:rPr lang="en-US" sz="2200" dirty="0">
                <a:latin typeface="Times New Roman" panose="02020603050405020304" pitchFamily="18" charset="0"/>
                <a:cs typeface="Times New Roman" panose="02020603050405020304" pitchFamily="18" charset="0"/>
              </a:rPr>
              <a:t> </a:t>
            </a:r>
            <a:r>
              <a:rPr lang="en-US" sz="2200" b="1" i="1" dirty="0">
                <a:latin typeface="Times New Roman" panose="02020603050405020304" pitchFamily="18" charset="0"/>
                <a:cs typeface="Times New Roman" panose="02020603050405020304" pitchFamily="18" charset="0"/>
              </a:rPr>
              <a:t>X </a:t>
            </a:r>
            <a:r>
              <a:rPr lang="en-US" sz="2200" dirty="0">
                <a:latin typeface="Times New Roman" panose="02020603050405020304" pitchFamily="18" charset="0"/>
                <a:cs typeface="Times New Roman" panose="02020603050405020304" pitchFamily="18" charset="0"/>
              </a:rPr>
              <a:t>satisfies </a:t>
            </a:r>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1, which triggers </a:t>
            </a:r>
            <a:r>
              <a:rPr lang="en-IN" sz="2200" dirty="0">
                <a:latin typeface="Times New Roman" panose="02020603050405020304" pitchFamily="18" charset="0"/>
                <a:cs typeface="Times New Roman" panose="02020603050405020304" pitchFamily="18" charset="0"/>
              </a:rPr>
              <a:t>the rule. </a:t>
            </a:r>
            <a:r>
              <a:rPr lang="en-US" sz="2200" dirty="0">
                <a:latin typeface="Times New Roman" panose="02020603050405020304" pitchFamily="18" charset="0"/>
                <a:cs typeface="Times New Roman" panose="02020603050405020304" pitchFamily="18" charset="0"/>
              </a:rPr>
              <a:t>If </a:t>
            </a:r>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1 is the only rule satisfied, then the rule </a:t>
            </a:r>
            <a:r>
              <a:rPr lang="en-US" sz="2200" b="1" dirty="0">
                <a:latin typeface="Times New Roman" panose="02020603050405020304" pitchFamily="18" charset="0"/>
                <a:cs typeface="Times New Roman" panose="02020603050405020304" pitchFamily="18" charset="0"/>
              </a:rPr>
              <a:t>fires </a:t>
            </a:r>
            <a:r>
              <a:rPr lang="en-US" sz="2200" dirty="0">
                <a:latin typeface="Times New Roman" panose="02020603050405020304" pitchFamily="18" charset="0"/>
                <a:cs typeface="Times New Roman" panose="02020603050405020304" pitchFamily="18" charset="0"/>
              </a:rPr>
              <a:t>by returning the class prediction </a:t>
            </a:r>
            <a:r>
              <a:rPr lang="en-IN" sz="2200" dirty="0">
                <a:latin typeface="Times New Roman" panose="02020603050405020304" pitchFamily="18" charset="0"/>
                <a:cs typeface="Times New Roman" panose="02020603050405020304" pitchFamily="18" charset="0"/>
              </a:rPr>
              <a:t>for </a:t>
            </a:r>
            <a:r>
              <a:rPr lang="en-IN" sz="2200" b="1" i="1" dirty="0">
                <a:latin typeface="Times New Roman" panose="02020603050405020304" pitchFamily="18" charset="0"/>
                <a:cs typeface="Times New Roman" panose="02020603050405020304" pitchFamily="18" charset="0"/>
              </a:rPr>
              <a:t>X</a:t>
            </a:r>
            <a:r>
              <a:rPr lang="en-IN" sz="2200" dirty="0">
                <a:latin typeface="Times New Roman" panose="02020603050405020304" pitchFamily="18" charset="0"/>
                <a:cs typeface="Times New Roman" panose="02020603050405020304" pitchFamily="18" charset="0"/>
              </a:rPr>
              <a:t>.</a:t>
            </a:r>
          </a:p>
          <a:p>
            <a:pPr algn="just"/>
            <a:endParaRPr lang="it-IT" sz="2200" dirty="0">
              <a:solidFill>
                <a:srgbClr val="7030A0"/>
              </a:solidFill>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If more than one rule is triggered, we need a </a:t>
            </a:r>
            <a:r>
              <a:rPr lang="en-US" sz="2200" b="1" dirty="0">
                <a:latin typeface="Times New Roman" panose="02020603050405020304" pitchFamily="18" charset="0"/>
                <a:cs typeface="Times New Roman" panose="02020603050405020304" pitchFamily="18" charset="0"/>
              </a:rPr>
              <a:t>conflict resolution strategy </a:t>
            </a:r>
            <a:r>
              <a:rPr lang="en-US" sz="2200" dirty="0">
                <a:latin typeface="Times New Roman" panose="02020603050405020304" pitchFamily="18" charset="0"/>
                <a:cs typeface="Times New Roman" panose="02020603050405020304" pitchFamily="18" charset="0"/>
              </a:rPr>
              <a:t>to figure out which rule gets to fire and assign its class prediction to </a:t>
            </a:r>
            <a:r>
              <a:rPr lang="en-US" sz="2200" b="1" i="1" dirty="0">
                <a:latin typeface="Times New Roman" panose="02020603050405020304" pitchFamily="18" charset="0"/>
                <a:cs typeface="Times New Roman" panose="02020603050405020304" pitchFamily="18" charset="0"/>
              </a:rPr>
              <a:t>X</a:t>
            </a:r>
            <a:r>
              <a:rPr lang="en-US" sz="2200" dirty="0">
                <a:latin typeface="Times New Roman" panose="02020603050405020304" pitchFamily="18" charset="0"/>
                <a:cs typeface="Times New Roman" panose="02020603050405020304" pitchFamily="18" charset="0"/>
              </a:rPr>
              <a:t>. Possible strategies are: </a:t>
            </a:r>
          </a:p>
          <a:p>
            <a:pPr algn="just"/>
            <a:r>
              <a:rPr lang="en-US" sz="2200" i="1" dirty="0">
                <a:latin typeface="Times New Roman" panose="02020603050405020304" pitchFamily="18" charset="0"/>
                <a:cs typeface="Times New Roman" panose="02020603050405020304" pitchFamily="18" charset="0"/>
              </a:rPr>
              <a:t>                                                                                       </a:t>
            </a:r>
            <a:r>
              <a:rPr lang="en-US" sz="2200" i="1" dirty="0">
                <a:solidFill>
                  <a:srgbClr val="7030A0"/>
                </a:solidFill>
                <a:latin typeface="Times New Roman" panose="02020603050405020304" pitchFamily="18" charset="0"/>
                <a:cs typeface="Times New Roman" panose="02020603050405020304" pitchFamily="18" charset="0"/>
              </a:rPr>
              <a:t>size ordering      </a:t>
            </a:r>
            <a:r>
              <a:rPr lang="en-US" sz="2200" dirty="0">
                <a:solidFill>
                  <a:srgbClr val="7030A0"/>
                </a:solidFill>
                <a:latin typeface="Times New Roman" panose="02020603050405020304" pitchFamily="18" charset="0"/>
                <a:cs typeface="Times New Roman" panose="02020603050405020304" pitchFamily="18" charset="0"/>
              </a:rPr>
              <a:t>and      </a:t>
            </a:r>
            <a:r>
              <a:rPr lang="en-US" sz="2200" i="1" dirty="0">
                <a:solidFill>
                  <a:srgbClr val="7030A0"/>
                </a:solidFill>
                <a:latin typeface="Times New Roman" panose="02020603050405020304" pitchFamily="18" charset="0"/>
                <a:cs typeface="Times New Roman" panose="02020603050405020304" pitchFamily="18" charset="0"/>
              </a:rPr>
              <a:t>rule </a:t>
            </a:r>
            <a:r>
              <a:rPr lang="en-IN" sz="2200" i="1" dirty="0">
                <a:solidFill>
                  <a:srgbClr val="7030A0"/>
                </a:solidFill>
                <a:latin typeface="Times New Roman" panose="02020603050405020304" pitchFamily="18" charset="0"/>
                <a:cs typeface="Times New Roman" panose="02020603050405020304" pitchFamily="18" charset="0"/>
              </a:rPr>
              <a:t>ordering</a:t>
            </a:r>
          </a:p>
          <a:p>
            <a:pPr algn="just"/>
            <a:endParaRPr lang="en-IN" sz="2200" i="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3871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9CEAB5FF-17F0-52E1-429F-4CE32DBD4055}"/>
              </a:ext>
            </a:extLst>
          </p:cNvPr>
          <p:cNvSpPr txBox="1"/>
          <p:nvPr/>
        </p:nvSpPr>
        <p:spPr>
          <a:xfrm>
            <a:off x="492369" y="562709"/>
            <a:ext cx="11422966" cy="5601533"/>
          </a:xfrm>
          <a:prstGeom prst="rect">
            <a:avLst/>
          </a:prstGeom>
          <a:noFill/>
        </p:spPr>
        <p:txBody>
          <a:bodyPr wrap="square">
            <a:spAutoFit/>
          </a:bodyPr>
          <a:lstStyle/>
          <a:p>
            <a:pPr algn="just"/>
            <a:r>
              <a:rPr lang="en-US" sz="2200" dirty="0">
                <a:solidFill>
                  <a:srgbClr val="7030A0"/>
                </a:solidFill>
                <a:latin typeface="Times New Roman" panose="02020603050405020304" pitchFamily="18" charset="0"/>
                <a:cs typeface="Times New Roman" panose="02020603050405020304" pitchFamily="18" charset="0"/>
              </a:rPr>
              <a:t>The </a:t>
            </a:r>
            <a:r>
              <a:rPr lang="en-US" sz="2200" b="1" dirty="0">
                <a:solidFill>
                  <a:srgbClr val="7030A0"/>
                </a:solidFill>
                <a:latin typeface="Times New Roman" panose="02020603050405020304" pitchFamily="18" charset="0"/>
                <a:cs typeface="Times New Roman" panose="02020603050405020304" pitchFamily="18" charset="0"/>
              </a:rPr>
              <a:t>size ordering </a:t>
            </a:r>
            <a:r>
              <a:rPr lang="en-US" sz="2200" dirty="0">
                <a:solidFill>
                  <a:srgbClr val="7030A0"/>
                </a:solidFill>
                <a:latin typeface="Times New Roman" panose="02020603050405020304" pitchFamily="18" charset="0"/>
                <a:cs typeface="Times New Roman" panose="02020603050405020304" pitchFamily="18" charset="0"/>
              </a:rPr>
              <a:t>scheme </a:t>
            </a:r>
            <a:r>
              <a:rPr lang="en-US" sz="2200" dirty="0">
                <a:latin typeface="Times New Roman" panose="02020603050405020304" pitchFamily="18" charset="0"/>
                <a:cs typeface="Times New Roman" panose="02020603050405020304" pitchFamily="18" charset="0"/>
              </a:rPr>
              <a:t>assigns the highest priority to the triggering rule that has the “toughest” requirements, where toughness is measured by the rule antecedent </a:t>
            </a:r>
            <a:r>
              <a:rPr lang="en-US" sz="2200" i="1" dirty="0">
                <a:latin typeface="Times New Roman" panose="02020603050405020304" pitchFamily="18" charset="0"/>
                <a:cs typeface="Times New Roman" panose="02020603050405020304" pitchFamily="18" charset="0"/>
              </a:rPr>
              <a:t>size</a:t>
            </a:r>
            <a:r>
              <a:rPr lang="en-US" sz="2200" dirty="0">
                <a:latin typeface="Times New Roman" panose="02020603050405020304" pitchFamily="18" charset="0"/>
                <a:cs typeface="Times New Roman" panose="02020603050405020304" pitchFamily="18" charset="0"/>
              </a:rPr>
              <a:t>. That is, the triggering rule with the most attribute tests is fired.</a:t>
            </a:r>
          </a:p>
          <a:p>
            <a:pPr algn="just"/>
            <a:endParaRPr lang="en-US" sz="2200" dirty="0">
              <a:solidFill>
                <a:srgbClr val="7030A0"/>
              </a:solidFill>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cs typeface="Times New Roman" panose="02020603050405020304" pitchFamily="18" charset="0"/>
              </a:rPr>
              <a:t>With </a:t>
            </a:r>
            <a:r>
              <a:rPr lang="en-US" sz="2200" b="1" dirty="0">
                <a:solidFill>
                  <a:srgbClr val="7030A0"/>
                </a:solidFill>
                <a:latin typeface="Times New Roman" panose="02020603050405020304" pitchFamily="18" charset="0"/>
                <a:cs typeface="Times New Roman" panose="02020603050405020304" pitchFamily="18" charset="0"/>
              </a:rPr>
              <a:t>rule-based ordering</a:t>
            </a:r>
            <a:r>
              <a:rPr lang="en-US" sz="2200" dirty="0">
                <a:solidFill>
                  <a:srgbClr val="7030A0"/>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rules are organized into one long priority list, according to some measure of rule quality, such as accuracy, coverage, or size, or based on advice from domain experts. When rule ordering is used, the rule set is known as a </a:t>
            </a:r>
            <a:r>
              <a:rPr lang="en-US" sz="2200" b="1" dirty="0">
                <a:latin typeface="Times New Roman" panose="02020603050405020304" pitchFamily="18" charset="0"/>
                <a:cs typeface="Times New Roman" panose="02020603050405020304" pitchFamily="18" charset="0"/>
              </a:rPr>
              <a:t>decision list</a:t>
            </a:r>
            <a:r>
              <a:rPr lang="en-US" sz="2200" dirty="0">
                <a:latin typeface="Times New Roman" panose="02020603050405020304" pitchFamily="18" charset="0"/>
                <a:cs typeface="Times New Roman" panose="02020603050405020304" pitchFamily="18" charset="0"/>
              </a:rPr>
              <a:t>. With rule ordering, the triggering rule that appears earliest in the list has the highest priority, and so it gets to fire its class prediction. Any other rule that satisfies </a:t>
            </a:r>
            <a:r>
              <a:rPr lang="en-US" sz="2200" b="1" i="1" dirty="0">
                <a:latin typeface="Times New Roman" panose="02020603050405020304" pitchFamily="18" charset="0"/>
                <a:cs typeface="Times New Roman" panose="02020603050405020304" pitchFamily="18" charset="0"/>
              </a:rPr>
              <a:t>X </a:t>
            </a:r>
            <a:r>
              <a:rPr lang="en-US" sz="2200" dirty="0">
                <a:latin typeface="Times New Roman" panose="02020603050405020304" pitchFamily="18" charset="0"/>
                <a:cs typeface="Times New Roman" panose="02020603050405020304" pitchFamily="18" charset="0"/>
              </a:rPr>
              <a:t>is ignored.</a:t>
            </a:r>
            <a:endParaRPr lang="en-US" sz="2200" dirty="0">
              <a:solidFill>
                <a:srgbClr val="7030A0"/>
              </a:solidFill>
              <a:latin typeface="Times New Roman" panose="02020603050405020304" pitchFamily="18" charset="0"/>
              <a:cs typeface="Times New Roman" panose="02020603050405020304" pitchFamily="18" charset="0"/>
            </a:endParaRPr>
          </a:p>
          <a:p>
            <a:pPr algn="just"/>
            <a:endParaRPr lang="en-IN" sz="2200" dirty="0">
              <a:solidFill>
                <a:srgbClr val="7030A0"/>
              </a:solidFill>
              <a:latin typeface="Times New Roman" panose="02020603050405020304" pitchFamily="18" charset="0"/>
              <a:cs typeface="Times New Roman" panose="02020603050405020304" pitchFamily="18" charset="0"/>
            </a:endParaRPr>
          </a:p>
          <a:p>
            <a:pPr algn="just"/>
            <a:r>
              <a:rPr lang="en-US" sz="2400" b="1" dirty="0">
                <a:solidFill>
                  <a:srgbClr val="00B050"/>
                </a:solidFill>
                <a:latin typeface="Times New Roman" panose="02020603050405020304" pitchFamily="18" charset="0"/>
                <a:cs typeface="Times New Roman" panose="02020603050405020304" pitchFamily="18" charset="0"/>
              </a:rPr>
              <a:t>Rule Extraction from a Decision Tree:</a:t>
            </a:r>
          </a:p>
          <a:p>
            <a:pPr algn="just"/>
            <a:r>
              <a:rPr lang="en-US" sz="2400" b="1" dirty="0">
                <a:solidFill>
                  <a:srgbClr val="00B050"/>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To extract rules from a decision tree, one rule is created for each path from the root to a leaf node. Each splitting criterion along a given path is logically ANDed to form the rule antecedent (“IF” part). The leaf node holds the class prediction, forming the rule class prediction, forming the rule</a:t>
            </a:r>
            <a:r>
              <a:rPr lang="en-IN" sz="2200" dirty="0">
                <a:latin typeface="Times New Roman" panose="02020603050405020304" pitchFamily="18" charset="0"/>
                <a:cs typeface="Times New Roman" panose="02020603050405020304" pitchFamily="18" charset="0"/>
              </a:rPr>
              <a:t> consequent (“THEN” part).</a:t>
            </a:r>
            <a:endParaRPr lang="en-US" sz="2200" b="1" dirty="0">
              <a:solidFill>
                <a:srgbClr val="00B050"/>
              </a:solidFill>
              <a:latin typeface="Times New Roman" panose="02020603050405020304" pitchFamily="18" charset="0"/>
              <a:cs typeface="Times New Roman" panose="02020603050405020304" pitchFamily="18" charset="0"/>
            </a:endParaRPr>
          </a:p>
          <a:p>
            <a:pPr algn="just"/>
            <a:endParaRPr lang="en-IN" sz="24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1922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E01AC91D-92AB-39F7-5494-DD47995AB897}"/>
              </a:ext>
            </a:extLst>
          </p:cNvPr>
          <p:cNvSpPr txBox="1"/>
          <p:nvPr/>
        </p:nvSpPr>
        <p:spPr>
          <a:xfrm>
            <a:off x="562708" y="351692"/>
            <a:ext cx="11394830" cy="2462213"/>
          </a:xfrm>
          <a:prstGeom prst="rect">
            <a:avLst/>
          </a:prstGeom>
          <a:noFill/>
        </p:spPr>
        <p:txBody>
          <a:bodyPr wrap="square">
            <a:spAutoFit/>
          </a:bodyPr>
          <a:lstStyle/>
          <a:p>
            <a:pPr algn="just"/>
            <a:r>
              <a:rPr lang="en-US" sz="2200" b="1" i="0" u="none" strike="noStrike" baseline="0" dirty="0">
                <a:solidFill>
                  <a:srgbClr val="00B050"/>
                </a:solidFill>
                <a:latin typeface="Times New Roman" panose="02020603050405020304" pitchFamily="18" charset="0"/>
                <a:cs typeface="Times New Roman" panose="02020603050405020304" pitchFamily="18" charset="0"/>
              </a:rPr>
              <a:t>Extracting classification rules from a decision tree:</a:t>
            </a:r>
          </a:p>
          <a:p>
            <a:pPr algn="just"/>
            <a:endParaRPr lang="en-US" sz="2200" b="1" i="0" u="none" strike="noStrike" baseline="0" dirty="0">
              <a:latin typeface="Times New Roman" panose="02020603050405020304" pitchFamily="18" charset="0"/>
              <a:cs typeface="Times New Roman" panose="02020603050405020304" pitchFamily="18" charset="0"/>
            </a:endParaRPr>
          </a:p>
          <a:p>
            <a:pPr algn="just"/>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1: IF </a:t>
            </a:r>
            <a:r>
              <a:rPr lang="en-US" sz="2200" i="1" dirty="0">
                <a:latin typeface="Times New Roman" panose="02020603050405020304" pitchFamily="18" charset="0"/>
                <a:cs typeface="Times New Roman" panose="02020603050405020304" pitchFamily="18" charset="0"/>
              </a:rPr>
              <a:t>age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youth              </a:t>
            </a:r>
            <a:r>
              <a:rPr lang="en-US" sz="2200" dirty="0">
                <a:latin typeface="Times New Roman" panose="02020603050405020304" pitchFamily="18" charset="0"/>
                <a:cs typeface="Times New Roman" panose="02020603050405020304" pitchFamily="18" charset="0"/>
              </a:rPr>
              <a:t>AND </a:t>
            </a:r>
            <a:r>
              <a:rPr lang="en-US" sz="2200" i="1" dirty="0">
                <a:latin typeface="Times New Roman" panose="02020603050405020304" pitchFamily="18" charset="0"/>
                <a:cs typeface="Times New Roman" panose="02020603050405020304" pitchFamily="18" charset="0"/>
              </a:rPr>
              <a:t>student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no                       </a:t>
            </a:r>
            <a:r>
              <a:rPr lang="en-US" sz="2200" dirty="0">
                <a:latin typeface="Times New Roman" panose="02020603050405020304" pitchFamily="18" charset="0"/>
                <a:cs typeface="Times New Roman" panose="02020603050405020304" pitchFamily="18" charset="0"/>
              </a:rPr>
              <a:t>THEN </a:t>
            </a:r>
            <a:r>
              <a:rPr lang="en-US" sz="2200" i="1" dirty="0">
                <a:latin typeface="Times New Roman" panose="02020603050405020304" pitchFamily="18" charset="0"/>
                <a:cs typeface="Times New Roman" panose="02020603050405020304" pitchFamily="18" charset="0"/>
              </a:rPr>
              <a:t>buys computer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no</a:t>
            </a:r>
          </a:p>
          <a:p>
            <a:pPr algn="just"/>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2: IF </a:t>
            </a:r>
            <a:r>
              <a:rPr lang="en-US" sz="2200" i="1" dirty="0">
                <a:latin typeface="Times New Roman" panose="02020603050405020304" pitchFamily="18" charset="0"/>
                <a:cs typeface="Times New Roman" panose="02020603050405020304" pitchFamily="18" charset="0"/>
              </a:rPr>
              <a:t>age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youth              </a:t>
            </a:r>
            <a:r>
              <a:rPr lang="en-US" sz="2200" dirty="0">
                <a:latin typeface="Times New Roman" panose="02020603050405020304" pitchFamily="18" charset="0"/>
                <a:cs typeface="Times New Roman" panose="02020603050405020304" pitchFamily="18" charset="0"/>
              </a:rPr>
              <a:t>AND </a:t>
            </a:r>
            <a:r>
              <a:rPr lang="en-US" sz="2200" i="1" dirty="0">
                <a:latin typeface="Times New Roman" panose="02020603050405020304" pitchFamily="18" charset="0"/>
                <a:cs typeface="Times New Roman" panose="02020603050405020304" pitchFamily="18" charset="0"/>
              </a:rPr>
              <a:t>student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yes                      </a:t>
            </a:r>
            <a:r>
              <a:rPr lang="en-US" sz="2200" dirty="0">
                <a:latin typeface="Times New Roman" panose="02020603050405020304" pitchFamily="18" charset="0"/>
                <a:cs typeface="Times New Roman" panose="02020603050405020304" pitchFamily="18" charset="0"/>
              </a:rPr>
              <a:t>THEN </a:t>
            </a:r>
            <a:r>
              <a:rPr lang="en-US" sz="2200" i="1" dirty="0">
                <a:latin typeface="Times New Roman" panose="02020603050405020304" pitchFamily="18" charset="0"/>
                <a:cs typeface="Times New Roman" panose="02020603050405020304" pitchFamily="18" charset="0"/>
              </a:rPr>
              <a:t>buys computer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yes</a:t>
            </a:r>
          </a:p>
          <a:p>
            <a:pPr algn="just"/>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3: IF </a:t>
            </a:r>
            <a:r>
              <a:rPr lang="en-US" sz="2200" i="1" dirty="0">
                <a:latin typeface="Times New Roman" panose="02020603050405020304" pitchFamily="18" charset="0"/>
                <a:cs typeface="Times New Roman" panose="02020603050405020304" pitchFamily="18" charset="0"/>
              </a:rPr>
              <a:t>age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middle aged                                                        </a:t>
            </a:r>
            <a:r>
              <a:rPr lang="en-US" sz="2200" dirty="0">
                <a:latin typeface="Times New Roman" panose="02020603050405020304" pitchFamily="18" charset="0"/>
                <a:cs typeface="Times New Roman" panose="02020603050405020304" pitchFamily="18" charset="0"/>
              </a:rPr>
              <a:t>THEN </a:t>
            </a:r>
            <a:r>
              <a:rPr lang="en-US" sz="2200" i="1" dirty="0">
                <a:latin typeface="Times New Roman" panose="02020603050405020304" pitchFamily="18" charset="0"/>
                <a:cs typeface="Times New Roman" panose="02020603050405020304" pitchFamily="18" charset="0"/>
              </a:rPr>
              <a:t>buys computer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yes</a:t>
            </a:r>
          </a:p>
          <a:p>
            <a:pPr algn="just"/>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4: IF </a:t>
            </a:r>
            <a:r>
              <a:rPr lang="en-US" sz="2200" i="1" dirty="0">
                <a:latin typeface="Times New Roman" panose="02020603050405020304" pitchFamily="18" charset="0"/>
                <a:cs typeface="Times New Roman" panose="02020603050405020304" pitchFamily="18" charset="0"/>
              </a:rPr>
              <a:t>age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senior             </a:t>
            </a:r>
            <a:r>
              <a:rPr lang="en-US" sz="2200" dirty="0">
                <a:latin typeface="Times New Roman" panose="02020603050405020304" pitchFamily="18" charset="0"/>
                <a:cs typeface="Times New Roman" panose="02020603050405020304" pitchFamily="18" charset="0"/>
              </a:rPr>
              <a:t>AND </a:t>
            </a:r>
            <a:r>
              <a:rPr lang="en-US" sz="2200" i="1" dirty="0">
                <a:latin typeface="Times New Roman" panose="02020603050405020304" pitchFamily="18" charset="0"/>
                <a:cs typeface="Times New Roman" panose="02020603050405020304" pitchFamily="18" charset="0"/>
              </a:rPr>
              <a:t>credit rating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excellent     </a:t>
            </a:r>
            <a:r>
              <a:rPr lang="en-US" sz="2200" dirty="0">
                <a:latin typeface="Times New Roman" panose="02020603050405020304" pitchFamily="18" charset="0"/>
                <a:cs typeface="Times New Roman" panose="02020603050405020304" pitchFamily="18" charset="0"/>
              </a:rPr>
              <a:t>THEN </a:t>
            </a:r>
            <a:r>
              <a:rPr lang="en-US" sz="2200" i="1" dirty="0">
                <a:latin typeface="Times New Roman" panose="02020603050405020304" pitchFamily="18" charset="0"/>
                <a:cs typeface="Times New Roman" panose="02020603050405020304" pitchFamily="18" charset="0"/>
              </a:rPr>
              <a:t>buys computer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yes</a:t>
            </a:r>
          </a:p>
          <a:p>
            <a:pPr algn="just"/>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5: IF </a:t>
            </a:r>
            <a:r>
              <a:rPr lang="en-US" sz="2200" i="1" dirty="0">
                <a:latin typeface="Times New Roman" panose="02020603050405020304" pitchFamily="18" charset="0"/>
                <a:cs typeface="Times New Roman" panose="02020603050405020304" pitchFamily="18" charset="0"/>
              </a:rPr>
              <a:t>age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senior             </a:t>
            </a:r>
            <a:r>
              <a:rPr lang="en-US" sz="2200" dirty="0">
                <a:latin typeface="Times New Roman" panose="02020603050405020304" pitchFamily="18" charset="0"/>
                <a:cs typeface="Times New Roman" panose="02020603050405020304" pitchFamily="18" charset="0"/>
              </a:rPr>
              <a:t>AND </a:t>
            </a:r>
            <a:r>
              <a:rPr lang="en-US" sz="2200" i="1" dirty="0">
                <a:latin typeface="Times New Roman" panose="02020603050405020304" pitchFamily="18" charset="0"/>
                <a:cs typeface="Times New Roman" panose="02020603050405020304" pitchFamily="18" charset="0"/>
              </a:rPr>
              <a:t>credit rating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fair              </a:t>
            </a:r>
            <a:r>
              <a:rPr lang="en-US" sz="2200" dirty="0">
                <a:latin typeface="Times New Roman" panose="02020603050405020304" pitchFamily="18" charset="0"/>
                <a:cs typeface="Times New Roman" panose="02020603050405020304" pitchFamily="18" charset="0"/>
              </a:rPr>
              <a:t>THEN </a:t>
            </a:r>
            <a:r>
              <a:rPr lang="en-US" sz="2200" i="1" dirty="0">
                <a:latin typeface="Times New Roman" panose="02020603050405020304" pitchFamily="18" charset="0"/>
                <a:cs typeface="Times New Roman" panose="02020603050405020304" pitchFamily="18" charset="0"/>
              </a:rPr>
              <a:t>buys computer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no</a:t>
            </a:r>
            <a:endParaRPr lang="en-IN"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7C0D1A87-16E7-9252-0D9C-ADC824EC986E}"/>
              </a:ext>
            </a:extLst>
          </p:cNvPr>
          <p:cNvPicPr>
            <a:picLocks noChangeAspect="1"/>
          </p:cNvPicPr>
          <p:nvPr/>
        </p:nvPicPr>
        <p:blipFill>
          <a:blip r:embed="rId2"/>
          <a:stretch>
            <a:fillRect/>
          </a:stretch>
        </p:blipFill>
        <p:spPr>
          <a:xfrm>
            <a:off x="3671668" y="3165230"/>
            <a:ext cx="5373858" cy="3221501"/>
          </a:xfrm>
          <a:prstGeom prst="rect">
            <a:avLst/>
          </a:prstGeom>
        </p:spPr>
      </p:pic>
    </p:spTree>
    <p:extLst>
      <p:ext uri="{BB962C8B-B14F-4D97-AF65-F5344CB8AC3E}">
        <p14:creationId xmlns:p14="http://schemas.microsoft.com/office/powerpoint/2010/main" val="992434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98C87FFE-7C2B-1009-21A2-29A2B773C1AB}"/>
              </a:ext>
            </a:extLst>
          </p:cNvPr>
          <p:cNvSpPr txBox="1"/>
          <p:nvPr/>
        </p:nvSpPr>
        <p:spPr>
          <a:xfrm>
            <a:off x="562707" y="450166"/>
            <a:ext cx="11296357" cy="6432530"/>
          </a:xfrm>
          <a:prstGeom prst="rect">
            <a:avLst/>
          </a:prstGeom>
          <a:noFill/>
        </p:spPr>
        <p:txBody>
          <a:bodyPr wrap="square">
            <a:spAutoFit/>
          </a:bodyPr>
          <a:lstStyle/>
          <a:p>
            <a:r>
              <a:rPr lang="en-US" sz="2400" b="1" i="0" u="none" strike="noStrike" baseline="0" dirty="0">
                <a:solidFill>
                  <a:srgbClr val="00B050"/>
                </a:solidFill>
                <a:latin typeface="Times New Roman" panose="02020603050405020304" pitchFamily="18" charset="0"/>
                <a:cs typeface="Times New Roman" panose="02020603050405020304" pitchFamily="18" charset="0"/>
              </a:rPr>
              <a:t>Rule Induction Using a Sequential Covering Algorithm:</a:t>
            </a:r>
          </a:p>
          <a:p>
            <a:r>
              <a:rPr lang="en-US" b="1" dirty="0">
                <a:latin typeface="GillSans-Bold"/>
              </a:rPr>
              <a:t>	</a:t>
            </a:r>
          </a:p>
          <a:p>
            <a:pPr algn="just"/>
            <a:r>
              <a:rPr lang="en-US" sz="2200" dirty="0">
                <a:latin typeface="Times New Roman" panose="02020603050405020304" pitchFamily="18" charset="0"/>
                <a:cs typeface="Times New Roman" panose="02020603050405020304" pitchFamily="18" charset="0"/>
              </a:rPr>
              <a:t>The general strategy is as follows. Rules are learned one a time. Each time a rule is learned, the tuples covered by the rule are removed, and the process repeats on the remaining tuples. This sequential learning of rules is in contrast to decision tree induction. Because the path to each leaf in a decision tree corresponds to a rule, we can consider decision tree induction as learning a set of rules </a:t>
            </a:r>
            <a:r>
              <a:rPr lang="en-US" sz="2200" i="1" dirty="0">
                <a:latin typeface="Times New Roman" panose="02020603050405020304" pitchFamily="18" charset="0"/>
                <a:cs typeface="Times New Roman" panose="02020603050405020304" pitchFamily="18" charset="0"/>
              </a:rPr>
              <a:t>simultaneously</a:t>
            </a:r>
            <a:r>
              <a:rPr lang="en-US" sz="2200" dirty="0">
                <a:latin typeface="Times New Roman" panose="02020603050405020304" pitchFamily="18" charset="0"/>
                <a:cs typeface="Times New Roman" panose="02020603050405020304" pitchFamily="18" charset="0"/>
              </a:rPr>
              <a:t>.</a:t>
            </a:r>
          </a:p>
          <a:p>
            <a:pPr algn="just"/>
            <a:endParaRPr lang="en-US" sz="2200" dirty="0">
              <a:latin typeface="Times New Roman" panose="02020603050405020304" pitchFamily="18" charset="0"/>
              <a:cs typeface="Times New Roman" panose="02020603050405020304" pitchFamily="18" charset="0"/>
            </a:endParaRPr>
          </a:p>
          <a:p>
            <a:pPr algn="just"/>
            <a:r>
              <a:rPr lang="en-IN" sz="2200" i="1" dirty="0">
                <a:solidFill>
                  <a:srgbClr val="00B050"/>
                </a:solidFill>
                <a:latin typeface="Times New Roman" panose="02020603050405020304" pitchFamily="18" charset="0"/>
                <a:cs typeface="Times New Roman" panose="02020603050405020304" pitchFamily="18" charset="0"/>
              </a:rPr>
              <a:t>“How are rules learned?”</a:t>
            </a:r>
          </a:p>
          <a:p>
            <a:pPr algn="just"/>
            <a:r>
              <a:rPr lang="en-US" sz="2200" dirty="0">
                <a:latin typeface="Times New Roman" panose="02020603050405020304" pitchFamily="18" charset="0"/>
                <a:cs typeface="Times New Roman" panose="02020603050405020304" pitchFamily="18" charset="0"/>
              </a:rPr>
              <a:t>		Rules are grown in a </a:t>
            </a:r>
            <a:r>
              <a:rPr lang="en-US" sz="2200" i="1" dirty="0">
                <a:latin typeface="Times New Roman" panose="02020603050405020304" pitchFamily="18" charset="0"/>
                <a:cs typeface="Times New Roman" panose="02020603050405020304" pitchFamily="18" charset="0"/>
              </a:rPr>
              <a:t>general-to-specific </a:t>
            </a:r>
            <a:r>
              <a:rPr lang="en-US" sz="2200" dirty="0">
                <a:latin typeface="Times New Roman" panose="02020603050405020304" pitchFamily="18" charset="0"/>
                <a:cs typeface="Times New Roman" panose="02020603050405020304" pitchFamily="18" charset="0"/>
              </a:rPr>
              <a:t>manner and process is as follows:</a:t>
            </a:r>
          </a:p>
          <a:p>
            <a:pPr algn="just"/>
            <a:r>
              <a:rPr lang="en-US" sz="2200" dirty="0">
                <a:latin typeface="Times New Roman" panose="02020603050405020304" pitchFamily="18" charset="0"/>
                <a:cs typeface="Times New Roman" panose="02020603050405020304" pitchFamily="18" charset="0"/>
              </a:rPr>
              <a:t>	We start off with an empty rule and then gradually keep appending attribute tests to it. We append by adding the attribute test as a logical conjunct to the existing condition of the rule antecedent. Suppose our training set, </a:t>
            </a:r>
            <a:r>
              <a:rPr lang="en-US" sz="2200" i="1" dirty="0">
                <a:latin typeface="Times New Roman" panose="02020603050405020304" pitchFamily="18" charset="0"/>
                <a:cs typeface="Times New Roman" panose="02020603050405020304" pitchFamily="18" charset="0"/>
              </a:rPr>
              <a:t>D</a:t>
            </a:r>
            <a:r>
              <a:rPr lang="en-US" sz="2200" dirty="0">
                <a:latin typeface="Times New Roman" panose="02020603050405020304" pitchFamily="18" charset="0"/>
                <a:cs typeface="Times New Roman" panose="02020603050405020304" pitchFamily="18" charset="0"/>
              </a:rPr>
              <a:t>, consists of loan application data. Attributes regarding each applicant include their age, income, education level, residence, credit rating, and the term of the loan. The classifying attribute is </a:t>
            </a:r>
            <a:r>
              <a:rPr lang="en-US" sz="2200" i="1" dirty="0">
                <a:latin typeface="Times New Roman" panose="02020603050405020304" pitchFamily="18" charset="0"/>
                <a:cs typeface="Times New Roman" panose="02020603050405020304" pitchFamily="18" charset="0"/>
              </a:rPr>
              <a:t>loan decision</a:t>
            </a:r>
            <a:r>
              <a:rPr lang="en-US" sz="2200" dirty="0">
                <a:latin typeface="Times New Roman" panose="02020603050405020304" pitchFamily="18" charset="0"/>
                <a:cs typeface="Times New Roman" panose="02020603050405020304" pitchFamily="18" charset="0"/>
              </a:rPr>
              <a:t>, which indicates whether a loan is accepted or rejected. To learn a rule for the class “accept,” we start off with the most general rule possible, that is, the condition of the rule antecedent is empty. The rule is</a:t>
            </a:r>
          </a:p>
          <a:p>
            <a:pPr algn="just"/>
            <a:r>
              <a:rPr lang="en-US" sz="2200" dirty="0">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IF THEN </a:t>
            </a:r>
            <a:r>
              <a:rPr lang="en-US" sz="2200" i="1" dirty="0">
                <a:solidFill>
                  <a:srgbClr val="7030A0"/>
                </a:solidFill>
                <a:latin typeface="Times New Roman" panose="02020603050405020304" pitchFamily="18" charset="0"/>
                <a:cs typeface="Times New Roman" panose="02020603050405020304" pitchFamily="18" charset="0"/>
              </a:rPr>
              <a:t>loan decision =</a:t>
            </a:r>
            <a:r>
              <a:rPr lang="en-US" sz="2200" dirty="0">
                <a:solidFill>
                  <a:srgbClr val="7030A0"/>
                </a:solidFill>
                <a:latin typeface="Times New Roman" panose="02020603050405020304" pitchFamily="18" charset="0"/>
                <a:cs typeface="Times New Roman" panose="02020603050405020304" pitchFamily="18" charset="0"/>
              </a:rPr>
              <a:t> </a:t>
            </a:r>
            <a:r>
              <a:rPr lang="en-US" sz="2200" i="1" dirty="0">
                <a:solidFill>
                  <a:srgbClr val="7030A0"/>
                </a:solidFill>
                <a:latin typeface="Times New Roman" panose="02020603050405020304" pitchFamily="18" charset="0"/>
                <a:cs typeface="Times New Roman" panose="02020603050405020304" pitchFamily="18" charset="0"/>
              </a:rPr>
              <a:t>accept</a:t>
            </a:r>
            <a:r>
              <a:rPr lang="en-US" sz="2200" dirty="0">
                <a:solidFill>
                  <a:srgbClr val="7030A0"/>
                </a:solidFill>
                <a:latin typeface="Times New Roman" panose="02020603050405020304" pitchFamily="18" charset="0"/>
                <a:cs typeface="Times New Roman" panose="02020603050405020304" pitchFamily="18" charset="0"/>
              </a:rPr>
              <a:t>.</a:t>
            </a:r>
            <a:endParaRPr lang="en-IN" sz="2200" dirty="0">
              <a:solidFill>
                <a:srgbClr val="7030A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59439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F0600330-988F-C167-CEC4-DE35F668869F}"/>
              </a:ext>
            </a:extLst>
          </p:cNvPr>
          <p:cNvPicPr>
            <a:picLocks noChangeAspect="1"/>
          </p:cNvPicPr>
          <p:nvPr/>
        </p:nvPicPr>
        <p:blipFill>
          <a:blip r:embed="rId2"/>
          <a:stretch>
            <a:fillRect/>
          </a:stretch>
        </p:blipFill>
        <p:spPr>
          <a:xfrm>
            <a:off x="1111348" y="661182"/>
            <a:ext cx="10058400" cy="6035040"/>
          </a:xfrm>
          <a:prstGeom prst="rect">
            <a:avLst/>
          </a:prstGeom>
        </p:spPr>
      </p:pic>
    </p:spTree>
    <p:extLst>
      <p:ext uri="{BB962C8B-B14F-4D97-AF65-F5344CB8AC3E}">
        <p14:creationId xmlns:p14="http://schemas.microsoft.com/office/powerpoint/2010/main" val="2743439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4D3B57AF-9864-EFBE-7429-3F26A3C900DC}"/>
              </a:ext>
            </a:extLst>
          </p:cNvPr>
          <p:cNvPicPr>
            <a:picLocks noChangeAspect="1"/>
          </p:cNvPicPr>
          <p:nvPr/>
        </p:nvPicPr>
        <p:blipFill>
          <a:blip r:embed="rId2"/>
          <a:stretch>
            <a:fillRect/>
          </a:stretch>
        </p:blipFill>
        <p:spPr>
          <a:xfrm>
            <a:off x="773723" y="492368"/>
            <a:ext cx="10902461" cy="5894363"/>
          </a:xfrm>
          <a:prstGeom prst="rect">
            <a:avLst/>
          </a:prstGeom>
        </p:spPr>
      </p:pic>
    </p:spTree>
    <p:extLst>
      <p:ext uri="{BB962C8B-B14F-4D97-AF65-F5344CB8AC3E}">
        <p14:creationId xmlns:p14="http://schemas.microsoft.com/office/powerpoint/2010/main" val="1061234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EAA67391-678F-2AF5-5DDD-6345E237860A}"/>
              </a:ext>
            </a:extLst>
          </p:cNvPr>
          <p:cNvSpPr txBox="1"/>
          <p:nvPr/>
        </p:nvSpPr>
        <p:spPr>
          <a:xfrm>
            <a:off x="717452" y="731521"/>
            <a:ext cx="10761784" cy="4832092"/>
          </a:xfrm>
          <a:prstGeom prst="rect">
            <a:avLst/>
          </a:prstGeom>
          <a:noFill/>
        </p:spPr>
        <p:txBody>
          <a:bodyPr wrap="square">
            <a:spAutoFit/>
          </a:bodyPr>
          <a:lstStyle/>
          <a:p>
            <a:pPr algn="just"/>
            <a:r>
              <a:rPr lang="en-US" sz="2200" dirty="0">
                <a:latin typeface="Times New Roman" panose="02020603050405020304" pitchFamily="18" charset="0"/>
                <a:cs typeface="Times New Roman" panose="02020603050405020304" pitchFamily="18" charset="0"/>
              </a:rPr>
              <a:t>	S</a:t>
            </a:r>
            <a:r>
              <a:rPr lang="en-US" sz="2200" b="0" i="0" u="none" strike="noStrike" baseline="0" dirty="0">
                <a:latin typeface="Times New Roman" panose="02020603050405020304" pitchFamily="18" charset="0"/>
                <a:cs typeface="Times New Roman" panose="02020603050405020304" pitchFamily="18" charset="0"/>
              </a:rPr>
              <a:t>uppose </a:t>
            </a:r>
            <a:r>
              <a:rPr lang="en-US" sz="2200" b="0" i="1" u="none" strike="noStrike" baseline="0" dirty="0">
                <a:latin typeface="Times New Roman" panose="02020603050405020304" pitchFamily="18" charset="0"/>
                <a:cs typeface="Times New Roman" panose="02020603050405020304" pitchFamily="18" charset="0"/>
              </a:rPr>
              <a:t>Learn One Rule </a:t>
            </a:r>
            <a:r>
              <a:rPr lang="en-US" sz="2200" b="0" i="0" u="none" strike="noStrike" baseline="0" dirty="0">
                <a:latin typeface="Times New Roman" panose="02020603050405020304" pitchFamily="18" charset="0"/>
                <a:cs typeface="Times New Roman" panose="02020603050405020304" pitchFamily="18" charset="0"/>
              </a:rPr>
              <a:t>finds that the attribute test </a:t>
            </a:r>
            <a:r>
              <a:rPr lang="en-US" sz="2200" b="0" i="1" u="none" strike="noStrike" baseline="0" dirty="0">
                <a:latin typeface="Times New Roman" panose="02020603050405020304" pitchFamily="18" charset="0"/>
                <a:cs typeface="Times New Roman" panose="02020603050405020304" pitchFamily="18" charset="0"/>
              </a:rPr>
              <a:t>income </a:t>
            </a:r>
            <a:r>
              <a:rPr lang="en-US" sz="2200" dirty="0">
                <a:latin typeface="Times New Roman" panose="02020603050405020304" pitchFamily="18" charset="0"/>
                <a:cs typeface="Times New Roman" panose="02020603050405020304" pitchFamily="18" charset="0"/>
              </a:rPr>
              <a:t>=</a:t>
            </a:r>
            <a:r>
              <a:rPr lang="en-US" sz="2200" b="0" i="0" u="none" strike="noStrike" baseline="0" dirty="0">
                <a:latin typeface="Times New Roman" panose="02020603050405020304" pitchFamily="18" charset="0"/>
                <a:cs typeface="Times New Roman" panose="02020603050405020304" pitchFamily="18" charset="0"/>
              </a:rPr>
              <a:t> </a:t>
            </a:r>
            <a:r>
              <a:rPr lang="en-US" sz="2200" b="0" i="1" u="none" strike="noStrike" baseline="0" dirty="0">
                <a:latin typeface="Times New Roman" panose="02020603050405020304" pitchFamily="18" charset="0"/>
                <a:cs typeface="Times New Roman" panose="02020603050405020304" pitchFamily="18" charset="0"/>
              </a:rPr>
              <a:t>high </a:t>
            </a:r>
            <a:r>
              <a:rPr lang="en-US" sz="2200" b="0" i="0" u="none" strike="noStrike" baseline="0" dirty="0">
                <a:latin typeface="Times New Roman" panose="02020603050405020304" pitchFamily="18" charset="0"/>
                <a:cs typeface="Times New Roman" panose="02020603050405020304" pitchFamily="18" charset="0"/>
              </a:rPr>
              <a:t>best improves the accuracy of our current (empty) rule. We append it to the condition, so that the current rule becomes</a:t>
            </a:r>
          </a:p>
          <a:p>
            <a:pPr algn="just"/>
            <a:endParaRPr lang="en-US" sz="2200" b="0" i="0" u="none" strike="noStrike" baseline="0" dirty="0">
              <a:latin typeface="Times New Roman" panose="02020603050405020304" pitchFamily="18" charset="0"/>
              <a:cs typeface="Times New Roman" panose="02020603050405020304" pitchFamily="18" charset="0"/>
            </a:endParaRPr>
          </a:p>
          <a:p>
            <a:pPr algn="just"/>
            <a:r>
              <a:rPr lang="en-US" sz="2200" b="0" i="0" u="none" strike="noStrike" baseline="0" dirty="0">
                <a:solidFill>
                  <a:srgbClr val="7030A0"/>
                </a:solidFill>
                <a:latin typeface="Times New Roman" panose="02020603050405020304" pitchFamily="18" charset="0"/>
                <a:cs typeface="Times New Roman" panose="02020603050405020304" pitchFamily="18" charset="0"/>
              </a:rPr>
              <a:t>                          IF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income </a:t>
            </a:r>
            <a:r>
              <a:rPr lang="en-US" sz="2200" dirty="0">
                <a:solidFill>
                  <a:srgbClr val="7030A0"/>
                </a:solidFill>
                <a:latin typeface="Times New Roman" panose="02020603050405020304" pitchFamily="18" charset="0"/>
                <a:cs typeface="Times New Roman" panose="02020603050405020304" pitchFamily="18" charset="0"/>
              </a:rPr>
              <a:t>=</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high </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THEN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loan decision </a:t>
            </a:r>
            <a:r>
              <a:rPr lang="en-US" sz="2200" dirty="0">
                <a:solidFill>
                  <a:srgbClr val="7030A0"/>
                </a:solidFill>
                <a:latin typeface="Times New Roman" panose="02020603050405020304" pitchFamily="18" charset="0"/>
                <a:cs typeface="Times New Roman" panose="02020603050405020304" pitchFamily="18" charset="0"/>
              </a:rPr>
              <a:t>=</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accept</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a:t>
            </a:r>
          </a:p>
          <a:p>
            <a:pPr algn="just"/>
            <a:endParaRPr lang="en-US" sz="2200" b="0" i="0" u="none" strike="noStrike" baseline="0" dirty="0">
              <a:latin typeface="Times New Roman" panose="02020603050405020304" pitchFamily="18" charset="0"/>
              <a:cs typeface="Times New Roman" panose="02020603050405020304" pitchFamily="18" charset="0"/>
            </a:endParaRPr>
          </a:p>
          <a:p>
            <a:pPr algn="just"/>
            <a:r>
              <a:rPr lang="en-US" sz="2200" b="0" i="0" u="none" strike="noStrike" baseline="0" dirty="0">
                <a:latin typeface="Times New Roman" panose="02020603050405020304" pitchFamily="18" charset="0"/>
                <a:cs typeface="Times New Roman" panose="02020603050405020304" pitchFamily="18" charset="0"/>
              </a:rPr>
              <a:t>	Each time we add an attribute test to a rule, the resulting rule should cover relatively more of the “accept” tuples. During the next iteration, we again consider the possible attribute tests and end up selecting </a:t>
            </a:r>
            <a:r>
              <a:rPr lang="en-US" sz="2200" b="0" i="1" u="none" strike="noStrike" baseline="0" dirty="0">
                <a:latin typeface="Times New Roman" panose="02020603050405020304" pitchFamily="18" charset="0"/>
                <a:cs typeface="Times New Roman" panose="02020603050405020304" pitchFamily="18" charset="0"/>
              </a:rPr>
              <a:t>credit rating </a:t>
            </a:r>
            <a:r>
              <a:rPr lang="en-US" sz="2200" b="0" i="0" u="none" strike="noStrike" baseline="0" dirty="0">
                <a:latin typeface="Times New Roman" panose="02020603050405020304" pitchFamily="18" charset="0"/>
                <a:cs typeface="Times New Roman" panose="02020603050405020304" pitchFamily="18" charset="0"/>
              </a:rPr>
              <a:t>D </a:t>
            </a:r>
            <a:r>
              <a:rPr lang="en-US" sz="2200" b="0" i="1" u="none" strike="noStrike" baseline="0" dirty="0">
                <a:latin typeface="Times New Roman" panose="02020603050405020304" pitchFamily="18" charset="0"/>
                <a:cs typeface="Times New Roman" panose="02020603050405020304" pitchFamily="18" charset="0"/>
              </a:rPr>
              <a:t>excellent</a:t>
            </a:r>
            <a:r>
              <a:rPr lang="en-US" sz="2200" b="0" i="0" u="none" strike="noStrike" baseline="0" dirty="0">
                <a:latin typeface="Times New Roman" panose="02020603050405020304" pitchFamily="18" charset="0"/>
                <a:cs typeface="Times New Roman" panose="02020603050405020304" pitchFamily="18" charset="0"/>
              </a:rPr>
              <a:t>. Our current rule grows to </a:t>
            </a:r>
            <a:r>
              <a:rPr lang="en-IN" sz="2200" b="0" i="0" u="none" strike="noStrike" baseline="0" dirty="0">
                <a:latin typeface="Times New Roman" panose="02020603050405020304" pitchFamily="18" charset="0"/>
                <a:cs typeface="Times New Roman" panose="02020603050405020304" pitchFamily="18" charset="0"/>
              </a:rPr>
              <a:t>become</a:t>
            </a:r>
          </a:p>
          <a:p>
            <a:pPr algn="just"/>
            <a:endParaRPr lang="en-IN" sz="2200" b="0" i="0" u="none" strike="noStrike" baseline="0" dirty="0">
              <a:latin typeface="Times New Roman" panose="02020603050405020304" pitchFamily="18" charset="0"/>
              <a:cs typeface="Times New Roman" panose="02020603050405020304" pitchFamily="18" charset="0"/>
            </a:endParaRPr>
          </a:p>
          <a:p>
            <a:pPr algn="just"/>
            <a:r>
              <a:rPr lang="en-US" sz="2200" b="0" i="0" u="none" strike="noStrike" baseline="0" dirty="0">
                <a:solidFill>
                  <a:srgbClr val="7030A0"/>
                </a:solidFill>
                <a:latin typeface="Times New Roman" panose="02020603050405020304" pitchFamily="18" charset="0"/>
                <a:cs typeface="Times New Roman" panose="02020603050405020304" pitchFamily="18" charset="0"/>
              </a:rPr>
              <a:t>       IF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income </a:t>
            </a:r>
            <a:r>
              <a:rPr lang="en-US" sz="2200" dirty="0">
                <a:solidFill>
                  <a:srgbClr val="7030A0"/>
                </a:solidFill>
                <a:latin typeface="Times New Roman" panose="02020603050405020304" pitchFamily="18" charset="0"/>
                <a:cs typeface="Times New Roman" panose="02020603050405020304" pitchFamily="18" charset="0"/>
              </a:rPr>
              <a:t>=</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high </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AND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credit rating </a:t>
            </a:r>
            <a:r>
              <a:rPr lang="en-US" sz="2200" dirty="0">
                <a:solidFill>
                  <a:srgbClr val="7030A0"/>
                </a:solidFill>
                <a:latin typeface="Times New Roman" panose="02020603050405020304" pitchFamily="18" charset="0"/>
                <a:cs typeface="Times New Roman" panose="02020603050405020304" pitchFamily="18" charset="0"/>
              </a:rPr>
              <a:t>=</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excellent </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THEN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loan decision </a:t>
            </a:r>
            <a:r>
              <a:rPr lang="en-US" sz="2200" dirty="0">
                <a:solidFill>
                  <a:srgbClr val="7030A0"/>
                </a:solidFill>
                <a:latin typeface="Times New Roman" panose="02020603050405020304" pitchFamily="18" charset="0"/>
                <a:cs typeface="Times New Roman" panose="02020603050405020304" pitchFamily="18" charset="0"/>
              </a:rPr>
              <a:t>=</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 </a:t>
            </a:r>
            <a:r>
              <a:rPr lang="en-US" sz="2200" b="0" i="1" u="none" strike="noStrike" baseline="0" dirty="0">
                <a:solidFill>
                  <a:srgbClr val="7030A0"/>
                </a:solidFill>
                <a:latin typeface="Times New Roman" panose="02020603050405020304" pitchFamily="18" charset="0"/>
                <a:cs typeface="Times New Roman" panose="02020603050405020304" pitchFamily="18" charset="0"/>
              </a:rPr>
              <a:t>accept</a:t>
            </a:r>
            <a:r>
              <a:rPr lang="en-US" sz="2200" b="0" i="0" u="none" strike="noStrike" baseline="0" dirty="0">
                <a:solidFill>
                  <a:srgbClr val="7030A0"/>
                </a:solidFill>
                <a:latin typeface="Times New Roman" panose="02020603050405020304" pitchFamily="18" charset="0"/>
                <a:cs typeface="Times New Roman" panose="02020603050405020304" pitchFamily="18" charset="0"/>
              </a:rPr>
              <a:t>.</a:t>
            </a:r>
          </a:p>
          <a:p>
            <a:pPr algn="just"/>
            <a:endParaRPr lang="en-US" sz="2200" b="0" i="0" u="none" strike="noStrike" baseline="0" dirty="0">
              <a:latin typeface="Times New Roman" panose="02020603050405020304" pitchFamily="18" charset="0"/>
              <a:cs typeface="Times New Roman" panose="02020603050405020304" pitchFamily="18" charset="0"/>
            </a:endParaRPr>
          </a:p>
          <a:p>
            <a:pPr algn="just"/>
            <a:r>
              <a:rPr lang="en-US" sz="2200" b="0" i="0" u="none" strike="noStrike" baseline="0" dirty="0">
                <a:latin typeface="Times New Roman" panose="02020603050405020304" pitchFamily="18" charset="0"/>
                <a:cs typeface="Times New Roman" panose="02020603050405020304" pitchFamily="18" charset="0"/>
              </a:rPr>
              <a:t>	The process repeats, where at each step we continue to greedily grow rules until the resulting rule meets an acceptable quality level.</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9933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95D2E2D5-279A-730D-7779-1569AEC9561E}"/>
              </a:ext>
            </a:extLst>
          </p:cNvPr>
          <p:cNvSpPr txBox="1"/>
          <p:nvPr/>
        </p:nvSpPr>
        <p:spPr>
          <a:xfrm>
            <a:off x="548641" y="379828"/>
            <a:ext cx="11296356" cy="5509200"/>
          </a:xfrm>
          <a:prstGeom prst="rect">
            <a:avLst/>
          </a:prstGeom>
          <a:noFill/>
        </p:spPr>
        <p:txBody>
          <a:bodyPr wrap="square">
            <a:spAutoFit/>
          </a:bodyPr>
          <a:lstStyle/>
          <a:p>
            <a:pPr algn="just"/>
            <a:r>
              <a:rPr lang="en-IN" sz="2200" b="1" i="0" u="none" strike="noStrike" baseline="0" dirty="0">
                <a:solidFill>
                  <a:srgbClr val="00B050"/>
                </a:solidFill>
                <a:latin typeface="Times New Roman" panose="02020603050405020304" pitchFamily="18" charset="0"/>
                <a:cs typeface="Times New Roman" panose="02020603050405020304" pitchFamily="18" charset="0"/>
              </a:rPr>
              <a:t>Rule Quality Measures:</a:t>
            </a:r>
          </a:p>
          <a:p>
            <a:pPr algn="just"/>
            <a:r>
              <a:rPr lang="en-US" sz="2200" i="1" dirty="0">
                <a:latin typeface="Times New Roman" panose="02020603050405020304" pitchFamily="18" charset="0"/>
                <a:cs typeface="Times New Roman" panose="02020603050405020304" pitchFamily="18" charset="0"/>
              </a:rPr>
              <a:t>Learn One Rule </a:t>
            </a:r>
            <a:r>
              <a:rPr lang="en-US" sz="2200" dirty="0">
                <a:latin typeface="Times New Roman" panose="02020603050405020304" pitchFamily="18" charset="0"/>
                <a:cs typeface="Times New Roman" panose="02020603050405020304" pitchFamily="18" charset="0"/>
              </a:rPr>
              <a:t>needs a measure of rule quality. Every time it considers an attribute test, it must check to see if appending such a test to the current rule’s condition will result </a:t>
            </a:r>
            <a:r>
              <a:rPr lang="en-IN" sz="2200" dirty="0">
                <a:latin typeface="Times New Roman" panose="02020603050405020304" pitchFamily="18" charset="0"/>
                <a:cs typeface="Times New Roman" panose="02020603050405020304" pitchFamily="18" charset="0"/>
              </a:rPr>
              <a:t>in an improved rule.</a:t>
            </a:r>
            <a:endParaRPr lang="en-IN" sz="2200" b="1"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Ex: </a:t>
            </a:r>
            <a:r>
              <a:rPr lang="en-US" sz="2200" b="1" dirty="0">
                <a:latin typeface="Times New Roman" panose="02020603050405020304" pitchFamily="18" charset="0"/>
                <a:cs typeface="Times New Roman" panose="02020603050405020304" pitchFamily="18" charset="0"/>
              </a:rPr>
              <a:t>Choosing between two rules based on accuracy. </a:t>
            </a:r>
            <a:r>
              <a:rPr lang="en-US" sz="2200" dirty="0">
                <a:latin typeface="Times New Roman" panose="02020603050405020304" pitchFamily="18" charset="0"/>
                <a:cs typeface="Times New Roman" panose="02020603050405020304" pitchFamily="18" charset="0"/>
              </a:rPr>
              <a:t>Consider the two rules as illustrated in Figure 8.12. Both are for the class </a:t>
            </a:r>
            <a:r>
              <a:rPr lang="en-US" sz="2200" i="1" dirty="0">
                <a:latin typeface="Times New Roman" panose="02020603050405020304" pitchFamily="18" charset="0"/>
                <a:cs typeface="Times New Roman" panose="02020603050405020304" pitchFamily="18" charset="0"/>
              </a:rPr>
              <a:t>loan decision </a:t>
            </a:r>
            <a:r>
              <a:rPr lang="en-US" sz="2200" dirty="0">
                <a:latin typeface="Times New Roman" panose="02020603050405020304" pitchFamily="18" charset="0"/>
                <a:cs typeface="Times New Roman" panose="02020603050405020304" pitchFamily="18" charset="0"/>
              </a:rPr>
              <a:t>=</a:t>
            </a:r>
            <a:r>
              <a:rPr lang="en-US" sz="2200" dirty="0" smtClean="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accept</a:t>
            </a:r>
            <a:r>
              <a:rPr lang="en-US" sz="2200" dirty="0">
                <a:latin typeface="Times New Roman" panose="02020603050405020304" pitchFamily="18" charset="0"/>
                <a:cs typeface="Times New Roman" panose="02020603050405020304" pitchFamily="18" charset="0"/>
              </a:rPr>
              <a:t>. We use “</a:t>
            </a:r>
            <a:r>
              <a:rPr lang="en-US" sz="2200" i="1" dirty="0">
                <a:latin typeface="Times New Roman" panose="02020603050405020304" pitchFamily="18" charset="0"/>
                <a:cs typeface="Times New Roman" panose="02020603050405020304" pitchFamily="18" charset="0"/>
              </a:rPr>
              <a:t>a</a:t>
            </a:r>
            <a:r>
              <a:rPr lang="en-US" sz="2200" dirty="0">
                <a:latin typeface="Times New Roman" panose="02020603050405020304" pitchFamily="18" charset="0"/>
                <a:cs typeface="Times New Roman" panose="02020603050405020304" pitchFamily="18" charset="0"/>
              </a:rPr>
              <a:t>” to represent the tuples of class “</a:t>
            </a:r>
            <a:r>
              <a:rPr lang="en-US" sz="2200" i="1" dirty="0">
                <a:latin typeface="Times New Roman" panose="02020603050405020304" pitchFamily="18" charset="0"/>
                <a:cs typeface="Times New Roman" panose="02020603050405020304" pitchFamily="18" charset="0"/>
              </a:rPr>
              <a:t>accept</a:t>
            </a:r>
            <a:r>
              <a:rPr lang="en-US" sz="2200" dirty="0">
                <a:latin typeface="Times New Roman" panose="02020603050405020304" pitchFamily="18" charset="0"/>
                <a:cs typeface="Times New Roman" panose="02020603050405020304" pitchFamily="18" charset="0"/>
              </a:rPr>
              <a:t>” and “</a:t>
            </a:r>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 for the tuples of class “</a:t>
            </a:r>
            <a:r>
              <a:rPr lang="en-US" sz="2200" i="1" dirty="0">
                <a:latin typeface="Times New Roman" panose="02020603050405020304" pitchFamily="18" charset="0"/>
                <a:cs typeface="Times New Roman" panose="02020603050405020304" pitchFamily="18" charset="0"/>
              </a:rPr>
              <a:t>reject</a:t>
            </a:r>
            <a:r>
              <a:rPr lang="en-US" sz="2200" dirty="0">
                <a:latin typeface="Times New Roman" panose="02020603050405020304" pitchFamily="18" charset="0"/>
                <a:cs typeface="Times New Roman" panose="02020603050405020304" pitchFamily="18" charset="0"/>
              </a:rPr>
              <a:t>.” Rule </a:t>
            </a:r>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1 correctly classifies 38 of the 40 tuples it covers. Rule </a:t>
            </a:r>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2 covers only two tuples, which it correctly classifies. Their respective accuracies are 95% and 100%. Thus, </a:t>
            </a:r>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2 has greater accuracy than </a:t>
            </a:r>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1, but it is not the better rule because of its small coverage.</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Suppose we are learning rules for the class </a:t>
            </a:r>
            <a:r>
              <a:rPr lang="en-US" sz="2200" i="1" dirty="0">
                <a:latin typeface="Times New Roman" panose="02020603050405020304" pitchFamily="18" charset="0"/>
                <a:cs typeface="Times New Roman" panose="02020603050405020304" pitchFamily="18" charset="0"/>
              </a:rPr>
              <a:t>c</a:t>
            </a:r>
            <a:r>
              <a:rPr lang="en-US" sz="2200" dirty="0">
                <a:latin typeface="Times New Roman" panose="02020603050405020304" pitchFamily="18" charset="0"/>
                <a:cs typeface="Times New Roman" panose="02020603050405020304" pitchFamily="18" charset="0"/>
              </a:rPr>
              <a:t>. Our current rule is </a:t>
            </a:r>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 IF </a:t>
            </a:r>
            <a:r>
              <a:rPr lang="en-US" sz="2200" i="1" dirty="0">
                <a:latin typeface="Times New Roman" panose="02020603050405020304" pitchFamily="18" charset="0"/>
                <a:cs typeface="Times New Roman" panose="02020603050405020304" pitchFamily="18" charset="0"/>
              </a:rPr>
              <a:t>condition </a:t>
            </a:r>
            <a:r>
              <a:rPr lang="en-US" sz="2200" dirty="0">
                <a:latin typeface="Times New Roman" panose="02020603050405020304" pitchFamily="18" charset="0"/>
                <a:cs typeface="Times New Roman" panose="02020603050405020304" pitchFamily="18" charset="0"/>
              </a:rPr>
              <a:t>THEN </a:t>
            </a:r>
            <a:r>
              <a:rPr lang="en-US" sz="2200" i="1" dirty="0">
                <a:latin typeface="Times New Roman" panose="02020603050405020304" pitchFamily="18" charset="0"/>
                <a:cs typeface="Times New Roman" panose="02020603050405020304" pitchFamily="18" charset="0"/>
              </a:rPr>
              <a:t>class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c</a:t>
            </a:r>
            <a:r>
              <a:rPr lang="en-US" sz="2200" dirty="0">
                <a:latin typeface="Times New Roman" panose="02020603050405020304" pitchFamily="18" charset="0"/>
                <a:cs typeface="Times New Roman" panose="02020603050405020304" pitchFamily="18" charset="0"/>
              </a:rPr>
              <a:t>. We want to see if logically ANDing a given attribute test to </a:t>
            </a:r>
            <a:r>
              <a:rPr lang="en-US" sz="2200" i="1" dirty="0">
                <a:latin typeface="Times New Roman" panose="02020603050405020304" pitchFamily="18" charset="0"/>
                <a:cs typeface="Times New Roman" panose="02020603050405020304" pitchFamily="18" charset="0"/>
              </a:rPr>
              <a:t>condition </a:t>
            </a:r>
            <a:r>
              <a:rPr lang="en-US" sz="2200" dirty="0">
                <a:latin typeface="Times New Roman" panose="02020603050405020304" pitchFamily="18" charset="0"/>
                <a:cs typeface="Times New Roman" panose="02020603050405020304" pitchFamily="18" charset="0"/>
              </a:rPr>
              <a:t>would result in a better rule. We call the new condition, </a:t>
            </a:r>
            <a:r>
              <a:rPr lang="en-US" sz="2200" i="1" dirty="0">
                <a:latin typeface="Times New Roman" panose="02020603050405020304" pitchFamily="18" charset="0"/>
                <a:cs typeface="Times New Roman" panose="02020603050405020304" pitchFamily="18" charset="0"/>
              </a:rPr>
              <a:t>condition</a:t>
            </a:r>
            <a:r>
              <a:rPr lang="en-US" sz="2200" i="1" baseline="30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where </a:t>
            </a:r>
            <a:r>
              <a:rPr lang="en-US" sz="2200" i="1" dirty="0">
                <a:latin typeface="Times New Roman" panose="02020603050405020304" pitchFamily="18" charset="0"/>
                <a:cs typeface="Times New Roman" panose="02020603050405020304" pitchFamily="18" charset="0"/>
              </a:rPr>
              <a:t>R</a:t>
            </a:r>
            <a:r>
              <a:rPr lang="en-US" sz="2200" i="1" baseline="30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IF </a:t>
            </a:r>
            <a:r>
              <a:rPr lang="en-US" sz="2200" i="1" dirty="0">
                <a:latin typeface="Times New Roman" panose="02020603050405020304" pitchFamily="18" charset="0"/>
                <a:cs typeface="Times New Roman" panose="02020603050405020304" pitchFamily="18" charset="0"/>
              </a:rPr>
              <a:t>condition</a:t>
            </a:r>
            <a:r>
              <a:rPr lang="en-US" sz="2200" i="1" baseline="30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THEN </a:t>
            </a:r>
            <a:r>
              <a:rPr lang="en-US" sz="2200" i="1" dirty="0">
                <a:latin typeface="Times New Roman" panose="02020603050405020304" pitchFamily="18" charset="0"/>
                <a:cs typeface="Times New Roman" panose="02020603050405020304" pitchFamily="18" charset="0"/>
              </a:rPr>
              <a:t>class =</a:t>
            </a:r>
            <a:r>
              <a:rPr lang="en-US" sz="2200" dirty="0">
                <a:latin typeface="Times New Roman" panose="02020603050405020304" pitchFamily="18" charset="0"/>
                <a:cs typeface="Times New Roman" panose="02020603050405020304" pitchFamily="18" charset="0"/>
              </a:rPr>
              <a:t> </a:t>
            </a:r>
            <a:r>
              <a:rPr lang="en-US" sz="2200" i="1" dirty="0">
                <a:latin typeface="Times New Roman" panose="02020603050405020304" pitchFamily="18" charset="0"/>
                <a:cs typeface="Times New Roman" panose="02020603050405020304" pitchFamily="18" charset="0"/>
              </a:rPr>
              <a:t>c </a:t>
            </a:r>
            <a:r>
              <a:rPr lang="en-US" sz="2200" dirty="0">
                <a:latin typeface="Times New Roman" panose="02020603050405020304" pitchFamily="18" charset="0"/>
                <a:cs typeface="Times New Roman" panose="02020603050405020304" pitchFamily="18" charset="0"/>
              </a:rPr>
              <a:t>is our potential new rule. In other words, we want to see if </a:t>
            </a:r>
            <a:r>
              <a:rPr lang="en-US" sz="2200" i="1" dirty="0">
                <a:latin typeface="Times New Roman" panose="02020603050405020304" pitchFamily="18" charset="0"/>
                <a:cs typeface="Times New Roman" panose="02020603050405020304" pitchFamily="18" charset="0"/>
              </a:rPr>
              <a:t>R</a:t>
            </a:r>
            <a:r>
              <a:rPr lang="en-US" sz="2200" i="1" baseline="30000" dirty="0">
                <a:latin typeface="Times New Roman" panose="02020603050405020304" pitchFamily="18" charset="0"/>
                <a:cs typeface="Times New Roman" panose="02020603050405020304" pitchFamily="18" charset="0"/>
              </a:rPr>
              <a:t>1</a:t>
            </a:r>
            <a:r>
              <a:rPr lang="en-US" sz="2200" dirty="0">
                <a:latin typeface="Times New Roman" panose="02020603050405020304" pitchFamily="18" charset="0"/>
                <a:cs typeface="Times New Roman" panose="02020603050405020304" pitchFamily="18" charset="0"/>
              </a:rPr>
              <a:t> is any better than </a:t>
            </a:r>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a:t>
            </a:r>
          </a:p>
          <a:p>
            <a:pPr algn="just"/>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6732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530D271E-C2B0-A775-78E8-2B90E74A9C77}"/>
              </a:ext>
            </a:extLst>
          </p:cNvPr>
          <p:cNvPicPr>
            <a:picLocks noChangeAspect="1"/>
          </p:cNvPicPr>
          <p:nvPr/>
        </p:nvPicPr>
        <p:blipFill>
          <a:blip r:embed="rId2"/>
          <a:stretch>
            <a:fillRect/>
          </a:stretch>
        </p:blipFill>
        <p:spPr>
          <a:xfrm>
            <a:off x="872197" y="562707"/>
            <a:ext cx="10297551" cy="5781821"/>
          </a:xfrm>
          <a:prstGeom prst="rect">
            <a:avLst/>
          </a:prstGeom>
        </p:spPr>
      </p:pic>
    </p:spTree>
    <p:extLst>
      <p:ext uri="{BB962C8B-B14F-4D97-AF65-F5344CB8AC3E}">
        <p14:creationId xmlns:p14="http://schemas.microsoft.com/office/powerpoint/2010/main" val="2800359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0C202A15-BEB7-8DCD-A530-347FBDED8B9D}"/>
              </a:ext>
            </a:extLst>
          </p:cNvPr>
          <p:cNvSpPr txBox="1"/>
          <p:nvPr/>
        </p:nvSpPr>
        <p:spPr>
          <a:xfrm>
            <a:off x="422031" y="281354"/>
            <a:ext cx="11549575" cy="6186309"/>
          </a:xfrm>
          <a:prstGeom prst="rect">
            <a:avLst/>
          </a:prstGeom>
          <a:noFill/>
        </p:spPr>
        <p:txBody>
          <a:bodyPr wrap="square">
            <a:spAutoFit/>
          </a:bodyPr>
          <a:lstStyle/>
          <a:p>
            <a:pPr algn="just"/>
            <a:r>
              <a:rPr lang="en-US" sz="2200" b="0" i="0" u="none" strike="noStrike" baseline="0" dirty="0">
                <a:latin typeface="Times New Roman" panose="02020603050405020304" pitchFamily="18" charset="0"/>
                <a:cs typeface="Times New Roman" panose="02020603050405020304" pitchFamily="18" charset="0"/>
              </a:rPr>
              <a:t>	Another measure is based on information gain and was proposed in </a:t>
            </a:r>
            <a:r>
              <a:rPr lang="en-US" sz="2200" b="1" i="0" u="none" strike="noStrike" baseline="0" dirty="0">
                <a:latin typeface="Times New Roman" panose="02020603050405020304" pitchFamily="18" charset="0"/>
                <a:cs typeface="Times New Roman" panose="02020603050405020304" pitchFamily="18" charset="0"/>
              </a:rPr>
              <a:t>FOIL </a:t>
            </a:r>
            <a:r>
              <a:rPr lang="en-US" sz="2200" b="0" i="0" u="none" strike="noStrike" baseline="0" dirty="0">
                <a:latin typeface="Times New Roman" panose="02020603050405020304" pitchFamily="18" charset="0"/>
                <a:cs typeface="Times New Roman" panose="02020603050405020304" pitchFamily="18" charset="0"/>
              </a:rPr>
              <a:t>(First Order Inductive Learner), a sequential covering algorithm that learns first-order login rules. In machine learning, the tuples of the class for which we are learning rules are called </a:t>
            </a:r>
            <a:r>
              <a:rPr lang="en-US" sz="2200" b="0" i="1" u="none" strike="noStrike" baseline="0" dirty="0">
                <a:latin typeface="Times New Roman" panose="02020603050405020304" pitchFamily="18" charset="0"/>
                <a:cs typeface="Times New Roman" panose="02020603050405020304" pitchFamily="18" charset="0"/>
              </a:rPr>
              <a:t>positive </a:t>
            </a:r>
            <a:r>
              <a:rPr lang="en-US" sz="2200" b="0" i="0" u="none" strike="noStrike" baseline="0" dirty="0">
                <a:latin typeface="Times New Roman" panose="02020603050405020304" pitchFamily="18" charset="0"/>
                <a:cs typeface="Times New Roman" panose="02020603050405020304" pitchFamily="18" charset="0"/>
              </a:rPr>
              <a:t>tuples, while the remaining tuples are </a:t>
            </a:r>
            <a:r>
              <a:rPr lang="en-US" sz="2200" b="0" i="1" u="none" strike="noStrike" baseline="0" dirty="0">
                <a:latin typeface="Times New Roman" panose="02020603050405020304" pitchFamily="18" charset="0"/>
                <a:cs typeface="Times New Roman" panose="02020603050405020304" pitchFamily="18" charset="0"/>
              </a:rPr>
              <a:t>negative</a:t>
            </a:r>
            <a:r>
              <a:rPr lang="en-US" sz="2200" b="0" i="0" u="none" strike="noStrike" baseline="0" dirty="0">
                <a:latin typeface="Times New Roman" panose="02020603050405020304" pitchFamily="18" charset="0"/>
                <a:cs typeface="Times New Roman" panose="02020603050405020304" pitchFamily="18" charset="0"/>
              </a:rPr>
              <a:t>. Let </a:t>
            </a:r>
            <a:r>
              <a:rPr lang="en-US" sz="2200" b="0" i="1" u="none" strike="noStrike" baseline="0" dirty="0">
                <a:latin typeface="Times New Roman" panose="02020603050405020304" pitchFamily="18" charset="0"/>
                <a:cs typeface="Times New Roman" panose="02020603050405020304" pitchFamily="18" charset="0"/>
              </a:rPr>
              <a:t>pos </a:t>
            </a:r>
            <a:r>
              <a:rPr lang="en-US" sz="2200" b="0" i="0" u="none" strike="noStrike" baseline="0" dirty="0">
                <a:latin typeface="Times New Roman" panose="02020603050405020304" pitchFamily="18" charset="0"/>
                <a:cs typeface="Times New Roman" panose="02020603050405020304" pitchFamily="18" charset="0"/>
              </a:rPr>
              <a:t>(</a:t>
            </a:r>
            <a:r>
              <a:rPr lang="en-US" sz="2200" b="0" i="1" u="none" strike="noStrike" baseline="0" dirty="0">
                <a:latin typeface="Times New Roman" panose="02020603050405020304" pitchFamily="18" charset="0"/>
                <a:cs typeface="Times New Roman" panose="02020603050405020304" pitchFamily="18" charset="0"/>
              </a:rPr>
              <a:t>neg</a:t>
            </a:r>
            <a:r>
              <a:rPr lang="en-US" sz="2200" b="0" i="0" u="none" strike="noStrike" baseline="0" dirty="0">
                <a:latin typeface="Times New Roman" panose="02020603050405020304" pitchFamily="18" charset="0"/>
                <a:cs typeface="Times New Roman" panose="02020603050405020304" pitchFamily="18" charset="0"/>
              </a:rPr>
              <a:t>) be the number of positive (negative) tuples covered by </a:t>
            </a:r>
            <a:r>
              <a:rPr lang="en-US" sz="2200" b="0" i="1" u="none" strike="noStrike" baseline="0" dirty="0">
                <a:latin typeface="Times New Roman" panose="02020603050405020304" pitchFamily="18" charset="0"/>
                <a:cs typeface="Times New Roman" panose="02020603050405020304" pitchFamily="18" charset="0"/>
              </a:rPr>
              <a:t>R</a:t>
            </a:r>
            <a:r>
              <a:rPr lang="en-US" sz="2200" b="0" i="0" u="none" strike="noStrike" baseline="0" dirty="0">
                <a:latin typeface="Times New Roman" panose="02020603050405020304" pitchFamily="18" charset="0"/>
                <a:cs typeface="Times New Roman" panose="02020603050405020304" pitchFamily="18" charset="0"/>
              </a:rPr>
              <a:t>. Let </a:t>
            </a:r>
            <a:r>
              <a:rPr lang="en-US" sz="2200" b="0" i="1" u="none" strike="noStrike" baseline="0" dirty="0">
                <a:latin typeface="Times New Roman" panose="02020603050405020304" pitchFamily="18" charset="0"/>
                <a:cs typeface="Times New Roman" panose="02020603050405020304" pitchFamily="18" charset="0"/>
              </a:rPr>
              <a:t>pos</a:t>
            </a:r>
            <a:r>
              <a:rPr lang="en-US" sz="2200" baseline="30000" dirty="0">
                <a:latin typeface="Times New Roman" panose="02020603050405020304" pitchFamily="18" charset="0"/>
                <a:cs typeface="Times New Roman" panose="02020603050405020304" pitchFamily="18" charset="0"/>
              </a:rPr>
              <a:t>1</a:t>
            </a:r>
            <a:r>
              <a:rPr lang="en-US" sz="2200" b="0" i="0" u="none" strike="noStrike" baseline="0" dirty="0">
                <a:latin typeface="Times New Roman" panose="02020603050405020304" pitchFamily="18" charset="0"/>
                <a:cs typeface="Times New Roman" panose="02020603050405020304" pitchFamily="18" charset="0"/>
              </a:rPr>
              <a:t> (</a:t>
            </a:r>
            <a:r>
              <a:rPr lang="en-US" sz="2200" b="0" i="1" u="none" strike="noStrike" baseline="0" dirty="0">
                <a:latin typeface="Times New Roman" panose="02020603050405020304" pitchFamily="18" charset="0"/>
                <a:cs typeface="Times New Roman" panose="02020603050405020304" pitchFamily="18" charset="0"/>
              </a:rPr>
              <a:t>neg</a:t>
            </a:r>
            <a:r>
              <a:rPr lang="en-US" sz="2200" baseline="30000" dirty="0">
                <a:latin typeface="Times New Roman" panose="02020603050405020304" pitchFamily="18" charset="0"/>
                <a:cs typeface="Times New Roman" panose="02020603050405020304" pitchFamily="18" charset="0"/>
              </a:rPr>
              <a:t>1</a:t>
            </a:r>
            <a:r>
              <a:rPr lang="en-US" sz="2200" b="0" i="0" u="none" strike="noStrike" baseline="0" dirty="0">
                <a:latin typeface="Times New Roman" panose="02020603050405020304" pitchFamily="18" charset="0"/>
                <a:cs typeface="Times New Roman" panose="02020603050405020304" pitchFamily="18" charset="0"/>
              </a:rPr>
              <a:t>) be the number of positive (negative) tuples covered by </a:t>
            </a:r>
            <a:r>
              <a:rPr lang="en-US" sz="2200" b="0" i="1" u="none" strike="noStrike" baseline="0" dirty="0">
                <a:latin typeface="Times New Roman" panose="02020603050405020304" pitchFamily="18" charset="0"/>
                <a:cs typeface="Times New Roman" panose="02020603050405020304" pitchFamily="18" charset="0"/>
              </a:rPr>
              <a:t>R</a:t>
            </a:r>
            <a:r>
              <a:rPr lang="en-US" sz="2200" baseline="30000" dirty="0">
                <a:latin typeface="Times New Roman" panose="02020603050405020304" pitchFamily="18" charset="0"/>
                <a:cs typeface="Times New Roman" panose="02020603050405020304" pitchFamily="18" charset="0"/>
              </a:rPr>
              <a:t>1</a:t>
            </a:r>
            <a:r>
              <a:rPr lang="en-US" sz="2200" b="0" i="0" u="none" strike="noStrike" baseline="0" dirty="0">
                <a:latin typeface="Times New Roman" panose="02020603050405020304" pitchFamily="18" charset="0"/>
                <a:cs typeface="Times New Roman" panose="02020603050405020304" pitchFamily="18" charset="0"/>
              </a:rPr>
              <a:t>. FOIL assesses the information gained by extending </a:t>
            </a:r>
            <a:r>
              <a:rPr lang="en-IN" sz="2200" b="0" i="1" u="none" strike="noStrike" baseline="0" dirty="0">
                <a:latin typeface="Times New Roman" panose="02020603050405020304" pitchFamily="18" charset="0"/>
                <a:cs typeface="Times New Roman" panose="02020603050405020304" pitchFamily="18" charset="0"/>
              </a:rPr>
              <a:t>condition</a:t>
            </a:r>
            <a:r>
              <a:rPr lang="en-IN" sz="2200" baseline="30000" dirty="0">
                <a:latin typeface="Times New Roman" panose="02020603050405020304" pitchFamily="18" charset="0"/>
                <a:cs typeface="Times New Roman" panose="02020603050405020304" pitchFamily="18" charset="0"/>
              </a:rPr>
              <a:t>1</a:t>
            </a:r>
            <a:r>
              <a:rPr lang="en-IN" sz="2200" b="0" i="0" u="none" strike="noStrike" baseline="0" dirty="0">
                <a:latin typeface="Times New Roman" panose="02020603050405020304" pitchFamily="18" charset="0"/>
                <a:cs typeface="Times New Roman" panose="02020603050405020304" pitchFamily="18" charset="0"/>
              </a:rPr>
              <a:t> as:</a:t>
            </a: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It favors rules that have high accuracy and cover many positive tuples.</a:t>
            </a:r>
          </a:p>
          <a:p>
            <a:pPr algn="just"/>
            <a:endParaRPr lang="en-US" sz="2200" dirty="0">
              <a:latin typeface="Times New Roman" panose="02020603050405020304" pitchFamily="18" charset="0"/>
              <a:cs typeface="Times New Roman" panose="02020603050405020304" pitchFamily="18" charset="0"/>
            </a:endParaRPr>
          </a:p>
          <a:p>
            <a:pPr algn="just"/>
            <a:r>
              <a:rPr lang="en-US" dirty="0"/>
              <a:t>	</a:t>
            </a:r>
            <a:r>
              <a:rPr lang="en-US" sz="2200" dirty="0">
                <a:latin typeface="Times New Roman" panose="02020603050405020304" pitchFamily="18" charset="0"/>
                <a:cs typeface="Times New Roman" panose="02020603050405020304" pitchFamily="18" charset="0"/>
              </a:rPr>
              <a:t>We can also use a statistical test of significance to determine if the apparent effect of a rule is not attributed to chance but instead indicates a genuine correlation between attribute values and classes. The test compares the observed distribution among classes of tuples covered by a rule with the expected distribution that would result if the rule made predictions at random. We want to assess whether any observed differences between these two distributions may be attributed to chance. We can use the </a:t>
            </a:r>
            <a:r>
              <a:rPr lang="en-US" sz="2200" b="1" dirty="0">
                <a:latin typeface="Times New Roman" panose="02020603050405020304" pitchFamily="18" charset="0"/>
                <a:cs typeface="Times New Roman" panose="02020603050405020304" pitchFamily="18" charset="0"/>
              </a:rPr>
              <a:t>likelihood </a:t>
            </a:r>
            <a:r>
              <a:rPr lang="en-IN" sz="2200" b="1" dirty="0">
                <a:latin typeface="Times New Roman" panose="02020603050405020304" pitchFamily="18" charset="0"/>
                <a:cs typeface="Times New Roman" panose="02020603050405020304" pitchFamily="18" charset="0"/>
              </a:rPr>
              <a:t>ratio statistic:</a:t>
            </a:r>
            <a:endParaRPr lang="en-IN"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3A2AA218-C746-CC18-1D46-4BBF1B6D757B}"/>
              </a:ext>
            </a:extLst>
          </p:cNvPr>
          <p:cNvPicPr>
            <a:picLocks noChangeAspect="1"/>
          </p:cNvPicPr>
          <p:nvPr/>
        </p:nvPicPr>
        <p:blipFill>
          <a:blip r:embed="rId2"/>
          <a:stretch>
            <a:fillRect/>
          </a:stretch>
        </p:blipFill>
        <p:spPr>
          <a:xfrm>
            <a:off x="3024554" y="2489983"/>
            <a:ext cx="6921304" cy="1097280"/>
          </a:xfrm>
          <a:prstGeom prst="rect">
            <a:avLst/>
          </a:prstGeom>
        </p:spPr>
      </p:pic>
    </p:spTree>
    <p:extLst>
      <p:ext uri="{BB962C8B-B14F-4D97-AF65-F5344CB8AC3E}">
        <p14:creationId xmlns:p14="http://schemas.microsoft.com/office/powerpoint/2010/main" val="1697155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58F05E9B-6A55-5AC2-D468-715083732B18}"/>
              </a:ext>
            </a:extLst>
          </p:cNvPr>
          <p:cNvPicPr>
            <a:picLocks noChangeAspect="1"/>
          </p:cNvPicPr>
          <p:nvPr/>
        </p:nvPicPr>
        <p:blipFill>
          <a:blip r:embed="rId2"/>
          <a:stretch>
            <a:fillRect/>
          </a:stretch>
        </p:blipFill>
        <p:spPr>
          <a:xfrm>
            <a:off x="2785403" y="858130"/>
            <a:ext cx="6386731" cy="844061"/>
          </a:xfrm>
          <a:prstGeom prst="rect">
            <a:avLst/>
          </a:prstGeom>
        </p:spPr>
      </p:pic>
      <p:sp>
        <p:nvSpPr>
          <p:cNvPr id="5" name="TextBox 4">
            <a:extLst>
              <a:ext uri="{FF2B5EF4-FFF2-40B4-BE49-F238E27FC236}">
                <a16:creationId xmlns="" xmlns:a16="http://schemas.microsoft.com/office/drawing/2014/main" id="{E20C44D3-F08C-7E06-312C-91D2D4CABA90}"/>
              </a:ext>
            </a:extLst>
          </p:cNvPr>
          <p:cNvSpPr txBox="1"/>
          <p:nvPr/>
        </p:nvSpPr>
        <p:spPr>
          <a:xfrm>
            <a:off x="562707" y="1702191"/>
            <a:ext cx="11465169" cy="430887"/>
          </a:xfrm>
          <a:prstGeom prst="rect">
            <a:avLst/>
          </a:prstGeom>
          <a:noFill/>
        </p:spPr>
        <p:txBody>
          <a:bodyPr wrap="square">
            <a:spAutoFit/>
          </a:bodyPr>
          <a:lstStyle/>
          <a:p>
            <a:pPr algn="just"/>
            <a:r>
              <a:rPr lang="en-US" sz="2200" b="0" i="0" u="none" strike="noStrike" baseline="0" dirty="0">
                <a:latin typeface="Times New Roman" panose="02020603050405020304" pitchFamily="18" charset="0"/>
                <a:cs typeface="Times New Roman" panose="02020603050405020304" pitchFamily="18" charset="0"/>
              </a:rPr>
              <a:t>where </a:t>
            </a:r>
            <a:r>
              <a:rPr lang="en-US" sz="2200" b="0" i="1" u="none" strike="noStrike" baseline="0" dirty="0">
                <a:latin typeface="Times New Roman" panose="02020603050405020304" pitchFamily="18" charset="0"/>
                <a:cs typeface="Times New Roman" panose="02020603050405020304" pitchFamily="18" charset="0"/>
              </a:rPr>
              <a:t>m </a:t>
            </a:r>
            <a:r>
              <a:rPr lang="en-US" sz="2200" b="0" i="0" u="none" strike="noStrike" baseline="0" dirty="0">
                <a:latin typeface="Times New Roman" panose="02020603050405020304" pitchFamily="18" charset="0"/>
                <a:cs typeface="Times New Roman" panose="02020603050405020304" pitchFamily="18" charset="0"/>
              </a:rPr>
              <a:t>is the number of classes.</a:t>
            </a:r>
            <a:endParaRPr lang="en-IN" sz="2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 xmlns:a16="http://schemas.microsoft.com/office/drawing/2014/main" id="{FAC3C938-F648-0A6D-6470-24343245E1A9}"/>
              </a:ext>
            </a:extLst>
          </p:cNvPr>
          <p:cNvPicPr>
            <a:picLocks noChangeAspect="1"/>
          </p:cNvPicPr>
          <p:nvPr/>
        </p:nvPicPr>
        <p:blipFill>
          <a:blip r:embed="rId3"/>
          <a:stretch>
            <a:fillRect/>
          </a:stretch>
        </p:blipFill>
        <p:spPr>
          <a:xfrm>
            <a:off x="562708" y="2377440"/>
            <a:ext cx="11211950" cy="2347483"/>
          </a:xfrm>
          <a:prstGeom prst="rect">
            <a:avLst/>
          </a:prstGeom>
        </p:spPr>
      </p:pic>
    </p:spTree>
    <p:extLst>
      <p:ext uri="{BB962C8B-B14F-4D97-AF65-F5344CB8AC3E}">
        <p14:creationId xmlns:p14="http://schemas.microsoft.com/office/powerpoint/2010/main" val="1421935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4146E60-EBF7-C3BE-92B4-8B7DE125C2F0}"/>
              </a:ext>
            </a:extLst>
          </p:cNvPr>
          <p:cNvSpPr txBox="1"/>
          <p:nvPr/>
        </p:nvSpPr>
        <p:spPr>
          <a:xfrm>
            <a:off x="407963" y="393895"/>
            <a:ext cx="11535508" cy="6340197"/>
          </a:xfrm>
          <a:prstGeom prst="rect">
            <a:avLst/>
          </a:prstGeom>
          <a:noFill/>
        </p:spPr>
        <p:txBody>
          <a:bodyPr wrap="square">
            <a:spAutoFit/>
          </a:bodyPr>
          <a:lstStyle/>
          <a:p>
            <a:pPr algn="ctr"/>
            <a:r>
              <a:rPr lang="en-IN" sz="2800" b="1" i="0" u="none" strike="noStrike" baseline="0" dirty="0">
                <a:solidFill>
                  <a:srgbClr val="FF0000"/>
                </a:solidFill>
                <a:latin typeface="Times New Roman" panose="02020603050405020304" pitchFamily="18" charset="0"/>
                <a:cs typeface="Times New Roman" panose="02020603050405020304" pitchFamily="18" charset="0"/>
              </a:rPr>
              <a:t>Model Evaluation and Selection</a:t>
            </a:r>
          </a:p>
          <a:p>
            <a:pPr algn="just"/>
            <a:r>
              <a:rPr lang="en-IN" sz="2400" dirty="0">
                <a:solidFill>
                  <a:srgbClr val="FF0000"/>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Suppose you used data from previous sales to build a classifier to predict customer purchasing behavior. You would like an estimate of how accurately the classifier can predict the purchasing behavior of future customers.</a:t>
            </a:r>
          </a:p>
          <a:p>
            <a:pPr algn="just"/>
            <a:endParaRPr lang="en-US" sz="2200" dirty="0">
              <a:solidFill>
                <a:srgbClr val="FF0000"/>
              </a:solidFill>
              <a:latin typeface="Times New Roman" panose="02020603050405020304" pitchFamily="18" charset="0"/>
              <a:cs typeface="Times New Roman" panose="02020603050405020304" pitchFamily="18" charset="0"/>
            </a:endParaRPr>
          </a:p>
          <a:p>
            <a:pPr algn="just"/>
            <a:r>
              <a:rPr lang="en-US" sz="2400" b="1" dirty="0">
                <a:solidFill>
                  <a:srgbClr val="00B050"/>
                </a:solidFill>
                <a:latin typeface="Times New Roman" panose="02020603050405020304" pitchFamily="18" charset="0"/>
                <a:cs typeface="Times New Roman" panose="02020603050405020304" pitchFamily="18" charset="0"/>
              </a:rPr>
              <a:t>Metrics for Evaluating Classifier Performance:</a:t>
            </a:r>
          </a:p>
          <a:p>
            <a:pPr algn="just"/>
            <a:r>
              <a:rPr lang="en-US" sz="2200" dirty="0">
                <a:latin typeface="Times New Roman" panose="02020603050405020304" pitchFamily="18" charset="0"/>
                <a:cs typeface="Times New Roman" panose="02020603050405020304" pitchFamily="18" charset="0"/>
              </a:rPr>
              <a:t>	Here, we present measures for assessing how good or how “accurate” your classifier is at predicting the class label of tuples. We will consider the case of where the class tuples are more or less evenly distributed, as well as the case where classes are unbalanced. The classifier evaluation measures are summarized as follows. They include accuracy (also known as recognition rate), sensitivity (or recall), specificity, precision, </a:t>
            </a:r>
            <a:r>
              <a:rPr lang="en-US" sz="2200" i="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1, and </a:t>
            </a:r>
            <a:r>
              <a:rPr lang="en-US" sz="2200" i="1" dirty="0">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a:t>
            </a:r>
            <a:endParaRPr lang="en-US" sz="2200" dirty="0" smtClean="0">
              <a:latin typeface="Times New Roman" panose="02020603050405020304" pitchFamily="18" charset="0"/>
              <a:cs typeface="Times New Roman" panose="02020603050405020304" pitchFamily="18" charset="0"/>
            </a:endParaRPr>
          </a:p>
          <a:p>
            <a:pPr algn="just"/>
            <a:endParaRPr lang="en-US" sz="2200" dirty="0">
              <a:solidFill>
                <a:srgbClr val="FF0000"/>
              </a:solidFill>
              <a:latin typeface="Times New Roman" panose="02020603050405020304" pitchFamily="18" charset="0"/>
              <a:cs typeface="Times New Roman" panose="02020603050405020304" pitchFamily="18" charset="0"/>
            </a:endParaRPr>
          </a:p>
          <a:p>
            <a:pPr algn="just"/>
            <a:r>
              <a:rPr lang="en-US" sz="2200" dirty="0" smtClean="0">
                <a:solidFill>
                  <a:srgbClr val="00B050"/>
                </a:solidFill>
                <a:latin typeface="Times New Roman" pitchFamily="18" charset="0"/>
                <a:cs typeface="Times New Roman" pitchFamily="18" charset="0"/>
              </a:rPr>
              <a:t>Positive </a:t>
            </a:r>
            <a:r>
              <a:rPr lang="en-US" sz="2200" dirty="0">
                <a:solidFill>
                  <a:srgbClr val="00B050"/>
                </a:solidFill>
                <a:latin typeface="Times New Roman" pitchFamily="18" charset="0"/>
                <a:cs typeface="Times New Roman" pitchFamily="18" charset="0"/>
              </a:rPr>
              <a:t>tuples </a:t>
            </a:r>
            <a:r>
              <a:rPr lang="en-US" sz="2200" dirty="0" smtClean="0">
                <a:solidFill>
                  <a:srgbClr val="00B050"/>
                </a:solidFill>
                <a:latin typeface="Times New Roman" pitchFamily="18" charset="0"/>
                <a:cs typeface="Times New Roman" pitchFamily="18" charset="0"/>
              </a:rPr>
              <a:t>(P) - </a:t>
            </a:r>
            <a:r>
              <a:rPr lang="en-US" sz="2200" dirty="0" smtClean="0">
                <a:latin typeface="Times New Roman" pitchFamily="18" charset="0"/>
                <a:cs typeface="Times New Roman" pitchFamily="18" charset="0"/>
              </a:rPr>
              <a:t>tuples </a:t>
            </a:r>
            <a:r>
              <a:rPr lang="en-US" sz="2200" dirty="0">
                <a:latin typeface="Times New Roman" pitchFamily="18" charset="0"/>
                <a:cs typeface="Times New Roman" pitchFamily="18" charset="0"/>
              </a:rPr>
              <a:t>of the main class of </a:t>
            </a:r>
            <a:r>
              <a:rPr lang="en-US" sz="2200" dirty="0" smtClean="0">
                <a:latin typeface="Times New Roman" pitchFamily="18" charset="0"/>
                <a:cs typeface="Times New Roman" pitchFamily="18" charset="0"/>
              </a:rPr>
              <a:t>interest  </a:t>
            </a:r>
            <a:r>
              <a:rPr lang="en-US" sz="2200" dirty="0">
                <a:latin typeface="Times New Roman" pitchFamily="18" charset="0"/>
                <a:cs typeface="Times New Roman" pitchFamily="18" charset="0"/>
              </a:rPr>
              <a:t>and </a:t>
            </a:r>
            <a:endParaRPr lang="en-US" sz="2200" dirty="0" smtClean="0">
              <a:latin typeface="Times New Roman" pitchFamily="18" charset="0"/>
              <a:cs typeface="Times New Roman" pitchFamily="18" charset="0"/>
            </a:endParaRPr>
          </a:p>
          <a:p>
            <a:pPr algn="just"/>
            <a:r>
              <a:rPr lang="en-US" sz="2200" dirty="0" smtClean="0">
                <a:solidFill>
                  <a:srgbClr val="00B050"/>
                </a:solidFill>
                <a:latin typeface="Times New Roman" pitchFamily="18" charset="0"/>
                <a:cs typeface="Times New Roman" pitchFamily="18" charset="0"/>
              </a:rPr>
              <a:t>Negative tuples (N) - </a:t>
            </a:r>
            <a:r>
              <a:rPr lang="en-US" sz="2200" dirty="0" smtClean="0">
                <a:latin typeface="Times New Roman" pitchFamily="18" charset="0"/>
                <a:cs typeface="Times New Roman" pitchFamily="18" charset="0"/>
              </a:rPr>
              <a:t>all </a:t>
            </a:r>
            <a:r>
              <a:rPr lang="en-US" sz="2200" dirty="0">
                <a:latin typeface="Times New Roman" pitchFamily="18" charset="0"/>
                <a:cs typeface="Times New Roman" pitchFamily="18" charset="0"/>
              </a:rPr>
              <a:t>other </a:t>
            </a:r>
            <a:r>
              <a:rPr lang="en-US" sz="2200" dirty="0" smtClean="0">
                <a:latin typeface="Times New Roman" pitchFamily="18" charset="0"/>
                <a:cs typeface="Times New Roman" pitchFamily="18" charset="0"/>
              </a:rPr>
              <a:t>tuples. </a:t>
            </a:r>
          </a:p>
          <a:p>
            <a:pPr algn="just"/>
            <a:endParaRPr lang="en-US" sz="2200" dirty="0" smtClean="0">
              <a:latin typeface="Times New Roman" pitchFamily="18" charset="0"/>
              <a:cs typeface="Times New Roman" pitchFamily="18" charset="0"/>
            </a:endParaRPr>
          </a:p>
          <a:p>
            <a:pPr algn="just"/>
            <a:r>
              <a:rPr lang="en-US" sz="2200" dirty="0" smtClean="0">
                <a:solidFill>
                  <a:srgbClr val="7030A0"/>
                </a:solidFill>
                <a:latin typeface="Times New Roman" pitchFamily="18" charset="0"/>
                <a:cs typeface="Times New Roman" pitchFamily="18" charset="0"/>
              </a:rPr>
              <a:t>Given </a:t>
            </a:r>
            <a:r>
              <a:rPr lang="en-US" sz="2200" dirty="0">
                <a:solidFill>
                  <a:srgbClr val="7030A0"/>
                </a:solidFill>
                <a:latin typeface="Times New Roman" pitchFamily="18" charset="0"/>
                <a:cs typeface="Times New Roman" pitchFamily="18" charset="0"/>
              </a:rPr>
              <a:t>two classes, for example, </a:t>
            </a:r>
            <a:r>
              <a:rPr lang="en-US" sz="2200" dirty="0">
                <a:latin typeface="Times New Roman" pitchFamily="18" charset="0"/>
                <a:cs typeface="Times New Roman" pitchFamily="18" charset="0"/>
              </a:rPr>
              <a:t>the positive tuples may be buys computer yes while the negative tuples are </a:t>
            </a:r>
            <a:r>
              <a:rPr lang="en-US" sz="2200" dirty="0" smtClean="0">
                <a:latin typeface="Times New Roman" pitchFamily="18" charset="0"/>
                <a:cs typeface="Times New Roman" pitchFamily="18" charset="0"/>
              </a:rPr>
              <a:t>buys computer </a:t>
            </a:r>
            <a:r>
              <a:rPr lang="en-US" sz="2200" dirty="0">
                <a:latin typeface="Times New Roman" pitchFamily="18" charset="0"/>
                <a:cs typeface="Times New Roman" pitchFamily="18" charset="0"/>
              </a:rPr>
              <a:t>no. Suppose we use our classifier on a test set of labeled tuples. P is the number of </a:t>
            </a:r>
            <a:r>
              <a:rPr lang="en-US" sz="2200" dirty="0" smtClean="0">
                <a:latin typeface="Times New Roman" pitchFamily="18" charset="0"/>
                <a:cs typeface="Times New Roman" pitchFamily="18" charset="0"/>
              </a:rPr>
              <a:t>positive tuples </a:t>
            </a:r>
            <a:r>
              <a:rPr lang="en-US" sz="2200" dirty="0">
                <a:latin typeface="Times New Roman" pitchFamily="18" charset="0"/>
                <a:cs typeface="Times New Roman" pitchFamily="18" charset="0"/>
              </a:rPr>
              <a:t>and N is the number of negative tuples. </a:t>
            </a:r>
            <a:endParaRPr lang="en-IN" sz="22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8613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08C0E861-D06C-B9C6-7E0D-9D7A857B6C04}"/>
              </a:ext>
            </a:extLst>
          </p:cNvPr>
          <p:cNvPicPr>
            <a:picLocks noChangeAspect="1"/>
          </p:cNvPicPr>
          <p:nvPr/>
        </p:nvPicPr>
        <p:blipFill>
          <a:blip r:embed="rId2"/>
          <a:stretch>
            <a:fillRect/>
          </a:stretch>
        </p:blipFill>
        <p:spPr>
          <a:xfrm>
            <a:off x="590843" y="337625"/>
            <a:ext cx="11029071" cy="6414867"/>
          </a:xfrm>
          <a:prstGeom prst="rect">
            <a:avLst/>
          </a:prstGeom>
        </p:spPr>
      </p:pic>
    </p:spTree>
    <p:extLst>
      <p:ext uri="{BB962C8B-B14F-4D97-AF65-F5344CB8AC3E}">
        <p14:creationId xmlns:p14="http://schemas.microsoft.com/office/powerpoint/2010/main" val="728804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3775" y="701458"/>
            <a:ext cx="11210795" cy="5170646"/>
          </a:xfrm>
          <a:prstGeom prst="rect">
            <a:avLst/>
          </a:prstGeom>
        </p:spPr>
        <p:txBody>
          <a:bodyPr wrap="square">
            <a:spAutoFit/>
          </a:bodyPr>
          <a:lstStyle/>
          <a:p>
            <a:pPr algn="just"/>
            <a:r>
              <a:rPr lang="en-US" sz="2200" dirty="0">
                <a:solidFill>
                  <a:srgbClr val="00B050"/>
                </a:solidFill>
                <a:latin typeface="Times New Roman" pitchFamily="18" charset="0"/>
                <a:cs typeface="Times New Roman" pitchFamily="18" charset="0"/>
              </a:rPr>
              <a:t>True positives </a:t>
            </a:r>
            <a:r>
              <a:rPr lang="en-US" sz="2200" dirty="0" smtClean="0">
                <a:solidFill>
                  <a:srgbClr val="00B050"/>
                </a:solidFill>
                <a:latin typeface="Times New Roman" pitchFamily="18" charset="0"/>
                <a:cs typeface="Times New Roman" pitchFamily="18" charset="0"/>
              </a:rPr>
              <a:t>(TP): </a:t>
            </a:r>
            <a:r>
              <a:rPr lang="en-US" sz="2200" dirty="0">
                <a:latin typeface="Times New Roman" pitchFamily="18" charset="0"/>
                <a:cs typeface="Times New Roman" pitchFamily="18" charset="0"/>
              </a:rPr>
              <a:t>These refer to the positive tuples that were correctly labeled by the classifier. Let TP be the number of true positives.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solidFill>
                  <a:srgbClr val="00B050"/>
                </a:solidFill>
                <a:latin typeface="Times New Roman" pitchFamily="18" charset="0"/>
                <a:cs typeface="Times New Roman" pitchFamily="18" charset="0"/>
              </a:rPr>
              <a:t>True </a:t>
            </a:r>
            <a:r>
              <a:rPr lang="en-US" sz="2200" dirty="0">
                <a:solidFill>
                  <a:srgbClr val="00B050"/>
                </a:solidFill>
                <a:latin typeface="Times New Roman" pitchFamily="18" charset="0"/>
                <a:cs typeface="Times New Roman" pitchFamily="18" charset="0"/>
              </a:rPr>
              <a:t>negatives </a:t>
            </a:r>
            <a:r>
              <a:rPr lang="en-US" sz="2200" dirty="0" smtClean="0">
                <a:solidFill>
                  <a:srgbClr val="00B050"/>
                </a:solidFill>
                <a:latin typeface="Times New Roman" pitchFamily="18" charset="0"/>
                <a:cs typeface="Times New Roman" pitchFamily="18" charset="0"/>
              </a:rPr>
              <a:t>(TN): </a:t>
            </a:r>
            <a:r>
              <a:rPr lang="en-US" sz="2200" dirty="0">
                <a:latin typeface="Times New Roman" pitchFamily="18" charset="0"/>
                <a:cs typeface="Times New Roman" pitchFamily="18" charset="0"/>
              </a:rPr>
              <a:t>These are the negative tuples that were correctly labeled by the classifier. Let TN be the number of true negatives.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solidFill>
                  <a:srgbClr val="00B050"/>
                </a:solidFill>
                <a:latin typeface="Times New Roman" pitchFamily="18" charset="0"/>
                <a:cs typeface="Times New Roman" pitchFamily="18" charset="0"/>
              </a:rPr>
              <a:t>False </a:t>
            </a:r>
            <a:r>
              <a:rPr lang="en-US" sz="2200" dirty="0">
                <a:solidFill>
                  <a:srgbClr val="00B050"/>
                </a:solidFill>
                <a:latin typeface="Times New Roman" pitchFamily="18" charset="0"/>
                <a:cs typeface="Times New Roman" pitchFamily="18" charset="0"/>
              </a:rPr>
              <a:t>positives </a:t>
            </a:r>
            <a:r>
              <a:rPr lang="en-US" sz="2200" dirty="0" smtClean="0">
                <a:solidFill>
                  <a:srgbClr val="00B050"/>
                </a:solidFill>
                <a:latin typeface="Times New Roman" pitchFamily="18" charset="0"/>
                <a:cs typeface="Times New Roman" pitchFamily="18" charset="0"/>
              </a:rPr>
              <a:t>(FP): </a:t>
            </a:r>
            <a:r>
              <a:rPr lang="en-US" sz="2200" dirty="0">
                <a:latin typeface="Times New Roman" pitchFamily="18" charset="0"/>
                <a:cs typeface="Times New Roman" pitchFamily="18" charset="0"/>
              </a:rPr>
              <a:t>These are the negative tuples that were incorrectly labeled as positive (e.g., tuples of class buys computer no for which the classifier predicted buys computer yes). Let FP be the number of false positives.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solidFill>
                  <a:srgbClr val="00B050"/>
                </a:solidFill>
                <a:latin typeface="Times New Roman" pitchFamily="18" charset="0"/>
                <a:cs typeface="Times New Roman" pitchFamily="18" charset="0"/>
              </a:rPr>
              <a:t>False </a:t>
            </a:r>
            <a:r>
              <a:rPr lang="en-US" sz="2200" dirty="0">
                <a:solidFill>
                  <a:srgbClr val="00B050"/>
                </a:solidFill>
                <a:latin typeface="Times New Roman" pitchFamily="18" charset="0"/>
                <a:cs typeface="Times New Roman" pitchFamily="18" charset="0"/>
              </a:rPr>
              <a:t>negatives </a:t>
            </a:r>
            <a:r>
              <a:rPr lang="en-US" sz="2200" dirty="0" smtClean="0">
                <a:solidFill>
                  <a:srgbClr val="00B050"/>
                </a:solidFill>
                <a:latin typeface="Times New Roman" pitchFamily="18" charset="0"/>
                <a:cs typeface="Times New Roman" pitchFamily="18" charset="0"/>
              </a:rPr>
              <a:t>(FN): </a:t>
            </a:r>
            <a:r>
              <a:rPr lang="en-US" sz="2200" dirty="0">
                <a:latin typeface="Times New Roman" pitchFamily="18" charset="0"/>
                <a:cs typeface="Times New Roman" pitchFamily="18" charset="0"/>
              </a:rPr>
              <a:t>These are the positive tuples that were mislabeled as </a:t>
            </a:r>
            <a:r>
              <a:rPr lang="en-US" sz="2200" dirty="0" smtClean="0">
                <a:latin typeface="Times New Roman" pitchFamily="18" charset="0"/>
                <a:cs typeface="Times New Roman" pitchFamily="18" charset="0"/>
              </a:rPr>
              <a:t>negative </a:t>
            </a:r>
            <a:r>
              <a:rPr lang="en-US" sz="2200" dirty="0">
                <a:latin typeface="Times New Roman" pitchFamily="18" charset="0"/>
                <a:cs typeface="Times New Roman" pitchFamily="18" charset="0"/>
              </a:rPr>
              <a:t>(e.g., tuples of class buys computer yes for which the classifier predicted buys computer no). Let FN be the number of false negatives</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a:solidFill>
                  <a:srgbClr val="7030A0"/>
                </a:solidFill>
                <a:latin typeface="Times New Roman" pitchFamily="18" charset="0"/>
                <a:cs typeface="Times New Roman" pitchFamily="18" charset="0"/>
              </a:rPr>
              <a:t>These terms are summarized in the confusion matrix </a:t>
            </a:r>
            <a:r>
              <a:rPr lang="en-US" sz="2200" dirty="0" smtClean="0">
                <a:solidFill>
                  <a:srgbClr val="7030A0"/>
                </a:solidFill>
                <a:latin typeface="Times New Roman" pitchFamily="18" charset="0"/>
                <a:cs typeface="Times New Roman" pitchFamily="18" charset="0"/>
              </a:rPr>
              <a:t>as follows:</a:t>
            </a:r>
            <a:endParaRPr lang="en-IN" sz="2200" dirty="0">
              <a:solidFill>
                <a:srgbClr val="7030A0"/>
              </a:solidFill>
              <a:latin typeface="Times New Roman" pitchFamily="18" charset="0"/>
              <a:cs typeface="Times New Roman" pitchFamily="18" charset="0"/>
            </a:endParaRPr>
          </a:p>
        </p:txBody>
      </p:sp>
    </p:spTree>
    <p:extLst>
      <p:ext uri="{BB962C8B-B14F-4D97-AF65-F5344CB8AC3E}">
        <p14:creationId xmlns:p14="http://schemas.microsoft.com/office/powerpoint/2010/main" val="2579726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405" y="676404"/>
            <a:ext cx="10847540" cy="579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4363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1327" y="1272631"/>
            <a:ext cx="8217073" cy="2179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38619" y="626300"/>
            <a:ext cx="11386159" cy="4893647"/>
          </a:xfrm>
          <a:prstGeom prst="rect">
            <a:avLst/>
          </a:prstGeom>
        </p:spPr>
        <p:txBody>
          <a:bodyPr wrap="square">
            <a:spAutoFit/>
          </a:bodyPr>
          <a:lstStyle/>
          <a:p>
            <a:pPr algn="just"/>
            <a:r>
              <a:rPr lang="en-US" sz="2200" dirty="0" smtClean="0">
                <a:latin typeface="Times New Roman" pitchFamily="18" charset="0"/>
                <a:cs typeface="Times New Roman" pitchFamily="18" charset="0"/>
              </a:rPr>
              <a:t>EX: Following Fig.  </a:t>
            </a:r>
            <a:r>
              <a:rPr lang="en-US" sz="2200" dirty="0">
                <a:latin typeface="Times New Roman" pitchFamily="18" charset="0"/>
                <a:cs typeface="Times New Roman" pitchFamily="18" charset="0"/>
              </a:rPr>
              <a:t>shows a confusion matrix for medical data where the class values are yes and no for a class </a:t>
            </a:r>
            <a:r>
              <a:rPr lang="en-US" sz="2200" dirty="0" smtClean="0">
                <a:latin typeface="Times New Roman" pitchFamily="18" charset="0"/>
                <a:cs typeface="Times New Roman" pitchFamily="18" charset="0"/>
              </a:rPr>
              <a:t>label attribute</a:t>
            </a:r>
            <a:r>
              <a:rPr lang="en-US" sz="2200" dirty="0">
                <a:latin typeface="Times New Roman" pitchFamily="18" charset="0"/>
                <a:cs typeface="Times New Roman" pitchFamily="18" charset="0"/>
              </a:rPr>
              <a:t>, cancer</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         Precision= 90/230 = 39.13 %     and</a:t>
            </a:r>
          </a:p>
          <a:p>
            <a:pPr algn="just"/>
            <a:r>
              <a:rPr lang="en-IN" sz="2200" dirty="0" smtClean="0">
                <a:latin typeface="Times New Roman" pitchFamily="18" charset="0"/>
                <a:cs typeface="Times New Roman" pitchFamily="18" charset="0"/>
              </a:rPr>
              <a:t>         Recall = 90/300 = 30.00 %</a:t>
            </a:r>
            <a:endParaRPr lang="en-IN" sz="2200"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448" y="3523150"/>
            <a:ext cx="9908086" cy="94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5843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8723" y="638827"/>
            <a:ext cx="11135639" cy="5170646"/>
          </a:xfrm>
          <a:prstGeom prst="rect">
            <a:avLst/>
          </a:prstGeom>
        </p:spPr>
        <p:txBody>
          <a:bodyPr wrap="square">
            <a:spAutoFit/>
          </a:bodyPr>
          <a:lstStyle/>
          <a:p>
            <a:pPr algn="just"/>
            <a:r>
              <a:rPr lang="en-US" sz="2200" dirty="0" smtClean="0">
                <a:latin typeface="Times New Roman" pitchFamily="18" charset="0"/>
                <a:cs typeface="Times New Roman" pitchFamily="18" charset="0"/>
              </a:rPr>
              <a:t>	In </a:t>
            </a:r>
            <a:r>
              <a:rPr lang="en-US" sz="2200" dirty="0">
                <a:latin typeface="Times New Roman" pitchFamily="18" charset="0"/>
                <a:cs typeface="Times New Roman" pitchFamily="18" charset="0"/>
              </a:rPr>
              <a:t>addition to accuracy-based measures, classifiers can also be compared with respect to the following </a:t>
            </a:r>
            <a:r>
              <a:rPr lang="en-US" sz="2200" dirty="0" smtClean="0">
                <a:latin typeface="Times New Roman" pitchFamily="18" charset="0"/>
                <a:cs typeface="Times New Roman" pitchFamily="18" charset="0"/>
              </a:rPr>
              <a:t>additional aspects</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solidFill>
                  <a:srgbClr val="00B050"/>
                </a:solidFill>
                <a:latin typeface="Times New Roman" pitchFamily="18" charset="0"/>
                <a:cs typeface="Times New Roman" pitchFamily="18" charset="0"/>
              </a:rPr>
              <a:t>Speed</a:t>
            </a:r>
            <a:r>
              <a:rPr lang="en-US" sz="2200" dirty="0">
                <a:solidFill>
                  <a:srgbClr val="00B050"/>
                </a:solidFill>
                <a:latin typeface="Times New Roman" pitchFamily="18" charset="0"/>
                <a:cs typeface="Times New Roman" pitchFamily="18" charset="0"/>
              </a:rPr>
              <a:t>: </a:t>
            </a:r>
            <a:r>
              <a:rPr lang="en-US" sz="2200" dirty="0">
                <a:latin typeface="Times New Roman" pitchFamily="18" charset="0"/>
                <a:cs typeface="Times New Roman" pitchFamily="18" charset="0"/>
              </a:rPr>
              <a:t>This refers to the computational costs involved in generating and using the given classifier.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solidFill>
                  <a:srgbClr val="00B050"/>
                </a:solidFill>
                <a:latin typeface="Times New Roman" pitchFamily="18" charset="0"/>
                <a:cs typeface="Times New Roman" pitchFamily="18" charset="0"/>
              </a:rPr>
              <a:t>Robustness</a:t>
            </a:r>
            <a:r>
              <a:rPr lang="en-US" sz="2200" dirty="0">
                <a:solidFill>
                  <a:srgbClr val="00B050"/>
                </a:solidFill>
                <a:latin typeface="Times New Roman" pitchFamily="18" charset="0"/>
                <a:cs typeface="Times New Roman" pitchFamily="18" charset="0"/>
              </a:rPr>
              <a:t>: </a:t>
            </a:r>
            <a:r>
              <a:rPr lang="en-US" sz="2200" dirty="0">
                <a:latin typeface="Times New Roman" pitchFamily="18" charset="0"/>
                <a:cs typeface="Times New Roman" pitchFamily="18" charset="0"/>
              </a:rPr>
              <a:t>This is the ability of the classifier to make correct predictions given noisy data or data with missing values. Robustness is typically assessed with a series of synthetic data sets representing increasing degrees of noise and missing values.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solidFill>
                  <a:srgbClr val="00B050"/>
                </a:solidFill>
                <a:latin typeface="Times New Roman" pitchFamily="18" charset="0"/>
                <a:cs typeface="Times New Roman" pitchFamily="18" charset="0"/>
              </a:rPr>
              <a:t>Scalability</a:t>
            </a:r>
            <a:r>
              <a:rPr lang="en-US" sz="2200" dirty="0">
                <a:solidFill>
                  <a:srgbClr val="00B050"/>
                </a:solidFill>
                <a:latin typeface="Times New Roman" pitchFamily="18" charset="0"/>
                <a:cs typeface="Times New Roman" pitchFamily="18" charset="0"/>
              </a:rPr>
              <a:t>:</a:t>
            </a:r>
            <a:r>
              <a:rPr lang="en-US" sz="2200" dirty="0">
                <a:latin typeface="Times New Roman" pitchFamily="18" charset="0"/>
                <a:cs typeface="Times New Roman" pitchFamily="18" charset="0"/>
              </a:rPr>
              <a:t> This refers to the ability to construct the classifier efficiently given large </a:t>
            </a:r>
            <a:r>
              <a:rPr lang="en-US" sz="2200" dirty="0" smtClean="0">
                <a:latin typeface="Times New Roman" pitchFamily="18" charset="0"/>
                <a:cs typeface="Times New Roman" pitchFamily="18" charset="0"/>
              </a:rPr>
              <a:t>amounts of data</a:t>
            </a:r>
            <a:r>
              <a:rPr lang="en-US" sz="2200" dirty="0">
                <a:latin typeface="Times New Roman" pitchFamily="18" charset="0"/>
                <a:cs typeface="Times New Roman" pitchFamily="18" charset="0"/>
              </a:rPr>
              <a:t>. Scalability is typically assessed with a series of data sets of increasing size. </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smtClean="0">
                <a:solidFill>
                  <a:srgbClr val="00B050"/>
                </a:solidFill>
                <a:latin typeface="Times New Roman" pitchFamily="18" charset="0"/>
                <a:cs typeface="Times New Roman" pitchFamily="18" charset="0"/>
              </a:rPr>
              <a:t>Interpretability</a:t>
            </a:r>
            <a:r>
              <a:rPr lang="en-US" sz="2200" dirty="0">
                <a:latin typeface="Times New Roman" pitchFamily="18" charset="0"/>
                <a:cs typeface="Times New Roman" pitchFamily="18" charset="0"/>
              </a:rPr>
              <a:t>: This refers to the level of understanding and insight that is provided by the classifier or predictor.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052969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493" y="3820377"/>
            <a:ext cx="7928975" cy="2943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76614" y="588723"/>
            <a:ext cx="10947748" cy="3231654"/>
          </a:xfrm>
          <a:prstGeom prst="rect">
            <a:avLst/>
          </a:prstGeom>
        </p:spPr>
        <p:txBody>
          <a:bodyPr wrap="square">
            <a:spAutoFit/>
          </a:bodyPr>
          <a:lstStyle/>
          <a:p>
            <a:pPr algn="just"/>
            <a:r>
              <a:rPr lang="en-US" sz="2200" dirty="0">
                <a:solidFill>
                  <a:srgbClr val="00B050"/>
                </a:solidFill>
                <a:latin typeface="Times New Roman" pitchFamily="18" charset="0"/>
                <a:cs typeface="Times New Roman" pitchFamily="18" charset="0"/>
              </a:rPr>
              <a:t>Holdout Method and Random </a:t>
            </a:r>
            <a:r>
              <a:rPr lang="en-US" sz="2200" dirty="0" smtClean="0">
                <a:solidFill>
                  <a:srgbClr val="00B050"/>
                </a:solidFill>
                <a:latin typeface="Times New Roman" pitchFamily="18" charset="0"/>
                <a:cs typeface="Times New Roman" pitchFamily="18" charset="0"/>
              </a:rPr>
              <a:t>Subsampling:</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In </a:t>
            </a:r>
            <a:r>
              <a:rPr lang="en-US" sz="2200" dirty="0">
                <a:latin typeface="Times New Roman" pitchFamily="18" charset="0"/>
                <a:cs typeface="Times New Roman" pitchFamily="18" charset="0"/>
              </a:rPr>
              <a:t>this method, the given data are randomly partitioned into two independent sets, a training set and a test set. Typically, two-thirds of the data are allocated to the training set, and the remaining one-third is allocated to the test set. The training set is used to derive the model. The model’s accuracy is then estimated with the test </a:t>
            </a:r>
            <a:r>
              <a:rPr lang="en-US" sz="2200" dirty="0" smtClean="0">
                <a:latin typeface="Times New Roman" pitchFamily="18" charset="0"/>
                <a:cs typeface="Times New Roman" pitchFamily="18" charset="0"/>
              </a:rPr>
              <a:t>set as following fig. </a:t>
            </a:r>
            <a:r>
              <a:rPr lang="en-US" sz="2200" dirty="0">
                <a:latin typeface="Times New Roman" pitchFamily="18" charset="0"/>
                <a:cs typeface="Times New Roman" pitchFamily="18" charset="0"/>
              </a:rPr>
              <a:t>The estimate is pessimistic because only a portion of the initial data is used to derive the model</a:t>
            </a:r>
            <a:r>
              <a:rPr lang="en-US" sz="2200" dirty="0" smtClean="0">
                <a:latin typeface="Times New Roman" pitchFamily="18" charset="0"/>
                <a:cs typeface="Times New Roman" pitchFamily="18" charset="0"/>
              </a:rPr>
              <a:t>.</a:t>
            </a:r>
          </a:p>
          <a:p>
            <a:pPr algn="just"/>
            <a:r>
              <a:rPr lang="en-US" sz="2200" dirty="0" smtClean="0">
                <a:latin typeface="Times New Roman" pitchFamily="18" charset="0"/>
                <a:cs typeface="Times New Roman" pitchFamily="18" charset="0"/>
              </a:rPr>
              <a:t>	</a:t>
            </a:r>
            <a:r>
              <a:rPr lang="en-US" sz="2200" dirty="0" smtClean="0">
                <a:solidFill>
                  <a:srgbClr val="00B050"/>
                </a:solidFill>
                <a:latin typeface="Times New Roman" pitchFamily="18" charset="0"/>
                <a:cs typeface="Times New Roman" pitchFamily="18" charset="0"/>
              </a:rPr>
              <a:t>Random </a:t>
            </a:r>
            <a:r>
              <a:rPr lang="en-US" sz="2200" dirty="0">
                <a:solidFill>
                  <a:srgbClr val="00B050"/>
                </a:solidFill>
                <a:latin typeface="Times New Roman" pitchFamily="18" charset="0"/>
                <a:cs typeface="Times New Roman" pitchFamily="18" charset="0"/>
              </a:rPr>
              <a:t>subsampling </a:t>
            </a:r>
            <a:r>
              <a:rPr lang="en-US" sz="2200" dirty="0">
                <a:latin typeface="Times New Roman" pitchFamily="18" charset="0"/>
                <a:cs typeface="Times New Roman" pitchFamily="18" charset="0"/>
              </a:rPr>
              <a:t>is a variation of the holdout method in which the holdout method is repeated k times. The overall accuracy estimate is taken as the average of the accuracies obtained from each iteration.</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461659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0937" y="701458"/>
            <a:ext cx="11273425" cy="5509200"/>
          </a:xfrm>
          <a:prstGeom prst="rect">
            <a:avLst/>
          </a:prstGeom>
        </p:spPr>
        <p:txBody>
          <a:bodyPr wrap="square">
            <a:spAutoFit/>
          </a:bodyPr>
          <a:lstStyle/>
          <a:p>
            <a:pPr algn="just"/>
            <a:r>
              <a:rPr lang="en-US" sz="2200" dirty="0" smtClean="0">
                <a:solidFill>
                  <a:srgbClr val="00B050"/>
                </a:solidFill>
                <a:latin typeface="Times New Roman" pitchFamily="18" charset="0"/>
                <a:cs typeface="Times New Roman" pitchFamily="18" charset="0"/>
              </a:rPr>
              <a:t>Cross-Validation:</a:t>
            </a:r>
            <a:r>
              <a:rPr lang="en-US" sz="2200" dirty="0" smtClean="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a:t>
            </a:r>
            <a:r>
              <a:rPr lang="en-US" sz="2200" dirty="0" smtClean="0">
                <a:solidFill>
                  <a:srgbClr val="00B050"/>
                </a:solidFill>
                <a:latin typeface="Times New Roman" pitchFamily="18" charset="0"/>
                <a:cs typeface="Times New Roman" pitchFamily="18" charset="0"/>
              </a:rPr>
              <a:t>In </a:t>
            </a:r>
            <a:r>
              <a:rPr lang="en-US" sz="2200" dirty="0">
                <a:solidFill>
                  <a:srgbClr val="00B050"/>
                </a:solidFill>
                <a:latin typeface="Times New Roman" pitchFamily="18" charset="0"/>
                <a:cs typeface="Times New Roman" pitchFamily="18" charset="0"/>
              </a:rPr>
              <a:t>k-fold cross-validation</a:t>
            </a:r>
            <a:r>
              <a:rPr lang="en-US" sz="2200" dirty="0">
                <a:latin typeface="Times New Roman" pitchFamily="18" charset="0"/>
                <a:cs typeface="Times New Roman" pitchFamily="18" charset="0"/>
              </a:rPr>
              <a:t>, the initial data are randomly partitioned into k mutually exclusive subsets or “folds,” D1, D2, , </a:t>
            </a:r>
            <a:r>
              <a:rPr lang="en-US" sz="2200" dirty="0" err="1">
                <a:latin typeface="Times New Roman" pitchFamily="18" charset="0"/>
                <a:cs typeface="Times New Roman" pitchFamily="18" charset="0"/>
              </a:rPr>
              <a:t>Dk</a:t>
            </a:r>
            <a:r>
              <a:rPr lang="en-US" sz="2200" dirty="0">
                <a:latin typeface="Times New Roman" pitchFamily="18" charset="0"/>
                <a:cs typeface="Times New Roman" pitchFamily="18" charset="0"/>
              </a:rPr>
              <a:t>, each of approximately equal size. Training and testing is performed k times. In iteration i, partition Di is reserved as the test set, and the remaining partitions are collectively used to train the model. That is, in the </a:t>
            </a:r>
            <a:r>
              <a:rPr lang="en-US" sz="2200" dirty="0" smtClean="0">
                <a:latin typeface="Times New Roman" pitchFamily="18" charset="0"/>
                <a:cs typeface="Times New Roman" pitchFamily="18" charset="0"/>
              </a:rPr>
              <a:t>first </a:t>
            </a:r>
            <a:r>
              <a:rPr lang="en-US" sz="2200" dirty="0">
                <a:latin typeface="Times New Roman" pitchFamily="18" charset="0"/>
                <a:cs typeface="Times New Roman" pitchFamily="18" charset="0"/>
              </a:rPr>
              <a:t>iteration, subsets D2, , </a:t>
            </a:r>
            <a:r>
              <a:rPr lang="en-US" sz="2200" dirty="0" err="1">
                <a:latin typeface="Times New Roman" pitchFamily="18" charset="0"/>
                <a:cs typeface="Times New Roman" pitchFamily="18" charset="0"/>
              </a:rPr>
              <a:t>Dk</a:t>
            </a:r>
            <a:r>
              <a:rPr lang="en-US" sz="2200" dirty="0">
                <a:latin typeface="Times New Roman" pitchFamily="18" charset="0"/>
                <a:cs typeface="Times New Roman" pitchFamily="18" charset="0"/>
              </a:rPr>
              <a:t> collectively serve as the training set to obtain a first model, which is tested on D1; the second iteration is trained on subsets D1, D3, , </a:t>
            </a:r>
            <a:r>
              <a:rPr lang="en-US" sz="2200" dirty="0" err="1">
                <a:latin typeface="Times New Roman" pitchFamily="18" charset="0"/>
                <a:cs typeface="Times New Roman" pitchFamily="18" charset="0"/>
              </a:rPr>
              <a:t>Dk</a:t>
            </a:r>
            <a:r>
              <a:rPr lang="en-US" sz="2200" dirty="0">
                <a:latin typeface="Times New Roman" pitchFamily="18" charset="0"/>
                <a:cs typeface="Times New Roman" pitchFamily="18" charset="0"/>
              </a:rPr>
              <a:t> and tested on D2; and so on. </a:t>
            </a:r>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Unlike </a:t>
            </a:r>
            <a:r>
              <a:rPr lang="en-US" sz="2200" dirty="0">
                <a:latin typeface="Times New Roman" pitchFamily="18" charset="0"/>
                <a:cs typeface="Times New Roman" pitchFamily="18" charset="0"/>
              </a:rPr>
              <a:t>the holdout and random subsampling methods, here each sample is used the same number of times for training and once for testing. For classification, the accuracy estimate is the overall number of correct classifications from the k iterations, divided by the total number of tuples in the initial data.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en-US" sz="2200" dirty="0" smtClean="0">
                <a:solidFill>
                  <a:srgbClr val="00B050"/>
                </a:solidFill>
                <a:latin typeface="Times New Roman" pitchFamily="18" charset="0"/>
                <a:cs typeface="Times New Roman" pitchFamily="18" charset="0"/>
              </a:rPr>
              <a:t>Leave-one-out</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is a special case of k-fold cross-validation where k is set to the number of initial tuples. That is, only one sample is “left out” at a time for the test set. </a:t>
            </a:r>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smtClean="0">
                <a:solidFill>
                  <a:srgbClr val="00B050"/>
                </a:solidFill>
                <a:latin typeface="Times New Roman" pitchFamily="18" charset="0"/>
                <a:cs typeface="Times New Roman" pitchFamily="18" charset="0"/>
              </a:rPr>
              <a:t>In stratified </a:t>
            </a:r>
            <a:r>
              <a:rPr lang="en-US" sz="2200" dirty="0">
                <a:solidFill>
                  <a:srgbClr val="00B050"/>
                </a:solidFill>
                <a:latin typeface="Times New Roman" pitchFamily="18" charset="0"/>
                <a:cs typeface="Times New Roman" pitchFamily="18" charset="0"/>
              </a:rPr>
              <a:t>cross-validation,</a:t>
            </a:r>
            <a:r>
              <a:rPr lang="en-US" sz="2200" dirty="0">
                <a:latin typeface="Times New Roman" pitchFamily="18" charset="0"/>
                <a:cs typeface="Times New Roman" pitchFamily="18" charset="0"/>
              </a:rPr>
              <a:t> the folds are stratified so that the class distribution of the tuples in each fold is approximately the same as that in the initial data.</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4246893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151" y="450937"/>
            <a:ext cx="11611627" cy="4493538"/>
          </a:xfrm>
          <a:prstGeom prst="rect">
            <a:avLst/>
          </a:prstGeom>
        </p:spPr>
        <p:txBody>
          <a:bodyPr wrap="square">
            <a:spAutoFit/>
          </a:bodyPr>
          <a:lstStyle/>
          <a:p>
            <a:pPr algn="just"/>
            <a:r>
              <a:rPr lang="en-US" dirty="0" smtClean="0"/>
              <a:t>	</a:t>
            </a:r>
            <a:r>
              <a:rPr lang="en-US" sz="2200" dirty="0" smtClean="0">
                <a:solidFill>
                  <a:srgbClr val="00B050"/>
                </a:solidFill>
                <a:latin typeface="Times New Roman" pitchFamily="18" charset="0"/>
                <a:cs typeface="Times New Roman" pitchFamily="18" charset="0"/>
              </a:rPr>
              <a:t>Bootstrap </a:t>
            </a:r>
            <a:r>
              <a:rPr lang="en-US" sz="2200" dirty="0">
                <a:solidFill>
                  <a:srgbClr val="00B050"/>
                </a:solidFill>
                <a:latin typeface="Times New Roman" pitchFamily="18" charset="0"/>
                <a:cs typeface="Times New Roman" pitchFamily="18" charset="0"/>
              </a:rPr>
              <a:t>Unlike the accuracy </a:t>
            </a:r>
            <a:r>
              <a:rPr lang="en-US" sz="2200" dirty="0">
                <a:latin typeface="Times New Roman" pitchFamily="18" charset="0"/>
                <a:cs typeface="Times New Roman" pitchFamily="18" charset="0"/>
              </a:rPr>
              <a:t>estimation methods just mentioned, the bootstrap method </a:t>
            </a:r>
            <a:r>
              <a:rPr lang="en-US" sz="2200" dirty="0" smtClean="0">
                <a:latin typeface="Times New Roman" pitchFamily="18" charset="0"/>
                <a:cs typeface="Times New Roman" pitchFamily="18" charset="0"/>
              </a:rPr>
              <a:t>samples </a:t>
            </a:r>
            <a:r>
              <a:rPr lang="en-US" sz="2200" dirty="0">
                <a:latin typeface="Times New Roman" pitchFamily="18" charset="0"/>
                <a:cs typeface="Times New Roman" pitchFamily="18" charset="0"/>
              </a:rPr>
              <a:t>the given training tuples uniformly with replacement. That is, each time a tuple is selected, it is equally likely to be selected again and re-added to the training set. </a:t>
            </a:r>
          </a:p>
          <a:p>
            <a:pPr algn="just"/>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a:solidFill>
                  <a:srgbClr val="00B050"/>
                </a:solidFill>
                <a:latin typeface="Times New Roman" pitchFamily="18" charset="0"/>
                <a:cs typeface="Times New Roman" pitchFamily="18" charset="0"/>
              </a:rPr>
              <a:t>There are several bootstrap methods</a:t>
            </a:r>
            <a:r>
              <a:rPr lang="en-US" sz="2200" dirty="0">
                <a:latin typeface="Times New Roman" pitchFamily="18" charset="0"/>
                <a:cs typeface="Times New Roman" pitchFamily="18" charset="0"/>
              </a:rPr>
              <a:t>. </a:t>
            </a:r>
            <a:r>
              <a:rPr lang="en-US" sz="2200" dirty="0">
                <a:solidFill>
                  <a:srgbClr val="7030A0"/>
                </a:solidFill>
                <a:latin typeface="Times New Roman" pitchFamily="18" charset="0"/>
                <a:cs typeface="Times New Roman" pitchFamily="18" charset="0"/>
              </a:rPr>
              <a:t>A commonly used one is the .632 bootstrap, which works as </a:t>
            </a:r>
            <a:r>
              <a:rPr lang="en-US" sz="2200" dirty="0" smtClean="0">
                <a:solidFill>
                  <a:srgbClr val="7030A0"/>
                </a:solidFill>
                <a:latin typeface="Times New Roman" pitchFamily="18" charset="0"/>
                <a:cs typeface="Times New Roman" pitchFamily="18" charset="0"/>
              </a:rPr>
              <a:t>follows:</a:t>
            </a:r>
            <a:r>
              <a:rPr lang="en-US" sz="2200" dirty="0" smtClean="0">
                <a:latin typeface="Times New Roman" pitchFamily="18" charset="0"/>
                <a:cs typeface="Times New Roman" pitchFamily="18" charset="0"/>
              </a:rPr>
              <a:t> </a:t>
            </a:r>
          </a:p>
          <a:p>
            <a:pPr algn="just"/>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Suppose </a:t>
            </a:r>
            <a:r>
              <a:rPr lang="en-US" sz="2200" dirty="0">
                <a:latin typeface="Times New Roman" pitchFamily="18" charset="0"/>
                <a:cs typeface="Times New Roman" pitchFamily="18" charset="0"/>
              </a:rPr>
              <a:t>we are given a data set of d tuples. The data set is sampled d times, with replacement, resulting in a bootstrap sample or training set of d samples. It is very likely that some of the original data tuples will occur more than once in this sample. The data tuples that did not make it into the training set end up forming the test set. Suppose we were to try this out several times. As it turns out, on average, 63.2% of the original data tuples will end up in the bootstrap sample, and the remaining 36.8% will form the test set (hence, the name, .632 bootstrap</a:t>
            </a:r>
            <a:r>
              <a:rPr lang="en-US" sz="2200" dirty="0" smtClean="0">
                <a:latin typeface="Times New Roman" pitchFamily="18" charset="0"/>
                <a:cs typeface="Times New Roman" pitchFamily="18" charset="0"/>
              </a:rPr>
              <a:t>).</a:t>
            </a:r>
          </a:p>
          <a:p>
            <a:pPr algn="just"/>
            <a:r>
              <a:rPr lang="en-US" sz="2200" dirty="0">
                <a:latin typeface="Times New Roman" pitchFamily="18" charset="0"/>
                <a:cs typeface="Times New Roman" pitchFamily="18" charset="0"/>
              </a:rPr>
              <a:t>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604317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8723" y="826719"/>
            <a:ext cx="11223321" cy="3139321"/>
          </a:xfrm>
          <a:prstGeom prst="rect">
            <a:avLst/>
          </a:prstGeom>
        </p:spPr>
        <p:txBody>
          <a:bodyPr wrap="square">
            <a:spAutoFit/>
          </a:bodyPr>
          <a:lstStyle/>
          <a:p>
            <a:pPr algn="just"/>
            <a:r>
              <a:rPr lang="en-US" sz="2200" dirty="0" smtClean="0">
                <a:latin typeface="Times New Roman" pitchFamily="18" charset="0"/>
                <a:cs typeface="Times New Roman" pitchFamily="18" charset="0"/>
              </a:rPr>
              <a:t>	</a:t>
            </a:r>
            <a:r>
              <a:rPr lang="en-US" sz="2200" dirty="0" smtClean="0">
                <a:solidFill>
                  <a:srgbClr val="00B050"/>
                </a:solidFill>
                <a:latin typeface="Times New Roman" pitchFamily="18" charset="0"/>
                <a:cs typeface="Times New Roman" pitchFamily="18" charset="0"/>
              </a:rPr>
              <a:t>“</a:t>
            </a:r>
            <a:r>
              <a:rPr lang="en-US" sz="2200" dirty="0">
                <a:solidFill>
                  <a:srgbClr val="00B050"/>
                </a:solidFill>
                <a:latin typeface="Times New Roman" pitchFamily="18" charset="0"/>
                <a:cs typeface="Times New Roman" pitchFamily="18" charset="0"/>
              </a:rPr>
              <a:t>Where does the figure, 63.2%, come from?” </a:t>
            </a:r>
            <a:r>
              <a:rPr lang="en-US" sz="2200" dirty="0">
                <a:latin typeface="Times New Roman" pitchFamily="18" charset="0"/>
                <a:cs typeface="Times New Roman" pitchFamily="18" charset="0"/>
              </a:rPr>
              <a:t>Each tuple has a probability of </a:t>
            </a:r>
            <a:r>
              <a:rPr lang="en-US" sz="2200" dirty="0" smtClean="0">
                <a:latin typeface="Times New Roman" pitchFamily="18" charset="0"/>
                <a:cs typeface="Times New Roman" pitchFamily="18" charset="0"/>
              </a:rPr>
              <a:t>1/d </a:t>
            </a:r>
            <a:r>
              <a:rPr lang="en-US" sz="2200" dirty="0">
                <a:latin typeface="Times New Roman" pitchFamily="18" charset="0"/>
                <a:cs typeface="Times New Roman" pitchFamily="18" charset="0"/>
              </a:rPr>
              <a:t>of being selected, so the probability of not being chosen is (</a:t>
            </a:r>
            <a:r>
              <a:rPr lang="en-US" sz="2200" dirty="0" smtClean="0">
                <a:latin typeface="Times New Roman" pitchFamily="18" charset="0"/>
                <a:cs typeface="Times New Roman" pitchFamily="18" charset="0"/>
              </a:rPr>
              <a:t>1-1/d). </a:t>
            </a:r>
            <a:r>
              <a:rPr lang="en-US" sz="2200" dirty="0">
                <a:latin typeface="Times New Roman" pitchFamily="18" charset="0"/>
                <a:cs typeface="Times New Roman" pitchFamily="18" charset="0"/>
              </a:rPr>
              <a:t>We have to select d times, so the probability that a tuple will not be chosen during this whole time is </a:t>
            </a:r>
            <a:r>
              <a:rPr lang="en-US" sz="2200" dirty="0" smtClean="0">
                <a:latin typeface="Times New Roman" pitchFamily="18" charset="0"/>
                <a:cs typeface="Times New Roman" pitchFamily="18" charset="0"/>
              </a:rPr>
              <a:t>(1-1/d)</a:t>
            </a:r>
            <a:r>
              <a:rPr lang="en-US" sz="2200" baseline="30000" dirty="0" smtClean="0">
                <a:latin typeface="Times New Roman" pitchFamily="18" charset="0"/>
                <a:cs typeface="Times New Roman" pitchFamily="18" charset="0"/>
              </a:rPr>
              <a:t>d</a:t>
            </a:r>
            <a:r>
              <a:rPr lang="en-US" sz="2200" dirty="0" smtClean="0">
                <a:latin typeface="Times New Roman" pitchFamily="18" charset="0"/>
                <a:cs typeface="Times New Roman" pitchFamily="18" charset="0"/>
              </a:rPr>
              <a:t>. If d is large</a:t>
            </a:r>
            <a:r>
              <a:rPr lang="en-US" sz="2200" dirty="0">
                <a:latin typeface="Times New Roman" pitchFamily="18" charset="0"/>
                <a:cs typeface="Times New Roman" pitchFamily="18" charset="0"/>
              </a:rPr>
              <a:t>, the probability approaches </a:t>
            </a:r>
            <a:r>
              <a:rPr lang="en-US" sz="2200" dirty="0" smtClean="0">
                <a:latin typeface="Times New Roman" pitchFamily="18" charset="0"/>
                <a:cs typeface="Times New Roman" pitchFamily="18" charset="0"/>
              </a:rPr>
              <a:t>e</a:t>
            </a:r>
            <a:r>
              <a:rPr lang="en-US" sz="2200" baseline="30000" dirty="0" smtClean="0">
                <a:latin typeface="Times New Roman" pitchFamily="18" charset="0"/>
                <a:cs typeface="Times New Roman" pitchFamily="18" charset="0"/>
              </a:rPr>
              <a:t>-1</a:t>
            </a:r>
            <a:r>
              <a:rPr lang="en-US" sz="2200" dirty="0" smtClean="0">
                <a:latin typeface="Times New Roman" pitchFamily="18" charset="0"/>
                <a:cs typeface="Times New Roman" pitchFamily="18" charset="0"/>
              </a:rPr>
              <a:t> = 0.368</a:t>
            </a:r>
            <a:r>
              <a:rPr lang="en-US" sz="2200" baseline="30000" dirty="0" smtClean="0">
                <a:latin typeface="Times New Roman" pitchFamily="18" charset="0"/>
                <a:cs typeface="Times New Roman" pitchFamily="18" charset="0"/>
              </a:rPr>
              <a:t>7</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Thus, 36.8% of tuples will not be selected for training and thereby end up in the test set, and the remaining 63.2% will form the training set</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We can repeat the sampling procedure k times, where in each iteration, we use the current test set to obtain an accuracy estimate of the model obtained from the current bootstrap sample. The overall accuracy of the model, M, is then estimated </a:t>
            </a:r>
            <a:r>
              <a:rPr lang="en-US" sz="2200" dirty="0" smtClean="0">
                <a:latin typeface="Times New Roman" pitchFamily="18" charset="0"/>
                <a:cs typeface="Times New Roman" pitchFamily="18" charset="0"/>
              </a:rPr>
              <a:t>as:</a:t>
            </a:r>
            <a:endParaRPr lang="en-IN" sz="22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9764" y="5195106"/>
            <a:ext cx="10509337" cy="146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4477" y="4258849"/>
            <a:ext cx="8304755" cy="936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515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3255" y="300625"/>
            <a:ext cx="11561523" cy="4185761"/>
          </a:xfrm>
          <a:prstGeom prst="rect">
            <a:avLst/>
          </a:prstGeom>
        </p:spPr>
        <p:txBody>
          <a:bodyPr wrap="square">
            <a:spAutoFit/>
          </a:bodyPr>
          <a:lstStyle/>
          <a:p>
            <a:pPr algn="just"/>
            <a:r>
              <a:rPr lang="en-US" sz="2400" dirty="0">
                <a:solidFill>
                  <a:srgbClr val="00B050"/>
                </a:solidFill>
                <a:latin typeface="Times New Roman" pitchFamily="18" charset="0"/>
                <a:cs typeface="Times New Roman" pitchFamily="18" charset="0"/>
              </a:rPr>
              <a:t>Model Selection Using Statistical Tests of </a:t>
            </a:r>
            <a:r>
              <a:rPr lang="en-US" sz="2400" dirty="0" smtClean="0">
                <a:solidFill>
                  <a:srgbClr val="00B050"/>
                </a:solidFill>
                <a:latin typeface="Times New Roman" pitchFamily="18" charset="0"/>
                <a:cs typeface="Times New Roman" pitchFamily="18" charset="0"/>
              </a:rPr>
              <a:t>Significance: </a:t>
            </a:r>
          </a:p>
          <a:p>
            <a:pPr algn="just"/>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Suppose </a:t>
            </a:r>
            <a:r>
              <a:rPr lang="en-US" sz="2200" dirty="0">
                <a:latin typeface="Times New Roman" pitchFamily="18" charset="0"/>
                <a:cs typeface="Times New Roman" pitchFamily="18" charset="0"/>
              </a:rPr>
              <a:t>that we have generated two classification models, M1 and M2, from our data. </a:t>
            </a:r>
            <a:r>
              <a:rPr lang="en-US" sz="2200" dirty="0" smtClean="0">
                <a:latin typeface="Times New Roman" pitchFamily="18" charset="0"/>
                <a:cs typeface="Times New Roman" pitchFamily="18" charset="0"/>
              </a:rPr>
              <a:t>We have </a:t>
            </a:r>
            <a:r>
              <a:rPr lang="en-US" sz="2200" dirty="0">
                <a:latin typeface="Times New Roman" pitchFamily="18" charset="0"/>
                <a:cs typeface="Times New Roman" pitchFamily="18" charset="0"/>
              </a:rPr>
              <a:t>performed 10-fold cross-validation to obtain a mean error </a:t>
            </a:r>
            <a:r>
              <a:rPr lang="en-US" sz="2200" dirty="0" smtClean="0">
                <a:latin typeface="Times New Roman" pitchFamily="18" charset="0"/>
                <a:cs typeface="Times New Roman" pitchFamily="18" charset="0"/>
              </a:rPr>
              <a:t>rate </a:t>
            </a:r>
            <a:r>
              <a:rPr lang="en-US" sz="2200" dirty="0">
                <a:latin typeface="Times New Roman" pitchFamily="18" charset="0"/>
                <a:cs typeface="Times New Roman" pitchFamily="18" charset="0"/>
              </a:rPr>
              <a:t>for each. How can we determine which model is best? It may seem intuitive to select the model with the lowest error rate.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There </a:t>
            </a:r>
            <a:r>
              <a:rPr lang="en-US" sz="2200" dirty="0">
                <a:latin typeface="Times New Roman" pitchFamily="18" charset="0"/>
                <a:cs typeface="Times New Roman" pitchFamily="18" charset="0"/>
              </a:rPr>
              <a:t>can be considerable variance between error rates within any given 10-fold cross-validation experiment. Although the mean error rates obtained for M1 and M2 may appear different, that difference may not be statistically significant. To determine if there is any “real” difference in the mean error rates of two models, we need to employ a test of statistical significance</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497270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9036" y="388307"/>
            <a:ext cx="10809961" cy="4493538"/>
          </a:xfrm>
          <a:prstGeom prst="rect">
            <a:avLst/>
          </a:prstGeom>
        </p:spPr>
        <p:txBody>
          <a:bodyPr wrap="square">
            <a:spAutoFit/>
          </a:bodyPr>
          <a:lstStyle/>
          <a:p>
            <a:pPr algn="just"/>
            <a:r>
              <a:rPr lang="en-US" dirty="0" smtClean="0">
                <a:latin typeface="Times New Roman" pitchFamily="18" charset="0"/>
                <a:cs typeface="Times New Roman" pitchFamily="18" charset="0"/>
              </a:rPr>
              <a:t>	</a:t>
            </a:r>
            <a:r>
              <a:rPr lang="en-US" sz="2200" dirty="0" smtClean="0">
                <a:solidFill>
                  <a:srgbClr val="00B050"/>
                </a:solidFill>
                <a:latin typeface="Times New Roman" pitchFamily="18" charset="0"/>
                <a:cs typeface="Times New Roman" pitchFamily="18" charset="0"/>
              </a:rPr>
              <a:t>What </a:t>
            </a:r>
            <a:r>
              <a:rPr lang="en-US" sz="2200" dirty="0">
                <a:solidFill>
                  <a:srgbClr val="00B050"/>
                </a:solidFill>
                <a:latin typeface="Times New Roman" pitchFamily="18" charset="0"/>
                <a:cs typeface="Times New Roman" pitchFamily="18" charset="0"/>
              </a:rPr>
              <a:t>do we need to perform the statistical test?</a:t>
            </a:r>
            <a:r>
              <a:rPr lang="en-US" sz="2200" dirty="0">
                <a:latin typeface="Times New Roman" pitchFamily="18" charset="0"/>
                <a:cs typeface="Times New Roman" pitchFamily="18" charset="0"/>
              </a:rPr>
              <a:t> Suppose that for each model, we did 10-fold cross-validation, say, 10 times, each time using a different 10-fold data partitioning. Each partitioning is independently drawn. We can average the 10 error rates obtained each for M1 andM2,respectively, to obtain the mean error rate for each model. </a:t>
            </a:r>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For </a:t>
            </a:r>
            <a:r>
              <a:rPr lang="en-US" sz="2200" dirty="0">
                <a:latin typeface="Times New Roman" pitchFamily="18" charset="0"/>
                <a:cs typeface="Times New Roman" pitchFamily="18" charset="0"/>
              </a:rPr>
              <a:t>a given model, the individual error rates calculated in the cross-validations may be considered as different, independent samples from a probability distribution. In general, they follow a t-distribution with </a:t>
            </a:r>
            <a:r>
              <a:rPr lang="en-US" sz="2200" dirty="0" smtClean="0">
                <a:latin typeface="Times New Roman" pitchFamily="18" charset="0"/>
                <a:cs typeface="Times New Roman" pitchFamily="18" charset="0"/>
              </a:rPr>
              <a:t>k-1 </a:t>
            </a:r>
            <a:r>
              <a:rPr lang="en-US" sz="2200" dirty="0">
                <a:latin typeface="Times New Roman" pitchFamily="18" charset="0"/>
                <a:cs typeface="Times New Roman" pitchFamily="18" charset="0"/>
              </a:rPr>
              <a:t>degrees of freedom where, here, </a:t>
            </a:r>
            <a:r>
              <a:rPr lang="en-US" sz="2200" dirty="0" smtClean="0">
                <a:latin typeface="Times New Roman" pitchFamily="18" charset="0"/>
                <a:cs typeface="Times New Roman" pitchFamily="18" charset="0"/>
              </a:rPr>
              <a:t>k=10</a:t>
            </a:r>
            <a:r>
              <a:rPr lang="en-US" sz="2200" dirty="0">
                <a:latin typeface="Times New Roman" pitchFamily="18" charset="0"/>
                <a:cs typeface="Times New Roman" pitchFamily="18" charset="0"/>
              </a:rPr>
              <a:t>. This allows us to do hypothesis testing where the significance test used is the t-test, or Student’s t-test. Our hypothesis is that the two models are the same, or in other words, that the difference in mean error rate between the two is zero. If we can reject this hypothesis (referred to as the null hypothesis), then we can conclude that the difference between the two models is statistically significant, in which case we can select the model with the lower error rate.</a:t>
            </a:r>
            <a:endParaRPr lang="en-IN" sz="2200" dirty="0"/>
          </a:p>
        </p:txBody>
      </p:sp>
    </p:spTree>
    <p:extLst>
      <p:ext uri="{BB962C8B-B14F-4D97-AF65-F5344CB8AC3E}">
        <p14:creationId xmlns:p14="http://schemas.microsoft.com/office/powerpoint/2010/main" val="3279301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296" y="513569"/>
            <a:ext cx="10484285" cy="318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087" y="3695179"/>
            <a:ext cx="10484285" cy="2379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3522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573" y="526093"/>
            <a:ext cx="11574049" cy="3785652"/>
          </a:xfrm>
          <a:prstGeom prst="rect">
            <a:avLst/>
          </a:prstGeom>
        </p:spPr>
        <p:txBody>
          <a:bodyPr wrap="square">
            <a:spAutoFit/>
          </a:bodyPr>
          <a:lstStyle/>
          <a:p>
            <a:pPr algn="just"/>
            <a:r>
              <a:rPr lang="en-US" sz="2000" dirty="0" smtClean="0">
                <a:latin typeface="Times New Roman" pitchFamily="18" charset="0"/>
                <a:cs typeface="Times New Roman" pitchFamily="18" charset="0"/>
              </a:rPr>
              <a:t>	The </a:t>
            </a:r>
            <a:r>
              <a:rPr lang="en-US" sz="2000" dirty="0">
                <a:latin typeface="Times New Roman" pitchFamily="18" charset="0"/>
                <a:cs typeface="Times New Roman" pitchFamily="18" charset="0"/>
              </a:rPr>
              <a:t>t-distribution table (also called Student’s t-table) gives critical values of the </a:t>
            </a:r>
            <a:r>
              <a:rPr lang="en-US" sz="2000" i="1" dirty="0">
                <a:latin typeface="Times New Roman" pitchFamily="18" charset="0"/>
                <a:cs typeface="Times New Roman" pitchFamily="18" charset="0"/>
              </a:rPr>
              <a:t>t</a:t>
            </a:r>
            <a:r>
              <a:rPr lang="en-US" sz="2000" dirty="0">
                <a:latin typeface="Times New Roman" pitchFamily="18" charset="0"/>
                <a:cs typeface="Times New Roman" pitchFamily="18" charset="0"/>
              </a:rPr>
              <a:t> statistic for different degrees </a:t>
            </a:r>
            <a:r>
              <a:rPr lang="en-US" sz="2000" dirty="0" smtClean="0">
                <a:latin typeface="Times New Roman" pitchFamily="18" charset="0"/>
                <a:cs typeface="Times New Roman" pitchFamily="18" charset="0"/>
              </a:rPr>
              <a:t>of freedom </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df</a:t>
            </a:r>
            <a:r>
              <a:rPr lang="en-US" sz="2000" dirty="0">
                <a:latin typeface="Times New Roman" pitchFamily="18" charset="0"/>
                <a:cs typeface="Times New Roman" pitchFamily="18" charset="0"/>
              </a:rPr>
              <a:t>) and significance levels (α). These are used in t-tests for hypothesis </a:t>
            </a:r>
            <a:r>
              <a:rPr lang="en-US" sz="2000" dirty="0" smtClean="0">
                <a:latin typeface="Times New Roman" pitchFamily="18" charset="0"/>
                <a:cs typeface="Times New Roman" pitchFamily="18" charset="0"/>
              </a:rPr>
              <a:t>testing. Here’s </a:t>
            </a:r>
            <a:r>
              <a:rPr lang="en-US" sz="2000" dirty="0">
                <a:latin typeface="Times New Roman" pitchFamily="18" charset="0"/>
                <a:cs typeface="Times New Roman" pitchFamily="18" charset="0"/>
              </a:rPr>
              <a:t>a compact version of the standard t-distribution table</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t-Distribution Critical Values (two-tailed test</a:t>
            </a:r>
            <a:r>
              <a:rPr lang="en-US" sz="2000" dirty="0" smtClean="0">
                <a:latin typeface="Times New Roman" pitchFamily="18" charset="0"/>
                <a:cs typeface="Times New Roman" pitchFamily="18" charset="0"/>
              </a:rPr>
              <a:t>) </a:t>
            </a:r>
          </a:p>
          <a:p>
            <a:pPr algn="just"/>
            <a:endParaRPr lang="en-US" sz="2000" dirty="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r>
              <a:rPr lang="en-US" sz="2000" dirty="0">
                <a:solidFill>
                  <a:srgbClr val="00B050"/>
                </a:solidFill>
                <a:latin typeface="Times New Roman" pitchFamily="18" charset="0"/>
                <a:cs typeface="Times New Roman" pitchFamily="18" charset="0"/>
              </a:rPr>
              <a:t>How to Read the Table</a:t>
            </a:r>
          </a:p>
          <a:p>
            <a:r>
              <a:rPr lang="en-US" sz="2000" dirty="0" err="1">
                <a:latin typeface="Times New Roman" pitchFamily="18" charset="0"/>
                <a:cs typeface="Times New Roman" pitchFamily="18" charset="0"/>
              </a:rPr>
              <a:t>df</a:t>
            </a:r>
            <a:r>
              <a:rPr lang="en-US" sz="2000" dirty="0">
                <a:latin typeface="Times New Roman" pitchFamily="18" charset="0"/>
                <a:cs typeface="Times New Roman" pitchFamily="18" charset="0"/>
              </a:rPr>
              <a:t> = degrees of freedom (n – 1 for one-sample, n₁+n₂–2 for two-sample tests).</a:t>
            </a:r>
          </a:p>
          <a:p>
            <a:r>
              <a:rPr lang="en-US" sz="2000" dirty="0">
                <a:latin typeface="Times New Roman" pitchFamily="18" charset="0"/>
                <a:cs typeface="Times New Roman" pitchFamily="18" charset="0"/>
              </a:rPr>
              <a:t>Columns = significance levels (α).</a:t>
            </a:r>
          </a:p>
          <a:p>
            <a:pPr lvl="1"/>
            <a:r>
              <a:rPr lang="en-US" sz="2000" dirty="0">
                <a:latin typeface="Times New Roman" pitchFamily="18" charset="0"/>
                <a:cs typeface="Times New Roman" pitchFamily="18" charset="0"/>
              </a:rPr>
              <a:t>Example: for </a:t>
            </a:r>
            <a:r>
              <a:rPr lang="en-US" sz="2000" dirty="0" err="1">
                <a:latin typeface="Times New Roman" pitchFamily="18" charset="0"/>
                <a:cs typeface="Times New Roman" pitchFamily="18" charset="0"/>
              </a:rPr>
              <a:t>df</a:t>
            </a:r>
            <a:r>
              <a:rPr lang="en-US" sz="2000" dirty="0">
                <a:latin typeface="Times New Roman" pitchFamily="18" charset="0"/>
                <a:cs typeface="Times New Roman" pitchFamily="18" charset="0"/>
              </a:rPr>
              <a:t> = 10, α = 0.05 (two-tailed), critical t = 2.228.</a:t>
            </a:r>
          </a:p>
          <a:p>
            <a:r>
              <a:rPr lang="en-US" sz="2000" dirty="0">
                <a:latin typeface="Times New Roman" pitchFamily="18" charset="0"/>
                <a:cs typeface="Times New Roman" pitchFamily="18" charset="0"/>
              </a:rPr>
              <a:t>If your calculated |t| &gt; table value → Reject Null Hypothesis (H₀).</a:t>
            </a:r>
          </a:p>
          <a:p>
            <a:pPr algn="just"/>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280048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150132715"/>
              </p:ext>
            </p:extLst>
          </p:nvPr>
        </p:nvGraphicFramePr>
        <p:xfrm>
          <a:off x="613774" y="238001"/>
          <a:ext cx="11173218" cy="6400793"/>
        </p:xfrm>
        <a:graphic>
          <a:graphicData uri="http://schemas.openxmlformats.org/drawingml/2006/table">
            <a:tbl>
              <a:tblPr/>
              <a:tblGrid>
                <a:gridCol w="1862203"/>
                <a:gridCol w="1862203"/>
                <a:gridCol w="1862203"/>
                <a:gridCol w="1862203"/>
                <a:gridCol w="1862203"/>
                <a:gridCol w="1862203"/>
              </a:tblGrid>
              <a:tr h="318511">
                <a:tc>
                  <a:txBody>
                    <a:bodyPr/>
                    <a:lstStyle/>
                    <a:p>
                      <a:r>
                        <a:rPr lang="en-IN" sz="1100" dirty="0" err="1"/>
                        <a:t>df</a:t>
                      </a:r>
                      <a:endParaRPr lang="en-IN" sz="1100" dirty="0"/>
                    </a:p>
                  </a:txBody>
                  <a:tcPr marL="57254" marR="57254" marT="28627" marB="28627" anchor="ctr">
                    <a:lnL>
                      <a:noFill/>
                    </a:lnL>
                    <a:lnR>
                      <a:noFill/>
                    </a:lnR>
                    <a:lnT>
                      <a:noFill/>
                    </a:lnT>
                    <a:lnB>
                      <a:noFill/>
                    </a:lnB>
                  </a:tcPr>
                </a:tc>
                <a:tc>
                  <a:txBody>
                    <a:bodyPr/>
                    <a:lstStyle/>
                    <a:p>
                      <a:r>
                        <a:rPr lang="en-IN" sz="1100"/>
                        <a:t>0.10 (90%)</a:t>
                      </a:r>
                    </a:p>
                  </a:txBody>
                  <a:tcPr marL="57254" marR="57254" marT="28627" marB="28627" anchor="ctr">
                    <a:lnL>
                      <a:noFill/>
                    </a:lnL>
                    <a:lnR>
                      <a:noFill/>
                    </a:lnR>
                    <a:lnT>
                      <a:noFill/>
                    </a:lnT>
                    <a:lnB>
                      <a:noFill/>
                    </a:lnB>
                  </a:tcPr>
                </a:tc>
                <a:tc>
                  <a:txBody>
                    <a:bodyPr/>
                    <a:lstStyle/>
                    <a:p>
                      <a:r>
                        <a:rPr lang="en-IN" sz="1100"/>
                        <a:t>0.05 (95%)</a:t>
                      </a:r>
                    </a:p>
                  </a:txBody>
                  <a:tcPr marL="57254" marR="57254" marT="28627" marB="28627" anchor="ctr">
                    <a:lnL>
                      <a:noFill/>
                    </a:lnL>
                    <a:lnR>
                      <a:noFill/>
                    </a:lnR>
                    <a:lnT>
                      <a:noFill/>
                    </a:lnT>
                    <a:lnB>
                      <a:noFill/>
                    </a:lnB>
                  </a:tcPr>
                </a:tc>
                <a:tc>
                  <a:txBody>
                    <a:bodyPr/>
                    <a:lstStyle/>
                    <a:p>
                      <a:r>
                        <a:rPr lang="en-IN" sz="1100"/>
                        <a:t>0.025 (97.5%)</a:t>
                      </a:r>
                    </a:p>
                  </a:txBody>
                  <a:tcPr marL="57254" marR="57254" marT="28627" marB="28627" anchor="ctr">
                    <a:lnL>
                      <a:noFill/>
                    </a:lnL>
                    <a:lnR>
                      <a:noFill/>
                    </a:lnR>
                    <a:lnT>
                      <a:noFill/>
                    </a:lnT>
                    <a:lnB>
                      <a:noFill/>
                    </a:lnB>
                  </a:tcPr>
                </a:tc>
                <a:tc>
                  <a:txBody>
                    <a:bodyPr/>
                    <a:lstStyle/>
                    <a:p>
                      <a:r>
                        <a:rPr lang="en-IN" sz="1100"/>
                        <a:t>0.01 (99%)</a:t>
                      </a:r>
                    </a:p>
                  </a:txBody>
                  <a:tcPr marL="57254" marR="57254" marT="28627" marB="28627" anchor="ctr">
                    <a:lnL>
                      <a:noFill/>
                    </a:lnL>
                    <a:lnR>
                      <a:noFill/>
                    </a:lnR>
                    <a:lnT>
                      <a:noFill/>
                    </a:lnT>
                    <a:lnB>
                      <a:noFill/>
                    </a:lnB>
                  </a:tcPr>
                </a:tc>
                <a:tc>
                  <a:txBody>
                    <a:bodyPr/>
                    <a:lstStyle/>
                    <a:p>
                      <a:r>
                        <a:rPr lang="en-IN" sz="1100"/>
                        <a:t>0.005 (99.5%)</a:t>
                      </a:r>
                    </a:p>
                  </a:txBody>
                  <a:tcPr marL="57254" marR="57254" marT="28627" marB="28627" anchor="ctr">
                    <a:lnL>
                      <a:noFill/>
                    </a:lnL>
                    <a:lnR>
                      <a:noFill/>
                    </a:lnR>
                    <a:lnT>
                      <a:noFill/>
                    </a:lnT>
                    <a:lnB>
                      <a:noFill/>
                    </a:lnB>
                  </a:tcPr>
                </a:tc>
              </a:tr>
              <a:tr h="318511">
                <a:tc>
                  <a:txBody>
                    <a:bodyPr/>
                    <a:lstStyle/>
                    <a:p>
                      <a:r>
                        <a:rPr lang="en-IN" sz="1100"/>
                        <a:t>1</a:t>
                      </a:r>
                    </a:p>
                  </a:txBody>
                  <a:tcPr marL="57254" marR="57254" marT="28627" marB="28627" anchor="ctr">
                    <a:lnL>
                      <a:noFill/>
                    </a:lnL>
                    <a:lnR>
                      <a:noFill/>
                    </a:lnR>
                    <a:lnT>
                      <a:noFill/>
                    </a:lnT>
                    <a:lnB>
                      <a:noFill/>
                    </a:lnB>
                  </a:tcPr>
                </a:tc>
                <a:tc>
                  <a:txBody>
                    <a:bodyPr/>
                    <a:lstStyle/>
                    <a:p>
                      <a:r>
                        <a:rPr lang="en-IN" sz="1100"/>
                        <a:t>6.314</a:t>
                      </a:r>
                    </a:p>
                  </a:txBody>
                  <a:tcPr marL="57254" marR="57254" marT="28627" marB="28627" anchor="ctr">
                    <a:lnL>
                      <a:noFill/>
                    </a:lnL>
                    <a:lnR>
                      <a:noFill/>
                    </a:lnR>
                    <a:lnT>
                      <a:noFill/>
                    </a:lnT>
                    <a:lnB>
                      <a:noFill/>
                    </a:lnB>
                  </a:tcPr>
                </a:tc>
                <a:tc>
                  <a:txBody>
                    <a:bodyPr/>
                    <a:lstStyle/>
                    <a:p>
                      <a:r>
                        <a:rPr lang="en-IN" sz="1100"/>
                        <a:t>12.706</a:t>
                      </a:r>
                    </a:p>
                  </a:txBody>
                  <a:tcPr marL="57254" marR="57254" marT="28627" marB="28627" anchor="ctr">
                    <a:lnL>
                      <a:noFill/>
                    </a:lnL>
                    <a:lnR>
                      <a:noFill/>
                    </a:lnR>
                    <a:lnT>
                      <a:noFill/>
                    </a:lnT>
                    <a:lnB>
                      <a:noFill/>
                    </a:lnB>
                  </a:tcPr>
                </a:tc>
                <a:tc>
                  <a:txBody>
                    <a:bodyPr/>
                    <a:lstStyle/>
                    <a:p>
                      <a:r>
                        <a:rPr lang="en-IN" sz="1100"/>
                        <a:t>25.452</a:t>
                      </a:r>
                    </a:p>
                  </a:txBody>
                  <a:tcPr marL="57254" marR="57254" marT="28627" marB="28627" anchor="ctr">
                    <a:lnL>
                      <a:noFill/>
                    </a:lnL>
                    <a:lnR>
                      <a:noFill/>
                    </a:lnR>
                    <a:lnT>
                      <a:noFill/>
                    </a:lnT>
                    <a:lnB>
                      <a:noFill/>
                    </a:lnB>
                  </a:tcPr>
                </a:tc>
                <a:tc>
                  <a:txBody>
                    <a:bodyPr/>
                    <a:lstStyle/>
                    <a:p>
                      <a:r>
                        <a:rPr lang="en-IN" sz="1100"/>
                        <a:t>63.657</a:t>
                      </a:r>
                    </a:p>
                  </a:txBody>
                  <a:tcPr marL="57254" marR="57254" marT="28627" marB="28627" anchor="ctr">
                    <a:lnL>
                      <a:noFill/>
                    </a:lnL>
                    <a:lnR>
                      <a:noFill/>
                    </a:lnR>
                    <a:lnT>
                      <a:noFill/>
                    </a:lnT>
                    <a:lnB>
                      <a:noFill/>
                    </a:lnB>
                  </a:tcPr>
                </a:tc>
                <a:tc>
                  <a:txBody>
                    <a:bodyPr/>
                    <a:lstStyle/>
                    <a:p>
                      <a:r>
                        <a:rPr lang="en-IN" sz="1100" dirty="0"/>
                        <a:t>127.321</a:t>
                      </a:r>
                    </a:p>
                  </a:txBody>
                  <a:tcPr marL="57254" marR="57254" marT="28627" marB="28627" anchor="ctr">
                    <a:lnL>
                      <a:noFill/>
                    </a:lnL>
                    <a:lnR>
                      <a:noFill/>
                    </a:lnR>
                    <a:lnT>
                      <a:noFill/>
                    </a:lnT>
                    <a:lnB>
                      <a:noFill/>
                    </a:lnB>
                  </a:tcPr>
                </a:tc>
              </a:tr>
              <a:tr h="318511">
                <a:tc>
                  <a:txBody>
                    <a:bodyPr/>
                    <a:lstStyle/>
                    <a:p>
                      <a:r>
                        <a:rPr lang="en-IN" sz="1100"/>
                        <a:t>2</a:t>
                      </a:r>
                    </a:p>
                  </a:txBody>
                  <a:tcPr marL="57254" marR="57254" marT="28627" marB="28627" anchor="ctr">
                    <a:lnL>
                      <a:noFill/>
                    </a:lnL>
                    <a:lnR>
                      <a:noFill/>
                    </a:lnR>
                    <a:lnT>
                      <a:noFill/>
                    </a:lnT>
                    <a:lnB>
                      <a:noFill/>
                    </a:lnB>
                  </a:tcPr>
                </a:tc>
                <a:tc>
                  <a:txBody>
                    <a:bodyPr/>
                    <a:lstStyle/>
                    <a:p>
                      <a:r>
                        <a:rPr lang="en-IN" sz="1100"/>
                        <a:t>2.920</a:t>
                      </a:r>
                    </a:p>
                  </a:txBody>
                  <a:tcPr marL="57254" marR="57254" marT="28627" marB="28627" anchor="ctr">
                    <a:lnL>
                      <a:noFill/>
                    </a:lnL>
                    <a:lnR>
                      <a:noFill/>
                    </a:lnR>
                    <a:lnT>
                      <a:noFill/>
                    </a:lnT>
                    <a:lnB>
                      <a:noFill/>
                    </a:lnB>
                  </a:tcPr>
                </a:tc>
                <a:tc>
                  <a:txBody>
                    <a:bodyPr/>
                    <a:lstStyle/>
                    <a:p>
                      <a:r>
                        <a:rPr lang="en-IN" sz="1100"/>
                        <a:t>4.303</a:t>
                      </a:r>
                    </a:p>
                  </a:txBody>
                  <a:tcPr marL="57254" marR="57254" marT="28627" marB="28627" anchor="ctr">
                    <a:lnL>
                      <a:noFill/>
                    </a:lnL>
                    <a:lnR>
                      <a:noFill/>
                    </a:lnR>
                    <a:lnT>
                      <a:noFill/>
                    </a:lnT>
                    <a:lnB>
                      <a:noFill/>
                    </a:lnB>
                  </a:tcPr>
                </a:tc>
                <a:tc>
                  <a:txBody>
                    <a:bodyPr/>
                    <a:lstStyle/>
                    <a:p>
                      <a:r>
                        <a:rPr lang="en-IN" sz="1100"/>
                        <a:t>6.205</a:t>
                      </a:r>
                    </a:p>
                  </a:txBody>
                  <a:tcPr marL="57254" marR="57254" marT="28627" marB="28627" anchor="ctr">
                    <a:lnL>
                      <a:noFill/>
                    </a:lnL>
                    <a:lnR>
                      <a:noFill/>
                    </a:lnR>
                    <a:lnT>
                      <a:noFill/>
                    </a:lnT>
                    <a:lnB>
                      <a:noFill/>
                    </a:lnB>
                  </a:tcPr>
                </a:tc>
                <a:tc>
                  <a:txBody>
                    <a:bodyPr/>
                    <a:lstStyle/>
                    <a:p>
                      <a:r>
                        <a:rPr lang="en-IN" sz="1100"/>
                        <a:t>9.925</a:t>
                      </a:r>
                    </a:p>
                  </a:txBody>
                  <a:tcPr marL="57254" marR="57254" marT="28627" marB="28627" anchor="ctr">
                    <a:lnL>
                      <a:noFill/>
                    </a:lnL>
                    <a:lnR>
                      <a:noFill/>
                    </a:lnR>
                    <a:lnT>
                      <a:noFill/>
                    </a:lnT>
                    <a:lnB>
                      <a:noFill/>
                    </a:lnB>
                  </a:tcPr>
                </a:tc>
                <a:tc>
                  <a:txBody>
                    <a:bodyPr/>
                    <a:lstStyle/>
                    <a:p>
                      <a:r>
                        <a:rPr lang="en-IN" sz="1100"/>
                        <a:t>14.089</a:t>
                      </a:r>
                    </a:p>
                  </a:txBody>
                  <a:tcPr marL="57254" marR="57254" marT="28627" marB="28627" anchor="ctr">
                    <a:lnL>
                      <a:noFill/>
                    </a:lnL>
                    <a:lnR>
                      <a:noFill/>
                    </a:lnR>
                    <a:lnT>
                      <a:noFill/>
                    </a:lnT>
                    <a:lnB>
                      <a:noFill/>
                    </a:lnB>
                  </a:tcPr>
                </a:tc>
              </a:tr>
              <a:tr h="318511">
                <a:tc>
                  <a:txBody>
                    <a:bodyPr/>
                    <a:lstStyle/>
                    <a:p>
                      <a:r>
                        <a:rPr lang="en-IN" sz="1100"/>
                        <a:t>3</a:t>
                      </a:r>
                    </a:p>
                  </a:txBody>
                  <a:tcPr marL="57254" marR="57254" marT="28627" marB="28627" anchor="ctr">
                    <a:lnL>
                      <a:noFill/>
                    </a:lnL>
                    <a:lnR>
                      <a:noFill/>
                    </a:lnR>
                    <a:lnT>
                      <a:noFill/>
                    </a:lnT>
                    <a:lnB>
                      <a:noFill/>
                    </a:lnB>
                  </a:tcPr>
                </a:tc>
                <a:tc>
                  <a:txBody>
                    <a:bodyPr/>
                    <a:lstStyle/>
                    <a:p>
                      <a:r>
                        <a:rPr lang="en-IN" sz="1100"/>
                        <a:t>2.353</a:t>
                      </a:r>
                    </a:p>
                  </a:txBody>
                  <a:tcPr marL="57254" marR="57254" marT="28627" marB="28627" anchor="ctr">
                    <a:lnL>
                      <a:noFill/>
                    </a:lnL>
                    <a:lnR>
                      <a:noFill/>
                    </a:lnR>
                    <a:lnT>
                      <a:noFill/>
                    </a:lnT>
                    <a:lnB>
                      <a:noFill/>
                    </a:lnB>
                  </a:tcPr>
                </a:tc>
                <a:tc>
                  <a:txBody>
                    <a:bodyPr/>
                    <a:lstStyle/>
                    <a:p>
                      <a:r>
                        <a:rPr lang="en-IN" sz="1100"/>
                        <a:t>3.182</a:t>
                      </a:r>
                    </a:p>
                  </a:txBody>
                  <a:tcPr marL="57254" marR="57254" marT="28627" marB="28627" anchor="ctr">
                    <a:lnL>
                      <a:noFill/>
                    </a:lnL>
                    <a:lnR>
                      <a:noFill/>
                    </a:lnR>
                    <a:lnT>
                      <a:noFill/>
                    </a:lnT>
                    <a:lnB>
                      <a:noFill/>
                    </a:lnB>
                  </a:tcPr>
                </a:tc>
                <a:tc>
                  <a:txBody>
                    <a:bodyPr/>
                    <a:lstStyle/>
                    <a:p>
                      <a:r>
                        <a:rPr lang="en-IN" sz="1100"/>
                        <a:t>4.177</a:t>
                      </a:r>
                    </a:p>
                  </a:txBody>
                  <a:tcPr marL="57254" marR="57254" marT="28627" marB="28627" anchor="ctr">
                    <a:lnL>
                      <a:noFill/>
                    </a:lnL>
                    <a:lnR>
                      <a:noFill/>
                    </a:lnR>
                    <a:lnT>
                      <a:noFill/>
                    </a:lnT>
                    <a:lnB>
                      <a:noFill/>
                    </a:lnB>
                  </a:tcPr>
                </a:tc>
                <a:tc>
                  <a:txBody>
                    <a:bodyPr/>
                    <a:lstStyle/>
                    <a:p>
                      <a:r>
                        <a:rPr lang="en-IN" sz="1100"/>
                        <a:t>5.841</a:t>
                      </a:r>
                    </a:p>
                  </a:txBody>
                  <a:tcPr marL="57254" marR="57254" marT="28627" marB="28627" anchor="ctr">
                    <a:lnL>
                      <a:noFill/>
                    </a:lnL>
                    <a:lnR>
                      <a:noFill/>
                    </a:lnR>
                    <a:lnT>
                      <a:noFill/>
                    </a:lnT>
                    <a:lnB>
                      <a:noFill/>
                    </a:lnB>
                  </a:tcPr>
                </a:tc>
                <a:tc>
                  <a:txBody>
                    <a:bodyPr/>
                    <a:lstStyle/>
                    <a:p>
                      <a:r>
                        <a:rPr lang="en-IN" sz="1100"/>
                        <a:t>7.453</a:t>
                      </a:r>
                    </a:p>
                  </a:txBody>
                  <a:tcPr marL="57254" marR="57254" marT="28627" marB="28627" anchor="ctr">
                    <a:lnL>
                      <a:noFill/>
                    </a:lnL>
                    <a:lnR>
                      <a:noFill/>
                    </a:lnR>
                    <a:lnT>
                      <a:noFill/>
                    </a:lnT>
                    <a:lnB>
                      <a:noFill/>
                    </a:lnB>
                  </a:tcPr>
                </a:tc>
              </a:tr>
              <a:tr h="318511">
                <a:tc>
                  <a:txBody>
                    <a:bodyPr/>
                    <a:lstStyle/>
                    <a:p>
                      <a:r>
                        <a:rPr lang="en-IN" sz="1100"/>
                        <a:t>4</a:t>
                      </a:r>
                    </a:p>
                  </a:txBody>
                  <a:tcPr marL="57254" marR="57254" marT="28627" marB="28627" anchor="ctr">
                    <a:lnL>
                      <a:noFill/>
                    </a:lnL>
                    <a:lnR>
                      <a:noFill/>
                    </a:lnR>
                    <a:lnT>
                      <a:noFill/>
                    </a:lnT>
                    <a:lnB>
                      <a:noFill/>
                    </a:lnB>
                  </a:tcPr>
                </a:tc>
                <a:tc>
                  <a:txBody>
                    <a:bodyPr/>
                    <a:lstStyle/>
                    <a:p>
                      <a:r>
                        <a:rPr lang="en-IN" sz="1100"/>
                        <a:t>2.132</a:t>
                      </a:r>
                    </a:p>
                  </a:txBody>
                  <a:tcPr marL="57254" marR="57254" marT="28627" marB="28627" anchor="ctr">
                    <a:lnL>
                      <a:noFill/>
                    </a:lnL>
                    <a:lnR>
                      <a:noFill/>
                    </a:lnR>
                    <a:lnT>
                      <a:noFill/>
                    </a:lnT>
                    <a:lnB>
                      <a:noFill/>
                    </a:lnB>
                  </a:tcPr>
                </a:tc>
                <a:tc>
                  <a:txBody>
                    <a:bodyPr/>
                    <a:lstStyle/>
                    <a:p>
                      <a:r>
                        <a:rPr lang="en-IN" sz="1100"/>
                        <a:t>2.776</a:t>
                      </a:r>
                    </a:p>
                  </a:txBody>
                  <a:tcPr marL="57254" marR="57254" marT="28627" marB="28627" anchor="ctr">
                    <a:lnL>
                      <a:noFill/>
                    </a:lnL>
                    <a:lnR>
                      <a:noFill/>
                    </a:lnR>
                    <a:lnT>
                      <a:noFill/>
                    </a:lnT>
                    <a:lnB>
                      <a:noFill/>
                    </a:lnB>
                  </a:tcPr>
                </a:tc>
                <a:tc>
                  <a:txBody>
                    <a:bodyPr/>
                    <a:lstStyle/>
                    <a:p>
                      <a:r>
                        <a:rPr lang="en-IN" sz="1100"/>
                        <a:t>3.495</a:t>
                      </a:r>
                    </a:p>
                  </a:txBody>
                  <a:tcPr marL="57254" marR="57254" marT="28627" marB="28627" anchor="ctr">
                    <a:lnL>
                      <a:noFill/>
                    </a:lnL>
                    <a:lnR>
                      <a:noFill/>
                    </a:lnR>
                    <a:lnT>
                      <a:noFill/>
                    </a:lnT>
                    <a:lnB>
                      <a:noFill/>
                    </a:lnB>
                  </a:tcPr>
                </a:tc>
                <a:tc>
                  <a:txBody>
                    <a:bodyPr/>
                    <a:lstStyle/>
                    <a:p>
                      <a:r>
                        <a:rPr lang="en-IN" sz="1100"/>
                        <a:t>4.604</a:t>
                      </a:r>
                    </a:p>
                  </a:txBody>
                  <a:tcPr marL="57254" marR="57254" marT="28627" marB="28627" anchor="ctr">
                    <a:lnL>
                      <a:noFill/>
                    </a:lnL>
                    <a:lnR>
                      <a:noFill/>
                    </a:lnR>
                    <a:lnT>
                      <a:noFill/>
                    </a:lnT>
                    <a:lnB>
                      <a:noFill/>
                    </a:lnB>
                  </a:tcPr>
                </a:tc>
                <a:tc>
                  <a:txBody>
                    <a:bodyPr/>
                    <a:lstStyle/>
                    <a:p>
                      <a:r>
                        <a:rPr lang="en-IN" sz="1100"/>
                        <a:t>5.598</a:t>
                      </a:r>
                    </a:p>
                  </a:txBody>
                  <a:tcPr marL="57254" marR="57254" marT="28627" marB="28627" anchor="ctr">
                    <a:lnL>
                      <a:noFill/>
                    </a:lnL>
                    <a:lnR>
                      <a:noFill/>
                    </a:lnR>
                    <a:lnT>
                      <a:noFill/>
                    </a:lnT>
                    <a:lnB>
                      <a:noFill/>
                    </a:lnB>
                  </a:tcPr>
                </a:tc>
              </a:tr>
              <a:tr h="318511">
                <a:tc>
                  <a:txBody>
                    <a:bodyPr/>
                    <a:lstStyle/>
                    <a:p>
                      <a:r>
                        <a:rPr lang="en-IN" sz="1100"/>
                        <a:t>5</a:t>
                      </a:r>
                    </a:p>
                  </a:txBody>
                  <a:tcPr marL="57254" marR="57254" marT="28627" marB="28627" anchor="ctr">
                    <a:lnL>
                      <a:noFill/>
                    </a:lnL>
                    <a:lnR>
                      <a:noFill/>
                    </a:lnR>
                    <a:lnT>
                      <a:noFill/>
                    </a:lnT>
                    <a:lnB>
                      <a:noFill/>
                    </a:lnB>
                  </a:tcPr>
                </a:tc>
                <a:tc>
                  <a:txBody>
                    <a:bodyPr/>
                    <a:lstStyle/>
                    <a:p>
                      <a:r>
                        <a:rPr lang="en-IN" sz="1100"/>
                        <a:t>2.015</a:t>
                      </a:r>
                    </a:p>
                  </a:txBody>
                  <a:tcPr marL="57254" marR="57254" marT="28627" marB="28627" anchor="ctr">
                    <a:lnL>
                      <a:noFill/>
                    </a:lnL>
                    <a:lnR>
                      <a:noFill/>
                    </a:lnR>
                    <a:lnT>
                      <a:noFill/>
                    </a:lnT>
                    <a:lnB>
                      <a:noFill/>
                    </a:lnB>
                  </a:tcPr>
                </a:tc>
                <a:tc>
                  <a:txBody>
                    <a:bodyPr/>
                    <a:lstStyle/>
                    <a:p>
                      <a:r>
                        <a:rPr lang="en-IN" sz="1100"/>
                        <a:t>2.571</a:t>
                      </a:r>
                    </a:p>
                  </a:txBody>
                  <a:tcPr marL="57254" marR="57254" marT="28627" marB="28627" anchor="ctr">
                    <a:lnL>
                      <a:noFill/>
                    </a:lnL>
                    <a:lnR>
                      <a:noFill/>
                    </a:lnR>
                    <a:lnT>
                      <a:noFill/>
                    </a:lnT>
                    <a:lnB>
                      <a:noFill/>
                    </a:lnB>
                  </a:tcPr>
                </a:tc>
                <a:tc>
                  <a:txBody>
                    <a:bodyPr/>
                    <a:lstStyle/>
                    <a:p>
                      <a:r>
                        <a:rPr lang="en-IN" sz="1100"/>
                        <a:t>3.163</a:t>
                      </a:r>
                    </a:p>
                  </a:txBody>
                  <a:tcPr marL="57254" marR="57254" marT="28627" marB="28627" anchor="ctr">
                    <a:lnL>
                      <a:noFill/>
                    </a:lnL>
                    <a:lnR>
                      <a:noFill/>
                    </a:lnR>
                    <a:lnT>
                      <a:noFill/>
                    </a:lnT>
                    <a:lnB>
                      <a:noFill/>
                    </a:lnB>
                  </a:tcPr>
                </a:tc>
                <a:tc>
                  <a:txBody>
                    <a:bodyPr/>
                    <a:lstStyle/>
                    <a:p>
                      <a:r>
                        <a:rPr lang="en-IN" sz="1100"/>
                        <a:t>4.032</a:t>
                      </a:r>
                    </a:p>
                  </a:txBody>
                  <a:tcPr marL="57254" marR="57254" marT="28627" marB="28627" anchor="ctr">
                    <a:lnL>
                      <a:noFill/>
                    </a:lnL>
                    <a:lnR>
                      <a:noFill/>
                    </a:lnR>
                    <a:lnT>
                      <a:noFill/>
                    </a:lnT>
                    <a:lnB>
                      <a:noFill/>
                    </a:lnB>
                  </a:tcPr>
                </a:tc>
                <a:tc>
                  <a:txBody>
                    <a:bodyPr/>
                    <a:lstStyle/>
                    <a:p>
                      <a:r>
                        <a:rPr lang="en-IN" sz="1100"/>
                        <a:t>4.773</a:t>
                      </a:r>
                    </a:p>
                  </a:txBody>
                  <a:tcPr marL="57254" marR="57254" marT="28627" marB="28627" anchor="ctr">
                    <a:lnL>
                      <a:noFill/>
                    </a:lnL>
                    <a:lnR>
                      <a:noFill/>
                    </a:lnR>
                    <a:lnT>
                      <a:noFill/>
                    </a:lnT>
                    <a:lnB>
                      <a:noFill/>
                    </a:lnB>
                  </a:tcPr>
                </a:tc>
              </a:tr>
              <a:tr h="318511">
                <a:tc>
                  <a:txBody>
                    <a:bodyPr/>
                    <a:lstStyle/>
                    <a:p>
                      <a:r>
                        <a:rPr lang="en-IN" sz="1100"/>
                        <a:t>6</a:t>
                      </a:r>
                    </a:p>
                  </a:txBody>
                  <a:tcPr marL="57254" marR="57254" marT="28627" marB="28627" anchor="ctr">
                    <a:lnL>
                      <a:noFill/>
                    </a:lnL>
                    <a:lnR>
                      <a:noFill/>
                    </a:lnR>
                    <a:lnT>
                      <a:noFill/>
                    </a:lnT>
                    <a:lnB>
                      <a:noFill/>
                    </a:lnB>
                  </a:tcPr>
                </a:tc>
                <a:tc>
                  <a:txBody>
                    <a:bodyPr/>
                    <a:lstStyle/>
                    <a:p>
                      <a:r>
                        <a:rPr lang="en-IN" sz="1100"/>
                        <a:t>1.943</a:t>
                      </a:r>
                    </a:p>
                  </a:txBody>
                  <a:tcPr marL="57254" marR="57254" marT="28627" marB="28627" anchor="ctr">
                    <a:lnL>
                      <a:noFill/>
                    </a:lnL>
                    <a:lnR>
                      <a:noFill/>
                    </a:lnR>
                    <a:lnT>
                      <a:noFill/>
                    </a:lnT>
                    <a:lnB>
                      <a:noFill/>
                    </a:lnB>
                  </a:tcPr>
                </a:tc>
                <a:tc>
                  <a:txBody>
                    <a:bodyPr/>
                    <a:lstStyle/>
                    <a:p>
                      <a:r>
                        <a:rPr lang="en-IN" sz="1100" dirty="0"/>
                        <a:t>2.447</a:t>
                      </a:r>
                    </a:p>
                  </a:txBody>
                  <a:tcPr marL="57254" marR="57254" marT="28627" marB="28627" anchor="ctr">
                    <a:lnL>
                      <a:noFill/>
                    </a:lnL>
                    <a:lnR>
                      <a:noFill/>
                    </a:lnR>
                    <a:lnT>
                      <a:noFill/>
                    </a:lnT>
                    <a:lnB>
                      <a:noFill/>
                    </a:lnB>
                  </a:tcPr>
                </a:tc>
                <a:tc>
                  <a:txBody>
                    <a:bodyPr/>
                    <a:lstStyle/>
                    <a:p>
                      <a:r>
                        <a:rPr lang="en-IN" sz="1100" dirty="0"/>
                        <a:t>2.969</a:t>
                      </a:r>
                    </a:p>
                  </a:txBody>
                  <a:tcPr marL="57254" marR="57254" marT="28627" marB="28627" anchor="ctr">
                    <a:lnL>
                      <a:noFill/>
                    </a:lnL>
                    <a:lnR>
                      <a:noFill/>
                    </a:lnR>
                    <a:lnT>
                      <a:noFill/>
                    </a:lnT>
                    <a:lnB>
                      <a:noFill/>
                    </a:lnB>
                  </a:tcPr>
                </a:tc>
                <a:tc>
                  <a:txBody>
                    <a:bodyPr/>
                    <a:lstStyle/>
                    <a:p>
                      <a:r>
                        <a:rPr lang="en-IN" sz="1100"/>
                        <a:t>3.707</a:t>
                      </a:r>
                    </a:p>
                  </a:txBody>
                  <a:tcPr marL="57254" marR="57254" marT="28627" marB="28627" anchor="ctr">
                    <a:lnL>
                      <a:noFill/>
                    </a:lnL>
                    <a:lnR>
                      <a:noFill/>
                    </a:lnR>
                    <a:lnT>
                      <a:noFill/>
                    </a:lnT>
                    <a:lnB>
                      <a:noFill/>
                    </a:lnB>
                  </a:tcPr>
                </a:tc>
                <a:tc>
                  <a:txBody>
                    <a:bodyPr/>
                    <a:lstStyle/>
                    <a:p>
                      <a:r>
                        <a:rPr lang="en-IN" sz="1100"/>
                        <a:t>4.317</a:t>
                      </a:r>
                    </a:p>
                  </a:txBody>
                  <a:tcPr marL="57254" marR="57254" marT="28627" marB="28627" anchor="ctr">
                    <a:lnL>
                      <a:noFill/>
                    </a:lnL>
                    <a:lnR>
                      <a:noFill/>
                    </a:lnR>
                    <a:lnT>
                      <a:noFill/>
                    </a:lnT>
                    <a:lnB>
                      <a:noFill/>
                    </a:lnB>
                  </a:tcPr>
                </a:tc>
              </a:tr>
              <a:tr h="318511">
                <a:tc>
                  <a:txBody>
                    <a:bodyPr/>
                    <a:lstStyle/>
                    <a:p>
                      <a:r>
                        <a:rPr lang="en-IN" sz="1100"/>
                        <a:t>7</a:t>
                      </a:r>
                    </a:p>
                  </a:txBody>
                  <a:tcPr marL="57254" marR="57254" marT="28627" marB="28627" anchor="ctr">
                    <a:lnL>
                      <a:noFill/>
                    </a:lnL>
                    <a:lnR>
                      <a:noFill/>
                    </a:lnR>
                    <a:lnT>
                      <a:noFill/>
                    </a:lnT>
                    <a:lnB>
                      <a:noFill/>
                    </a:lnB>
                  </a:tcPr>
                </a:tc>
                <a:tc>
                  <a:txBody>
                    <a:bodyPr/>
                    <a:lstStyle/>
                    <a:p>
                      <a:r>
                        <a:rPr lang="en-IN" sz="1100"/>
                        <a:t>1.895</a:t>
                      </a:r>
                    </a:p>
                  </a:txBody>
                  <a:tcPr marL="57254" marR="57254" marT="28627" marB="28627" anchor="ctr">
                    <a:lnL>
                      <a:noFill/>
                    </a:lnL>
                    <a:lnR>
                      <a:noFill/>
                    </a:lnR>
                    <a:lnT>
                      <a:noFill/>
                    </a:lnT>
                    <a:lnB>
                      <a:noFill/>
                    </a:lnB>
                  </a:tcPr>
                </a:tc>
                <a:tc>
                  <a:txBody>
                    <a:bodyPr/>
                    <a:lstStyle/>
                    <a:p>
                      <a:r>
                        <a:rPr lang="en-IN" sz="1100"/>
                        <a:t>2.365</a:t>
                      </a:r>
                    </a:p>
                  </a:txBody>
                  <a:tcPr marL="57254" marR="57254" marT="28627" marB="28627" anchor="ctr">
                    <a:lnL>
                      <a:noFill/>
                    </a:lnL>
                    <a:lnR>
                      <a:noFill/>
                    </a:lnR>
                    <a:lnT>
                      <a:noFill/>
                    </a:lnT>
                    <a:lnB>
                      <a:noFill/>
                    </a:lnB>
                  </a:tcPr>
                </a:tc>
                <a:tc>
                  <a:txBody>
                    <a:bodyPr/>
                    <a:lstStyle/>
                    <a:p>
                      <a:r>
                        <a:rPr lang="en-IN" sz="1100"/>
                        <a:t>2.841</a:t>
                      </a:r>
                    </a:p>
                  </a:txBody>
                  <a:tcPr marL="57254" marR="57254" marT="28627" marB="28627" anchor="ctr">
                    <a:lnL>
                      <a:noFill/>
                    </a:lnL>
                    <a:lnR>
                      <a:noFill/>
                    </a:lnR>
                    <a:lnT>
                      <a:noFill/>
                    </a:lnT>
                    <a:lnB>
                      <a:noFill/>
                    </a:lnB>
                  </a:tcPr>
                </a:tc>
                <a:tc>
                  <a:txBody>
                    <a:bodyPr/>
                    <a:lstStyle/>
                    <a:p>
                      <a:r>
                        <a:rPr lang="en-IN" sz="1100"/>
                        <a:t>3.499</a:t>
                      </a:r>
                    </a:p>
                  </a:txBody>
                  <a:tcPr marL="57254" marR="57254" marT="28627" marB="28627" anchor="ctr">
                    <a:lnL>
                      <a:noFill/>
                    </a:lnL>
                    <a:lnR>
                      <a:noFill/>
                    </a:lnR>
                    <a:lnT>
                      <a:noFill/>
                    </a:lnT>
                    <a:lnB>
                      <a:noFill/>
                    </a:lnB>
                  </a:tcPr>
                </a:tc>
                <a:tc>
                  <a:txBody>
                    <a:bodyPr/>
                    <a:lstStyle/>
                    <a:p>
                      <a:r>
                        <a:rPr lang="en-IN" sz="1100"/>
                        <a:t>4.029</a:t>
                      </a:r>
                    </a:p>
                  </a:txBody>
                  <a:tcPr marL="57254" marR="57254" marT="28627" marB="28627" anchor="ctr">
                    <a:lnL>
                      <a:noFill/>
                    </a:lnL>
                    <a:lnR>
                      <a:noFill/>
                    </a:lnR>
                    <a:lnT>
                      <a:noFill/>
                    </a:lnT>
                    <a:lnB>
                      <a:noFill/>
                    </a:lnB>
                  </a:tcPr>
                </a:tc>
              </a:tr>
              <a:tr h="318511">
                <a:tc>
                  <a:txBody>
                    <a:bodyPr/>
                    <a:lstStyle/>
                    <a:p>
                      <a:r>
                        <a:rPr lang="en-IN" sz="1100"/>
                        <a:t>8</a:t>
                      </a:r>
                    </a:p>
                  </a:txBody>
                  <a:tcPr marL="57254" marR="57254" marT="28627" marB="28627" anchor="ctr">
                    <a:lnL>
                      <a:noFill/>
                    </a:lnL>
                    <a:lnR>
                      <a:noFill/>
                    </a:lnR>
                    <a:lnT>
                      <a:noFill/>
                    </a:lnT>
                    <a:lnB>
                      <a:noFill/>
                    </a:lnB>
                  </a:tcPr>
                </a:tc>
                <a:tc>
                  <a:txBody>
                    <a:bodyPr/>
                    <a:lstStyle/>
                    <a:p>
                      <a:r>
                        <a:rPr lang="en-IN" sz="1100"/>
                        <a:t>1.860</a:t>
                      </a:r>
                    </a:p>
                  </a:txBody>
                  <a:tcPr marL="57254" marR="57254" marT="28627" marB="28627" anchor="ctr">
                    <a:lnL>
                      <a:noFill/>
                    </a:lnL>
                    <a:lnR>
                      <a:noFill/>
                    </a:lnR>
                    <a:lnT>
                      <a:noFill/>
                    </a:lnT>
                    <a:lnB>
                      <a:noFill/>
                    </a:lnB>
                  </a:tcPr>
                </a:tc>
                <a:tc>
                  <a:txBody>
                    <a:bodyPr/>
                    <a:lstStyle/>
                    <a:p>
                      <a:r>
                        <a:rPr lang="en-IN" sz="1100"/>
                        <a:t>2.306</a:t>
                      </a:r>
                    </a:p>
                  </a:txBody>
                  <a:tcPr marL="57254" marR="57254" marT="28627" marB="28627" anchor="ctr">
                    <a:lnL>
                      <a:noFill/>
                    </a:lnL>
                    <a:lnR>
                      <a:noFill/>
                    </a:lnR>
                    <a:lnT>
                      <a:noFill/>
                    </a:lnT>
                    <a:lnB>
                      <a:noFill/>
                    </a:lnB>
                  </a:tcPr>
                </a:tc>
                <a:tc>
                  <a:txBody>
                    <a:bodyPr/>
                    <a:lstStyle/>
                    <a:p>
                      <a:r>
                        <a:rPr lang="en-IN" sz="1100"/>
                        <a:t>2.752</a:t>
                      </a:r>
                    </a:p>
                  </a:txBody>
                  <a:tcPr marL="57254" marR="57254" marT="28627" marB="28627" anchor="ctr">
                    <a:lnL>
                      <a:noFill/>
                    </a:lnL>
                    <a:lnR>
                      <a:noFill/>
                    </a:lnR>
                    <a:lnT>
                      <a:noFill/>
                    </a:lnT>
                    <a:lnB>
                      <a:noFill/>
                    </a:lnB>
                  </a:tcPr>
                </a:tc>
                <a:tc>
                  <a:txBody>
                    <a:bodyPr/>
                    <a:lstStyle/>
                    <a:p>
                      <a:r>
                        <a:rPr lang="en-IN" sz="1100"/>
                        <a:t>3.355</a:t>
                      </a:r>
                    </a:p>
                  </a:txBody>
                  <a:tcPr marL="57254" marR="57254" marT="28627" marB="28627" anchor="ctr">
                    <a:lnL>
                      <a:noFill/>
                    </a:lnL>
                    <a:lnR>
                      <a:noFill/>
                    </a:lnR>
                    <a:lnT>
                      <a:noFill/>
                    </a:lnT>
                    <a:lnB>
                      <a:noFill/>
                    </a:lnB>
                  </a:tcPr>
                </a:tc>
                <a:tc>
                  <a:txBody>
                    <a:bodyPr/>
                    <a:lstStyle/>
                    <a:p>
                      <a:r>
                        <a:rPr lang="en-IN" sz="1100"/>
                        <a:t>3.833</a:t>
                      </a:r>
                    </a:p>
                  </a:txBody>
                  <a:tcPr marL="57254" marR="57254" marT="28627" marB="28627" anchor="ctr">
                    <a:lnL>
                      <a:noFill/>
                    </a:lnL>
                    <a:lnR>
                      <a:noFill/>
                    </a:lnR>
                    <a:lnT>
                      <a:noFill/>
                    </a:lnT>
                    <a:lnB>
                      <a:noFill/>
                    </a:lnB>
                  </a:tcPr>
                </a:tc>
              </a:tr>
              <a:tr h="318511">
                <a:tc>
                  <a:txBody>
                    <a:bodyPr/>
                    <a:lstStyle/>
                    <a:p>
                      <a:r>
                        <a:rPr lang="en-IN" sz="1100"/>
                        <a:t>9</a:t>
                      </a:r>
                    </a:p>
                  </a:txBody>
                  <a:tcPr marL="57254" marR="57254" marT="28627" marB="28627" anchor="ctr">
                    <a:lnL>
                      <a:noFill/>
                    </a:lnL>
                    <a:lnR>
                      <a:noFill/>
                    </a:lnR>
                    <a:lnT>
                      <a:noFill/>
                    </a:lnT>
                    <a:lnB>
                      <a:noFill/>
                    </a:lnB>
                  </a:tcPr>
                </a:tc>
                <a:tc>
                  <a:txBody>
                    <a:bodyPr/>
                    <a:lstStyle/>
                    <a:p>
                      <a:r>
                        <a:rPr lang="en-IN" sz="1100"/>
                        <a:t>1.833</a:t>
                      </a:r>
                    </a:p>
                  </a:txBody>
                  <a:tcPr marL="57254" marR="57254" marT="28627" marB="28627" anchor="ctr">
                    <a:lnL>
                      <a:noFill/>
                    </a:lnL>
                    <a:lnR>
                      <a:noFill/>
                    </a:lnR>
                    <a:lnT>
                      <a:noFill/>
                    </a:lnT>
                    <a:lnB>
                      <a:noFill/>
                    </a:lnB>
                  </a:tcPr>
                </a:tc>
                <a:tc>
                  <a:txBody>
                    <a:bodyPr/>
                    <a:lstStyle/>
                    <a:p>
                      <a:r>
                        <a:rPr lang="en-IN" sz="1100"/>
                        <a:t>2.262</a:t>
                      </a:r>
                    </a:p>
                  </a:txBody>
                  <a:tcPr marL="57254" marR="57254" marT="28627" marB="28627" anchor="ctr">
                    <a:lnL>
                      <a:noFill/>
                    </a:lnL>
                    <a:lnR>
                      <a:noFill/>
                    </a:lnR>
                    <a:lnT>
                      <a:noFill/>
                    </a:lnT>
                    <a:lnB>
                      <a:noFill/>
                    </a:lnB>
                  </a:tcPr>
                </a:tc>
                <a:tc>
                  <a:txBody>
                    <a:bodyPr/>
                    <a:lstStyle/>
                    <a:p>
                      <a:r>
                        <a:rPr lang="en-IN" sz="1100"/>
                        <a:t>2.685</a:t>
                      </a:r>
                    </a:p>
                  </a:txBody>
                  <a:tcPr marL="57254" marR="57254" marT="28627" marB="28627" anchor="ctr">
                    <a:lnL>
                      <a:noFill/>
                    </a:lnL>
                    <a:lnR>
                      <a:noFill/>
                    </a:lnR>
                    <a:lnT>
                      <a:noFill/>
                    </a:lnT>
                    <a:lnB>
                      <a:noFill/>
                    </a:lnB>
                  </a:tcPr>
                </a:tc>
                <a:tc>
                  <a:txBody>
                    <a:bodyPr/>
                    <a:lstStyle/>
                    <a:p>
                      <a:r>
                        <a:rPr lang="en-IN" sz="1100"/>
                        <a:t>3.250</a:t>
                      </a:r>
                    </a:p>
                  </a:txBody>
                  <a:tcPr marL="57254" marR="57254" marT="28627" marB="28627" anchor="ctr">
                    <a:lnL>
                      <a:noFill/>
                    </a:lnL>
                    <a:lnR>
                      <a:noFill/>
                    </a:lnR>
                    <a:lnT>
                      <a:noFill/>
                    </a:lnT>
                    <a:lnB>
                      <a:noFill/>
                    </a:lnB>
                  </a:tcPr>
                </a:tc>
                <a:tc>
                  <a:txBody>
                    <a:bodyPr/>
                    <a:lstStyle/>
                    <a:p>
                      <a:r>
                        <a:rPr lang="en-IN" sz="1100"/>
                        <a:t>3.690</a:t>
                      </a:r>
                    </a:p>
                  </a:txBody>
                  <a:tcPr marL="57254" marR="57254" marT="28627" marB="28627" anchor="ctr">
                    <a:lnL>
                      <a:noFill/>
                    </a:lnL>
                    <a:lnR>
                      <a:noFill/>
                    </a:lnR>
                    <a:lnT>
                      <a:noFill/>
                    </a:lnT>
                    <a:lnB>
                      <a:noFill/>
                    </a:lnB>
                  </a:tcPr>
                </a:tc>
              </a:tr>
              <a:tr h="318511">
                <a:tc>
                  <a:txBody>
                    <a:bodyPr/>
                    <a:lstStyle/>
                    <a:p>
                      <a:r>
                        <a:rPr lang="en-IN" sz="1100"/>
                        <a:t>10</a:t>
                      </a:r>
                    </a:p>
                  </a:txBody>
                  <a:tcPr marL="57254" marR="57254" marT="28627" marB="28627" anchor="ctr">
                    <a:lnL>
                      <a:noFill/>
                    </a:lnL>
                    <a:lnR>
                      <a:noFill/>
                    </a:lnR>
                    <a:lnT>
                      <a:noFill/>
                    </a:lnT>
                    <a:lnB>
                      <a:noFill/>
                    </a:lnB>
                  </a:tcPr>
                </a:tc>
                <a:tc>
                  <a:txBody>
                    <a:bodyPr/>
                    <a:lstStyle/>
                    <a:p>
                      <a:r>
                        <a:rPr lang="en-IN" sz="1100" dirty="0"/>
                        <a:t>1.812</a:t>
                      </a:r>
                    </a:p>
                  </a:txBody>
                  <a:tcPr marL="57254" marR="57254" marT="28627" marB="28627" anchor="ctr">
                    <a:lnL>
                      <a:noFill/>
                    </a:lnL>
                    <a:lnR>
                      <a:noFill/>
                    </a:lnR>
                    <a:lnT>
                      <a:noFill/>
                    </a:lnT>
                    <a:lnB>
                      <a:noFill/>
                    </a:lnB>
                  </a:tcPr>
                </a:tc>
                <a:tc>
                  <a:txBody>
                    <a:bodyPr/>
                    <a:lstStyle/>
                    <a:p>
                      <a:r>
                        <a:rPr lang="en-IN" sz="1100"/>
                        <a:t>2.228</a:t>
                      </a:r>
                    </a:p>
                  </a:txBody>
                  <a:tcPr marL="57254" marR="57254" marT="28627" marB="28627" anchor="ctr">
                    <a:lnL>
                      <a:noFill/>
                    </a:lnL>
                    <a:lnR>
                      <a:noFill/>
                    </a:lnR>
                    <a:lnT>
                      <a:noFill/>
                    </a:lnT>
                    <a:lnB>
                      <a:noFill/>
                    </a:lnB>
                  </a:tcPr>
                </a:tc>
                <a:tc>
                  <a:txBody>
                    <a:bodyPr/>
                    <a:lstStyle/>
                    <a:p>
                      <a:r>
                        <a:rPr lang="en-IN" sz="1100"/>
                        <a:t>2.634</a:t>
                      </a:r>
                    </a:p>
                  </a:txBody>
                  <a:tcPr marL="57254" marR="57254" marT="28627" marB="28627" anchor="ctr">
                    <a:lnL>
                      <a:noFill/>
                    </a:lnL>
                    <a:lnR>
                      <a:noFill/>
                    </a:lnR>
                    <a:lnT>
                      <a:noFill/>
                    </a:lnT>
                    <a:lnB>
                      <a:noFill/>
                    </a:lnB>
                  </a:tcPr>
                </a:tc>
                <a:tc>
                  <a:txBody>
                    <a:bodyPr/>
                    <a:lstStyle/>
                    <a:p>
                      <a:r>
                        <a:rPr lang="en-IN" sz="1100"/>
                        <a:t>3.169</a:t>
                      </a:r>
                    </a:p>
                  </a:txBody>
                  <a:tcPr marL="57254" marR="57254" marT="28627" marB="28627" anchor="ctr">
                    <a:lnL>
                      <a:noFill/>
                    </a:lnL>
                    <a:lnR>
                      <a:noFill/>
                    </a:lnR>
                    <a:lnT>
                      <a:noFill/>
                    </a:lnT>
                    <a:lnB>
                      <a:noFill/>
                    </a:lnB>
                  </a:tcPr>
                </a:tc>
                <a:tc>
                  <a:txBody>
                    <a:bodyPr/>
                    <a:lstStyle/>
                    <a:p>
                      <a:r>
                        <a:rPr lang="en-IN" sz="1100"/>
                        <a:t>3.581</a:t>
                      </a:r>
                    </a:p>
                  </a:txBody>
                  <a:tcPr marL="57254" marR="57254" marT="28627" marB="28627" anchor="ctr">
                    <a:lnL>
                      <a:noFill/>
                    </a:lnL>
                    <a:lnR>
                      <a:noFill/>
                    </a:lnR>
                    <a:lnT>
                      <a:noFill/>
                    </a:lnT>
                    <a:lnB>
                      <a:noFill/>
                    </a:lnB>
                  </a:tcPr>
                </a:tc>
              </a:tr>
              <a:tr h="318511">
                <a:tc>
                  <a:txBody>
                    <a:bodyPr/>
                    <a:lstStyle/>
                    <a:p>
                      <a:r>
                        <a:rPr lang="en-IN" sz="1100"/>
                        <a:t>12</a:t>
                      </a:r>
                    </a:p>
                  </a:txBody>
                  <a:tcPr marL="57254" marR="57254" marT="28627" marB="28627" anchor="ctr">
                    <a:lnL>
                      <a:noFill/>
                    </a:lnL>
                    <a:lnR>
                      <a:noFill/>
                    </a:lnR>
                    <a:lnT>
                      <a:noFill/>
                    </a:lnT>
                    <a:lnB>
                      <a:noFill/>
                    </a:lnB>
                  </a:tcPr>
                </a:tc>
                <a:tc>
                  <a:txBody>
                    <a:bodyPr/>
                    <a:lstStyle/>
                    <a:p>
                      <a:r>
                        <a:rPr lang="en-IN" sz="1100"/>
                        <a:t>1.782</a:t>
                      </a:r>
                    </a:p>
                  </a:txBody>
                  <a:tcPr marL="57254" marR="57254" marT="28627" marB="28627" anchor="ctr">
                    <a:lnL>
                      <a:noFill/>
                    </a:lnL>
                    <a:lnR>
                      <a:noFill/>
                    </a:lnR>
                    <a:lnT>
                      <a:noFill/>
                    </a:lnT>
                    <a:lnB>
                      <a:noFill/>
                    </a:lnB>
                  </a:tcPr>
                </a:tc>
                <a:tc>
                  <a:txBody>
                    <a:bodyPr/>
                    <a:lstStyle/>
                    <a:p>
                      <a:r>
                        <a:rPr lang="en-IN" sz="1100"/>
                        <a:t>2.179</a:t>
                      </a:r>
                    </a:p>
                  </a:txBody>
                  <a:tcPr marL="57254" marR="57254" marT="28627" marB="28627" anchor="ctr">
                    <a:lnL>
                      <a:noFill/>
                    </a:lnL>
                    <a:lnR>
                      <a:noFill/>
                    </a:lnR>
                    <a:lnT>
                      <a:noFill/>
                    </a:lnT>
                    <a:lnB>
                      <a:noFill/>
                    </a:lnB>
                  </a:tcPr>
                </a:tc>
                <a:tc>
                  <a:txBody>
                    <a:bodyPr/>
                    <a:lstStyle/>
                    <a:p>
                      <a:r>
                        <a:rPr lang="en-IN" sz="1100"/>
                        <a:t>2.518</a:t>
                      </a:r>
                    </a:p>
                  </a:txBody>
                  <a:tcPr marL="57254" marR="57254" marT="28627" marB="28627" anchor="ctr">
                    <a:lnL>
                      <a:noFill/>
                    </a:lnL>
                    <a:lnR>
                      <a:noFill/>
                    </a:lnR>
                    <a:lnT>
                      <a:noFill/>
                    </a:lnT>
                    <a:lnB>
                      <a:noFill/>
                    </a:lnB>
                  </a:tcPr>
                </a:tc>
                <a:tc>
                  <a:txBody>
                    <a:bodyPr/>
                    <a:lstStyle/>
                    <a:p>
                      <a:r>
                        <a:rPr lang="en-IN" sz="1100"/>
                        <a:t>3.055</a:t>
                      </a:r>
                    </a:p>
                  </a:txBody>
                  <a:tcPr marL="57254" marR="57254" marT="28627" marB="28627" anchor="ctr">
                    <a:lnL>
                      <a:noFill/>
                    </a:lnL>
                    <a:lnR>
                      <a:noFill/>
                    </a:lnR>
                    <a:lnT>
                      <a:noFill/>
                    </a:lnT>
                    <a:lnB>
                      <a:noFill/>
                    </a:lnB>
                  </a:tcPr>
                </a:tc>
                <a:tc>
                  <a:txBody>
                    <a:bodyPr/>
                    <a:lstStyle/>
                    <a:p>
                      <a:r>
                        <a:rPr lang="en-IN" sz="1100"/>
                        <a:t>3.373</a:t>
                      </a:r>
                    </a:p>
                  </a:txBody>
                  <a:tcPr marL="57254" marR="57254" marT="28627" marB="28627" anchor="ctr">
                    <a:lnL>
                      <a:noFill/>
                    </a:lnL>
                    <a:lnR>
                      <a:noFill/>
                    </a:lnR>
                    <a:lnT>
                      <a:noFill/>
                    </a:lnT>
                    <a:lnB>
                      <a:noFill/>
                    </a:lnB>
                  </a:tcPr>
                </a:tc>
              </a:tr>
              <a:tr h="318511">
                <a:tc>
                  <a:txBody>
                    <a:bodyPr/>
                    <a:lstStyle/>
                    <a:p>
                      <a:r>
                        <a:rPr lang="en-IN" sz="1100"/>
                        <a:t>15</a:t>
                      </a:r>
                    </a:p>
                  </a:txBody>
                  <a:tcPr marL="57254" marR="57254" marT="28627" marB="28627" anchor="ctr">
                    <a:lnL>
                      <a:noFill/>
                    </a:lnL>
                    <a:lnR>
                      <a:noFill/>
                    </a:lnR>
                    <a:lnT>
                      <a:noFill/>
                    </a:lnT>
                    <a:lnB>
                      <a:noFill/>
                    </a:lnB>
                  </a:tcPr>
                </a:tc>
                <a:tc>
                  <a:txBody>
                    <a:bodyPr/>
                    <a:lstStyle/>
                    <a:p>
                      <a:r>
                        <a:rPr lang="en-IN" sz="1100"/>
                        <a:t>1.753</a:t>
                      </a:r>
                    </a:p>
                  </a:txBody>
                  <a:tcPr marL="57254" marR="57254" marT="28627" marB="28627" anchor="ctr">
                    <a:lnL>
                      <a:noFill/>
                    </a:lnL>
                    <a:lnR>
                      <a:noFill/>
                    </a:lnR>
                    <a:lnT>
                      <a:noFill/>
                    </a:lnT>
                    <a:lnB>
                      <a:noFill/>
                    </a:lnB>
                  </a:tcPr>
                </a:tc>
                <a:tc>
                  <a:txBody>
                    <a:bodyPr/>
                    <a:lstStyle/>
                    <a:p>
                      <a:r>
                        <a:rPr lang="en-IN" sz="1100"/>
                        <a:t>2.131</a:t>
                      </a:r>
                    </a:p>
                  </a:txBody>
                  <a:tcPr marL="57254" marR="57254" marT="28627" marB="28627" anchor="ctr">
                    <a:lnL>
                      <a:noFill/>
                    </a:lnL>
                    <a:lnR>
                      <a:noFill/>
                    </a:lnR>
                    <a:lnT>
                      <a:noFill/>
                    </a:lnT>
                    <a:lnB>
                      <a:noFill/>
                    </a:lnB>
                  </a:tcPr>
                </a:tc>
                <a:tc>
                  <a:txBody>
                    <a:bodyPr/>
                    <a:lstStyle/>
                    <a:p>
                      <a:r>
                        <a:rPr lang="en-IN" sz="1100"/>
                        <a:t>2.447</a:t>
                      </a:r>
                    </a:p>
                  </a:txBody>
                  <a:tcPr marL="57254" marR="57254" marT="28627" marB="28627" anchor="ctr">
                    <a:lnL>
                      <a:noFill/>
                    </a:lnL>
                    <a:lnR>
                      <a:noFill/>
                    </a:lnR>
                    <a:lnT>
                      <a:noFill/>
                    </a:lnT>
                    <a:lnB>
                      <a:noFill/>
                    </a:lnB>
                  </a:tcPr>
                </a:tc>
                <a:tc>
                  <a:txBody>
                    <a:bodyPr/>
                    <a:lstStyle/>
                    <a:p>
                      <a:r>
                        <a:rPr lang="en-IN" sz="1100"/>
                        <a:t>2.947</a:t>
                      </a:r>
                    </a:p>
                  </a:txBody>
                  <a:tcPr marL="57254" marR="57254" marT="28627" marB="28627" anchor="ctr">
                    <a:lnL>
                      <a:noFill/>
                    </a:lnL>
                    <a:lnR>
                      <a:noFill/>
                    </a:lnR>
                    <a:lnT>
                      <a:noFill/>
                    </a:lnT>
                    <a:lnB>
                      <a:noFill/>
                    </a:lnB>
                  </a:tcPr>
                </a:tc>
                <a:tc>
                  <a:txBody>
                    <a:bodyPr/>
                    <a:lstStyle/>
                    <a:p>
                      <a:r>
                        <a:rPr lang="en-IN" sz="1100"/>
                        <a:t>3.289</a:t>
                      </a:r>
                    </a:p>
                  </a:txBody>
                  <a:tcPr marL="57254" marR="57254" marT="28627" marB="28627" anchor="ctr">
                    <a:lnL>
                      <a:noFill/>
                    </a:lnL>
                    <a:lnR>
                      <a:noFill/>
                    </a:lnR>
                    <a:lnT>
                      <a:noFill/>
                    </a:lnT>
                    <a:lnB>
                      <a:noFill/>
                    </a:lnB>
                  </a:tcPr>
                </a:tc>
              </a:tr>
              <a:tr h="318511">
                <a:tc>
                  <a:txBody>
                    <a:bodyPr/>
                    <a:lstStyle/>
                    <a:p>
                      <a:r>
                        <a:rPr lang="en-IN" sz="1100"/>
                        <a:t>20</a:t>
                      </a:r>
                    </a:p>
                  </a:txBody>
                  <a:tcPr marL="57254" marR="57254" marT="28627" marB="28627" anchor="ctr">
                    <a:lnL>
                      <a:noFill/>
                    </a:lnL>
                    <a:lnR>
                      <a:noFill/>
                    </a:lnR>
                    <a:lnT>
                      <a:noFill/>
                    </a:lnT>
                    <a:lnB>
                      <a:noFill/>
                    </a:lnB>
                  </a:tcPr>
                </a:tc>
                <a:tc>
                  <a:txBody>
                    <a:bodyPr/>
                    <a:lstStyle/>
                    <a:p>
                      <a:r>
                        <a:rPr lang="en-IN" sz="1100"/>
                        <a:t>1.725</a:t>
                      </a:r>
                    </a:p>
                  </a:txBody>
                  <a:tcPr marL="57254" marR="57254" marT="28627" marB="28627" anchor="ctr">
                    <a:lnL>
                      <a:noFill/>
                    </a:lnL>
                    <a:lnR>
                      <a:noFill/>
                    </a:lnR>
                    <a:lnT>
                      <a:noFill/>
                    </a:lnT>
                    <a:lnB>
                      <a:noFill/>
                    </a:lnB>
                  </a:tcPr>
                </a:tc>
                <a:tc>
                  <a:txBody>
                    <a:bodyPr/>
                    <a:lstStyle/>
                    <a:p>
                      <a:r>
                        <a:rPr lang="en-IN" sz="1100"/>
                        <a:t>2.086</a:t>
                      </a:r>
                    </a:p>
                  </a:txBody>
                  <a:tcPr marL="57254" marR="57254" marT="28627" marB="28627" anchor="ctr">
                    <a:lnL>
                      <a:noFill/>
                    </a:lnL>
                    <a:lnR>
                      <a:noFill/>
                    </a:lnR>
                    <a:lnT>
                      <a:noFill/>
                    </a:lnT>
                    <a:lnB>
                      <a:noFill/>
                    </a:lnB>
                  </a:tcPr>
                </a:tc>
                <a:tc>
                  <a:txBody>
                    <a:bodyPr/>
                    <a:lstStyle/>
                    <a:p>
                      <a:r>
                        <a:rPr lang="en-IN" sz="1100"/>
                        <a:t>2.390</a:t>
                      </a:r>
                    </a:p>
                  </a:txBody>
                  <a:tcPr marL="57254" marR="57254" marT="28627" marB="28627" anchor="ctr">
                    <a:lnL>
                      <a:noFill/>
                    </a:lnL>
                    <a:lnR>
                      <a:noFill/>
                    </a:lnR>
                    <a:lnT>
                      <a:noFill/>
                    </a:lnT>
                    <a:lnB>
                      <a:noFill/>
                    </a:lnB>
                  </a:tcPr>
                </a:tc>
                <a:tc>
                  <a:txBody>
                    <a:bodyPr/>
                    <a:lstStyle/>
                    <a:p>
                      <a:r>
                        <a:rPr lang="en-IN" sz="1100"/>
                        <a:t>2.845</a:t>
                      </a:r>
                    </a:p>
                  </a:txBody>
                  <a:tcPr marL="57254" marR="57254" marT="28627" marB="28627" anchor="ctr">
                    <a:lnL>
                      <a:noFill/>
                    </a:lnL>
                    <a:lnR>
                      <a:noFill/>
                    </a:lnR>
                    <a:lnT>
                      <a:noFill/>
                    </a:lnT>
                    <a:lnB>
                      <a:noFill/>
                    </a:lnB>
                  </a:tcPr>
                </a:tc>
                <a:tc>
                  <a:txBody>
                    <a:bodyPr/>
                    <a:lstStyle/>
                    <a:p>
                      <a:r>
                        <a:rPr lang="en-IN" sz="1100"/>
                        <a:t>3.153</a:t>
                      </a:r>
                    </a:p>
                  </a:txBody>
                  <a:tcPr marL="57254" marR="57254" marT="28627" marB="28627" anchor="ctr">
                    <a:lnL>
                      <a:noFill/>
                    </a:lnL>
                    <a:lnR>
                      <a:noFill/>
                    </a:lnR>
                    <a:lnT>
                      <a:noFill/>
                    </a:lnT>
                    <a:lnB>
                      <a:noFill/>
                    </a:lnB>
                  </a:tcPr>
                </a:tc>
              </a:tr>
              <a:tr h="318511">
                <a:tc>
                  <a:txBody>
                    <a:bodyPr/>
                    <a:lstStyle/>
                    <a:p>
                      <a:r>
                        <a:rPr lang="en-IN" sz="1100"/>
                        <a:t>25</a:t>
                      </a:r>
                    </a:p>
                  </a:txBody>
                  <a:tcPr marL="57254" marR="57254" marT="28627" marB="28627" anchor="ctr">
                    <a:lnL>
                      <a:noFill/>
                    </a:lnL>
                    <a:lnR>
                      <a:noFill/>
                    </a:lnR>
                    <a:lnT>
                      <a:noFill/>
                    </a:lnT>
                    <a:lnB>
                      <a:noFill/>
                    </a:lnB>
                  </a:tcPr>
                </a:tc>
                <a:tc>
                  <a:txBody>
                    <a:bodyPr/>
                    <a:lstStyle/>
                    <a:p>
                      <a:r>
                        <a:rPr lang="en-IN" sz="1100"/>
                        <a:t>1.708</a:t>
                      </a:r>
                    </a:p>
                  </a:txBody>
                  <a:tcPr marL="57254" marR="57254" marT="28627" marB="28627" anchor="ctr">
                    <a:lnL>
                      <a:noFill/>
                    </a:lnL>
                    <a:lnR>
                      <a:noFill/>
                    </a:lnR>
                    <a:lnT>
                      <a:noFill/>
                    </a:lnT>
                    <a:lnB>
                      <a:noFill/>
                    </a:lnB>
                  </a:tcPr>
                </a:tc>
                <a:tc>
                  <a:txBody>
                    <a:bodyPr/>
                    <a:lstStyle/>
                    <a:p>
                      <a:r>
                        <a:rPr lang="en-IN" sz="1100"/>
                        <a:t>2.060</a:t>
                      </a:r>
                    </a:p>
                  </a:txBody>
                  <a:tcPr marL="57254" marR="57254" marT="28627" marB="28627" anchor="ctr">
                    <a:lnL>
                      <a:noFill/>
                    </a:lnL>
                    <a:lnR>
                      <a:noFill/>
                    </a:lnR>
                    <a:lnT>
                      <a:noFill/>
                    </a:lnT>
                    <a:lnB>
                      <a:noFill/>
                    </a:lnB>
                  </a:tcPr>
                </a:tc>
                <a:tc>
                  <a:txBody>
                    <a:bodyPr/>
                    <a:lstStyle/>
                    <a:p>
                      <a:r>
                        <a:rPr lang="en-IN" sz="1100"/>
                        <a:t>2.360</a:t>
                      </a:r>
                    </a:p>
                  </a:txBody>
                  <a:tcPr marL="57254" marR="57254" marT="28627" marB="28627" anchor="ctr">
                    <a:lnL>
                      <a:noFill/>
                    </a:lnL>
                    <a:lnR>
                      <a:noFill/>
                    </a:lnR>
                    <a:lnT>
                      <a:noFill/>
                    </a:lnT>
                    <a:lnB>
                      <a:noFill/>
                    </a:lnB>
                  </a:tcPr>
                </a:tc>
                <a:tc>
                  <a:txBody>
                    <a:bodyPr/>
                    <a:lstStyle/>
                    <a:p>
                      <a:r>
                        <a:rPr lang="en-IN" sz="1100"/>
                        <a:t>2.787</a:t>
                      </a:r>
                    </a:p>
                  </a:txBody>
                  <a:tcPr marL="57254" marR="57254" marT="28627" marB="28627" anchor="ctr">
                    <a:lnL>
                      <a:noFill/>
                    </a:lnL>
                    <a:lnR>
                      <a:noFill/>
                    </a:lnR>
                    <a:lnT>
                      <a:noFill/>
                    </a:lnT>
                    <a:lnB>
                      <a:noFill/>
                    </a:lnB>
                  </a:tcPr>
                </a:tc>
                <a:tc>
                  <a:txBody>
                    <a:bodyPr/>
                    <a:lstStyle/>
                    <a:p>
                      <a:r>
                        <a:rPr lang="en-IN" sz="1100"/>
                        <a:t>3.078</a:t>
                      </a:r>
                    </a:p>
                  </a:txBody>
                  <a:tcPr marL="57254" marR="57254" marT="28627" marB="28627" anchor="ctr">
                    <a:lnL>
                      <a:noFill/>
                    </a:lnL>
                    <a:lnR>
                      <a:noFill/>
                    </a:lnR>
                    <a:lnT>
                      <a:noFill/>
                    </a:lnT>
                    <a:lnB>
                      <a:noFill/>
                    </a:lnB>
                  </a:tcPr>
                </a:tc>
              </a:tr>
              <a:tr h="318511">
                <a:tc>
                  <a:txBody>
                    <a:bodyPr/>
                    <a:lstStyle/>
                    <a:p>
                      <a:r>
                        <a:rPr lang="en-IN" sz="1100"/>
                        <a:t>30</a:t>
                      </a:r>
                    </a:p>
                  </a:txBody>
                  <a:tcPr marL="57254" marR="57254" marT="28627" marB="28627" anchor="ctr">
                    <a:lnL>
                      <a:noFill/>
                    </a:lnL>
                    <a:lnR>
                      <a:noFill/>
                    </a:lnR>
                    <a:lnT>
                      <a:noFill/>
                    </a:lnT>
                    <a:lnB>
                      <a:noFill/>
                    </a:lnB>
                  </a:tcPr>
                </a:tc>
                <a:tc>
                  <a:txBody>
                    <a:bodyPr/>
                    <a:lstStyle/>
                    <a:p>
                      <a:r>
                        <a:rPr lang="en-IN" sz="1100"/>
                        <a:t>1.697</a:t>
                      </a:r>
                    </a:p>
                  </a:txBody>
                  <a:tcPr marL="57254" marR="57254" marT="28627" marB="28627" anchor="ctr">
                    <a:lnL>
                      <a:noFill/>
                    </a:lnL>
                    <a:lnR>
                      <a:noFill/>
                    </a:lnR>
                    <a:lnT>
                      <a:noFill/>
                    </a:lnT>
                    <a:lnB>
                      <a:noFill/>
                    </a:lnB>
                  </a:tcPr>
                </a:tc>
                <a:tc>
                  <a:txBody>
                    <a:bodyPr/>
                    <a:lstStyle/>
                    <a:p>
                      <a:r>
                        <a:rPr lang="en-IN" sz="1100"/>
                        <a:t>2.042</a:t>
                      </a:r>
                    </a:p>
                  </a:txBody>
                  <a:tcPr marL="57254" marR="57254" marT="28627" marB="28627" anchor="ctr">
                    <a:lnL>
                      <a:noFill/>
                    </a:lnL>
                    <a:lnR>
                      <a:noFill/>
                    </a:lnR>
                    <a:lnT>
                      <a:noFill/>
                    </a:lnT>
                    <a:lnB>
                      <a:noFill/>
                    </a:lnB>
                  </a:tcPr>
                </a:tc>
                <a:tc>
                  <a:txBody>
                    <a:bodyPr/>
                    <a:lstStyle/>
                    <a:p>
                      <a:r>
                        <a:rPr lang="en-IN" sz="1100"/>
                        <a:t>2.340</a:t>
                      </a:r>
                    </a:p>
                  </a:txBody>
                  <a:tcPr marL="57254" marR="57254" marT="28627" marB="28627" anchor="ctr">
                    <a:lnL>
                      <a:noFill/>
                    </a:lnL>
                    <a:lnR>
                      <a:noFill/>
                    </a:lnR>
                    <a:lnT>
                      <a:noFill/>
                    </a:lnT>
                    <a:lnB>
                      <a:noFill/>
                    </a:lnB>
                  </a:tcPr>
                </a:tc>
                <a:tc>
                  <a:txBody>
                    <a:bodyPr/>
                    <a:lstStyle/>
                    <a:p>
                      <a:r>
                        <a:rPr lang="en-IN" sz="1100"/>
                        <a:t>2.750</a:t>
                      </a:r>
                    </a:p>
                  </a:txBody>
                  <a:tcPr marL="57254" marR="57254" marT="28627" marB="28627" anchor="ctr">
                    <a:lnL>
                      <a:noFill/>
                    </a:lnL>
                    <a:lnR>
                      <a:noFill/>
                    </a:lnR>
                    <a:lnT>
                      <a:noFill/>
                    </a:lnT>
                    <a:lnB>
                      <a:noFill/>
                    </a:lnB>
                  </a:tcPr>
                </a:tc>
                <a:tc>
                  <a:txBody>
                    <a:bodyPr/>
                    <a:lstStyle/>
                    <a:p>
                      <a:r>
                        <a:rPr lang="en-IN" sz="1100"/>
                        <a:t>3.030</a:t>
                      </a:r>
                    </a:p>
                  </a:txBody>
                  <a:tcPr marL="57254" marR="57254" marT="28627" marB="28627" anchor="ctr">
                    <a:lnL>
                      <a:noFill/>
                    </a:lnL>
                    <a:lnR>
                      <a:noFill/>
                    </a:lnR>
                    <a:lnT>
                      <a:noFill/>
                    </a:lnT>
                    <a:lnB>
                      <a:noFill/>
                    </a:lnB>
                  </a:tcPr>
                </a:tc>
              </a:tr>
              <a:tr h="318511">
                <a:tc>
                  <a:txBody>
                    <a:bodyPr/>
                    <a:lstStyle/>
                    <a:p>
                      <a:r>
                        <a:rPr lang="en-IN" sz="1100"/>
                        <a:t>40</a:t>
                      </a:r>
                    </a:p>
                  </a:txBody>
                  <a:tcPr marL="57254" marR="57254" marT="28627" marB="28627" anchor="ctr">
                    <a:lnL>
                      <a:noFill/>
                    </a:lnL>
                    <a:lnR>
                      <a:noFill/>
                    </a:lnR>
                    <a:lnT>
                      <a:noFill/>
                    </a:lnT>
                    <a:lnB>
                      <a:noFill/>
                    </a:lnB>
                  </a:tcPr>
                </a:tc>
                <a:tc>
                  <a:txBody>
                    <a:bodyPr/>
                    <a:lstStyle/>
                    <a:p>
                      <a:r>
                        <a:rPr lang="en-IN" sz="1100"/>
                        <a:t>1.684</a:t>
                      </a:r>
                    </a:p>
                  </a:txBody>
                  <a:tcPr marL="57254" marR="57254" marT="28627" marB="28627" anchor="ctr">
                    <a:lnL>
                      <a:noFill/>
                    </a:lnL>
                    <a:lnR>
                      <a:noFill/>
                    </a:lnR>
                    <a:lnT>
                      <a:noFill/>
                    </a:lnT>
                    <a:lnB>
                      <a:noFill/>
                    </a:lnB>
                  </a:tcPr>
                </a:tc>
                <a:tc>
                  <a:txBody>
                    <a:bodyPr/>
                    <a:lstStyle/>
                    <a:p>
                      <a:r>
                        <a:rPr lang="en-IN" sz="1100"/>
                        <a:t>2.021</a:t>
                      </a:r>
                    </a:p>
                  </a:txBody>
                  <a:tcPr marL="57254" marR="57254" marT="28627" marB="28627" anchor="ctr">
                    <a:lnL>
                      <a:noFill/>
                    </a:lnL>
                    <a:lnR>
                      <a:noFill/>
                    </a:lnR>
                    <a:lnT>
                      <a:noFill/>
                    </a:lnT>
                    <a:lnB>
                      <a:noFill/>
                    </a:lnB>
                  </a:tcPr>
                </a:tc>
                <a:tc>
                  <a:txBody>
                    <a:bodyPr/>
                    <a:lstStyle/>
                    <a:p>
                      <a:r>
                        <a:rPr lang="en-IN" sz="1100"/>
                        <a:t>2.303</a:t>
                      </a:r>
                    </a:p>
                  </a:txBody>
                  <a:tcPr marL="57254" marR="57254" marT="28627" marB="28627" anchor="ctr">
                    <a:lnL>
                      <a:noFill/>
                    </a:lnL>
                    <a:lnR>
                      <a:noFill/>
                    </a:lnR>
                    <a:lnT>
                      <a:noFill/>
                    </a:lnT>
                    <a:lnB>
                      <a:noFill/>
                    </a:lnB>
                  </a:tcPr>
                </a:tc>
                <a:tc>
                  <a:txBody>
                    <a:bodyPr/>
                    <a:lstStyle/>
                    <a:p>
                      <a:r>
                        <a:rPr lang="en-IN" sz="1100"/>
                        <a:t>2.704</a:t>
                      </a:r>
                    </a:p>
                  </a:txBody>
                  <a:tcPr marL="57254" marR="57254" marT="28627" marB="28627" anchor="ctr">
                    <a:lnL>
                      <a:noFill/>
                    </a:lnL>
                    <a:lnR>
                      <a:noFill/>
                    </a:lnR>
                    <a:lnT>
                      <a:noFill/>
                    </a:lnT>
                    <a:lnB>
                      <a:noFill/>
                    </a:lnB>
                  </a:tcPr>
                </a:tc>
                <a:tc>
                  <a:txBody>
                    <a:bodyPr/>
                    <a:lstStyle/>
                    <a:p>
                      <a:r>
                        <a:rPr lang="en-IN" sz="1100"/>
                        <a:t>2.971</a:t>
                      </a:r>
                    </a:p>
                  </a:txBody>
                  <a:tcPr marL="57254" marR="57254" marT="28627" marB="28627" anchor="ctr">
                    <a:lnL>
                      <a:noFill/>
                    </a:lnL>
                    <a:lnR>
                      <a:noFill/>
                    </a:lnR>
                    <a:lnT>
                      <a:noFill/>
                    </a:lnT>
                    <a:lnB>
                      <a:noFill/>
                    </a:lnB>
                  </a:tcPr>
                </a:tc>
              </a:tr>
              <a:tr h="318511">
                <a:tc>
                  <a:txBody>
                    <a:bodyPr/>
                    <a:lstStyle/>
                    <a:p>
                      <a:r>
                        <a:rPr lang="en-IN" sz="1100"/>
                        <a:t>60</a:t>
                      </a:r>
                    </a:p>
                  </a:txBody>
                  <a:tcPr marL="57254" marR="57254" marT="28627" marB="28627" anchor="ctr">
                    <a:lnL>
                      <a:noFill/>
                    </a:lnL>
                    <a:lnR>
                      <a:noFill/>
                    </a:lnR>
                    <a:lnT>
                      <a:noFill/>
                    </a:lnT>
                    <a:lnB>
                      <a:noFill/>
                    </a:lnB>
                  </a:tcPr>
                </a:tc>
                <a:tc>
                  <a:txBody>
                    <a:bodyPr/>
                    <a:lstStyle/>
                    <a:p>
                      <a:r>
                        <a:rPr lang="en-IN" sz="1100"/>
                        <a:t>1.671</a:t>
                      </a:r>
                    </a:p>
                  </a:txBody>
                  <a:tcPr marL="57254" marR="57254" marT="28627" marB="28627" anchor="ctr">
                    <a:lnL>
                      <a:noFill/>
                    </a:lnL>
                    <a:lnR>
                      <a:noFill/>
                    </a:lnR>
                    <a:lnT>
                      <a:noFill/>
                    </a:lnT>
                    <a:lnB>
                      <a:noFill/>
                    </a:lnB>
                  </a:tcPr>
                </a:tc>
                <a:tc>
                  <a:txBody>
                    <a:bodyPr/>
                    <a:lstStyle/>
                    <a:p>
                      <a:r>
                        <a:rPr lang="en-IN" sz="1100"/>
                        <a:t>2.000</a:t>
                      </a:r>
                    </a:p>
                  </a:txBody>
                  <a:tcPr marL="57254" marR="57254" marT="28627" marB="28627" anchor="ctr">
                    <a:lnL>
                      <a:noFill/>
                    </a:lnL>
                    <a:lnR>
                      <a:noFill/>
                    </a:lnR>
                    <a:lnT>
                      <a:noFill/>
                    </a:lnT>
                    <a:lnB>
                      <a:noFill/>
                    </a:lnB>
                  </a:tcPr>
                </a:tc>
                <a:tc>
                  <a:txBody>
                    <a:bodyPr/>
                    <a:lstStyle/>
                    <a:p>
                      <a:r>
                        <a:rPr lang="en-IN" sz="1100"/>
                        <a:t>2.290</a:t>
                      </a:r>
                    </a:p>
                  </a:txBody>
                  <a:tcPr marL="57254" marR="57254" marT="28627" marB="28627" anchor="ctr">
                    <a:lnL>
                      <a:noFill/>
                    </a:lnL>
                    <a:lnR>
                      <a:noFill/>
                    </a:lnR>
                    <a:lnT>
                      <a:noFill/>
                    </a:lnT>
                    <a:lnB>
                      <a:noFill/>
                    </a:lnB>
                  </a:tcPr>
                </a:tc>
                <a:tc>
                  <a:txBody>
                    <a:bodyPr/>
                    <a:lstStyle/>
                    <a:p>
                      <a:r>
                        <a:rPr lang="en-IN" sz="1100"/>
                        <a:t>2.660</a:t>
                      </a:r>
                    </a:p>
                  </a:txBody>
                  <a:tcPr marL="57254" marR="57254" marT="28627" marB="28627" anchor="ctr">
                    <a:lnL>
                      <a:noFill/>
                    </a:lnL>
                    <a:lnR>
                      <a:noFill/>
                    </a:lnR>
                    <a:lnT>
                      <a:noFill/>
                    </a:lnT>
                    <a:lnB>
                      <a:noFill/>
                    </a:lnB>
                  </a:tcPr>
                </a:tc>
                <a:tc>
                  <a:txBody>
                    <a:bodyPr/>
                    <a:lstStyle/>
                    <a:p>
                      <a:r>
                        <a:rPr lang="en-IN" sz="1100"/>
                        <a:t>2.940</a:t>
                      </a:r>
                    </a:p>
                  </a:txBody>
                  <a:tcPr marL="57254" marR="57254" marT="28627" marB="28627" anchor="ctr">
                    <a:lnL>
                      <a:noFill/>
                    </a:lnL>
                    <a:lnR>
                      <a:noFill/>
                    </a:lnR>
                    <a:lnT>
                      <a:noFill/>
                    </a:lnT>
                    <a:lnB>
                      <a:noFill/>
                    </a:lnB>
                  </a:tcPr>
                </a:tc>
              </a:tr>
              <a:tr h="667595">
                <a:tc>
                  <a:txBody>
                    <a:bodyPr/>
                    <a:lstStyle/>
                    <a:p>
                      <a:r>
                        <a:rPr lang="en-IN" sz="1100"/>
                        <a:t>∞</a:t>
                      </a:r>
                    </a:p>
                  </a:txBody>
                  <a:tcPr marL="57254" marR="57254" marT="28627" marB="28627" anchor="ctr">
                    <a:lnL>
                      <a:noFill/>
                    </a:lnL>
                    <a:lnR>
                      <a:noFill/>
                    </a:lnR>
                    <a:lnT>
                      <a:noFill/>
                    </a:lnT>
                    <a:lnB>
                      <a:noFill/>
                    </a:lnB>
                  </a:tcPr>
                </a:tc>
                <a:tc>
                  <a:txBody>
                    <a:bodyPr/>
                    <a:lstStyle/>
                    <a:p>
                      <a:r>
                        <a:rPr lang="en-IN" sz="1100"/>
                        <a:t>1.645</a:t>
                      </a:r>
                    </a:p>
                  </a:txBody>
                  <a:tcPr marL="57254" marR="57254" marT="28627" marB="28627" anchor="ctr">
                    <a:lnL>
                      <a:noFill/>
                    </a:lnL>
                    <a:lnR>
                      <a:noFill/>
                    </a:lnR>
                    <a:lnT>
                      <a:noFill/>
                    </a:lnT>
                    <a:lnB>
                      <a:noFill/>
                    </a:lnB>
                  </a:tcPr>
                </a:tc>
                <a:tc>
                  <a:txBody>
                    <a:bodyPr/>
                    <a:lstStyle/>
                    <a:p>
                      <a:r>
                        <a:rPr lang="en-IN" sz="1100"/>
                        <a:t>1.960</a:t>
                      </a:r>
                    </a:p>
                  </a:txBody>
                  <a:tcPr marL="57254" marR="57254" marT="28627" marB="28627" anchor="ctr">
                    <a:lnL>
                      <a:noFill/>
                    </a:lnL>
                    <a:lnR>
                      <a:noFill/>
                    </a:lnR>
                    <a:lnT>
                      <a:noFill/>
                    </a:lnT>
                    <a:lnB>
                      <a:noFill/>
                    </a:lnB>
                  </a:tcPr>
                </a:tc>
                <a:tc>
                  <a:txBody>
                    <a:bodyPr/>
                    <a:lstStyle/>
                    <a:p>
                      <a:r>
                        <a:rPr lang="en-IN" sz="1100"/>
                        <a:t>2.326</a:t>
                      </a:r>
                    </a:p>
                  </a:txBody>
                  <a:tcPr marL="57254" marR="57254" marT="28627" marB="28627" anchor="ctr">
                    <a:lnL>
                      <a:noFill/>
                    </a:lnL>
                    <a:lnR>
                      <a:noFill/>
                    </a:lnR>
                    <a:lnT>
                      <a:noFill/>
                    </a:lnT>
                    <a:lnB>
                      <a:noFill/>
                    </a:lnB>
                  </a:tcPr>
                </a:tc>
                <a:tc>
                  <a:txBody>
                    <a:bodyPr/>
                    <a:lstStyle/>
                    <a:p>
                      <a:r>
                        <a:rPr lang="en-IN" sz="1100"/>
                        <a:t>2.576</a:t>
                      </a:r>
                    </a:p>
                  </a:txBody>
                  <a:tcPr marL="57254" marR="57254" marT="28627" marB="28627" anchor="ctr">
                    <a:lnL>
                      <a:noFill/>
                    </a:lnL>
                    <a:lnR>
                      <a:noFill/>
                    </a:lnR>
                    <a:lnT>
                      <a:noFill/>
                    </a:lnT>
                    <a:lnB>
                      <a:noFill/>
                    </a:lnB>
                  </a:tcPr>
                </a:tc>
                <a:tc>
                  <a:txBody>
                    <a:bodyPr/>
                    <a:lstStyle/>
                    <a:p>
                      <a:r>
                        <a:rPr lang="en-IN" sz="1100" dirty="0"/>
                        <a:t>2.807</a:t>
                      </a:r>
                    </a:p>
                  </a:txBody>
                  <a:tcPr marL="57254" marR="57254" marT="28627" marB="28627" anchor="ctr">
                    <a:lnL>
                      <a:noFill/>
                    </a:lnL>
                    <a:lnR>
                      <a:noFill/>
                    </a:lnR>
                    <a:lnT>
                      <a:noFill/>
                    </a:lnT>
                    <a:lnB>
                      <a:noFill/>
                    </a:lnB>
                  </a:tcPr>
                </a:tc>
              </a:tr>
            </a:tbl>
          </a:graphicData>
        </a:graphic>
      </p:graphicFrame>
    </p:spTree>
    <p:extLst>
      <p:ext uri="{BB962C8B-B14F-4D97-AF65-F5344CB8AC3E}">
        <p14:creationId xmlns:p14="http://schemas.microsoft.com/office/powerpoint/2010/main" val="13623217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3671" y="335846"/>
            <a:ext cx="11047956" cy="5170646"/>
          </a:xfrm>
          <a:prstGeom prst="rect">
            <a:avLst/>
          </a:prstGeom>
        </p:spPr>
        <p:txBody>
          <a:bodyPr wrap="square">
            <a:spAutoFit/>
          </a:bodyPr>
          <a:lstStyle/>
          <a:p>
            <a:pPr algn="just"/>
            <a:r>
              <a:rPr lang="en-US" dirty="0" smtClean="0"/>
              <a:t>	</a:t>
            </a:r>
            <a:r>
              <a:rPr lang="en-US" sz="2200" dirty="0" smtClean="0">
                <a:latin typeface="Times New Roman" pitchFamily="18" charset="0"/>
                <a:cs typeface="Times New Roman" pitchFamily="18" charset="0"/>
              </a:rPr>
              <a:t>To </a:t>
            </a:r>
            <a:r>
              <a:rPr lang="en-US" sz="2200" dirty="0">
                <a:latin typeface="Times New Roman" pitchFamily="18" charset="0"/>
                <a:cs typeface="Times New Roman" pitchFamily="18" charset="0"/>
              </a:rPr>
              <a:t>determine whether M1 and M2 </a:t>
            </a:r>
            <a:r>
              <a:rPr lang="en-US" sz="2200" dirty="0" smtClean="0">
                <a:latin typeface="Times New Roman" pitchFamily="18" charset="0"/>
                <a:cs typeface="Times New Roman" pitchFamily="18" charset="0"/>
              </a:rPr>
              <a:t>are significantly </a:t>
            </a:r>
            <a:r>
              <a:rPr lang="en-US" sz="2200" dirty="0">
                <a:latin typeface="Times New Roman" pitchFamily="18" charset="0"/>
                <a:cs typeface="Times New Roman" pitchFamily="18" charset="0"/>
              </a:rPr>
              <a:t>different, we compute t and select a </a:t>
            </a:r>
            <a:r>
              <a:rPr lang="en-US" sz="2200" dirty="0" smtClean="0">
                <a:latin typeface="Times New Roman" pitchFamily="18" charset="0"/>
                <a:cs typeface="Times New Roman" pitchFamily="18" charset="0"/>
              </a:rPr>
              <a:t>significance level</a:t>
            </a:r>
            <a:r>
              <a:rPr lang="en-US" sz="2200" dirty="0">
                <a:latin typeface="Times New Roman" pitchFamily="18" charset="0"/>
                <a:cs typeface="Times New Roman" pitchFamily="18" charset="0"/>
              </a:rPr>
              <a:t>, sig. In practice, a significance level of 5% or 1% is typically used. We then consult a table for the t-distribution, available in standard textbooks on statistics. This table is usually shown arranged by degrees of freedom as rows and significance levels as columns. Suppose we want to ascertain whether the difference between M1 and M2 is significantly different for 95% of the population, that is, sig 5% or 0.05. We need to find the t-distribution value corresponding to </a:t>
            </a:r>
            <a:r>
              <a:rPr lang="en-US" sz="2200" dirty="0" smtClean="0">
                <a:latin typeface="Times New Roman" pitchFamily="18" charset="0"/>
                <a:cs typeface="Times New Roman" pitchFamily="18" charset="0"/>
              </a:rPr>
              <a:t>k-1 </a:t>
            </a:r>
            <a:r>
              <a:rPr lang="en-US" sz="2200" dirty="0">
                <a:latin typeface="Times New Roman" pitchFamily="18" charset="0"/>
                <a:cs typeface="Times New Roman" pitchFamily="18" charset="0"/>
              </a:rPr>
              <a:t>degrees of freedom (or 9 degrees of freedom for </a:t>
            </a:r>
            <a:r>
              <a:rPr lang="en-US" sz="2200" dirty="0" smtClean="0">
                <a:latin typeface="Times New Roman" pitchFamily="18" charset="0"/>
                <a:cs typeface="Times New Roman" pitchFamily="18" charset="0"/>
              </a:rPr>
              <a:t>our example) from the table. However, because the t-distribution </a:t>
            </a:r>
            <a:r>
              <a:rPr lang="en-US" sz="2200" dirty="0">
                <a:latin typeface="Times New Roman" pitchFamily="18" charset="0"/>
                <a:cs typeface="Times New Roman" pitchFamily="18" charset="0"/>
              </a:rPr>
              <a:t>is symmetric, typically only the upper percentage points of the distribution are shown. Therefore, we look up the table value for </a:t>
            </a:r>
            <a:r>
              <a:rPr lang="en-US" sz="2200" dirty="0" smtClean="0">
                <a:latin typeface="Times New Roman" pitchFamily="18" charset="0"/>
                <a:cs typeface="Times New Roman" pitchFamily="18" charset="0"/>
              </a:rPr>
              <a:t>z=sig/2</a:t>
            </a:r>
            <a:r>
              <a:rPr lang="en-US" sz="2200" dirty="0">
                <a:latin typeface="Times New Roman" pitchFamily="18" charset="0"/>
                <a:cs typeface="Times New Roman" pitchFamily="18" charset="0"/>
              </a:rPr>
              <a:t>, which in this case is 0.025, where z is also referred to as a confidence limit. If t &gt; z or t &lt; z, then our value of t lies in the rejection region, within the distribution’s tails. This means that we can reject the null hypothesis that the means of M1 and M2 are the same and conclude that there is a statistically significant difference between the two models. Otherwise, if we cannot reject the null hypothesis, we conclude that any difference between M1 and M2 can be attributed to chance.</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3714214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8411" y="475989"/>
            <a:ext cx="11386159" cy="3262432"/>
          </a:xfrm>
          <a:prstGeom prst="rect">
            <a:avLst/>
          </a:prstGeom>
        </p:spPr>
        <p:txBody>
          <a:bodyPr wrap="square">
            <a:spAutoFit/>
          </a:bodyPr>
          <a:lstStyle/>
          <a:p>
            <a:pPr algn="just"/>
            <a:r>
              <a:rPr lang="en-US" sz="2200" dirty="0" smtClean="0">
                <a:latin typeface="Times New Roman" pitchFamily="18" charset="0"/>
                <a:cs typeface="Times New Roman" pitchFamily="18" charset="0"/>
              </a:rPr>
              <a:t>	If </a:t>
            </a:r>
            <a:r>
              <a:rPr lang="en-US" sz="2200" dirty="0">
                <a:latin typeface="Times New Roman" pitchFamily="18" charset="0"/>
                <a:cs typeface="Times New Roman" pitchFamily="18" charset="0"/>
              </a:rPr>
              <a:t>two test sets are available instead of a single test set, then a </a:t>
            </a:r>
            <a:r>
              <a:rPr lang="en-US" sz="2200" dirty="0" err="1">
                <a:latin typeface="Times New Roman" pitchFamily="18" charset="0"/>
                <a:cs typeface="Times New Roman" pitchFamily="18" charset="0"/>
              </a:rPr>
              <a:t>nonpaired</a:t>
            </a:r>
            <a:r>
              <a:rPr lang="en-US" sz="2200" dirty="0">
                <a:latin typeface="Times New Roman" pitchFamily="18" charset="0"/>
                <a:cs typeface="Times New Roman" pitchFamily="18" charset="0"/>
              </a:rPr>
              <a:t> version of the t-test is used, where the variance between the means of the two models is estimated </a:t>
            </a:r>
            <a:r>
              <a:rPr lang="en-US" sz="2200" dirty="0" smtClean="0">
                <a:latin typeface="Times New Roman" pitchFamily="18" charset="0"/>
                <a:cs typeface="Times New Roman" pitchFamily="18" charset="0"/>
              </a:rPr>
              <a:t>as:</a:t>
            </a: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and </a:t>
            </a:r>
            <a:r>
              <a:rPr lang="en-US" sz="2200" dirty="0">
                <a:latin typeface="Times New Roman" pitchFamily="18" charset="0"/>
                <a:cs typeface="Times New Roman" pitchFamily="18" charset="0"/>
              </a:rPr>
              <a:t>k1 and k2 are the number of cross-validation samples (in our case, 10-fold cross validation rounds) used for M1 and M2, respectively. This is also known as the two sample t-test</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When consulting the table of t-distribution, the number of degrees of freedom used is taken as the minimum number of degrees of the two models.</a:t>
            </a:r>
            <a:endParaRPr lang="en-IN" sz="2200" dirty="0">
              <a:latin typeface="Times New Roman" pitchFamily="18" charset="0"/>
              <a:cs typeface="Times New Roman" pitchFamily="18" charset="0"/>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7524" y="1277656"/>
            <a:ext cx="6250488" cy="901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73027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6406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TotalTime>
  <Words>945</Words>
  <Application>Microsoft Office PowerPoint</Application>
  <PresentationFormat>Custom</PresentationFormat>
  <Paragraphs>290</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ismail - [2010]</cp:lastModifiedBy>
  <cp:revision>17</cp:revision>
  <dcterms:created xsi:type="dcterms:W3CDTF">2025-09-24T05:32:55Z</dcterms:created>
  <dcterms:modified xsi:type="dcterms:W3CDTF">2025-09-26T07:17:18Z</dcterms:modified>
</cp:coreProperties>
</file>