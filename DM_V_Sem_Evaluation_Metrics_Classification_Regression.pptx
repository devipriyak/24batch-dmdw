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Metrics for Classification &amp;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Data Mining (DM) • V Semester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Understanding model performance</a:t>
            </a:r>
          </a:p>
          <a:p>
            <a:pPr>
              <a:spcAft>
                <a:spcPts val="800"/>
              </a:spcAft>
              <a:defRPr sz="2000"/>
            </a:pPr>
            <a:r>
              <a:t>Classification metrics: confusion matrix, accuracy, precision, recall, F1, specificity, ROC-AUC</a:t>
            </a:r>
          </a:p>
          <a:p>
            <a:pPr>
              <a:spcAft>
                <a:spcPts val="800"/>
              </a:spcAft>
              <a:defRPr sz="2000"/>
            </a:pPr>
            <a:r>
              <a:t>Regression metrics: MAE, MSE, RMSE, R², MAPE</a:t>
            </a:r>
          </a:p>
          <a:p>
            <a:pPr>
              <a:spcAft>
                <a:spcPts val="800"/>
              </a:spcAft>
              <a:defRPr sz="2000"/>
            </a:pPr>
            <a:r>
              <a:t>Worked examples + metric selection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Define evaluation and explain why a separate test set is needed.</a:t>
            </a:r>
          </a:p>
          <a:p>
            <a:pPr>
              <a:spcAft>
                <a:spcPts val="800"/>
              </a:spcAft>
              <a:defRPr sz="2000"/>
            </a:pPr>
            <a:r>
              <a:t>Construct and interpret a confusion matrix.</a:t>
            </a:r>
          </a:p>
          <a:p>
            <a:pPr>
              <a:spcAft>
                <a:spcPts val="800"/>
              </a:spcAft>
              <a:defRPr sz="2000"/>
            </a:pPr>
            <a:r>
              <a:t>Calculate and interpret accuracy, precision, recall, specificity and F1-score.</a:t>
            </a:r>
          </a:p>
          <a:p>
            <a:pPr>
              <a:spcAft>
                <a:spcPts val="800"/>
              </a:spcAft>
              <a:defRPr sz="2000"/>
            </a:pPr>
            <a:r>
              <a:t>Explain ROC curve and AUC.</a:t>
            </a:r>
          </a:p>
          <a:p>
            <a:pPr>
              <a:spcAft>
                <a:spcPts val="800"/>
              </a:spcAft>
              <a:defRPr sz="2000"/>
            </a:pPr>
            <a:r>
              <a:t>Calculate MAE, MSE, RMSE, R² and MAPE for regression.</a:t>
            </a:r>
          </a:p>
          <a:p>
            <a:pPr>
              <a:spcAft>
                <a:spcPts val="800"/>
              </a:spcAft>
              <a:defRPr sz="2000"/>
            </a:pPr>
            <a:r>
              <a:t>Select appropriate metrics for balanced, imbalanced and business-critical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Model Evaluation?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Model evaluation measures how well a learned model performs on unseen data.</a:t>
            </a:r>
          </a:p>
          <a:p>
            <a:pPr>
              <a:spcAft>
                <a:spcPts val="800"/>
              </a:spcAft>
              <a:defRPr sz="2000"/>
            </a:pPr>
            <a:r>
              <a:t>Training performance alone can be misleading because a model may memorize the training data (overfitting).</a:t>
            </a:r>
          </a:p>
          <a:p>
            <a:pPr>
              <a:spcAft>
                <a:spcPts val="800"/>
              </a:spcAft>
              <a:defRPr sz="2000"/>
            </a:pPr>
            <a:r>
              <a:t>Typical workflow: Train → Validation/Tuning → Test → Report metrics.</a:t>
            </a:r>
          </a:p>
          <a:p>
            <a:pPr>
              <a:spcAft>
                <a:spcPts val="800"/>
              </a:spcAft>
              <a:defRPr sz="2000"/>
            </a:pPr>
            <a:r>
              <a:t>A metric should match the task, data distribution and cost of errors.</a:t>
            </a:r>
          </a:p>
          <a:p>
            <a:pPr>
              <a:spcAft>
                <a:spcPts val="800"/>
              </a:spcAft>
              <a:defRPr sz="2000"/>
            </a:pPr>
            <a:r>
              <a:t>Classification predicts categories; regression predicts continuous numerical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Classification: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binary classification, compare Actual vs Predicted classes.</a:t>
            </a:r>
          </a:p>
          <a:p>
            <a:pPr>
              <a:spcAft>
                <a:spcPts val="800"/>
              </a:spcAft>
              <a:defRPr sz="2000"/>
            </a:pPr>
            <a:r>
              <a:t>True Positive (TP): predicted positive and actually positive.</a:t>
            </a:r>
          </a:p>
          <a:p>
            <a:pPr>
              <a:spcAft>
                <a:spcPts val="800"/>
              </a:spcAft>
              <a:defRPr sz="2000"/>
            </a:pPr>
            <a:r>
              <a:t>True Negative (TN): predicted negative and actually negative.</a:t>
            </a:r>
          </a:p>
          <a:p>
            <a:pPr>
              <a:spcAft>
                <a:spcPts val="800"/>
              </a:spcAft>
              <a:defRPr sz="2000"/>
            </a:pPr>
            <a:r>
              <a:t>False Positive (FP): predicted positive but actually negative (Type I error).</a:t>
            </a:r>
          </a:p>
          <a:p>
            <a:pPr>
              <a:spcAft>
                <a:spcPts val="800"/>
              </a:spcAft>
              <a:defRPr sz="2000"/>
            </a:pPr>
            <a:r>
              <a:t>False Negative (FN): predicted negative but actually positive (Type II error).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Consolas"/>
              </a:defRPr>
            </a:pPr>
            <a:r>
              <a:t>Total = TP + TN + FP + FN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Accuracy = proportion of all predictions that are correct.</a:t>
            </a:r>
          </a:p>
          <a:p>
            <a:pPr>
              <a:spcAft>
                <a:spcPts val="800"/>
              </a:spcAft>
              <a:defRPr sz="2000"/>
            </a:pPr>
            <a:r>
              <a:t>Formula: (TP + TN) / (TP + TN + FP + FN)</a:t>
            </a:r>
          </a:p>
          <a:p>
            <a:pPr>
              <a:spcAft>
                <a:spcPts val="800"/>
              </a:spcAft>
              <a:defRPr sz="2000"/>
            </a:pPr>
            <a:r>
              <a:t>Example: TP=45, TN=40, FP=5, FN=10 → Accuracy = 85/100 = 85%.</a:t>
            </a:r>
          </a:p>
          <a:p>
            <a:pPr>
              <a:spcAft>
                <a:spcPts val="800"/>
              </a:spcAft>
              <a:defRPr sz="2000"/>
            </a:pPr>
            <a:r>
              <a:t>Useful when classes are reasonably balanced and error costs are similar.</a:t>
            </a:r>
          </a:p>
          <a:p>
            <a:pPr>
              <a:spcAft>
                <a:spcPts val="800"/>
              </a:spcAft>
              <a:defRPr sz="2000"/>
            </a:pPr>
            <a:r>
              <a:t>Weakness: can be misleading for highly imbalanced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Precision answers: “Of all cases predicted positive, how many were truly positive?”</a:t>
            </a:r>
          </a:p>
          <a:p>
            <a:pPr>
              <a:spcAft>
                <a:spcPts val="800"/>
              </a:spcAft>
              <a:defRPr sz="2000"/>
            </a:pPr>
            <a:r>
              <a:t>Formula: TP / (TP + FP)</a:t>
            </a:r>
          </a:p>
          <a:p>
            <a:pPr>
              <a:spcAft>
                <a:spcPts val="800"/>
              </a:spcAft>
              <a:defRPr sz="2000"/>
            </a:pPr>
            <a:r>
              <a:t>High precision means few false positives.</a:t>
            </a:r>
          </a:p>
          <a:p>
            <a:pPr>
              <a:spcAft>
                <a:spcPts val="800"/>
              </a:spcAft>
              <a:defRPr sz="2000"/>
            </a:pPr>
            <a:r>
              <a:t>Important when false alarms are costly.</a:t>
            </a:r>
          </a:p>
          <a:p>
            <a:pPr>
              <a:spcAft>
                <a:spcPts val="800"/>
              </a:spcAft>
              <a:defRPr sz="2000"/>
            </a:pPr>
            <a:r>
              <a:t>Example: TP=45, FP=5 → Precision = 45/50 = 90%.</a:t>
            </a:r>
          </a:p>
          <a:p>
            <a:pPr>
              <a:spcAft>
                <a:spcPts val="800"/>
              </a:spcAft>
              <a:defRPr sz="2000"/>
            </a:pPr>
            <a:r>
              <a:t>Applications: spam filtering, recommendation, expensive manual investigations.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Recall /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Recall answers: “Of all actual positive cases, how many did the model find?”</a:t>
            </a:r>
          </a:p>
          <a:p>
            <a:pPr>
              <a:spcAft>
                <a:spcPts val="800"/>
              </a:spcAft>
              <a:defRPr sz="2000"/>
            </a:pPr>
            <a:r>
              <a:t>Formula: TP / (TP + FN)</a:t>
            </a:r>
          </a:p>
          <a:p>
            <a:pPr>
              <a:spcAft>
                <a:spcPts val="800"/>
              </a:spcAft>
              <a:defRPr sz="2000"/>
            </a:pPr>
            <a:r>
              <a:t>High recall means few false negatives.</a:t>
            </a:r>
          </a:p>
          <a:p>
            <a:pPr>
              <a:spcAft>
                <a:spcPts val="800"/>
              </a:spcAft>
              <a:defRPr sz="2000"/>
            </a:pPr>
            <a:r>
              <a:t>Important when missing a positive case is costly.</a:t>
            </a:r>
          </a:p>
          <a:p>
            <a:pPr>
              <a:spcAft>
                <a:spcPts val="800"/>
              </a:spcAft>
              <a:defRPr sz="2000"/>
            </a:pPr>
            <a:r>
              <a:t>Example: TP=45, FN=10 → Recall = 45/55 ≈ 81.8%.</a:t>
            </a:r>
          </a:p>
          <a:p>
            <a:pPr>
              <a:spcAft>
                <a:spcPts val="800"/>
              </a:spcAft>
              <a:defRPr sz="2000"/>
            </a:pPr>
            <a:r>
              <a:t>Also called Sensitivity or True Positive Rate (TPR).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Specificity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Specificity measures how well the model identifies actual negative cases.</a:t>
            </a:r>
          </a:p>
          <a:p>
            <a:pPr>
              <a:spcAft>
                <a:spcPts val="800"/>
              </a:spcAft>
              <a:defRPr sz="2000"/>
            </a:pPr>
            <a:r>
              <a:t>Formula: TN / (TN + FP)</a:t>
            </a:r>
          </a:p>
          <a:p>
            <a:pPr>
              <a:spcAft>
                <a:spcPts val="800"/>
              </a:spcAft>
              <a:defRPr sz="2000"/>
            </a:pPr>
            <a:r>
              <a:t>Also called True Negative Rate (TNR).</a:t>
            </a:r>
          </a:p>
          <a:p>
            <a:pPr>
              <a:spcAft>
                <a:spcPts val="800"/>
              </a:spcAft>
              <a:defRPr sz="2000"/>
            </a:pPr>
            <a:r>
              <a:t>High specificity means few false positives.</a:t>
            </a:r>
          </a:p>
          <a:p>
            <a:pPr>
              <a:spcAft>
                <a:spcPts val="800"/>
              </a:spcAft>
              <a:defRPr sz="2000"/>
            </a:pPr>
            <a:r>
              <a:t>False Positive Rate (FPR) = 1 − Specificity.</a:t>
            </a:r>
          </a:p>
          <a:p>
            <a:pPr>
              <a:spcAft>
                <a:spcPts val="800"/>
              </a:spcAft>
              <a:defRPr sz="2000"/>
            </a:pPr>
            <a:r>
              <a:t>Useful when correctly ruling out negatives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F1-Score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F1 combines precision and recall using the harmonic mean.</a:t>
            </a:r>
          </a:p>
          <a:p>
            <a:pPr>
              <a:spcAft>
                <a:spcPts val="800"/>
              </a:spcAft>
              <a:defRPr sz="2000"/>
            </a:pPr>
            <a:r>
              <a:t>Formula: F1 = 2 × (Precision × Recall) / (Precision + Recall)</a:t>
            </a:r>
          </a:p>
          <a:p>
            <a:pPr>
              <a:spcAft>
                <a:spcPts val="800"/>
              </a:spcAft>
              <a:defRPr sz="2000"/>
            </a:pPr>
            <a:r>
              <a:t>F1 is high only when both precision and recall are high.</a:t>
            </a:r>
          </a:p>
          <a:p>
            <a:pPr>
              <a:spcAft>
                <a:spcPts val="800"/>
              </a:spcAft>
              <a:defRPr sz="2000"/>
            </a:pPr>
            <a:r>
              <a:t>Useful when classes are imbalanced and both FP and FN matter.</a:t>
            </a:r>
          </a:p>
          <a:p>
            <a:pPr>
              <a:spcAft>
                <a:spcPts val="800"/>
              </a:spcAft>
              <a:defRPr sz="2000"/>
            </a:pPr>
            <a:r>
              <a:t>Using the example above: Precision=0.90, Recall≈0.818 → F1≈0.857.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ROC Curve &amp; AUC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ROC curve plots True Positive Rate (Recall) against False Positive Rate at different thresholds.</a:t>
            </a:r>
          </a:p>
          <a:p>
            <a:pPr>
              <a:spcAft>
                <a:spcPts val="800"/>
              </a:spcAft>
              <a:defRPr sz="2000"/>
            </a:pPr>
            <a:r>
              <a:t>AUC = Area Under the ROC Curve.</a:t>
            </a:r>
          </a:p>
          <a:p>
            <a:pPr>
              <a:spcAft>
                <a:spcPts val="800"/>
              </a:spcAft>
              <a:defRPr sz="2000"/>
            </a:pPr>
            <a:r>
              <a:t>AUC ≈ 1: excellent ranking/discrimination; AUC ≈ 0.5: roughly random ranking.</a:t>
            </a:r>
          </a:p>
          <a:p>
            <a:pPr>
              <a:spcAft>
                <a:spcPts val="800"/>
              </a:spcAft>
              <a:defRPr sz="2000"/>
            </a:pPr>
            <a:r>
              <a:t>ROC-AUC evaluates ranking across thresholds, not one fixed threshold.</a:t>
            </a:r>
          </a:p>
          <a:p>
            <a:pPr>
              <a:spcAft>
                <a:spcPts val="800"/>
              </a:spcAft>
              <a:defRPr sz="2000"/>
            </a:pPr>
            <a:r>
              <a:t>For very imbalanced problems, also consider Precision–Recall curves and average precision.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Classification Metric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Accuracy → overall correctness.</a:t>
            </a:r>
          </a:p>
          <a:p>
            <a:pPr>
              <a:spcAft>
                <a:spcPts val="800"/>
              </a:spcAft>
              <a:defRPr sz="2000"/>
            </a:pPr>
            <a:r>
              <a:t>Precision → trustworthiness of positive predictions.</a:t>
            </a:r>
          </a:p>
          <a:p>
            <a:pPr>
              <a:spcAft>
                <a:spcPts val="800"/>
              </a:spcAft>
              <a:defRPr sz="2000"/>
            </a:pPr>
            <a:r>
              <a:t>Recall → ability to find actual positives.</a:t>
            </a:r>
          </a:p>
          <a:p>
            <a:pPr>
              <a:spcAft>
                <a:spcPts val="800"/>
              </a:spcAft>
              <a:defRPr sz="2000"/>
            </a:pPr>
            <a:r>
              <a:t>Specificity → ability to identify actual negatives.</a:t>
            </a:r>
          </a:p>
          <a:p>
            <a:pPr>
              <a:spcAft>
                <a:spcPts val="800"/>
              </a:spcAft>
              <a:defRPr sz="2000"/>
            </a:pPr>
            <a:r>
              <a:t>F1 → balance between precision and recall.</a:t>
            </a:r>
          </a:p>
          <a:p>
            <a:pPr>
              <a:spcAft>
                <a:spcPts val="800"/>
              </a:spcAft>
              <a:defRPr sz="2000"/>
            </a:pPr>
            <a:r>
              <a:t>ROC-AUC → threshold-independent ranking/discrimination.</a:t>
            </a:r>
          </a:p>
          <a:p>
            <a:pPr>
              <a:spcAft>
                <a:spcPts val="800"/>
              </a:spcAft>
              <a:defRPr sz="2000"/>
            </a:pPr>
            <a:r>
              <a:t>Always inspect the confusion matrix; one number rarely tells the whole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Imbalanced Classification: Why Accuracy Can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Suppose 1,000 transactions contain only 10 fraud cases.</a:t>
            </a:r>
          </a:p>
          <a:p>
            <a:pPr>
              <a:spcAft>
                <a:spcPts val="800"/>
              </a:spcAft>
              <a:defRPr sz="2000"/>
            </a:pPr>
            <a:r>
              <a:t>A model that predicts “Not Fraud” for every transaction gets 99% accuracy.</a:t>
            </a:r>
          </a:p>
          <a:p>
            <a:pPr>
              <a:spcAft>
                <a:spcPts val="800"/>
              </a:spcAft>
              <a:defRPr sz="2000"/>
            </a:pPr>
            <a:r>
              <a:t>But it detects 0/10 fraud cases → Recall = 0%.</a:t>
            </a:r>
          </a:p>
          <a:p>
            <a:pPr>
              <a:spcAft>
                <a:spcPts val="800"/>
              </a:spcAft>
              <a:defRPr sz="2000"/>
            </a:pPr>
            <a:r>
              <a:t>Therefore use metrics such as Recall, Precision, F1, PR-AUC/average precision, and the confusion matrix.</a:t>
            </a:r>
          </a:p>
          <a:p>
            <a:pPr>
              <a:spcAft>
                <a:spcPts val="800"/>
              </a:spcAft>
              <a:defRPr sz="2000"/>
            </a:pPr>
            <a:r>
              <a:t>Choose the metric based on the cost of false positives and false negatives.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Regression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Regression predicts continuous values such as sales, temperature, marks or house price.</a:t>
            </a:r>
          </a:p>
          <a:p>
            <a:pPr>
              <a:spcAft>
                <a:spcPts val="800"/>
              </a:spcAft>
              <a:defRPr sz="2000"/>
            </a:pPr>
            <a:r>
              <a:t>Evaluation compares actual value y with predicted value ŷ.</a:t>
            </a:r>
          </a:p>
          <a:p>
            <a:pPr>
              <a:spcAft>
                <a:spcPts val="800"/>
              </a:spcAft>
              <a:defRPr sz="2000"/>
            </a:pPr>
            <a:r>
              <a:t>Common metrics: MAE, MSE, RMSE, R² and MAPE.</a:t>
            </a:r>
          </a:p>
          <a:p>
            <a:pPr>
              <a:spcAft>
                <a:spcPts val="800"/>
              </a:spcAft>
              <a:defRPr sz="2000"/>
            </a:pPr>
            <a:r>
              <a:t>Lower is generally better for MAE, MSE and RMSE.</a:t>
            </a:r>
          </a:p>
          <a:p>
            <a:pPr>
              <a:spcAft>
                <a:spcPts val="800"/>
              </a:spcAft>
              <a:defRPr sz="2000"/>
            </a:pPr>
            <a:r>
              <a:t>Higher is generally better for R².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MAE — Mean Absolute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MAE = average absolute difference between actual and predicted values.</a:t>
            </a:r>
          </a:p>
          <a:p>
            <a:pPr>
              <a:spcAft>
                <a:spcPts val="800"/>
              </a:spcAft>
              <a:defRPr sz="2000"/>
            </a:pPr>
            <a:r>
              <a:t>Formula: MAE = (1/n) Σ |yᵢ − ŷᵢ|</a:t>
            </a:r>
          </a:p>
          <a:p>
            <a:pPr>
              <a:spcAft>
                <a:spcPts val="800"/>
              </a:spcAft>
              <a:defRPr sz="2000"/>
            </a:pPr>
            <a:r>
              <a:t>Easy to interpret because it uses the same units as the target.</a:t>
            </a:r>
          </a:p>
          <a:p>
            <a:pPr>
              <a:spcAft>
                <a:spcPts val="800"/>
              </a:spcAft>
              <a:defRPr sz="2000"/>
            </a:pPr>
            <a:r>
              <a:t>Less sensitive to large errors than MSE/RMSE.</a:t>
            </a:r>
          </a:p>
          <a:p>
            <a:pPr>
              <a:spcAft>
                <a:spcPts val="800"/>
              </a:spcAft>
              <a:defRPr sz="2000"/>
            </a:pPr>
            <a:r>
              <a:t>Example errors: 2, 3, 5, 0 → MAE = (2+3+5+0)/4 = 2.5.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MSE — Mean Squared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MSE = average of squared prediction errors.</a:t>
            </a:r>
          </a:p>
          <a:p>
            <a:pPr>
              <a:spcAft>
                <a:spcPts val="800"/>
              </a:spcAft>
              <a:defRPr sz="2000"/>
            </a:pPr>
            <a:r>
              <a:t>Formula: MSE = (1/n) Σ (yᵢ − ŷᵢ)²</a:t>
            </a:r>
          </a:p>
          <a:p>
            <a:pPr>
              <a:spcAft>
                <a:spcPts val="800"/>
              </a:spcAft>
              <a:defRPr sz="2000"/>
            </a:pPr>
            <a:r>
              <a:t>Squaring makes large errors much more influential.</a:t>
            </a:r>
          </a:p>
          <a:p>
            <a:pPr>
              <a:spcAft>
                <a:spcPts val="800"/>
              </a:spcAft>
              <a:defRPr sz="2000"/>
            </a:pPr>
            <a:r>
              <a:t>Useful when large mistakes should be strongly penalized.</a:t>
            </a:r>
          </a:p>
          <a:p>
            <a:pPr>
              <a:spcAft>
                <a:spcPts val="800"/>
              </a:spcAft>
              <a:defRPr sz="2000"/>
            </a:pPr>
            <a:r>
              <a:t>Example errors: 2, 3, 5, 0 → squared errors 4,9,25,0 → MSE = 9.5.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RMSE — Root Mean Squared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RMSE = square root of MSE.</a:t>
            </a:r>
          </a:p>
          <a:p>
            <a:pPr>
              <a:spcAft>
                <a:spcPts val="800"/>
              </a:spcAft>
              <a:defRPr sz="2000"/>
            </a:pPr>
            <a:r>
              <a:t>Formula: RMSE = √[(1/n) Σ (yᵢ − ŷᵢ)²]</a:t>
            </a:r>
          </a:p>
          <a:p>
            <a:pPr>
              <a:spcAft>
                <a:spcPts val="800"/>
              </a:spcAft>
              <a:defRPr sz="2000"/>
            </a:pPr>
            <a:r>
              <a:t>Same units as the target variable, making interpretation easier than MSE.</a:t>
            </a:r>
          </a:p>
          <a:p>
            <a:pPr>
              <a:spcAft>
                <a:spcPts val="800"/>
              </a:spcAft>
              <a:defRPr sz="2000"/>
            </a:pPr>
            <a:r>
              <a:t>Penalizes large errors more than MAE.</a:t>
            </a:r>
          </a:p>
          <a:p>
            <a:pPr>
              <a:spcAft>
                <a:spcPts val="800"/>
              </a:spcAft>
              <a:defRPr sz="2000"/>
            </a:pPr>
            <a:r>
              <a:t>For the previous example: RMSE = √9.5 ≈ 3.08.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R² — Coefficient of Determination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R² compares the model with a simple baseline that predicts the mean of the target.</a:t>
            </a:r>
          </a:p>
          <a:p>
            <a:pPr>
              <a:spcAft>
                <a:spcPts val="800"/>
              </a:spcAft>
              <a:defRPr sz="2000"/>
            </a:pPr>
            <a:r>
              <a:t>Formula: R² = 1 − [Σ(yᵢ−ŷᵢ)² / Σ(yᵢ−ȳ)²]</a:t>
            </a:r>
          </a:p>
          <a:p>
            <a:pPr>
              <a:spcAft>
                <a:spcPts val="800"/>
              </a:spcAft>
              <a:defRPr sz="2000"/>
            </a:pPr>
            <a:r>
              <a:t>R² = 1 indicates perfect predictions.</a:t>
            </a:r>
          </a:p>
          <a:p>
            <a:pPr>
              <a:spcAft>
                <a:spcPts val="800"/>
              </a:spcAft>
              <a:defRPr sz="2000"/>
            </a:pPr>
            <a:r>
              <a:t>R² = 0 means no improvement over the mean baseline on that evaluation data.</a:t>
            </a:r>
          </a:p>
          <a:p>
            <a:pPr>
              <a:spcAft>
                <a:spcPts val="800"/>
              </a:spcAft>
              <a:defRPr sz="2000"/>
            </a:pPr>
            <a:r>
              <a:t>R² can be negative when the model is worse than the mean baseline.</a:t>
            </a:r>
          </a:p>
          <a:p>
            <a:pPr>
              <a:spcAft>
                <a:spcPts val="800"/>
              </a:spcAft>
              <a:defRPr sz="2000"/>
            </a:pPr>
            <a:r>
              <a:t>Interpret R² together with error metrics and domain context.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MAPE — Mean Absolute Percentage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MAPE expresses absolute error as a percentage of actual values.</a:t>
            </a:r>
          </a:p>
          <a:p>
            <a:pPr>
              <a:spcAft>
                <a:spcPts val="800"/>
              </a:spcAft>
              <a:defRPr sz="2000"/>
            </a:pPr>
            <a:r>
              <a:t>Formula: MAPE = (100/n) Σ |(yᵢ−ŷᵢ)/yᵢ|</a:t>
            </a:r>
          </a:p>
          <a:p>
            <a:pPr>
              <a:spcAft>
                <a:spcPts val="800"/>
              </a:spcAft>
              <a:defRPr sz="2000"/>
            </a:pPr>
            <a:r>
              <a:t>Easy for business audiences to interpret as an average percentage error.</a:t>
            </a:r>
          </a:p>
          <a:p>
            <a:pPr>
              <a:spcAft>
                <a:spcPts val="800"/>
              </a:spcAft>
              <a:defRPr sz="2000"/>
            </a:pPr>
            <a:r>
              <a:t>Problem: undefined when actual yᵢ = 0 and unstable when actual values are near zero.</a:t>
            </a:r>
          </a:p>
          <a:p>
            <a:pPr>
              <a:spcAft>
                <a:spcPts val="800"/>
              </a:spcAft>
              <a:defRPr sz="2000"/>
            </a:pPr>
            <a:r>
              <a:t>Use alternatives such as MAE/RMSE or carefully chosen percentage metrics when zeros occur.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Worked Regression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Actual:    10, 20, 30, 40</a:t>
            </a:r>
          </a:p>
          <a:p>
            <a:pPr>
              <a:spcAft>
                <a:spcPts val="800"/>
              </a:spcAft>
              <a:defRPr sz="2000"/>
            </a:pPr>
            <a:r>
              <a:t>Predicted: 12, 18, 33, 37</a:t>
            </a:r>
          </a:p>
          <a:p>
            <a:pPr>
              <a:spcAft>
                <a:spcPts val="800"/>
              </a:spcAft>
              <a:defRPr sz="2000"/>
            </a:pPr>
            <a:r>
              <a:t>Errors:    -2, 2, -3, 3</a:t>
            </a:r>
          </a:p>
          <a:p>
            <a:pPr>
              <a:spcAft>
                <a:spcPts val="800"/>
              </a:spcAft>
              <a:defRPr sz="2000"/>
            </a:pPr>
            <a:r>
              <a:t>Absolute errors: 2, 2, 3, 3 → MAE = 2.5</a:t>
            </a:r>
          </a:p>
          <a:p>
            <a:pPr>
              <a:spcAft>
                <a:spcPts val="800"/>
              </a:spcAft>
              <a:defRPr sz="2000"/>
            </a:pPr>
            <a:r>
              <a:t>Squared errors: 4, 4, 9, 9 → MSE = 6.5</a:t>
            </a:r>
          </a:p>
          <a:p>
            <a:pPr>
              <a:spcAft>
                <a:spcPts val="800"/>
              </a:spcAft>
              <a:defRPr sz="2000"/>
            </a:pPr>
            <a:r>
              <a:t>RMSE = √6.5 ≈ 2.55</a:t>
            </a:r>
          </a:p>
          <a:p>
            <a:pPr>
              <a:spcAft>
                <a:spcPts val="800"/>
              </a:spcAft>
              <a:defRPr sz="2000"/>
            </a:pPr>
            <a:r>
              <a:t>Interpretation: predictions are typically about 2.5 units away using MAE; large errors receive more weight in RMSE.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Choosing the Right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Balanced classification → Accuracy + Precision + Recall + F1 + confusion matrix.</a:t>
            </a:r>
          </a:p>
          <a:p>
            <a:pPr>
              <a:spcAft>
                <a:spcPts val="800"/>
              </a:spcAft>
              <a:defRPr sz="2000"/>
            </a:pPr>
            <a:r>
              <a:t>Imbalanced classification → Precision/Recall, F1, PR-AUC/average precision; avoid relying on accuracy alone.</a:t>
            </a:r>
          </a:p>
          <a:p>
            <a:pPr>
              <a:spcAft>
                <a:spcPts val="800"/>
              </a:spcAft>
              <a:defRPr sz="2000"/>
            </a:pPr>
            <a:r>
              <a:t>False negatives costly → emphasize Recall/Sensitivity.</a:t>
            </a:r>
          </a:p>
          <a:p>
            <a:pPr>
              <a:spcAft>
                <a:spcPts val="800"/>
              </a:spcAft>
              <a:defRPr sz="2000"/>
            </a:pPr>
            <a:r>
              <a:t>False positives costly → emphasize Precision/Specificity.</a:t>
            </a:r>
          </a:p>
          <a:p>
            <a:pPr>
              <a:spcAft>
                <a:spcPts val="800"/>
              </a:spcAft>
              <a:defRPr sz="2000"/>
            </a:pPr>
            <a:r>
              <a:t>Regression with interpretable units → MAE.</a:t>
            </a:r>
          </a:p>
          <a:p>
            <a:pPr>
              <a:spcAft>
                <a:spcPts val="800"/>
              </a:spcAft>
              <a:defRPr sz="2000"/>
            </a:pPr>
            <a:r>
              <a:t>Regression where large errors are especially costly → RMSE.</a:t>
            </a:r>
          </a:p>
          <a:p>
            <a:pPr>
              <a:spcAft>
                <a:spcPts val="800"/>
              </a:spcAft>
              <a:defRPr sz="2000"/>
            </a:pPr>
            <a:r>
              <a:t>Need variance explained → R², but do not use it alone.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Evaluation metrics translate predictions into measurable performance.</a:t>
            </a:r>
          </a:p>
          <a:p>
            <a:pPr>
              <a:spcAft>
                <a:spcPts val="800"/>
              </a:spcAft>
              <a:defRPr sz="2000"/>
            </a:pPr>
            <a:r>
              <a:t>Classification metrics focus on TP, TN, FP and FN.</a:t>
            </a:r>
          </a:p>
          <a:p>
            <a:pPr>
              <a:spcAft>
                <a:spcPts val="800"/>
              </a:spcAft>
              <a:defRPr sz="2000"/>
            </a:pPr>
            <a:r>
              <a:t>Precision and recall answer different questions; F1 balances them.</a:t>
            </a:r>
          </a:p>
          <a:p>
            <a:pPr>
              <a:spcAft>
                <a:spcPts val="800"/>
              </a:spcAft>
              <a:defRPr sz="2000"/>
            </a:pPr>
            <a:r>
              <a:t>ROC-AUC summarizes discrimination across thresholds; PR-based metrics can be more informative for rare positives.</a:t>
            </a:r>
          </a:p>
          <a:p>
            <a:pPr>
              <a:spcAft>
                <a:spcPts val="800"/>
              </a:spcAft>
              <a:defRPr sz="2000"/>
            </a:pPr>
            <a:r>
              <a:t>Regression metrics measure prediction error in different ways.</a:t>
            </a:r>
          </a:p>
          <a:p>
            <a:pPr>
              <a:spcAft>
                <a:spcPts val="800"/>
              </a:spcAft>
              <a:defRPr sz="2000"/>
            </a:pPr>
            <a:r>
              <a:t>No single metric is universally best—choose according to the data and application.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Classroom Practice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A classifier has TP=70, TN=80, FP=10, FN=20. Calculate Accuracy, Precision, Recall, Specificity and F1.</a:t>
            </a:r>
          </a:p>
          <a:p>
            <a:pPr>
              <a:spcAft>
                <a:spcPts val="800"/>
              </a:spcAft>
              <a:defRPr sz="2000"/>
            </a:pPr>
            <a:r>
              <a:t>2. Why can 98% accuracy be poor on an imbalanced dataset?</a:t>
            </a:r>
          </a:p>
          <a:p>
            <a:pPr>
              <a:spcAft>
                <a:spcPts val="800"/>
              </a:spcAft>
              <a:defRPr sz="2000"/>
            </a:pPr>
            <a:r>
              <a:t>3. For actual values [5, 10, 15] and predictions [4, 12, 14], calculate MAE, MSE and RMSE.</a:t>
            </a:r>
          </a:p>
          <a:p>
            <a:pPr>
              <a:spcAft>
                <a:spcPts val="800"/>
              </a:spcAft>
              <a:defRPr sz="2000"/>
            </a:pPr>
            <a:r>
              <a:t>4. When would you prefer MAE over RMSE?</a:t>
            </a:r>
          </a:p>
          <a:p>
            <a:pPr>
              <a:spcAft>
                <a:spcPts val="800"/>
              </a:spcAft>
              <a:defRPr sz="2000"/>
            </a:pPr>
            <a:r>
              <a:t>5. Explain the difference between precision and recall with a real-world example.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Suggested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Jiawei Han, Micheline Kamber &amp; Jian Pei — Data Mining: Concepts and Techniques.</a:t>
            </a:r>
          </a:p>
          <a:p>
            <a:pPr>
              <a:spcAft>
                <a:spcPts val="800"/>
              </a:spcAft>
              <a:defRPr sz="2000"/>
            </a:pPr>
            <a:r>
              <a:t>Tom M. Mitchell — Machine Learning.</a:t>
            </a:r>
          </a:p>
          <a:p>
            <a:pPr>
              <a:spcAft>
                <a:spcPts val="800"/>
              </a:spcAft>
              <a:defRPr sz="2000"/>
            </a:pPr>
            <a:r>
              <a:t>Christopher M. Bishop — Pattern Recognition and Machine Learning.</a:t>
            </a:r>
          </a:p>
          <a:p>
            <a:pPr>
              <a:spcAft>
                <a:spcPts val="800"/>
              </a:spcAft>
              <a:defRPr sz="2000"/>
            </a:pPr>
            <a:r>
              <a:t>Trevor Hastie, Robert Tibshirani &amp; Jerome Friedman — The Elements of Statistical Learning.</a:t>
            </a:r>
          </a:p>
          <a:p>
            <a:pPr>
              <a:spcAft>
                <a:spcPts val="800"/>
              </a:spcAft>
              <a:defRPr sz="2000"/>
            </a:pPr>
            <a:r>
              <a:t>For implementation practice: scikit-learn metrics documentation and example notebooks.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