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Decision Tree –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Introduction to Decision Tree Classification</a:t>
            </a:r>
          </a:p>
          <a:p>
            <a:pPr>
              <a:spcAft>
                <a:spcPts val="1200"/>
              </a:spcAft>
              <a:defRPr sz="2000"/>
            </a:pPr>
            <a:r>
              <a:t>Simple, visual, and interpretable supervised learning algorithm</a:t>
            </a:r>
          </a:p>
          <a:p>
            <a:pPr>
              <a:spcAft>
                <a:spcPts val="1200"/>
              </a:spcAft>
              <a:defRPr sz="2000"/>
            </a:pPr>
            <a:r>
              <a:t>Suitable for classification and regression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is a Decision Tree?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 Decision Tree is a supervised machine-learning algorithm.</a:t>
            </a:r>
          </a:p>
          <a:p>
            <a:pPr>
              <a:spcAft>
                <a:spcPts val="1200"/>
              </a:spcAft>
              <a:defRPr sz="2000"/>
            </a:pPr>
            <a:r>
              <a:t>It makes decisions by repeatedly splitting data using feature values.</a:t>
            </a:r>
          </a:p>
          <a:p>
            <a:pPr>
              <a:spcAft>
                <a:spcPts val="1200"/>
              </a:spcAft>
              <a:defRPr sz="2000"/>
            </a:pPr>
            <a:r>
              <a:t>The final prediction is obtained at a leaf node.</a:t>
            </a:r>
          </a:p>
          <a:p>
            <a:pPr>
              <a:spcAft>
                <a:spcPts val="1200"/>
              </a:spcAft>
              <a:defRPr sz="2000"/>
            </a:pPr>
            <a:r>
              <a:t>Think of it like a flowchart of questions and answers.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Basic Structure of a Decision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Root Node – the first decision/split</a:t>
            </a:r>
          </a:p>
          <a:p>
            <a:pPr>
              <a:spcAft>
                <a:spcPts val="1200"/>
              </a:spcAft>
              <a:defRPr sz="2000"/>
            </a:pPr>
            <a:r>
              <a:t>Internal Node – a decision based on a feature</a:t>
            </a:r>
          </a:p>
          <a:p>
            <a:pPr>
              <a:spcAft>
                <a:spcPts val="1200"/>
              </a:spcAft>
              <a:defRPr sz="2000"/>
            </a:pPr>
            <a:r>
              <a:t>Branch – outcome of a decision</a:t>
            </a:r>
          </a:p>
          <a:p>
            <a:pPr>
              <a:spcAft>
                <a:spcPts val="1200"/>
              </a:spcAft>
              <a:defRPr sz="2000"/>
            </a:pPr>
            <a:r>
              <a:t>Leaf Node – final class or predicted value</a:t>
            </a:r>
          </a:p>
          <a:p>
            <a:pPr>
              <a:spcAft>
                <a:spcPts val="1200"/>
              </a:spcAft>
              <a:defRPr sz="2000"/>
            </a:pPr>
            <a:r>
              <a:t>Depth – number of levels in the tree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Simple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Problem: Predict whether a student will Pass or Fail.</a:t>
            </a:r>
          </a:p>
          <a:p>
            <a:pPr>
              <a:spcAft>
                <a:spcPts val="1200"/>
              </a:spcAft>
              <a:defRPr sz="2000"/>
            </a:pPr>
            <a:r>
              <a:t>Question 1: Is Study Hours &gt; 4?</a:t>
            </a:r>
          </a:p>
          <a:p>
            <a:pPr>
              <a:spcAft>
                <a:spcPts val="1200"/>
              </a:spcAft>
              <a:defRPr sz="2000"/>
            </a:pPr>
            <a:r>
              <a:t>If No → Fail</a:t>
            </a:r>
          </a:p>
          <a:p>
            <a:pPr>
              <a:spcAft>
                <a:spcPts val="1200"/>
              </a:spcAft>
              <a:defRPr sz="2000"/>
            </a:pPr>
            <a:r>
              <a:t>If Yes → Pass</a:t>
            </a:r>
          </a:p>
          <a:p>
            <a:pPr>
              <a:spcAft>
                <a:spcPts val="1200"/>
              </a:spcAft>
              <a:defRPr sz="2000"/>
            </a:pPr>
            <a:r>
              <a:t>The tree learns these decision rules from training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Does the Tree Choose a Split?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The algorithm evaluates possible splits.</a:t>
            </a:r>
          </a:p>
          <a:p>
            <a:pPr>
              <a:spcAft>
                <a:spcPts val="1200"/>
              </a:spcAft>
              <a:defRPr sz="2000"/>
            </a:pPr>
            <a:r>
              <a:t>For classification, common criteria are Gini Impurity and Entropy.</a:t>
            </a:r>
          </a:p>
          <a:p>
            <a:pPr>
              <a:spcAft>
                <a:spcPts val="1200"/>
              </a:spcAft>
              <a:defRPr sz="2000"/>
            </a:pPr>
            <a:r>
              <a:t>The best split is the one that produces the greatest reduction in impurity.</a:t>
            </a:r>
          </a:p>
          <a:p>
            <a:pPr>
              <a:spcAft>
                <a:spcPts val="1200"/>
              </a:spcAft>
              <a:defRPr sz="2000"/>
            </a:pPr>
            <a:r>
              <a:t>Important: pᵢ means the proportion (probability) of samples belonging to class i.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is pᵢ?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pᵢ is pronounced: 'p sub i'.</a:t>
            </a:r>
          </a:p>
          <a:p>
            <a:pPr>
              <a:spcAft>
                <a:spcPts val="1200"/>
              </a:spcAft>
              <a:defRPr sz="2000"/>
            </a:pPr>
            <a:r>
              <a:t>It represents the proportion/probability of samples belonging to class i in a node.</a:t>
            </a:r>
          </a:p>
          <a:p>
            <a:pPr>
              <a:spcAft>
                <a:spcPts val="1200"/>
              </a:spcAft>
              <a:defRPr sz="2000"/>
            </a:pPr>
            <a:r>
              <a:t>Formula: pᵢ = Number of samples in class i / Total samples in the node.</a:t>
            </a:r>
          </a:p>
          <a:p>
            <a:pPr>
              <a:spcAft>
                <a:spcPts val="1200"/>
              </a:spcAft>
              <a:defRPr sz="2000"/>
            </a:pPr>
            <a:r>
              <a:t>Example: If 6 of 10 samples are Good Credit, p₍Good₎ = 6/10 = 0.6.</a:t>
            </a:r>
          </a:p>
          <a:p>
            <a:pPr>
              <a:spcAft>
                <a:spcPts val="1200"/>
              </a:spcAft>
              <a:defRPr sz="2000"/>
            </a:pPr>
            <a:r>
              <a:t>If 4 of 10 are Bad Credit, p₍Bad₎ = 4/10 = 0.4.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Understanding pᵢ with a Credit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Suppose a node contains 10 customers:</a:t>
            </a:r>
          </a:p>
          <a:p>
            <a:pPr>
              <a:spcAft>
                <a:spcPts val="1200"/>
              </a:spcAft>
              <a:defRPr sz="2000"/>
            </a:pPr>
            <a:r>
              <a:t>Good Credit = 7 customers → p₁ = 7/10 = 0.70</a:t>
            </a:r>
          </a:p>
          <a:p>
            <a:pPr>
              <a:spcAft>
                <a:spcPts val="1200"/>
              </a:spcAft>
              <a:defRPr sz="2000"/>
            </a:pPr>
            <a:r>
              <a:t>Bad Credit = 3 customers → p₂ = 3/10 = 0.30</a:t>
            </a:r>
          </a:p>
          <a:p>
            <a:pPr>
              <a:spcAft>
                <a:spcPts val="1200"/>
              </a:spcAft>
              <a:defRPr sz="2000"/>
            </a:pPr>
            <a:r>
              <a:t>Therefore, p₁ + p₂ = 1.00</a:t>
            </a:r>
          </a:p>
          <a:p>
            <a:pPr>
              <a:spcAft>
                <a:spcPts val="1200"/>
              </a:spcAft>
              <a:defRPr sz="2000"/>
            </a:pPr>
            <a:r>
              <a:t>These probabilities are used to calculate Gini impurity or Entropy.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Gini Impurity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Formula: Gini = 1 − Σ pᵢ²</a:t>
            </a:r>
          </a:p>
          <a:p>
            <a:pPr>
              <a:spcAft>
                <a:spcPts val="1200"/>
              </a:spcAft>
              <a:defRPr sz="2000"/>
            </a:pPr>
            <a:r>
              <a:t>Σ means 'sum over all classes'.</a:t>
            </a:r>
          </a:p>
          <a:p>
            <a:pPr>
              <a:spcAft>
                <a:spcPts val="1200"/>
              </a:spcAft>
              <a:defRPr sz="2000"/>
            </a:pPr>
            <a:r>
              <a:t>pᵢ is the class proportion in the node.</a:t>
            </a:r>
          </a:p>
          <a:p>
            <a:pPr>
              <a:spcAft>
                <a:spcPts val="1200"/>
              </a:spcAft>
              <a:defRPr sz="2000"/>
            </a:pPr>
            <a:r>
              <a:t>Example: p₁ = 0.70 and p₂ = 0.30</a:t>
            </a:r>
          </a:p>
          <a:p>
            <a:pPr>
              <a:spcAft>
                <a:spcPts val="1200"/>
              </a:spcAft>
              <a:defRPr sz="2000"/>
            </a:pPr>
            <a:r>
              <a:t>Gini = 1 − (0.70² + 0.30²) = 0.42</a:t>
            </a:r>
          </a:p>
          <a:p>
            <a:pPr>
              <a:spcAft>
                <a:spcPts val="1200"/>
              </a:spcAft>
              <a:defRPr sz="2000"/>
            </a:pPr>
            <a:r>
              <a:t>Gini = 0 means the node is completely pure.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Entropy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Formula: Entropy = −Σ pᵢ log₂(pᵢ)</a:t>
            </a:r>
          </a:p>
          <a:p>
            <a:pPr>
              <a:spcAft>
                <a:spcPts val="1200"/>
              </a:spcAft>
              <a:defRPr sz="2000"/>
            </a:pPr>
            <a:r>
              <a:t>pᵢ is the proportion/probability of class i.</a:t>
            </a:r>
          </a:p>
          <a:p>
            <a:pPr>
              <a:spcAft>
                <a:spcPts val="1200"/>
              </a:spcAft>
              <a:defRPr sz="2000"/>
            </a:pPr>
            <a:r>
              <a:t>Example: p₁ = 0.70 and p₂ = 0.30</a:t>
            </a:r>
          </a:p>
          <a:p>
            <a:pPr>
              <a:spcAft>
                <a:spcPts val="1200"/>
              </a:spcAft>
              <a:defRPr sz="2000"/>
            </a:pPr>
            <a:r>
              <a:t>Entropy = −[0.70 log₂(0.70) + 0.30 log₂(0.30)] ≈ 0.881</a:t>
            </a:r>
          </a:p>
          <a:p>
            <a:pPr>
              <a:spcAft>
                <a:spcPts val="1200"/>
              </a:spcAft>
              <a:defRPr sz="2000"/>
            </a:pPr>
            <a:r>
              <a:t>Entropy = 0 means a completely pure node.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Information 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Information Gain measures the reduction in uncertainty after a split.</a:t>
            </a:r>
          </a:p>
          <a:p>
            <a:pPr>
              <a:spcAft>
                <a:spcPts val="1200"/>
              </a:spcAft>
              <a:defRPr sz="2000"/>
            </a:pPr>
            <a:r>
              <a:t>Formula: IG = Entropy(parent) − Weighted Entropy(children)</a:t>
            </a:r>
          </a:p>
          <a:p>
            <a:pPr>
              <a:spcAft>
                <a:spcPts val="1200"/>
              </a:spcAft>
              <a:defRPr sz="2000"/>
            </a:pPr>
            <a:r>
              <a:t>A good split has high Information Gain.</a:t>
            </a:r>
          </a:p>
          <a:p>
            <a:pPr>
              <a:spcAft>
                <a:spcPts val="1200"/>
              </a:spcAft>
              <a:defRPr sz="2000"/>
            </a:pPr>
            <a:r>
              <a:t>The tree compares candidate splits and selects the best one.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Decision Tree Learning Process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1. Start with the complete training dataset.</a:t>
            </a:r>
          </a:p>
          <a:p>
            <a:pPr>
              <a:spcAft>
                <a:spcPts val="1200"/>
              </a:spcAft>
              <a:defRPr sz="2000"/>
            </a:pPr>
            <a:r>
              <a:t>2. Calculate possible splits.</a:t>
            </a:r>
          </a:p>
          <a:p>
            <a:pPr>
              <a:spcAft>
                <a:spcPts val="1200"/>
              </a:spcAft>
              <a:defRPr sz="2000"/>
            </a:pPr>
            <a:r>
              <a:t>3. Measure impurity using Gini or Entropy.</a:t>
            </a:r>
          </a:p>
          <a:p>
            <a:pPr>
              <a:spcAft>
                <a:spcPts val="1200"/>
              </a:spcAft>
              <a:defRPr sz="2000"/>
            </a:pPr>
            <a:r>
              <a:t>4. Select the best split.</a:t>
            </a:r>
          </a:p>
          <a:p>
            <a:pPr>
              <a:spcAft>
                <a:spcPts val="1200"/>
              </a:spcAft>
              <a:defRPr sz="2000"/>
            </a:pPr>
            <a:r>
              <a:t>5. Repeat recursively for child nodes.</a:t>
            </a:r>
          </a:p>
          <a:p>
            <a:pPr>
              <a:spcAft>
                <a:spcPts val="1200"/>
              </a:spcAft>
              <a:defRPr sz="2000"/>
            </a:pPr>
            <a:r>
              <a:t>6. Stop using conditions such as maximum depth or minimum samples.</a:t>
            </a:r>
          </a:p>
          <a:p>
            <a:pPr>
              <a:spcAft>
                <a:spcPts val="1200"/>
              </a:spcAft>
              <a:defRPr sz="2000"/>
            </a:pPr>
            <a:r>
              <a:t>7. Assign the final prediction at leaf nodes.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Advantages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Advantages: easy to understand, interpretable, handles nonlinear relationships, no feature scaling required.</a:t>
            </a:r>
          </a:p>
          <a:p>
            <a:pPr>
              <a:spcAft>
                <a:spcPts val="1200"/>
              </a:spcAft>
              <a:defRPr sz="2000"/>
            </a:pPr>
            <a:r>
              <a:t>Limitations: can overfit, unstable to small data changes, deep trees can become complex.</a:t>
            </a:r>
          </a:p>
          <a:p>
            <a:pPr>
              <a:spcAft>
                <a:spcPts val="1200"/>
              </a:spcAft>
              <a:defRPr sz="2000"/>
            </a:pPr>
            <a:r>
              <a:t>Pruning and hyperparameter tuning help control overfitting.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Important Hyperparameters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criterion – 'gini' or 'entropy'</a:t>
            </a:r>
          </a:p>
          <a:p>
            <a:pPr>
              <a:spcAft>
                <a:spcPts val="1200"/>
              </a:spcAft>
              <a:defRPr sz="2000"/>
            </a:pPr>
            <a:r>
              <a:t>max_depth – maximum tree depth</a:t>
            </a:r>
          </a:p>
          <a:p>
            <a:pPr>
              <a:spcAft>
                <a:spcPts val="1200"/>
              </a:spcAft>
              <a:defRPr sz="2000"/>
            </a:pPr>
            <a:r>
              <a:t>min_samples_split – minimum samples required to split</a:t>
            </a:r>
          </a:p>
          <a:p>
            <a:pPr>
              <a:spcAft>
                <a:spcPts val="1200"/>
              </a:spcAft>
              <a:defRPr sz="2000"/>
            </a:pPr>
            <a:r>
              <a:t>min_samples_leaf – minimum samples allowed in a leaf</a:t>
            </a:r>
          </a:p>
          <a:p>
            <a:pPr>
              <a:spcAft>
                <a:spcPts val="1200"/>
              </a:spcAft>
              <a:defRPr sz="2000"/>
            </a:pPr>
            <a:r>
              <a:t>class_weight – useful for imbalanced classification</a:t>
            </a:r>
          </a:p>
          <a:p>
            <a:pPr>
              <a:spcAft>
                <a:spcPts val="1200"/>
              </a:spcAft>
              <a:defRPr sz="2000"/>
            </a:pPr>
            <a:r>
              <a:t>random_state – ensures reproducibility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Decision Tree in German Credit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Goal: classify customers as Good Credit or Bad Credit.</a:t>
            </a:r>
          </a:p>
          <a:p>
            <a:pPr>
              <a:spcAft>
                <a:spcPts val="1200"/>
              </a:spcAft>
              <a:defRPr sz="2000"/>
            </a:pPr>
            <a:r>
              <a:t>Features can include age, credit amount, duration, employment, housing, etc.</a:t>
            </a:r>
          </a:p>
          <a:p>
            <a:pPr>
              <a:spcAft>
                <a:spcPts val="1200"/>
              </a:spcAft>
              <a:defRPr sz="2000"/>
            </a:pPr>
            <a:r>
              <a:t>The tree creates interpretable rules for credit classification.</a:t>
            </a:r>
          </a:p>
          <a:p>
            <a:pPr>
              <a:spcAft>
                <a:spcPts val="1200"/>
              </a:spcAft>
              <a:defRPr sz="2000"/>
            </a:pPr>
            <a:r>
              <a:t>It can be used as a baseline model before comparing ensemble methods.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6984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Decision Tree = a sequence of data-driven decisions.</a:t>
            </a:r>
          </a:p>
          <a:p>
            <a:pPr>
              <a:spcAft>
                <a:spcPts val="1200"/>
              </a:spcAft>
              <a:defRPr sz="2000"/>
            </a:pPr>
            <a:r>
              <a:t>pᵢ = proportion/probability of class i in a node.</a:t>
            </a:r>
          </a:p>
          <a:p>
            <a:pPr>
              <a:spcAft>
                <a:spcPts val="1200"/>
              </a:spcAft>
              <a:defRPr sz="2000"/>
            </a:pPr>
            <a:r>
              <a:t>Gini and Entropy measure node impurity.</a:t>
            </a:r>
          </a:p>
          <a:p>
            <a:pPr>
              <a:spcAft>
                <a:spcPts val="1200"/>
              </a:spcAft>
              <a:defRPr sz="2000"/>
            </a:pPr>
            <a:r>
              <a:t>Information Gain measures the improvement after a split.</a:t>
            </a:r>
          </a:p>
          <a:p>
            <a:pPr>
              <a:spcAft>
                <a:spcPts val="1200"/>
              </a:spcAft>
              <a:defRPr sz="2000"/>
            </a:pPr>
            <a:r>
              <a:t>Controlling tree depth and leaf size helps reduce overfitting.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