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313" r:id="rId9"/>
    <p:sldId id="263" r:id="rId10"/>
    <p:sldId id="264" r:id="rId11"/>
    <p:sldId id="265" r:id="rId12"/>
    <p:sldId id="266" r:id="rId13"/>
    <p:sldId id="267" r:id="rId14"/>
    <p:sldId id="314" r:id="rId15"/>
    <p:sldId id="315" r:id="rId16"/>
    <p:sldId id="268" r:id="rId17"/>
    <p:sldId id="276" r:id="rId18"/>
    <p:sldId id="269" r:id="rId19"/>
    <p:sldId id="270" r:id="rId20"/>
    <p:sldId id="271" r:id="rId21"/>
    <p:sldId id="306" r:id="rId22"/>
    <p:sldId id="305" r:id="rId23"/>
    <p:sldId id="307" r:id="rId24"/>
    <p:sldId id="308" r:id="rId25"/>
    <p:sldId id="273" r:id="rId26"/>
    <p:sldId id="309" r:id="rId27"/>
    <p:sldId id="310" r:id="rId28"/>
    <p:sldId id="311" r:id="rId29"/>
    <p:sldId id="274" r:id="rId30"/>
    <p:sldId id="275" r:id="rId31"/>
    <p:sldId id="277" r:id="rId32"/>
    <p:sldId id="278" r:id="rId33"/>
    <p:sldId id="312" r:id="rId34"/>
    <p:sldId id="279" r:id="rId35"/>
    <p:sldId id="280" r:id="rId36"/>
    <p:sldId id="281" r:id="rId37"/>
    <p:sldId id="287" r:id="rId38"/>
    <p:sldId id="282" r:id="rId39"/>
    <p:sldId id="288" r:id="rId40"/>
    <p:sldId id="283" r:id="rId41"/>
    <p:sldId id="284" r:id="rId42"/>
    <p:sldId id="285" r:id="rId43"/>
    <p:sldId id="286" r:id="rId44"/>
    <p:sldId id="289" r:id="rId45"/>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53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emf"/><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8534400" cy="5016758"/>
          </a:xfrm>
          <a:prstGeom prst="rect">
            <a:avLst/>
          </a:prstGeom>
        </p:spPr>
        <p:txBody>
          <a:bodyPr wrap="square">
            <a:spAutoFit/>
          </a:bodyPr>
          <a:lstStyle/>
          <a:p>
            <a:pPr algn="ctr"/>
            <a:r>
              <a:rPr lang="en-IN" sz="3200" b="1" u="sng" dirty="0">
                <a:latin typeface="Times New Roman" pitchFamily="18" charset="0"/>
                <a:cs typeface="Times New Roman" pitchFamily="18" charset="0"/>
              </a:rPr>
              <a:t>UNIT–I</a:t>
            </a:r>
          </a:p>
          <a:p>
            <a:pPr algn="just"/>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	Data Warehousing and Online Analytical Processing: Basic concepts, Data Warehouse Modelling: Data Cube and OLAP, Data Warehouse Design and Usage, Data Warehouse Implementation, Cloud Data Warehouse.</a:t>
            </a:r>
          </a:p>
          <a:p>
            <a:pPr algn="just"/>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	Data Mining and Patten Mining, Technologies, Applications, Major issues.</a:t>
            </a:r>
          </a:p>
          <a:p>
            <a:pPr algn="just"/>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	Data </a:t>
            </a:r>
            <a:r>
              <a:rPr lang="en-IN" sz="2400">
                <a:latin typeface="Times New Roman" pitchFamily="18" charset="0"/>
                <a:cs typeface="Times New Roman" pitchFamily="18" charset="0"/>
              </a:rPr>
              <a:t>Objects &amp; Attribute </a:t>
            </a:r>
            <a:r>
              <a:rPr lang="en-IN" sz="2400" dirty="0">
                <a:latin typeface="Times New Roman" pitchFamily="18" charset="0"/>
                <a:cs typeface="Times New Roman" pitchFamily="18" charset="0"/>
              </a:rPr>
              <a:t>Types, Basic Statistical Descriptions of Data, Data Visualization, Measuring Data Similarity and Dissimilarity.</a:t>
            </a:r>
          </a:p>
        </p:txBody>
      </p:sp>
    </p:spTree>
    <p:extLst>
      <p:ext uri="{BB962C8B-B14F-4D97-AF65-F5344CB8AC3E}">
        <p14:creationId xmlns:p14="http://schemas.microsoft.com/office/powerpoint/2010/main" val="3626029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2400" y="152400"/>
            <a:ext cx="8839200" cy="5601533"/>
          </a:xfrm>
          <a:prstGeom prst="rect">
            <a:avLst/>
          </a:prstGeom>
        </p:spPr>
        <p:txBody>
          <a:bodyPr wrap="square">
            <a:spAutoFit/>
          </a:bodyPr>
          <a:lstStyle/>
          <a:p>
            <a:pPr algn="ctr"/>
            <a:r>
              <a:rPr lang="en-US" sz="2800" u="sng" dirty="0">
                <a:solidFill>
                  <a:srgbClr val="FF0000"/>
                </a:solidFill>
                <a:latin typeface="Times New Roman" pitchFamily="18" charset="0"/>
                <a:cs typeface="Times New Roman" pitchFamily="18" charset="0"/>
              </a:rPr>
              <a:t>Data Objects and Attribute Types</a:t>
            </a:r>
            <a:r>
              <a:rPr lang="en-US" sz="2200" dirty="0">
                <a:latin typeface="Times New Roman" pitchFamily="18" charset="0"/>
                <a:cs typeface="Times New Roman" pitchFamily="18" charset="0"/>
              </a:rPr>
              <a:t> </a:t>
            </a:r>
          </a:p>
          <a:p>
            <a:pPr algn="just"/>
            <a:r>
              <a:rPr lang="en-US" sz="2200" dirty="0">
                <a:latin typeface="Times New Roman" pitchFamily="18" charset="0"/>
                <a:cs typeface="Times New Roman" pitchFamily="18" charset="0"/>
              </a:rPr>
              <a:t>	Data sets are made up of data objects. A data object represents an entity:</a:t>
            </a:r>
          </a:p>
          <a:p>
            <a:pPr algn="just"/>
            <a:r>
              <a:rPr lang="en-US" sz="2200" dirty="0">
                <a:latin typeface="Times New Roman" pitchFamily="18" charset="0"/>
                <a:cs typeface="Times New Roman" pitchFamily="18" charset="0"/>
              </a:rPr>
              <a:t>In a sales database, the objects may be customers, store items, and sales; </a:t>
            </a:r>
          </a:p>
          <a:p>
            <a:pPr algn="just"/>
            <a:r>
              <a:rPr lang="en-US" sz="2200" dirty="0">
                <a:latin typeface="Times New Roman" pitchFamily="18" charset="0"/>
                <a:cs typeface="Times New Roman" pitchFamily="18" charset="0"/>
              </a:rPr>
              <a:t>In a medical database, the objects may be patients; </a:t>
            </a:r>
          </a:p>
          <a:p>
            <a:pPr algn="just"/>
            <a:r>
              <a:rPr lang="en-US" sz="2200" dirty="0">
                <a:latin typeface="Times New Roman" pitchFamily="18" charset="0"/>
                <a:cs typeface="Times New Roman" pitchFamily="18" charset="0"/>
              </a:rPr>
              <a:t>In a university database, the objects may be students, professors, and courses.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Data objects are typically described by attributes. Data objects can also be referred to as samples, examples, instances, data points, or objects.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If the data objects are stored in a database, they are data tuples. That is, the rows of a database correspond to the data objects, and the columns correspond to the attributes.</a:t>
            </a:r>
          </a:p>
          <a:p>
            <a:pPr algn="just"/>
            <a:endParaRPr lang="en-US" sz="2200" dirty="0">
              <a:latin typeface="Times New Roman" pitchFamily="18" charset="0"/>
              <a:cs typeface="Times New Roman" pitchFamily="18" charset="0"/>
            </a:endParaRPr>
          </a:p>
          <a:p>
            <a:pPr algn="just"/>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9038242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1"/>
            <a:ext cx="8763000" cy="5601533"/>
          </a:xfrm>
          <a:prstGeom prst="rect">
            <a:avLst/>
          </a:prstGeom>
        </p:spPr>
        <p:txBody>
          <a:bodyPr wrap="square">
            <a:spAutoFit/>
          </a:bodyPr>
          <a:lstStyle/>
          <a:p>
            <a:pPr algn="just"/>
            <a:r>
              <a:rPr lang="en-US" sz="2400" dirty="0">
                <a:solidFill>
                  <a:srgbClr val="FF0000"/>
                </a:solidFill>
                <a:latin typeface="Times New Roman" pitchFamily="18" charset="0"/>
                <a:cs typeface="Times New Roman" pitchFamily="18" charset="0"/>
              </a:rPr>
              <a:t>Attribute:</a:t>
            </a:r>
            <a:endParaRPr lang="en-US" sz="2200" dirty="0">
              <a:solidFill>
                <a:srgbClr val="FF0000"/>
              </a:solidFill>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An attribute is a data field, representing a characteristic or feature of a data object.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The term dimension is commonly used in data warehousing.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Machine learning literature tends to use the term feature, while statisticians prefer the term variable.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Data mining and database professionals commonly use the term attribute.</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Attributes describing a customer object can include, for example, customer ID, name, and address.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The type of an attribute is determined by the set of possible values:</a:t>
            </a:r>
          </a:p>
          <a:p>
            <a:pPr algn="just"/>
            <a:r>
              <a:rPr lang="en-US" sz="2200" b="1" dirty="0">
                <a:latin typeface="Times New Roman" pitchFamily="18" charset="0"/>
                <a:cs typeface="Times New Roman" pitchFamily="18" charset="0"/>
              </a:rPr>
              <a:t>                         nominal, binary, ordinal, or numeric</a:t>
            </a:r>
            <a:endParaRPr lang="en-IN" sz="2200" b="1" dirty="0">
              <a:latin typeface="Times New Roman" pitchFamily="18" charset="0"/>
              <a:cs typeface="Times New Roman" pitchFamily="18" charset="0"/>
            </a:endParaRPr>
          </a:p>
        </p:txBody>
      </p:sp>
    </p:spTree>
    <p:extLst>
      <p:ext uri="{BB962C8B-B14F-4D97-AF65-F5344CB8AC3E}">
        <p14:creationId xmlns:p14="http://schemas.microsoft.com/office/powerpoint/2010/main" val="4019576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76200"/>
            <a:ext cx="8763000" cy="6769596"/>
          </a:xfrm>
          <a:prstGeom prst="rect">
            <a:avLst/>
          </a:prstGeom>
        </p:spPr>
        <p:txBody>
          <a:bodyPr wrap="square">
            <a:spAutoFit/>
          </a:bodyPr>
          <a:lstStyle/>
          <a:p>
            <a:pPr algn="just"/>
            <a:r>
              <a:rPr lang="en-US" sz="2400" dirty="0">
                <a:solidFill>
                  <a:srgbClr val="FF0000"/>
                </a:solidFill>
                <a:latin typeface="Times New Roman" pitchFamily="18" charset="0"/>
                <a:cs typeface="Times New Roman" pitchFamily="18" charset="0"/>
              </a:rPr>
              <a:t>Nominal Attributes: </a:t>
            </a:r>
          </a:p>
          <a:p>
            <a:pPr algn="just"/>
            <a:r>
              <a:rPr lang="en-US" sz="2200" dirty="0">
                <a:latin typeface="Times New Roman" pitchFamily="18" charset="0"/>
                <a:cs typeface="Times New Roman" pitchFamily="18" charset="0"/>
              </a:rPr>
              <a:t>	Nominal means “relating to names.” The values of a nominal attribute are symbols or names of things. The values do not have any meaningful order.</a:t>
            </a:r>
          </a:p>
          <a:p>
            <a:pPr algn="just"/>
            <a:r>
              <a:rPr lang="en-US" sz="2200" dirty="0">
                <a:latin typeface="Times New Roman" pitchFamily="18" charset="0"/>
                <a:cs typeface="Times New Roman" pitchFamily="18" charset="0"/>
              </a:rPr>
              <a:t>Ex: Hair color: {Block, Brown, grey, Red}, Marital status and </a:t>
            </a:r>
            <a:r>
              <a:rPr lang="en-IN" sz="2200" dirty="0">
                <a:latin typeface="Times New Roman" pitchFamily="18" charset="0"/>
                <a:cs typeface="Times New Roman" pitchFamily="18" charset="0"/>
              </a:rPr>
              <a:t>Occupation.</a:t>
            </a:r>
            <a:endParaRPr lang="en-US" sz="2200" dirty="0">
              <a:latin typeface="Times New Roman" pitchFamily="18" charset="0"/>
              <a:cs typeface="Times New Roman" pitchFamily="18" charset="0"/>
            </a:endParaRPr>
          </a:p>
          <a:p>
            <a:pPr algn="just"/>
            <a:r>
              <a:rPr lang="en-US" sz="2400" dirty="0">
                <a:solidFill>
                  <a:srgbClr val="FF0000"/>
                </a:solidFill>
                <a:latin typeface="Times New Roman" pitchFamily="18" charset="0"/>
                <a:cs typeface="Times New Roman" pitchFamily="18" charset="0"/>
              </a:rPr>
              <a:t>Binary Attributes: </a:t>
            </a:r>
            <a:endParaRPr lang="en-US" sz="2200" dirty="0">
              <a:solidFill>
                <a:srgbClr val="FF0000"/>
              </a:solidFill>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 binary attribute is a nominal attribute with only two categories or states: 0 or 1, where 0 means absent, and 1 means it is present. </a:t>
            </a:r>
          </a:p>
          <a:p>
            <a:pPr algn="just"/>
            <a:r>
              <a:rPr lang="en-US" sz="2200" dirty="0">
                <a:solidFill>
                  <a:srgbClr val="00B050"/>
                </a:solidFill>
                <a:latin typeface="Times New Roman" pitchFamily="18" charset="0"/>
                <a:cs typeface="Times New Roman" pitchFamily="18" charset="0"/>
              </a:rPr>
              <a:t>Binary attributes are referred to as Boolean if the two states correspond to true and false.. </a:t>
            </a:r>
          </a:p>
          <a:p>
            <a:pPr algn="just"/>
            <a:r>
              <a:rPr lang="en-US" sz="2200" b="1" dirty="0">
                <a:latin typeface="Times New Roman" pitchFamily="18" charset="0"/>
                <a:cs typeface="Times New Roman" pitchFamily="18" charset="0"/>
              </a:rPr>
              <a:t>Symmetric Binary: </a:t>
            </a:r>
            <a:r>
              <a:rPr lang="en-US" sz="2200" dirty="0">
                <a:latin typeface="Times New Roman" pitchFamily="18" charset="0"/>
                <a:cs typeface="Times New Roman" pitchFamily="18" charset="0"/>
              </a:rPr>
              <a:t>Both outcomes equally important. Ex: gender</a:t>
            </a:r>
          </a:p>
          <a:p>
            <a:pPr algn="just"/>
            <a:r>
              <a:rPr lang="en-US" sz="2200" b="1" dirty="0">
                <a:latin typeface="Times New Roman" pitchFamily="18" charset="0"/>
                <a:cs typeface="Times New Roman" pitchFamily="18" charset="0"/>
              </a:rPr>
              <a:t>Asymmetric Binary: </a:t>
            </a:r>
            <a:r>
              <a:rPr lang="en-US" sz="2200" dirty="0">
                <a:latin typeface="Times New Roman" pitchFamily="18" charset="0"/>
                <a:cs typeface="Times New Roman" pitchFamily="18" charset="0"/>
              </a:rPr>
              <a:t>Outcomes not equally important. </a:t>
            </a:r>
          </a:p>
          <a:p>
            <a:pPr algn="just"/>
            <a:r>
              <a:rPr lang="en-US" sz="2200" dirty="0">
                <a:latin typeface="Times New Roman" pitchFamily="18" charset="0"/>
                <a:cs typeface="Times New Roman" pitchFamily="18" charset="0"/>
              </a:rPr>
              <a:t>Ex: Medical Test (Positive vs. Negative) </a:t>
            </a:r>
          </a:p>
          <a:p>
            <a:pPr algn="just"/>
            <a:r>
              <a:rPr lang="en-US" sz="2200" dirty="0">
                <a:latin typeface="Times New Roman" pitchFamily="18" charset="0"/>
                <a:cs typeface="Times New Roman" pitchFamily="18" charset="0"/>
              </a:rPr>
              <a:t>       Conversion: Assign 1 to most important outcome</a:t>
            </a:r>
          </a:p>
          <a:p>
            <a:pPr algn="just"/>
            <a:r>
              <a:rPr lang="en-US" sz="2400" dirty="0">
                <a:solidFill>
                  <a:srgbClr val="FF0000"/>
                </a:solidFill>
                <a:latin typeface="Times New Roman" pitchFamily="18" charset="0"/>
                <a:cs typeface="Times New Roman" pitchFamily="18" charset="0"/>
              </a:rPr>
              <a:t>Ordinal Attributes:</a:t>
            </a:r>
            <a:r>
              <a:rPr lang="en-US" sz="2200" dirty="0">
                <a:latin typeface="Times New Roman" pitchFamily="18" charset="0"/>
                <a:cs typeface="Times New Roman" pitchFamily="18" charset="0"/>
              </a:rPr>
              <a:t> </a:t>
            </a:r>
          </a:p>
          <a:p>
            <a:pPr algn="just"/>
            <a:r>
              <a:rPr lang="en-US" sz="2200" dirty="0">
                <a:latin typeface="Times New Roman" pitchFamily="18" charset="0"/>
                <a:cs typeface="Times New Roman" pitchFamily="18" charset="0"/>
              </a:rPr>
              <a:t>	An ordinal attribute is an attribute with possible values that have a meaningful order or ranking among them.</a:t>
            </a:r>
          </a:p>
          <a:p>
            <a:pPr marL="0" lvl="2" algn="just"/>
            <a:r>
              <a:rPr lang="en-US" sz="2200" dirty="0">
                <a:latin typeface="Times New Roman" pitchFamily="18" charset="0"/>
                <a:cs typeface="Times New Roman" pitchFamily="18" charset="0"/>
              </a:rPr>
              <a:t>Ex: Examples: rankings (e.g., taste of potato chips on a scale from 1-10), grades, height {tall, medium, short}.</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367913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686800" cy="6494085"/>
          </a:xfrm>
          <a:prstGeom prst="rect">
            <a:avLst/>
          </a:prstGeom>
        </p:spPr>
        <p:txBody>
          <a:bodyPr wrap="square">
            <a:spAutoFit/>
          </a:bodyPr>
          <a:lstStyle/>
          <a:p>
            <a:pPr marL="0" lvl="2" algn="just"/>
            <a:r>
              <a:rPr lang="en-US" sz="2400" dirty="0">
                <a:solidFill>
                  <a:srgbClr val="FF0000"/>
                </a:solidFill>
                <a:latin typeface="Times New Roman" pitchFamily="18" charset="0"/>
                <a:cs typeface="Times New Roman" pitchFamily="18" charset="0"/>
              </a:rPr>
              <a:t>Numeric Attributes: </a:t>
            </a:r>
          </a:p>
          <a:p>
            <a:pPr marL="0" lvl="2" algn="just"/>
            <a:r>
              <a:rPr lang="en-US" sz="2200" dirty="0">
                <a:latin typeface="Times New Roman" pitchFamily="18" charset="0"/>
                <a:cs typeface="Times New Roman" pitchFamily="18" charset="0"/>
              </a:rPr>
              <a:t>	A numeric attribute is quantitative; that is, it is a measurable quantity, represented in integer or real values. </a:t>
            </a:r>
          </a:p>
          <a:p>
            <a:pPr marL="0" lvl="2" algn="just"/>
            <a:endParaRPr lang="en-US" sz="2200" dirty="0">
              <a:latin typeface="Times New Roman" pitchFamily="18" charset="0"/>
              <a:cs typeface="Times New Roman" pitchFamily="18" charset="0"/>
            </a:endParaRPr>
          </a:p>
          <a:p>
            <a:pPr marL="0" lvl="2" algn="just"/>
            <a:r>
              <a:rPr lang="en-US" sz="2200" dirty="0">
                <a:latin typeface="Times New Roman" pitchFamily="18" charset="0"/>
                <a:cs typeface="Times New Roman" pitchFamily="18" charset="0"/>
              </a:rPr>
              <a:t>Numeric attributes can be: </a:t>
            </a:r>
            <a:r>
              <a:rPr lang="en-US" sz="2200" dirty="0">
                <a:solidFill>
                  <a:srgbClr val="00B050"/>
                </a:solidFill>
                <a:latin typeface="Times New Roman" pitchFamily="18" charset="0"/>
                <a:cs typeface="Times New Roman" pitchFamily="18" charset="0"/>
              </a:rPr>
              <a:t>Interval-scaled or Ratio-scaled. </a:t>
            </a:r>
          </a:p>
          <a:p>
            <a:pPr marL="0" lvl="2" algn="just"/>
            <a:endParaRPr lang="en-US" sz="2200" dirty="0">
              <a:solidFill>
                <a:srgbClr val="00B050"/>
              </a:solidFill>
              <a:latin typeface="Times New Roman" pitchFamily="18" charset="0"/>
              <a:cs typeface="Times New Roman" pitchFamily="18" charset="0"/>
            </a:endParaRPr>
          </a:p>
          <a:p>
            <a:pPr marL="0" lvl="2" algn="just"/>
            <a:r>
              <a:rPr lang="en-US" sz="2200" b="1" dirty="0">
                <a:latin typeface="Times New Roman" pitchFamily="18" charset="0"/>
                <a:cs typeface="Times New Roman" pitchFamily="18" charset="0"/>
              </a:rPr>
              <a:t>Interval-Scaled Attributes:</a:t>
            </a:r>
            <a:r>
              <a:rPr lang="en-US" sz="2200" dirty="0">
                <a:latin typeface="Times New Roman" pitchFamily="18" charset="0"/>
                <a:cs typeface="Times New Roman" pitchFamily="18" charset="0"/>
              </a:rPr>
              <a:t> </a:t>
            </a:r>
          </a:p>
          <a:p>
            <a:pPr marL="0" lvl="2" algn="just"/>
            <a:r>
              <a:rPr lang="en-US" sz="2200" dirty="0">
                <a:latin typeface="Times New Roman" pitchFamily="18" charset="0"/>
                <a:cs typeface="Times New Roman" pitchFamily="18" charset="0"/>
              </a:rPr>
              <a:t>	Measured on a scale of equal-size units. </a:t>
            </a:r>
          </a:p>
          <a:p>
            <a:pPr marL="0" lvl="2" algn="just"/>
            <a:r>
              <a:rPr lang="en-US" sz="2200" dirty="0">
                <a:latin typeface="Times New Roman" pitchFamily="18" charset="0"/>
                <a:cs typeface="Times New Roman" pitchFamily="18" charset="0"/>
              </a:rPr>
              <a:t>	Values have order and can be positive, 0, or negative. </a:t>
            </a:r>
          </a:p>
          <a:p>
            <a:pPr marL="0" lvl="2" algn="just"/>
            <a:endParaRPr lang="en-US" sz="2200" dirty="0">
              <a:latin typeface="Times New Roman" pitchFamily="18" charset="0"/>
              <a:cs typeface="Times New Roman" pitchFamily="18" charset="0"/>
            </a:endParaRPr>
          </a:p>
          <a:p>
            <a:pPr marL="0" lvl="2" algn="just"/>
            <a:r>
              <a:rPr lang="en-US" sz="2200" dirty="0">
                <a:latin typeface="Times New Roman" pitchFamily="18" charset="0"/>
                <a:cs typeface="Times New Roman" pitchFamily="18" charset="0"/>
              </a:rPr>
              <a:t>Thus, in addition to providing a ranking of values, such attributes allow us to compare and quantify the difference between values. </a:t>
            </a:r>
          </a:p>
          <a:p>
            <a:pPr marL="0" lvl="2" algn="just"/>
            <a:endParaRPr lang="en-US" sz="2200" dirty="0">
              <a:latin typeface="Times New Roman" pitchFamily="18" charset="0"/>
              <a:cs typeface="Times New Roman" pitchFamily="18" charset="0"/>
            </a:endParaRPr>
          </a:p>
          <a:p>
            <a:pPr marL="0" lvl="2" algn="just"/>
            <a:r>
              <a:rPr lang="en-US" sz="2200" dirty="0">
                <a:latin typeface="Times New Roman" pitchFamily="18" charset="0"/>
                <a:cs typeface="Times New Roman" pitchFamily="18" charset="0"/>
              </a:rPr>
              <a:t>Ex: A temperature in C* or F* and calendar dates (interval-scaled)  </a:t>
            </a:r>
          </a:p>
          <a:p>
            <a:pPr marL="0" lvl="2" algn="just"/>
            <a:endParaRPr lang="en-US" sz="2200" dirty="0">
              <a:latin typeface="Times New Roman" pitchFamily="18" charset="0"/>
              <a:cs typeface="Times New Roman" pitchFamily="18" charset="0"/>
            </a:endParaRPr>
          </a:p>
          <a:p>
            <a:pPr marL="0" lvl="2" algn="just"/>
            <a:endParaRPr lang="en-US" sz="2200" dirty="0">
              <a:latin typeface="Times New Roman" pitchFamily="18" charset="0"/>
              <a:cs typeface="Times New Roman" pitchFamily="18" charset="0"/>
            </a:endParaRPr>
          </a:p>
          <a:p>
            <a:pPr marL="0" lvl="2" algn="just"/>
            <a:r>
              <a:rPr lang="en-US" sz="2200" dirty="0">
                <a:latin typeface="Times New Roman" pitchFamily="18" charset="0"/>
                <a:cs typeface="Times New Roman" pitchFamily="18" charset="0"/>
              </a:rPr>
              <a:t>(i) A temperature of 20C is five degrees higher than a temperature of 15C. </a:t>
            </a:r>
          </a:p>
          <a:p>
            <a:pPr marL="0" lvl="2" algn="just"/>
            <a:r>
              <a:rPr lang="en-US" sz="2200" dirty="0">
                <a:latin typeface="Times New Roman" pitchFamily="18" charset="0"/>
                <a:cs typeface="Times New Roman" pitchFamily="18" charset="0"/>
              </a:rPr>
              <a:t>(ii) The years 2002 and 2010 are eight years apart.</a:t>
            </a:r>
          </a:p>
          <a:p>
            <a:endParaRPr lang="en-IN" dirty="0"/>
          </a:p>
        </p:txBody>
      </p:sp>
    </p:spTree>
    <p:extLst>
      <p:ext uri="{BB962C8B-B14F-4D97-AF65-F5344CB8AC3E}">
        <p14:creationId xmlns:p14="http://schemas.microsoft.com/office/powerpoint/2010/main" val="1900696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1"/>
            <a:ext cx="8763000" cy="4862870"/>
          </a:xfrm>
          <a:prstGeom prst="rect">
            <a:avLst/>
          </a:prstGeom>
        </p:spPr>
        <p:txBody>
          <a:bodyPr wrap="square">
            <a:spAutoFit/>
          </a:bodyPr>
          <a:lstStyle/>
          <a:p>
            <a:pPr algn="just"/>
            <a:r>
              <a:rPr lang="en-US" sz="2400" dirty="0">
                <a:solidFill>
                  <a:srgbClr val="FF0000"/>
                </a:solidFill>
                <a:latin typeface="Times New Roman" pitchFamily="18" charset="0"/>
                <a:cs typeface="Times New Roman" pitchFamily="18" charset="0"/>
              </a:rPr>
              <a:t>Ratio-Scaled Attributes: </a:t>
            </a:r>
            <a:endParaRPr lang="en-US" sz="2200" dirty="0">
              <a:solidFill>
                <a:srgbClr val="FF0000"/>
              </a:solidFill>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 ratio-scaled attribute is a numeric attribute with an inherent zero-point. That is, if a measurement is ratio-scaled, we can speak of a value as being a multiple (or ratio) of another value. In addition, the values are ordered, and we can also compute the difference between values, as well as the mean, median, and mode.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Ex: (i) Unlike temperatures in Celsius and Fahrenheit, the Kelvin (K) temperature scale has what is considered a true zero-point (0K 273.15C). </a:t>
            </a:r>
          </a:p>
          <a:p>
            <a:pPr algn="just"/>
            <a:r>
              <a:rPr lang="en-US" sz="2200" dirty="0">
                <a:latin typeface="Times New Roman" pitchFamily="18" charset="0"/>
                <a:cs typeface="Times New Roman" pitchFamily="18" charset="0"/>
              </a:rPr>
              <a:t>(ii) Count attributes such as years of experience (e.g., the objects are employees) and number of words (e.g., the objects are documents). </a:t>
            </a:r>
          </a:p>
          <a:p>
            <a:pPr algn="just"/>
            <a:r>
              <a:rPr lang="en-US" sz="2200" dirty="0">
                <a:latin typeface="Times New Roman" pitchFamily="18" charset="0"/>
                <a:cs typeface="Times New Roman" pitchFamily="18" charset="0"/>
              </a:rPr>
              <a:t>(iii) Weight, Height, Latitude and longitude coordinates (e.g., when clustering houses), and monetary quantities (e.g., you are 100 times richer with $100 than with $1).</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956992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3000" cy="5127558"/>
          </a:xfrm>
          <a:prstGeom prst="rect">
            <a:avLst/>
          </a:prstGeom>
        </p:spPr>
        <p:txBody>
          <a:bodyPr wrap="square">
            <a:spAutoFit/>
          </a:bodyPr>
          <a:lstStyle/>
          <a:p>
            <a:pPr algn="just"/>
            <a:r>
              <a:rPr lang="en-US" sz="2800" dirty="0">
                <a:solidFill>
                  <a:srgbClr val="FF0000"/>
                </a:solidFill>
                <a:latin typeface="Times New Roman" pitchFamily="18" charset="0"/>
                <a:cs typeface="Times New Roman" pitchFamily="18" charset="0"/>
              </a:rPr>
              <a:t>Discrete and Continuous Attributes:</a:t>
            </a:r>
          </a:p>
          <a:p>
            <a:pPr algn="just"/>
            <a:r>
              <a:rPr lang="en-US" sz="2200" dirty="0">
                <a:latin typeface="Times New Roman" pitchFamily="18" charset="0"/>
                <a:cs typeface="Times New Roman" pitchFamily="18" charset="0"/>
              </a:rPr>
              <a:t> </a:t>
            </a:r>
          </a:p>
          <a:p>
            <a:pPr marL="342900" indent="-342900" algn="just">
              <a:lnSpc>
                <a:spcPct val="90000"/>
              </a:lnSpc>
              <a:buFont typeface="Wingdings" pitchFamily="2" charset="2"/>
              <a:buChar char="Ø"/>
            </a:pPr>
            <a:r>
              <a:rPr lang="en-US" sz="2200" b="1" dirty="0">
                <a:latin typeface="Times New Roman" pitchFamily="18" charset="0"/>
                <a:cs typeface="Times New Roman" pitchFamily="18" charset="0"/>
              </a:rPr>
              <a:t>Discrete Attribute:</a:t>
            </a:r>
          </a:p>
          <a:p>
            <a:pPr lvl="1" algn="just">
              <a:lnSpc>
                <a:spcPct val="90000"/>
              </a:lnSpc>
            </a:pPr>
            <a:r>
              <a:rPr lang="en-US" sz="2200" dirty="0">
                <a:latin typeface="Times New Roman" pitchFamily="18" charset="0"/>
                <a:cs typeface="Times New Roman" pitchFamily="18" charset="0"/>
              </a:rPr>
              <a:t>Has only a finite or </a:t>
            </a:r>
            <a:r>
              <a:rPr lang="en-US" sz="2200" dirty="0" err="1">
                <a:latin typeface="Times New Roman" pitchFamily="18" charset="0"/>
                <a:cs typeface="Times New Roman" pitchFamily="18" charset="0"/>
              </a:rPr>
              <a:t>countably</a:t>
            </a:r>
            <a:r>
              <a:rPr lang="en-US" sz="2200" dirty="0">
                <a:latin typeface="Times New Roman" pitchFamily="18" charset="0"/>
                <a:cs typeface="Times New Roman" pitchFamily="18" charset="0"/>
              </a:rPr>
              <a:t> infinite set of values</a:t>
            </a:r>
          </a:p>
          <a:p>
            <a:pPr lvl="1" algn="just">
              <a:lnSpc>
                <a:spcPct val="90000"/>
              </a:lnSpc>
            </a:pPr>
            <a:r>
              <a:rPr lang="en-US" sz="2200" dirty="0">
                <a:latin typeface="Times New Roman" pitchFamily="18" charset="0"/>
                <a:cs typeface="Times New Roman" pitchFamily="18" charset="0"/>
              </a:rPr>
              <a:t>Examples: zip codes, counts, or the set of words in a collection of documents </a:t>
            </a:r>
          </a:p>
          <a:p>
            <a:pPr lvl="1" algn="just">
              <a:lnSpc>
                <a:spcPct val="90000"/>
              </a:lnSpc>
            </a:pPr>
            <a:r>
              <a:rPr lang="en-US" sz="2200" dirty="0">
                <a:latin typeface="Times New Roman" pitchFamily="18" charset="0"/>
                <a:cs typeface="Times New Roman" pitchFamily="18" charset="0"/>
              </a:rPr>
              <a:t>Often represented as integer variables.   </a:t>
            </a:r>
          </a:p>
          <a:p>
            <a:pPr lvl="1" algn="just">
              <a:lnSpc>
                <a:spcPct val="90000"/>
              </a:lnSpc>
            </a:pPr>
            <a:r>
              <a:rPr lang="en-US" sz="2200" dirty="0">
                <a:latin typeface="Times New Roman" pitchFamily="18" charset="0"/>
                <a:cs typeface="Times New Roman" pitchFamily="18" charset="0"/>
              </a:rPr>
              <a:t>Note: </a:t>
            </a:r>
            <a:r>
              <a:rPr lang="en-US" sz="2200" dirty="0">
                <a:solidFill>
                  <a:srgbClr val="CC3300"/>
                </a:solidFill>
                <a:latin typeface="Times New Roman" pitchFamily="18" charset="0"/>
                <a:cs typeface="Times New Roman" pitchFamily="18" charset="0"/>
              </a:rPr>
              <a:t>binary attributes</a:t>
            </a:r>
            <a:r>
              <a:rPr lang="en-US" sz="2200" dirty="0">
                <a:latin typeface="Times New Roman" pitchFamily="18" charset="0"/>
                <a:cs typeface="Times New Roman" pitchFamily="18" charset="0"/>
              </a:rPr>
              <a:t> are a special case of discrete attributes </a:t>
            </a:r>
          </a:p>
          <a:p>
            <a:pPr lvl="1" algn="just">
              <a:lnSpc>
                <a:spcPct val="90000"/>
              </a:lnSpc>
            </a:pPr>
            <a:endParaRPr lang="en-US" sz="2200" dirty="0">
              <a:latin typeface="Times New Roman" pitchFamily="18" charset="0"/>
              <a:cs typeface="Times New Roman" pitchFamily="18" charset="0"/>
            </a:endParaRPr>
          </a:p>
          <a:p>
            <a:pPr marL="342900" indent="-342900" algn="just">
              <a:lnSpc>
                <a:spcPct val="90000"/>
              </a:lnSpc>
              <a:buFont typeface="Wingdings" pitchFamily="2" charset="2"/>
              <a:buChar char="Ø"/>
            </a:pPr>
            <a:r>
              <a:rPr lang="en-US" sz="2200" b="1" dirty="0">
                <a:latin typeface="Times New Roman" pitchFamily="18" charset="0"/>
                <a:cs typeface="Times New Roman" pitchFamily="18" charset="0"/>
              </a:rPr>
              <a:t>Continuous Attribute: </a:t>
            </a:r>
          </a:p>
          <a:p>
            <a:pPr lvl="1" algn="just">
              <a:lnSpc>
                <a:spcPct val="90000"/>
              </a:lnSpc>
            </a:pPr>
            <a:r>
              <a:rPr lang="en-US" sz="2200" dirty="0">
                <a:latin typeface="Times New Roman" pitchFamily="18" charset="0"/>
                <a:cs typeface="Times New Roman" pitchFamily="18" charset="0"/>
              </a:rPr>
              <a:t>Has real numbers as attribute values</a:t>
            </a:r>
          </a:p>
          <a:p>
            <a:pPr lvl="1" algn="just">
              <a:lnSpc>
                <a:spcPct val="90000"/>
              </a:lnSpc>
            </a:pPr>
            <a:r>
              <a:rPr lang="en-US" sz="2200" dirty="0">
                <a:latin typeface="Times New Roman" pitchFamily="18" charset="0"/>
                <a:cs typeface="Times New Roman" pitchFamily="18" charset="0"/>
              </a:rPr>
              <a:t>Examples: temperature, height, or weight.  </a:t>
            </a:r>
          </a:p>
          <a:p>
            <a:pPr lvl="1" algn="just">
              <a:lnSpc>
                <a:spcPct val="90000"/>
              </a:lnSpc>
            </a:pPr>
            <a:r>
              <a:rPr lang="en-US" sz="2200" dirty="0">
                <a:latin typeface="Times New Roman" pitchFamily="18" charset="0"/>
                <a:cs typeface="Times New Roman" pitchFamily="18" charset="0"/>
              </a:rPr>
              <a:t>Practically, real values can only be measured and represented using a finite number of digits.</a:t>
            </a:r>
          </a:p>
          <a:p>
            <a:pPr lvl="1" algn="just">
              <a:lnSpc>
                <a:spcPct val="90000"/>
              </a:lnSpc>
            </a:pPr>
            <a:r>
              <a:rPr lang="en-US" sz="2200" dirty="0">
                <a:latin typeface="Times New Roman" pitchFamily="18" charset="0"/>
                <a:cs typeface="Times New Roman" pitchFamily="18" charset="0"/>
              </a:rPr>
              <a:t>Continuous attributes are typically represented as floating-point variables.</a:t>
            </a:r>
          </a:p>
        </p:txBody>
      </p:sp>
    </p:spTree>
    <p:extLst>
      <p:ext uri="{BB962C8B-B14F-4D97-AF65-F5344CB8AC3E}">
        <p14:creationId xmlns:p14="http://schemas.microsoft.com/office/powerpoint/2010/main" val="1960423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8A94D5-0862-3EAB-B22D-98455D4DD08C}"/>
              </a:ext>
            </a:extLst>
          </p:cNvPr>
          <p:cNvPicPr>
            <a:picLocks noChangeAspect="1"/>
          </p:cNvPicPr>
          <p:nvPr/>
        </p:nvPicPr>
        <p:blipFill>
          <a:blip r:embed="rId2"/>
          <a:stretch>
            <a:fillRect/>
          </a:stretch>
        </p:blipFill>
        <p:spPr>
          <a:xfrm>
            <a:off x="0" y="1819274"/>
            <a:ext cx="8839200" cy="5038725"/>
          </a:xfrm>
          <a:prstGeom prst="rect">
            <a:avLst/>
          </a:prstGeom>
        </p:spPr>
      </p:pic>
      <p:sp>
        <p:nvSpPr>
          <p:cNvPr id="5" name="TextBox 4">
            <a:extLst>
              <a:ext uri="{FF2B5EF4-FFF2-40B4-BE49-F238E27FC236}">
                <a16:creationId xmlns:a16="http://schemas.microsoft.com/office/drawing/2014/main" id="{62813131-5C5E-F430-885A-CFE9D157F192}"/>
              </a:ext>
            </a:extLst>
          </p:cNvPr>
          <p:cNvSpPr txBox="1"/>
          <p:nvPr/>
        </p:nvSpPr>
        <p:spPr>
          <a:xfrm>
            <a:off x="2286000" y="686605"/>
            <a:ext cx="4114800" cy="954107"/>
          </a:xfrm>
          <a:prstGeom prst="rect">
            <a:avLst/>
          </a:prstGeom>
          <a:noFill/>
        </p:spPr>
        <p:txBody>
          <a:bodyPr wrap="square">
            <a:spAutoFit/>
          </a:bodyPr>
          <a:lstStyle/>
          <a:p>
            <a:pPr algn="ctr"/>
            <a:r>
              <a:rPr lang="en-US" sz="2800" b="1" u="sng" dirty="0">
                <a:solidFill>
                  <a:srgbClr val="FF0000"/>
                </a:solidFill>
                <a:latin typeface="Times New Roman" pitchFamily="18" charset="0"/>
                <a:cs typeface="Times New Roman" pitchFamily="18" charset="0"/>
              </a:rPr>
              <a:t>Basic Statistical Descriptions of Data</a:t>
            </a:r>
          </a:p>
        </p:txBody>
      </p:sp>
    </p:spTree>
    <p:extLst>
      <p:ext uri="{BB962C8B-B14F-4D97-AF65-F5344CB8AC3E}">
        <p14:creationId xmlns:p14="http://schemas.microsoft.com/office/powerpoint/2010/main" val="3105653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76200"/>
            <a:ext cx="8762999" cy="5940088"/>
          </a:xfrm>
          <a:prstGeom prst="rect">
            <a:avLst/>
          </a:prstGeom>
        </p:spPr>
        <p:txBody>
          <a:bodyPr wrap="square">
            <a:spAutoFit/>
          </a:bodyPr>
          <a:lstStyle/>
          <a:p>
            <a:pPr algn="ctr"/>
            <a:r>
              <a:rPr lang="en-US" sz="2800" b="1" u="sng" dirty="0">
                <a:solidFill>
                  <a:srgbClr val="FF0000"/>
                </a:solidFill>
                <a:latin typeface="Times New Roman" pitchFamily="18" charset="0"/>
                <a:cs typeface="Times New Roman" pitchFamily="18" charset="0"/>
              </a:rPr>
              <a:t>Basic Statistical Descriptions of Data</a:t>
            </a:r>
          </a:p>
          <a:p>
            <a:pPr algn="just"/>
            <a:r>
              <a:rPr lang="en-US" sz="2200" dirty="0">
                <a:latin typeface="Times New Roman" pitchFamily="18" charset="0"/>
                <a:cs typeface="Times New Roman" pitchFamily="18" charset="0"/>
              </a:rPr>
              <a:t>	Basic statistical descriptions can be used to identify properties of the data and highlight which data values should be treated as noise or outliers.</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a:highlight>
                  <a:srgbClr val="FFFF00"/>
                </a:highlight>
                <a:latin typeface="Times New Roman" pitchFamily="18" charset="0"/>
                <a:cs typeface="Times New Roman" pitchFamily="18" charset="0"/>
              </a:rPr>
              <a:t>i) Measures of central tendency</a:t>
            </a:r>
            <a:r>
              <a:rPr lang="en-US" sz="2200" dirty="0">
                <a:latin typeface="Times New Roman" pitchFamily="18" charset="0"/>
                <a:cs typeface="Times New Roman" pitchFamily="18" charset="0"/>
              </a:rPr>
              <a:t>, which measure the location of the middle or center of a data distribution. </a:t>
            </a:r>
          </a:p>
          <a:p>
            <a:pPr algn="just"/>
            <a:r>
              <a:rPr lang="en-US" sz="2200" dirty="0">
                <a:latin typeface="Times New Roman" pitchFamily="18" charset="0"/>
                <a:cs typeface="Times New Roman" pitchFamily="18" charset="0"/>
              </a:rPr>
              <a:t>     Ex: mean, median, mode, and midrange.</a:t>
            </a:r>
          </a:p>
          <a:p>
            <a:pPr algn="just"/>
            <a:endParaRPr lang="en-US" sz="2200" dirty="0">
              <a:solidFill>
                <a:srgbClr val="FF0000"/>
              </a:solidFill>
              <a:latin typeface="Times New Roman" pitchFamily="18" charset="0"/>
              <a:cs typeface="Times New Roman" pitchFamily="18" charset="0"/>
            </a:endParaRPr>
          </a:p>
          <a:p>
            <a:pPr algn="just"/>
            <a:r>
              <a:rPr lang="en-US" sz="2200" dirty="0">
                <a:solidFill>
                  <a:srgbClr val="FF0000"/>
                </a:solidFill>
                <a:latin typeface="Times New Roman" pitchFamily="18" charset="0"/>
                <a:cs typeface="Times New Roman" pitchFamily="18" charset="0"/>
              </a:rPr>
              <a:t>	</a:t>
            </a:r>
            <a:r>
              <a:rPr lang="en-US" sz="2200" dirty="0">
                <a:highlight>
                  <a:srgbClr val="FFFF00"/>
                </a:highlight>
                <a:latin typeface="Times New Roman" pitchFamily="18" charset="0"/>
                <a:cs typeface="Times New Roman" pitchFamily="18" charset="0"/>
              </a:rPr>
              <a:t>ii) Dispersion of the data: </a:t>
            </a:r>
            <a:r>
              <a:rPr lang="en-US" sz="2200" dirty="0">
                <a:latin typeface="Times New Roman" pitchFamily="18" charset="0"/>
                <a:cs typeface="Times New Roman" pitchFamily="18" charset="0"/>
              </a:rPr>
              <a:t>That is, how are the data spread out. </a:t>
            </a:r>
          </a:p>
          <a:p>
            <a:pPr algn="just"/>
            <a:r>
              <a:rPr lang="en-US" sz="2200" dirty="0">
                <a:latin typeface="Times New Roman" pitchFamily="18" charset="0"/>
                <a:cs typeface="Times New Roman" pitchFamily="18" charset="0"/>
              </a:rPr>
              <a:t>	Ex:  range, quartiles, and interquartile range; the five-number summary and boxplots; and the variance and standard deviation of the data.</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a:highlight>
                  <a:srgbClr val="FFFF00"/>
                </a:highlight>
                <a:latin typeface="Times New Roman" pitchFamily="18" charset="0"/>
                <a:cs typeface="Times New Roman" pitchFamily="18" charset="0"/>
              </a:rPr>
              <a:t>iii) Graphic displays of </a:t>
            </a:r>
            <a:r>
              <a:rPr lang="en-US" sz="2200" dirty="0">
                <a:latin typeface="Times New Roman" pitchFamily="18" charset="0"/>
                <a:cs typeface="Times New Roman" pitchFamily="18" charset="0"/>
              </a:rPr>
              <a:t>basic statistical descriptions to visually inspect our data. Ex:</a:t>
            </a:r>
            <a:r>
              <a:rPr lang="en-IN" sz="2200" dirty="0">
                <a:latin typeface="Times New Roman" pitchFamily="18" charset="0"/>
                <a:cs typeface="Times New Roman" pitchFamily="18" charset="0"/>
              </a:rPr>
              <a:t> bar charts, pie charts, and line graphs. </a:t>
            </a:r>
          </a:p>
          <a:p>
            <a:pPr algn="just"/>
            <a:endParaRPr lang="en-IN" sz="2200" dirty="0">
              <a:latin typeface="Times New Roman" pitchFamily="18" charset="0"/>
              <a:cs typeface="Times New Roman" pitchFamily="18" charset="0"/>
            </a:endParaRPr>
          </a:p>
          <a:p>
            <a:pPr algn="just"/>
            <a:r>
              <a:rPr lang="en-IN" sz="2200" b="1" dirty="0">
                <a:latin typeface="Times New Roman" pitchFamily="18" charset="0"/>
                <a:cs typeface="Times New Roman" pitchFamily="18" charset="0"/>
              </a:rPr>
              <a:t>Note: </a:t>
            </a:r>
            <a:r>
              <a:rPr lang="en-IN" sz="2200" dirty="0">
                <a:latin typeface="Times New Roman" pitchFamily="18" charset="0"/>
                <a:cs typeface="Times New Roman" pitchFamily="18" charset="0"/>
              </a:rPr>
              <a:t>Other popular displays of data summaries and distributions include </a:t>
            </a:r>
            <a:r>
              <a:rPr lang="en-IN" sz="2200" dirty="0" err="1">
                <a:latin typeface="Times New Roman" pitchFamily="18" charset="0"/>
                <a:cs typeface="Times New Roman" pitchFamily="18" charset="0"/>
              </a:rPr>
              <a:t>quantile</a:t>
            </a:r>
            <a:r>
              <a:rPr lang="en-IN" sz="2200" dirty="0">
                <a:latin typeface="Times New Roman" pitchFamily="18" charset="0"/>
                <a:cs typeface="Times New Roman" pitchFamily="18" charset="0"/>
              </a:rPr>
              <a:t> plots, </a:t>
            </a:r>
            <a:r>
              <a:rPr lang="en-IN" sz="2200" dirty="0" err="1">
                <a:latin typeface="Times New Roman" pitchFamily="18" charset="0"/>
                <a:cs typeface="Times New Roman" pitchFamily="18" charset="0"/>
              </a:rPr>
              <a:t>quantile</a:t>
            </a:r>
            <a:r>
              <a:rPr lang="en-IN" sz="2200" dirty="0">
                <a:latin typeface="Times New Roman" pitchFamily="18" charset="0"/>
                <a:cs typeface="Times New Roman" pitchFamily="18" charset="0"/>
              </a:rPr>
              <a:t> – </a:t>
            </a:r>
            <a:r>
              <a:rPr lang="en-IN" sz="2200" dirty="0" err="1">
                <a:latin typeface="Times New Roman" pitchFamily="18" charset="0"/>
                <a:cs typeface="Times New Roman" pitchFamily="18" charset="0"/>
              </a:rPr>
              <a:t>quantile</a:t>
            </a:r>
            <a:r>
              <a:rPr lang="en-IN" sz="2200" dirty="0">
                <a:latin typeface="Times New Roman" pitchFamily="18" charset="0"/>
                <a:cs typeface="Times New Roman" pitchFamily="18" charset="0"/>
              </a:rPr>
              <a:t> plots, histograms, and scatter plots.</a:t>
            </a:r>
          </a:p>
        </p:txBody>
      </p:sp>
    </p:spTree>
    <p:extLst>
      <p:ext uri="{BB962C8B-B14F-4D97-AF65-F5344CB8AC3E}">
        <p14:creationId xmlns:p14="http://schemas.microsoft.com/office/powerpoint/2010/main" val="1788193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76200"/>
            <a:ext cx="8762999" cy="4339650"/>
          </a:xfrm>
          <a:prstGeom prst="rect">
            <a:avLst/>
          </a:prstGeom>
        </p:spPr>
        <p:txBody>
          <a:bodyPr wrap="square">
            <a:spAutoFit/>
          </a:bodyPr>
          <a:lstStyle/>
          <a:p>
            <a:pPr algn="ctr"/>
            <a:r>
              <a:rPr lang="en-IN" sz="2800" dirty="0">
                <a:solidFill>
                  <a:srgbClr val="FF0000"/>
                </a:solidFill>
                <a:latin typeface="Times New Roman" pitchFamily="18" charset="0"/>
                <a:cs typeface="Times New Roman" pitchFamily="18" charset="0"/>
              </a:rPr>
              <a:t>Measuring the Central Tendency: Mean, Median and Mode</a:t>
            </a:r>
          </a:p>
          <a:p>
            <a:pPr algn="just"/>
            <a:r>
              <a:rPr lang="en-IN" sz="2200" dirty="0">
                <a:latin typeface="Times New Roman" pitchFamily="18" charset="0"/>
                <a:cs typeface="Times New Roman" pitchFamily="18" charset="0"/>
              </a:rPr>
              <a:t>	Let x1, x2, ..,</a:t>
            </a:r>
            <a:r>
              <a:rPr lang="en-IN" sz="2200" dirty="0" err="1">
                <a:latin typeface="Times New Roman" pitchFamily="18" charset="0"/>
                <a:cs typeface="Times New Roman" pitchFamily="18" charset="0"/>
              </a:rPr>
              <a:t>xN</a:t>
            </a:r>
            <a:r>
              <a:rPr lang="en-IN" sz="2200" dirty="0">
                <a:latin typeface="Times New Roman" pitchFamily="18" charset="0"/>
                <a:cs typeface="Times New Roman" pitchFamily="18" charset="0"/>
              </a:rPr>
              <a:t> be the set of N observations for X. Here, these values may also be referred to as the data set (for X). If we were to plot the observations for salary, where would most of the values fall? This gives us an idea of the central tendency of the data.</a:t>
            </a:r>
          </a:p>
          <a:p>
            <a:pPr algn="just"/>
            <a:r>
              <a:rPr lang="en-US" sz="2400" b="1" dirty="0">
                <a:solidFill>
                  <a:srgbClr val="FF0000"/>
                </a:solidFill>
                <a:latin typeface="Times New Roman" pitchFamily="18" charset="0"/>
                <a:cs typeface="Times New Roman" pitchFamily="18" charset="0"/>
              </a:rPr>
              <a:t>Mean: </a:t>
            </a:r>
          </a:p>
          <a:p>
            <a:pPr algn="just"/>
            <a:endParaRPr lang="en-US" sz="2400" b="1" dirty="0">
              <a:solidFill>
                <a:srgbClr val="FF0000"/>
              </a:solidFill>
              <a:latin typeface="Times New Roman" pitchFamily="18" charset="0"/>
              <a:cs typeface="Times New Roman" pitchFamily="18" charset="0"/>
            </a:endParaRPr>
          </a:p>
          <a:p>
            <a:pPr algn="just"/>
            <a:endParaRPr lang="en-US" sz="2400" dirty="0">
              <a:solidFill>
                <a:srgbClr val="FF0000"/>
              </a:solidFill>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Suppose we have the following values for salary (in thousands of dollars), shown in increasing order: 30, 36, 47, 50, 52, 52, 56, 60, 63, 70,70, 110. Using above Eq. we have:</a:t>
            </a:r>
          </a:p>
          <a:p>
            <a:pPr algn="just"/>
            <a:endParaRPr lang="en-US" sz="2200" b="1" dirty="0">
              <a:solidFill>
                <a:srgbClr val="FF0000"/>
              </a:solidFill>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8488" y="1922859"/>
            <a:ext cx="4557712" cy="1048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9418" y="4191000"/>
            <a:ext cx="6650182" cy="2108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32153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28600"/>
            <a:ext cx="8534400" cy="4493538"/>
          </a:xfrm>
          <a:prstGeom prst="rect">
            <a:avLst/>
          </a:prstGeom>
        </p:spPr>
        <p:txBody>
          <a:bodyPr wrap="square">
            <a:spAutoFit/>
          </a:bodyPr>
          <a:lstStyle/>
          <a:p>
            <a:pPr algn="just"/>
            <a:r>
              <a:rPr lang="en-US" sz="2200" b="1" dirty="0">
                <a:latin typeface="Times New Roman" pitchFamily="18" charset="0"/>
                <a:cs typeface="Times New Roman" pitchFamily="18" charset="0"/>
              </a:rPr>
              <a:t>Median: </a:t>
            </a:r>
            <a:r>
              <a:rPr lang="en-US" sz="2200" dirty="0">
                <a:latin typeface="Times New Roman" pitchFamily="18" charset="0"/>
                <a:cs typeface="Times New Roman" pitchFamily="18" charset="0"/>
              </a:rPr>
              <a:t>which is the middle value in a set of ordered data values. It is the value that separates the higher half of a data set from the lower half.</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Ex: From the previous example, There is an even number of observations (i.e., 12); therefore, the median is not unique. It can be any value within the two middlemost values of 52 and 56. By convention, we assign the average of the two middlemost values as the median;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that is, (52+56)/2 = 108/2 = 54.</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Suppose that we had only the first 11 values in the list. Given an odd number of values, the median is the middlemost value. That is: 52</a:t>
            </a:r>
          </a:p>
          <a:p>
            <a:pPr algn="just"/>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204170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86800" cy="6217087"/>
          </a:xfrm>
          <a:prstGeom prst="rect">
            <a:avLst/>
          </a:prstGeom>
        </p:spPr>
        <p:txBody>
          <a:bodyPr wrap="square">
            <a:spAutoFit/>
          </a:bodyPr>
          <a:lstStyle/>
          <a:p>
            <a:pPr algn="just"/>
            <a:r>
              <a:rPr lang="en-US" sz="2200" dirty="0">
                <a:solidFill>
                  <a:srgbClr val="FF0000"/>
                </a:solidFill>
                <a:latin typeface="Times New Roman" pitchFamily="18" charset="0"/>
                <a:cs typeface="Times New Roman" pitchFamily="18" charset="0"/>
              </a:rPr>
              <a:t>Mode: </a:t>
            </a:r>
            <a:r>
              <a:rPr lang="en-US" sz="2200" dirty="0">
                <a:latin typeface="Times New Roman" pitchFamily="18" charset="0"/>
                <a:cs typeface="Times New Roman" pitchFamily="18" charset="0"/>
              </a:rPr>
              <a:t>The mode for a set of data is the </a:t>
            </a:r>
            <a:r>
              <a:rPr lang="en-US" sz="2200" dirty="0">
                <a:solidFill>
                  <a:srgbClr val="00B050"/>
                </a:solidFill>
                <a:latin typeface="Times New Roman" pitchFamily="18" charset="0"/>
                <a:cs typeface="Times New Roman" pitchFamily="18" charset="0"/>
              </a:rPr>
              <a:t>value that occurs most frequently in the set</a:t>
            </a:r>
            <a:r>
              <a:rPr lang="en-US" sz="2200" dirty="0">
                <a:latin typeface="Times New Roman" pitchFamily="18" charset="0"/>
                <a:cs typeface="Times New Roman" pitchFamily="18" charset="0"/>
              </a:rPr>
              <a:t>. </a:t>
            </a:r>
          </a:p>
          <a:p>
            <a:pPr algn="just"/>
            <a:r>
              <a:rPr lang="en-US" sz="2400" dirty="0"/>
              <a:t>	It </a:t>
            </a:r>
            <a:r>
              <a:rPr lang="en-US" sz="2200" dirty="0">
                <a:latin typeface="Times New Roman" pitchFamily="18" charset="0"/>
                <a:cs typeface="Times New Roman" pitchFamily="18" charset="0"/>
              </a:rPr>
              <a:t>is </a:t>
            </a:r>
            <a:r>
              <a:rPr lang="en-US" sz="2200" dirty="0">
                <a:solidFill>
                  <a:srgbClr val="00B050"/>
                </a:solidFill>
                <a:latin typeface="Times New Roman" pitchFamily="18" charset="0"/>
                <a:cs typeface="Times New Roman" pitchFamily="18" charset="0"/>
              </a:rPr>
              <a:t>used to identify the most frequently occurring value in a dataset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Data sets with one, two, or three modes are respectively called </a:t>
            </a:r>
            <a:r>
              <a:rPr lang="en-US" sz="2200" dirty="0" err="1">
                <a:latin typeface="Times New Roman" pitchFamily="18" charset="0"/>
                <a:cs typeface="Times New Roman" pitchFamily="18" charset="0"/>
              </a:rPr>
              <a:t>unimodal</a:t>
            </a:r>
            <a:r>
              <a:rPr lang="en-US" sz="2200" dirty="0">
                <a:latin typeface="Times New Roman" pitchFamily="18" charset="0"/>
                <a:cs typeface="Times New Roman" pitchFamily="18" charset="0"/>
              </a:rPr>
              <a:t>, bimodal, and </a:t>
            </a:r>
            <a:r>
              <a:rPr lang="en-US" sz="2200" dirty="0" err="1">
                <a:latin typeface="Times New Roman" pitchFamily="18" charset="0"/>
                <a:cs typeface="Times New Roman" pitchFamily="18" charset="0"/>
              </a:rPr>
              <a:t>trimodal</a:t>
            </a:r>
            <a:r>
              <a:rPr lang="en-US" sz="2200" dirty="0">
                <a:latin typeface="Times New Roman" pitchFamily="18" charset="0"/>
                <a:cs typeface="Times New Roman" pitchFamily="18" charset="0"/>
              </a:rPr>
              <a:t>. </a:t>
            </a:r>
          </a:p>
          <a:p>
            <a:pPr algn="just"/>
            <a:endParaRPr lang="en-US" sz="2200" dirty="0">
              <a:latin typeface="Times New Roman" pitchFamily="18" charset="0"/>
              <a:cs typeface="Times New Roman" pitchFamily="18" charset="0"/>
            </a:endParaRPr>
          </a:p>
          <a:p>
            <a:pPr algn="just"/>
            <a:r>
              <a:rPr lang="en-US" sz="2200" b="1" dirty="0">
                <a:latin typeface="Times New Roman" pitchFamily="18" charset="0"/>
                <a:cs typeface="Times New Roman" pitchFamily="18" charset="0"/>
              </a:rPr>
              <a:t>Ex: </a:t>
            </a:r>
            <a:r>
              <a:rPr lang="en-US" sz="2200" dirty="0">
                <a:latin typeface="Times New Roman" pitchFamily="18" charset="0"/>
                <a:cs typeface="Times New Roman" pitchFamily="18" charset="0"/>
              </a:rPr>
              <a:t>The data from previous Example are bimodal. The two modes are 52 and 70.</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Note: i) A data set with two or more modes is multimodal. </a:t>
            </a:r>
          </a:p>
          <a:p>
            <a:pPr algn="just"/>
            <a:r>
              <a:rPr lang="en-US" sz="2200" dirty="0">
                <a:latin typeface="Times New Roman" pitchFamily="18" charset="0"/>
                <a:cs typeface="Times New Roman" pitchFamily="18" charset="0"/>
              </a:rPr>
              <a:t>ii) For </a:t>
            </a:r>
            <a:r>
              <a:rPr lang="en-US" sz="2200" dirty="0" err="1">
                <a:latin typeface="Times New Roman" pitchFamily="18" charset="0"/>
                <a:cs typeface="Times New Roman" pitchFamily="18" charset="0"/>
              </a:rPr>
              <a:t>unimodal</a:t>
            </a:r>
            <a:r>
              <a:rPr lang="en-US" sz="2200" dirty="0">
                <a:latin typeface="Times New Roman" pitchFamily="18" charset="0"/>
                <a:cs typeface="Times New Roman" pitchFamily="18" charset="0"/>
              </a:rPr>
              <a:t> numeric data that are moderately skewed (asymmetrical).</a:t>
            </a:r>
          </a:p>
          <a:p>
            <a:pPr algn="just"/>
            <a:r>
              <a:rPr lang="en-US" sz="2200" dirty="0">
                <a:latin typeface="Times New Roman" pitchFamily="18" charset="0"/>
                <a:cs typeface="Times New Roman" pitchFamily="18" charset="0"/>
              </a:rPr>
              <a:t>iii) The midrange can also be used to assess the central tendency of a numeric data set. It is the average of the largest and smallest values in the set.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Ex: The midrange of the data of previous Example is: (30 +110)= 70</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207182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86800" cy="2462213"/>
          </a:xfrm>
          <a:prstGeom prst="rect">
            <a:avLst/>
          </a:prstGeom>
        </p:spPr>
        <p:txBody>
          <a:bodyPr wrap="square">
            <a:spAutoFit/>
          </a:bodyPr>
          <a:lstStyle/>
          <a:p>
            <a:pPr algn="just"/>
            <a:r>
              <a:rPr lang="en-US" sz="2200" dirty="0">
                <a:latin typeface="Times New Roman" pitchFamily="18" charset="0"/>
                <a:cs typeface="Times New Roman" pitchFamily="18" charset="0"/>
              </a:rPr>
              <a:t>	In a </a:t>
            </a:r>
            <a:r>
              <a:rPr lang="en-US" sz="2200" dirty="0" err="1">
                <a:latin typeface="Times New Roman" pitchFamily="18" charset="0"/>
                <a:cs typeface="Times New Roman" pitchFamily="18" charset="0"/>
              </a:rPr>
              <a:t>unimodal</a:t>
            </a:r>
            <a:r>
              <a:rPr lang="en-US" sz="2200" dirty="0">
                <a:latin typeface="Times New Roman" pitchFamily="18" charset="0"/>
                <a:cs typeface="Times New Roman" pitchFamily="18" charset="0"/>
              </a:rPr>
              <a:t> frequency curve with perfect symmetric data distribution, the mean, median, and mode are all at the same center value, as shown in Figure 2.1(a). </a:t>
            </a:r>
          </a:p>
          <a:p>
            <a:pPr algn="just"/>
            <a:r>
              <a:rPr lang="en-US" sz="2200" dirty="0">
                <a:latin typeface="Times New Roman" pitchFamily="18" charset="0"/>
                <a:cs typeface="Times New Roman" pitchFamily="18" charset="0"/>
              </a:rPr>
              <a:t>	Data in most real applications are not symmetric. They may instead be either positively skewed, where the mode occurs at a value that is smaller than the median (Figure 2.1b), or negatively skewed, where the mode occurs at a value greater than the median (Figure 2.1c).</a:t>
            </a:r>
            <a:endParaRPr lang="en-IN" sz="2200"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743200"/>
            <a:ext cx="8686800" cy="3838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729132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274007-83B0-830B-A868-8DC291BC5A02}"/>
              </a:ext>
            </a:extLst>
          </p:cNvPr>
          <p:cNvPicPr>
            <a:picLocks noChangeAspect="1"/>
          </p:cNvPicPr>
          <p:nvPr/>
        </p:nvPicPr>
        <p:blipFill>
          <a:blip r:embed="rId2"/>
          <a:stretch>
            <a:fillRect/>
          </a:stretch>
        </p:blipFill>
        <p:spPr>
          <a:xfrm>
            <a:off x="6238875" y="2507456"/>
            <a:ext cx="2905125" cy="1843087"/>
          </a:xfrm>
          <a:prstGeom prst="rect">
            <a:avLst/>
          </a:prstGeom>
        </p:spPr>
      </p:pic>
      <p:sp>
        <p:nvSpPr>
          <p:cNvPr id="5" name="TextBox 4">
            <a:extLst>
              <a:ext uri="{FF2B5EF4-FFF2-40B4-BE49-F238E27FC236}">
                <a16:creationId xmlns:a16="http://schemas.microsoft.com/office/drawing/2014/main" id="{D0A47293-FA92-4ECE-BE22-E1469CC1A069}"/>
              </a:ext>
            </a:extLst>
          </p:cNvPr>
          <p:cNvSpPr txBox="1"/>
          <p:nvPr/>
        </p:nvSpPr>
        <p:spPr>
          <a:xfrm>
            <a:off x="1143000" y="838200"/>
            <a:ext cx="5334000" cy="646331"/>
          </a:xfrm>
          <a:prstGeom prst="rect">
            <a:avLst/>
          </a:prstGeom>
          <a:noFill/>
        </p:spPr>
        <p:txBody>
          <a:bodyPr wrap="square">
            <a:spAutoFit/>
          </a:bodyPr>
          <a:lstStyle/>
          <a:p>
            <a:r>
              <a:rPr lang="en-IN" dirty="0"/>
              <a:t>(a) Symmetric Distribution (Normal Distribution)-</a:t>
            </a:r>
            <a:r>
              <a:rPr lang="en-IN" dirty="0" err="1"/>
              <a:t>Mean,median</a:t>
            </a:r>
            <a:r>
              <a:rPr lang="en-IN" dirty="0"/>
              <a:t> and mode are  equal</a:t>
            </a:r>
          </a:p>
        </p:txBody>
      </p:sp>
      <p:sp>
        <p:nvSpPr>
          <p:cNvPr id="7" name="TextBox 6">
            <a:extLst>
              <a:ext uri="{FF2B5EF4-FFF2-40B4-BE49-F238E27FC236}">
                <a16:creationId xmlns:a16="http://schemas.microsoft.com/office/drawing/2014/main" id="{63450359-AD41-9184-8690-E76602895637}"/>
              </a:ext>
            </a:extLst>
          </p:cNvPr>
          <p:cNvSpPr txBox="1"/>
          <p:nvPr/>
        </p:nvSpPr>
        <p:spPr>
          <a:xfrm>
            <a:off x="914400" y="3105835"/>
            <a:ext cx="5943600" cy="369332"/>
          </a:xfrm>
          <a:prstGeom prst="rect">
            <a:avLst/>
          </a:prstGeom>
          <a:noFill/>
        </p:spPr>
        <p:txBody>
          <a:bodyPr wrap="square">
            <a:spAutoFit/>
          </a:bodyPr>
          <a:lstStyle/>
          <a:p>
            <a:r>
              <a:rPr lang="en-IN" dirty="0"/>
              <a:t>(b) Positively Skewed Distribution (Right-Skewed)</a:t>
            </a:r>
          </a:p>
        </p:txBody>
      </p:sp>
      <p:sp>
        <p:nvSpPr>
          <p:cNvPr id="9" name="TextBox 8">
            <a:extLst>
              <a:ext uri="{FF2B5EF4-FFF2-40B4-BE49-F238E27FC236}">
                <a16:creationId xmlns:a16="http://schemas.microsoft.com/office/drawing/2014/main" id="{E11E933A-B613-4320-3026-B6F1DB5A6175}"/>
              </a:ext>
            </a:extLst>
          </p:cNvPr>
          <p:cNvSpPr txBox="1"/>
          <p:nvPr/>
        </p:nvSpPr>
        <p:spPr>
          <a:xfrm>
            <a:off x="934065" y="5096471"/>
            <a:ext cx="4572000" cy="646331"/>
          </a:xfrm>
          <a:prstGeom prst="rect">
            <a:avLst/>
          </a:prstGeom>
          <a:noFill/>
        </p:spPr>
        <p:txBody>
          <a:bodyPr wrap="square">
            <a:spAutoFit/>
          </a:bodyPr>
          <a:lstStyle/>
          <a:p>
            <a:r>
              <a:rPr lang="en-IN" dirty="0"/>
              <a:t>(c) Negatively Skewed Distribution (Left-Skewed)</a:t>
            </a:r>
          </a:p>
        </p:txBody>
      </p:sp>
      <p:pic>
        <p:nvPicPr>
          <p:cNvPr id="11" name="Picture 10">
            <a:extLst>
              <a:ext uri="{FF2B5EF4-FFF2-40B4-BE49-F238E27FC236}">
                <a16:creationId xmlns:a16="http://schemas.microsoft.com/office/drawing/2014/main" id="{42C205A0-0C91-A480-0EEC-1E1E53F003C9}"/>
              </a:ext>
            </a:extLst>
          </p:cNvPr>
          <p:cNvPicPr>
            <a:picLocks noChangeAspect="1"/>
          </p:cNvPicPr>
          <p:nvPr/>
        </p:nvPicPr>
        <p:blipFill>
          <a:blip r:embed="rId3"/>
          <a:stretch>
            <a:fillRect/>
          </a:stretch>
        </p:blipFill>
        <p:spPr>
          <a:xfrm>
            <a:off x="5667375" y="5144868"/>
            <a:ext cx="2381250" cy="457200"/>
          </a:xfrm>
          <a:prstGeom prst="rect">
            <a:avLst/>
          </a:prstGeom>
        </p:spPr>
      </p:pic>
    </p:spTree>
    <p:extLst>
      <p:ext uri="{BB962C8B-B14F-4D97-AF65-F5344CB8AC3E}">
        <p14:creationId xmlns:p14="http://schemas.microsoft.com/office/powerpoint/2010/main" val="3426141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589A81-910D-72B1-7939-8C253A5CFFDF}"/>
              </a:ext>
            </a:extLst>
          </p:cNvPr>
          <p:cNvPicPr>
            <a:picLocks noChangeAspect="1"/>
          </p:cNvPicPr>
          <p:nvPr/>
        </p:nvPicPr>
        <p:blipFill>
          <a:blip r:embed="rId2"/>
          <a:stretch>
            <a:fillRect/>
          </a:stretch>
        </p:blipFill>
        <p:spPr>
          <a:xfrm>
            <a:off x="0" y="2171330"/>
            <a:ext cx="9144000" cy="2515340"/>
          </a:xfrm>
          <a:prstGeom prst="rect">
            <a:avLst/>
          </a:prstGeom>
        </p:spPr>
      </p:pic>
    </p:spTree>
    <p:extLst>
      <p:ext uri="{BB962C8B-B14F-4D97-AF65-F5344CB8AC3E}">
        <p14:creationId xmlns:p14="http://schemas.microsoft.com/office/powerpoint/2010/main" val="13555219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763000" cy="6401753"/>
          </a:xfrm>
          <a:prstGeom prst="rect">
            <a:avLst/>
          </a:prstGeom>
        </p:spPr>
        <p:txBody>
          <a:bodyPr wrap="square">
            <a:spAutoFit/>
          </a:bodyPr>
          <a:lstStyle/>
          <a:p>
            <a:pPr algn="just"/>
            <a:r>
              <a:rPr lang="en-US" sz="2400" dirty="0">
                <a:solidFill>
                  <a:srgbClr val="FF0000"/>
                </a:solidFill>
                <a:latin typeface="Times New Roman" pitchFamily="18" charset="0"/>
                <a:cs typeface="Times New Roman" pitchFamily="18" charset="0"/>
              </a:rPr>
              <a:t>Measuring the Dispersion of Data: Range, Quartiles, Variance, Standard Deviation, and Interquartile Range</a:t>
            </a:r>
          </a:p>
          <a:p>
            <a:pPr algn="just"/>
            <a:endParaRPr lang="en-US" sz="2400" dirty="0">
              <a:solidFill>
                <a:srgbClr val="FF0000"/>
              </a:solidFill>
              <a:latin typeface="Times New Roman" pitchFamily="18" charset="0"/>
              <a:cs typeface="Times New Roman" pitchFamily="18" charset="0"/>
            </a:endParaRPr>
          </a:p>
          <a:p>
            <a:pPr algn="just"/>
            <a:r>
              <a:rPr lang="en-US" sz="2400" dirty="0"/>
              <a:t>	</a:t>
            </a:r>
            <a:r>
              <a:rPr lang="en-US" sz="2200" dirty="0">
                <a:latin typeface="Times New Roman" pitchFamily="18" charset="0"/>
                <a:cs typeface="Times New Roman" pitchFamily="18" charset="0"/>
              </a:rPr>
              <a:t>Various measures to assess the dispersion or spread of numeric data are: range, </a:t>
            </a:r>
            <a:r>
              <a:rPr lang="en-US" sz="2200" dirty="0" err="1">
                <a:latin typeface="Times New Roman" pitchFamily="18" charset="0"/>
                <a:cs typeface="Times New Roman" pitchFamily="18" charset="0"/>
              </a:rPr>
              <a:t>quantiles</a:t>
            </a:r>
            <a:r>
              <a:rPr lang="en-US" sz="2200" dirty="0">
                <a:latin typeface="Times New Roman" pitchFamily="18" charset="0"/>
                <a:cs typeface="Times New Roman" pitchFamily="18" charset="0"/>
              </a:rPr>
              <a:t>, quartiles, percentiles, and the interquartile range. </a:t>
            </a:r>
          </a:p>
          <a:p>
            <a:pPr algn="just"/>
            <a:r>
              <a:rPr lang="en-US" sz="2200" dirty="0">
                <a:latin typeface="Times New Roman" pitchFamily="18" charset="0"/>
                <a:cs typeface="Times New Roman" pitchFamily="18" charset="0"/>
              </a:rPr>
              <a:t>The five-number summary, which can be displayed as a boxplot, is useful in identifying outliers. Variance and standard deviation also indicate the spread of a data distribution.</a:t>
            </a:r>
          </a:p>
          <a:p>
            <a:pPr algn="just"/>
            <a:r>
              <a:rPr lang="en-US" sz="2200" dirty="0">
                <a:latin typeface="Times New Roman" pitchFamily="18" charset="0"/>
                <a:cs typeface="Times New Roman" pitchFamily="18" charset="0"/>
              </a:rPr>
              <a:t>	Let x1,x2, ,</a:t>
            </a:r>
            <a:r>
              <a:rPr lang="en-US" sz="2200" dirty="0" err="1">
                <a:latin typeface="Times New Roman" pitchFamily="18" charset="0"/>
                <a:cs typeface="Times New Roman" pitchFamily="18" charset="0"/>
              </a:rPr>
              <a:t>xN</a:t>
            </a:r>
            <a:r>
              <a:rPr lang="en-US" sz="2200" dirty="0">
                <a:latin typeface="Times New Roman" pitchFamily="18" charset="0"/>
                <a:cs typeface="Times New Roman" pitchFamily="18" charset="0"/>
              </a:rPr>
              <a:t> be a set of observations for some numeric attribute, X. The </a:t>
            </a:r>
            <a:r>
              <a:rPr lang="en-US" sz="2200" dirty="0">
                <a:solidFill>
                  <a:srgbClr val="00B050"/>
                </a:solidFill>
                <a:latin typeface="Times New Roman" pitchFamily="18" charset="0"/>
                <a:cs typeface="Times New Roman" pitchFamily="18" charset="0"/>
              </a:rPr>
              <a:t>range of the set is the difference between the largest (max()) and          </a:t>
            </a:r>
          </a:p>
          <a:p>
            <a:pPr algn="just"/>
            <a:r>
              <a:rPr lang="en-US" sz="2200" dirty="0">
                <a:solidFill>
                  <a:srgbClr val="00B050"/>
                </a:solidFill>
                <a:latin typeface="Times New Roman" pitchFamily="18" charset="0"/>
                <a:cs typeface="Times New Roman" pitchFamily="18" charset="0"/>
              </a:rPr>
              <a:t>smallest (min()) values.</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       These data points are </a:t>
            </a:r>
          </a:p>
          <a:p>
            <a:pPr algn="just"/>
            <a:r>
              <a:rPr lang="en-US" sz="2000" dirty="0">
                <a:latin typeface="Times New Roman" pitchFamily="18" charset="0"/>
                <a:cs typeface="Times New Roman" pitchFamily="18" charset="0"/>
              </a:rPr>
              <a:t>called </a:t>
            </a:r>
            <a:r>
              <a:rPr lang="en-US" sz="2000" dirty="0" err="1">
                <a:latin typeface="Times New Roman" pitchFamily="18" charset="0"/>
                <a:cs typeface="Times New Roman" pitchFamily="18" charset="0"/>
              </a:rPr>
              <a:t>quantiles</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Quantiles</a:t>
            </a:r>
            <a:r>
              <a:rPr lang="en-US" sz="2000" dirty="0">
                <a:latin typeface="Times New Roman" pitchFamily="18" charset="0"/>
                <a:cs typeface="Times New Roman" pitchFamily="18" charset="0"/>
              </a:rPr>
              <a:t> </a:t>
            </a:r>
          </a:p>
          <a:p>
            <a:pPr algn="just"/>
            <a:r>
              <a:rPr lang="en-US" sz="2000" dirty="0">
                <a:latin typeface="Times New Roman" pitchFamily="18" charset="0"/>
                <a:cs typeface="Times New Roman" pitchFamily="18" charset="0"/>
              </a:rPr>
              <a:t>are points taken at regular </a:t>
            </a:r>
          </a:p>
          <a:p>
            <a:pPr algn="just"/>
            <a:r>
              <a:rPr lang="en-US" sz="2000" dirty="0">
                <a:latin typeface="Times New Roman" pitchFamily="18" charset="0"/>
                <a:cs typeface="Times New Roman" pitchFamily="18" charset="0"/>
              </a:rPr>
              <a:t>intervals of a data </a:t>
            </a:r>
          </a:p>
          <a:p>
            <a:pPr algn="just"/>
            <a:r>
              <a:rPr lang="en-US" sz="2000" dirty="0">
                <a:latin typeface="Times New Roman" pitchFamily="18" charset="0"/>
                <a:cs typeface="Times New Roman" pitchFamily="18" charset="0"/>
              </a:rPr>
              <a:t>distribution, dividing it </a:t>
            </a:r>
          </a:p>
          <a:p>
            <a:pPr algn="just"/>
            <a:r>
              <a:rPr lang="en-US" sz="2000" dirty="0">
                <a:latin typeface="Times New Roman" pitchFamily="18" charset="0"/>
                <a:cs typeface="Times New Roman" pitchFamily="18" charset="0"/>
              </a:rPr>
              <a:t>into equal size consecutive </a:t>
            </a:r>
          </a:p>
          <a:p>
            <a:pPr algn="just"/>
            <a:r>
              <a:rPr lang="en-US" sz="2000" dirty="0">
                <a:latin typeface="Times New Roman" pitchFamily="18" charset="0"/>
                <a:cs typeface="Times New Roman" pitchFamily="18" charset="0"/>
              </a:rPr>
              <a:t>sets.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3886200"/>
            <a:ext cx="5715000" cy="263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11655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6278642"/>
          </a:xfrm>
          <a:prstGeom prst="rect">
            <a:avLst/>
          </a:prstGeom>
        </p:spPr>
        <p:txBody>
          <a:bodyPr wrap="square">
            <a:spAutoFit/>
          </a:bodyPr>
          <a:lstStyle/>
          <a:p>
            <a:pPr algn="ctr"/>
            <a:r>
              <a:rPr lang="en-US" sz="2800" dirty="0">
                <a:solidFill>
                  <a:srgbClr val="FF0000"/>
                </a:solidFill>
                <a:latin typeface="Times New Roman" pitchFamily="18" charset="0"/>
                <a:cs typeface="Times New Roman" pitchFamily="18" charset="0"/>
              </a:rPr>
              <a:t>Five-Number Summary, Boxplots, and Outliers</a:t>
            </a:r>
          </a:p>
          <a:p>
            <a:pPr algn="just"/>
            <a:r>
              <a:rPr lang="en-US" sz="2200" dirty="0">
                <a:latin typeface="Times New Roman" pitchFamily="18" charset="0"/>
                <a:cs typeface="Times New Roman" pitchFamily="18" charset="0"/>
              </a:rPr>
              <a:t>	The five-number summary of a distribution consists of the median (Q2), the quartiles Q1 and Q3, and the smallest and largest individual observations, written in the order of: </a:t>
            </a:r>
          </a:p>
          <a:p>
            <a:pPr algn="just"/>
            <a:r>
              <a:rPr lang="en-US" sz="2200" dirty="0">
                <a:latin typeface="Times New Roman" pitchFamily="18" charset="0"/>
                <a:cs typeface="Times New Roman" pitchFamily="18" charset="0"/>
              </a:rPr>
              <a:t>                      </a:t>
            </a:r>
            <a:r>
              <a:rPr lang="en-US" sz="2200" dirty="0">
                <a:solidFill>
                  <a:srgbClr val="00B050"/>
                </a:solidFill>
                <a:latin typeface="Times New Roman" pitchFamily="18" charset="0"/>
                <a:cs typeface="Times New Roman" pitchFamily="18" charset="0"/>
              </a:rPr>
              <a:t>Minimum, Q1, Median, Q3, Maximum. </a:t>
            </a:r>
          </a:p>
          <a:p>
            <a:pPr algn="just"/>
            <a:r>
              <a:rPr lang="en-US" sz="2200" dirty="0">
                <a:latin typeface="Times New Roman" pitchFamily="18" charset="0"/>
                <a:cs typeface="Times New Roman" pitchFamily="18" charset="0"/>
              </a:rPr>
              <a:t>	</a:t>
            </a:r>
          </a:p>
          <a:p>
            <a:pPr algn="just"/>
            <a:r>
              <a:rPr lang="en-US" sz="2200" dirty="0">
                <a:latin typeface="Times New Roman" pitchFamily="18" charset="0"/>
                <a:cs typeface="Times New Roman" pitchFamily="18" charset="0"/>
              </a:rPr>
              <a:t>	Boxplots are a popular way of visualizing a distribution. It incorporates the five-number summary as follows: </a:t>
            </a:r>
          </a:p>
          <a:p>
            <a:pPr algn="just"/>
            <a:endParaRPr lang="en-US" sz="2200" dirty="0">
              <a:latin typeface="Times New Roman" pitchFamily="18" charset="0"/>
              <a:cs typeface="Times New Roman" pitchFamily="18" charset="0"/>
            </a:endParaRPr>
          </a:p>
          <a:p>
            <a:pPr marL="342900" indent="-342900" algn="just">
              <a:buFont typeface="Wingdings" pitchFamily="2" charset="2"/>
              <a:buChar char="§"/>
            </a:pPr>
            <a:r>
              <a:rPr lang="en-US" sz="2200" dirty="0">
                <a:latin typeface="Times New Roman" pitchFamily="18" charset="0"/>
                <a:cs typeface="Times New Roman" pitchFamily="18" charset="0"/>
              </a:rPr>
              <a:t>The ends of the box are at the quartiles so that the box length is the interquartile range (IQR). </a:t>
            </a:r>
          </a:p>
          <a:p>
            <a:pPr marL="342900" indent="-342900" algn="just">
              <a:buFont typeface="Wingdings" pitchFamily="2" charset="2"/>
              <a:buChar char="§"/>
            </a:pPr>
            <a:r>
              <a:rPr lang="en-US" sz="2200" dirty="0">
                <a:latin typeface="Times New Roman" pitchFamily="18" charset="0"/>
                <a:cs typeface="Times New Roman" pitchFamily="18" charset="0"/>
              </a:rPr>
              <a:t>The median is marked by a line within the box. </a:t>
            </a:r>
          </a:p>
          <a:p>
            <a:pPr marL="342900" indent="-342900" algn="just">
              <a:buFont typeface="Wingdings" pitchFamily="2" charset="2"/>
              <a:buChar char="§"/>
            </a:pPr>
            <a:r>
              <a:rPr lang="en-US" sz="2200" dirty="0">
                <a:latin typeface="Times New Roman" pitchFamily="18" charset="0"/>
                <a:cs typeface="Times New Roman" pitchFamily="18" charset="0"/>
              </a:rPr>
              <a:t>Two lines (called whiskers) outside the box extend to the smallest (Minimum) and largest (Maximum) observations.</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 common rule for identifying suspected outliers is to single out values falling at least 1.5xIQR above the third quartile or below the first quartile.</a:t>
            </a:r>
            <a:endParaRPr lang="en-IN" sz="22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970519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8600"/>
            <a:ext cx="8686800"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37967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2401"/>
            <a:ext cx="8610599" cy="3733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657600"/>
            <a:ext cx="8610599"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2124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2400"/>
            <a:ext cx="872617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276600"/>
            <a:ext cx="8726169"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187438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86CCB835-46A7-9009-DF73-8C2F17165AEF}"/>
                  </a:ext>
                </a:extLst>
              </p:cNvPr>
              <p:cNvSpPr txBox="1"/>
              <p:nvPr/>
            </p:nvSpPr>
            <p:spPr>
              <a:xfrm>
                <a:off x="838200" y="1859340"/>
                <a:ext cx="7086600" cy="3139321"/>
              </a:xfrm>
              <a:prstGeom prst="rect">
                <a:avLst/>
              </a:prstGeom>
              <a:noFill/>
            </p:spPr>
            <p:txBody>
              <a:bodyPr wrap="square">
                <a:spAutoFit/>
              </a:bodyPr>
              <a:lstStyle/>
              <a:p>
                <a:pPr>
                  <a:buNone/>
                </a:pPr>
                <a:r>
                  <a:rPr lang="en-IN" b="1" dirty="0"/>
                  <a:t>Detecting the Outlier</a:t>
                </a:r>
              </a:p>
              <a:p>
                <a:pPr>
                  <a:buNone/>
                </a:pPr>
                <a:r>
                  <a:rPr lang="en-IN" dirty="0"/>
                  <a:t>Using the IQR rule:</a:t>
                </a:r>
              </a:p>
              <a:p>
                <a:pPr>
                  <a:buNone/>
                </a:pPr>
                <a:r>
                  <a:rPr lang="en-IN" b="1" dirty="0"/>
                  <a:t>Lower Bound</a:t>
                </a:r>
              </a:p>
              <a:p>
                <a:pPr>
                  <a:buNone/>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𝑄</m:t>
                          </m:r>
                        </m:e>
                        <m:sub>
                          <m:r>
                            <a:rPr lang="en-IN" i="0">
                              <a:latin typeface="Cambria Math" panose="02040503050406030204" pitchFamily="18" charset="0"/>
                            </a:rPr>
                            <m:t>1</m:t>
                          </m:r>
                        </m:sub>
                      </m:sSub>
                      <m:r>
                        <a:rPr lang="en-IN" i="0">
                          <a:latin typeface="Cambria Math" panose="02040503050406030204" pitchFamily="18" charset="0"/>
                        </a:rPr>
                        <m:t>−1.5×</m:t>
                      </m:r>
                      <m:r>
                        <a:rPr lang="en-IN" i="1">
                          <a:latin typeface="Cambria Math" panose="02040503050406030204" pitchFamily="18" charset="0"/>
                        </a:rPr>
                        <m:t>𝐼𝑄𝑅</m:t>
                      </m:r>
                      <m:r>
                        <a:rPr lang="en-IN" i="0">
                          <a:latin typeface="Cambria Math" panose="02040503050406030204" pitchFamily="18" charset="0"/>
                        </a:rPr>
                        <m:t>=50−1.5</m:t>
                      </m:r>
                      <m:d>
                        <m:dPr>
                          <m:ctrlPr>
                            <a:rPr lang="en-IN" i="1">
                              <a:latin typeface="Cambria Math" panose="02040503050406030204" pitchFamily="18" charset="0"/>
                            </a:rPr>
                          </m:ctrlPr>
                        </m:dPr>
                        <m:e>
                          <m:r>
                            <a:rPr lang="en-IN" i="0">
                              <a:latin typeface="Cambria Math" panose="02040503050406030204" pitchFamily="18" charset="0"/>
                            </a:rPr>
                            <m:t>15</m:t>
                          </m:r>
                        </m:e>
                      </m:d>
                      <m:r>
                        <a:rPr lang="en-IN" i="0">
                          <a:latin typeface="Cambria Math" panose="02040503050406030204" pitchFamily="18" charset="0"/>
                        </a:rPr>
                        <m:t>=27.5</m:t>
                      </m:r>
                    </m:oMath>
                  </m:oMathPara>
                </a14:m>
                <a:endParaRPr lang="en-IN" dirty="0"/>
              </a:p>
              <a:p>
                <a:pPr>
                  <a:buNone/>
                </a:pPr>
                <a:r>
                  <a:rPr lang="en-IN" b="1" dirty="0"/>
                  <a:t>Upper Bound</a:t>
                </a:r>
              </a:p>
              <a:p>
                <a:pPr>
                  <a:buNone/>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𝑄</m:t>
                          </m:r>
                        </m:e>
                        <m:sub>
                          <m:r>
                            <a:rPr lang="en-IN" i="0">
                              <a:latin typeface="Cambria Math" panose="02040503050406030204" pitchFamily="18" charset="0"/>
                            </a:rPr>
                            <m:t>3</m:t>
                          </m:r>
                        </m:sub>
                      </m:sSub>
                      <m:r>
                        <a:rPr lang="en-IN" i="0">
                          <a:latin typeface="Cambria Math" panose="02040503050406030204" pitchFamily="18" charset="0"/>
                        </a:rPr>
                        <m:t>+1.5×</m:t>
                      </m:r>
                      <m:r>
                        <a:rPr lang="en-IN" i="1">
                          <a:latin typeface="Cambria Math" panose="02040503050406030204" pitchFamily="18" charset="0"/>
                        </a:rPr>
                        <m:t>𝐼𝑄𝑅</m:t>
                      </m:r>
                      <m:r>
                        <a:rPr lang="en-IN" i="0">
                          <a:latin typeface="Cambria Math" panose="02040503050406030204" pitchFamily="18" charset="0"/>
                        </a:rPr>
                        <m:t>=65+1.5</m:t>
                      </m:r>
                      <m:d>
                        <m:dPr>
                          <m:ctrlPr>
                            <a:rPr lang="en-IN" i="1">
                              <a:latin typeface="Cambria Math" panose="02040503050406030204" pitchFamily="18" charset="0"/>
                            </a:rPr>
                          </m:ctrlPr>
                        </m:dPr>
                        <m:e>
                          <m:r>
                            <a:rPr lang="en-IN" i="0">
                              <a:latin typeface="Cambria Math" panose="02040503050406030204" pitchFamily="18" charset="0"/>
                            </a:rPr>
                            <m:t>15</m:t>
                          </m:r>
                        </m:e>
                      </m:d>
                      <m:r>
                        <a:rPr lang="en-IN" i="0">
                          <a:latin typeface="Cambria Math" panose="02040503050406030204" pitchFamily="18" charset="0"/>
                        </a:rPr>
                        <m:t>=87.5</m:t>
                      </m:r>
                    </m:oMath>
                  </m:oMathPara>
                </a14:m>
                <a:endParaRPr lang="en-IN" dirty="0"/>
              </a:p>
              <a:p>
                <a:pPr>
                  <a:buNone/>
                </a:pPr>
                <a:r>
                  <a:rPr lang="en-IN" dirty="0"/>
                  <a:t>Any value:</a:t>
                </a:r>
              </a:p>
              <a:p>
                <a:pPr marL="342900" lvl="0" indent="-342900">
                  <a:buFont typeface="Arial" panose="020B0604020202020204" pitchFamily="34" charset="0"/>
                  <a:buChar char="•"/>
                </a:pPr>
                <a:r>
                  <a:rPr lang="en-IN" dirty="0"/>
                  <a:t>Less than </a:t>
                </a:r>
                <a:r>
                  <a:rPr lang="en-IN" b="1" dirty="0"/>
                  <a:t>27.5</a:t>
                </a:r>
                <a:r>
                  <a:rPr lang="en-IN" dirty="0"/>
                  <a:t>, or </a:t>
                </a:r>
              </a:p>
              <a:p>
                <a:pPr marL="342900" lvl="0" indent="-342900">
                  <a:buFont typeface="Arial" panose="020B0604020202020204" pitchFamily="34" charset="0"/>
                  <a:buChar char="•"/>
                </a:pPr>
                <a:r>
                  <a:rPr lang="en-IN" dirty="0"/>
                  <a:t>Greater than </a:t>
                </a:r>
                <a:r>
                  <a:rPr lang="en-IN" b="1" dirty="0"/>
                  <a:t>87.5</a:t>
                </a:r>
                <a:r>
                  <a:rPr lang="en-IN" dirty="0"/>
                  <a:t> </a:t>
                </a:r>
              </a:p>
              <a:p>
                <a:pPr>
                  <a:buNone/>
                </a:pPr>
                <a:r>
                  <a:rPr lang="en-IN" dirty="0"/>
                  <a:t>is considered an outlier.</a:t>
                </a:r>
              </a:p>
              <a:p>
                <a:pPr>
                  <a:buNone/>
                </a:pPr>
                <a:r>
                  <a:rPr lang="en-IN" dirty="0"/>
                  <a:t>Since </a:t>
                </a:r>
                <a:r>
                  <a:rPr lang="en-IN" b="1" dirty="0"/>
                  <a:t>150 &gt; 87.5</a:t>
                </a:r>
                <a:r>
                  <a:rPr lang="en-IN" dirty="0"/>
                  <a:t>, it is identified as an </a:t>
                </a:r>
                <a:r>
                  <a:rPr lang="en-IN" b="1" dirty="0"/>
                  <a:t>outlier</a:t>
                </a:r>
                <a:r>
                  <a:rPr lang="en-IN" dirty="0"/>
                  <a:t>.</a:t>
                </a:r>
              </a:p>
            </p:txBody>
          </p:sp>
        </mc:Choice>
        <mc:Fallback>
          <p:sp>
            <p:nvSpPr>
              <p:cNvPr id="3" name="TextBox 2">
                <a:extLst>
                  <a:ext uri="{FF2B5EF4-FFF2-40B4-BE49-F238E27FC236}">
                    <a16:creationId xmlns:a16="http://schemas.microsoft.com/office/drawing/2014/main" id="{86CCB835-46A7-9009-DF73-8C2F17165AEF}"/>
                  </a:ext>
                </a:extLst>
              </p:cNvPr>
              <p:cNvSpPr txBox="1">
                <a:spLocks noRot="1" noChangeAspect="1" noMove="1" noResize="1" noEditPoints="1" noAdjustHandles="1" noChangeArrowheads="1" noChangeShapeType="1" noTextEdit="1"/>
              </p:cNvSpPr>
              <p:nvPr/>
            </p:nvSpPr>
            <p:spPr>
              <a:xfrm>
                <a:off x="838200" y="1859340"/>
                <a:ext cx="7086600" cy="3139321"/>
              </a:xfrm>
              <a:prstGeom prst="rect">
                <a:avLst/>
              </a:prstGeom>
              <a:blipFill>
                <a:blip r:embed="rId2"/>
                <a:stretch>
                  <a:fillRect l="-775" t="-971" b="-2136"/>
                </a:stretch>
              </a:blipFill>
            </p:spPr>
            <p:txBody>
              <a:bodyPr/>
              <a:lstStyle/>
              <a:p>
                <a:r>
                  <a:rPr lang="en-IN">
                    <a:noFill/>
                  </a:rPr>
                  <a:t> </a:t>
                </a:r>
              </a:p>
            </p:txBody>
          </p:sp>
        </mc:Fallback>
      </mc:AlternateContent>
    </p:spTree>
    <p:extLst>
      <p:ext uri="{BB962C8B-B14F-4D97-AF65-F5344CB8AC3E}">
        <p14:creationId xmlns:p14="http://schemas.microsoft.com/office/powerpoint/2010/main" val="3187888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318FC7-C5BD-D8FC-2027-96A92182E2CC}"/>
              </a:ext>
            </a:extLst>
          </p:cNvPr>
          <p:cNvSpPr txBox="1"/>
          <p:nvPr/>
        </p:nvSpPr>
        <p:spPr>
          <a:xfrm>
            <a:off x="2286000" y="1443841"/>
            <a:ext cx="4572000" cy="3970318"/>
          </a:xfrm>
          <a:prstGeom prst="rect">
            <a:avLst/>
          </a:prstGeom>
          <a:noFill/>
        </p:spPr>
        <p:txBody>
          <a:bodyPr wrap="square">
            <a:spAutoFit/>
          </a:bodyPr>
          <a:lstStyle/>
          <a:p>
            <a:r>
              <a:rPr lang="en-IN" dirty="0"/>
              <a:t>import </a:t>
            </a:r>
            <a:r>
              <a:rPr lang="en-IN" dirty="0" err="1"/>
              <a:t>matplotlib.pyplot</a:t>
            </a:r>
            <a:r>
              <a:rPr lang="en-IN" dirty="0"/>
              <a:t> as </a:t>
            </a:r>
            <a:r>
              <a:rPr lang="en-IN" dirty="0" err="1"/>
              <a:t>plt</a:t>
            </a:r>
            <a:endParaRPr lang="en-IN" dirty="0"/>
          </a:p>
          <a:p>
            <a:endParaRPr lang="en-IN" dirty="0"/>
          </a:p>
          <a:p>
            <a:r>
              <a:rPr lang="en-IN" dirty="0"/>
              <a:t># Sample data</a:t>
            </a:r>
          </a:p>
          <a:p>
            <a:r>
              <a:rPr lang="en-IN" dirty="0"/>
              <a:t>data = [10, 12, 14, 15, 18, 21, 22, 24, 27, 30, 45]</a:t>
            </a:r>
          </a:p>
          <a:p>
            <a:endParaRPr lang="en-IN" dirty="0"/>
          </a:p>
          <a:p>
            <a:r>
              <a:rPr lang="en-IN" dirty="0"/>
              <a:t># Create box plot</a:t>
            </a:r>
          </a:p>
          <a:p>
            <a:r>
              <a:rPr lang="en-IN" dirty="0" err="1"/>
              <a:t>plt.boxplot</a:t>
            </a:r>
            <a:r>
              <a:rPr lang="en-IN" dirty="0"/>
              <a:t>(data)</a:t>
            </a:r>
          </a:p>
          <a:p>
            <a:endParaRPr lang="en-IN" dirty="0"/>
          </a:p>
          <a:p>
            <a:r>
              <a:rPr lang="en-IN" dirty="0"/>
              <a:t># Add title and labels</a:t>
            </a:r>
          </a:p>
          <a:p>
            <a:r>
              <a:rPr lang="en-IN" dirty="0" err="1"/>
              <a:t>plt.title</a:t>
            </a:r>
            <a:r>
              <a:rPr lang="en-IN" dirty="0"/>
              <a:t>("Box Plot Example")</a:t>
            </a:r>
          </a:p>
          <a:p>
            <a:r>
              <a:rPr lang="en-IN" dirty="0" err="1"/>
              <a:t>plt.ylabel</a:t>
            </a:r>
            <a:r>
              <a:rPr lang="en-IN" dirty="0"/>
              <a:t>("Values")</a:t>
            </a:r>
          </a:p>
          <a:p>
            <a:endParaRPr lang="en-IN" dirty="0"/>
          </a:p>
          <a:p>
            <a:r>
              <a:rPr lang="en-IN" dirty="0" err="1"/>
              <a:t>plt.show</a:t>
            </a:r>
            <a:r>
              <a:rPr lang="en-IN" dirty="0"/>
              <a:t>()</a:t>
            </a:r>
          </a:p>
        </p:txBody>
      </p:sp>
    </p:spTree>
    <p:extLst>
      <p:ext uri="{BB962C8B-B14F-4D97-AF65-F5344CB8AC3E}">
        <p14:creationId xmlns:p14="http://schemas.microsoft.com/office/powerpoint/2010/main" val="27674430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BC3729-07AC-CF22-6598-D6BEB98A20D4}"/>
              </a:ext>
            </a:extLst>
          </p:cNvPr>
          <p:cNvSpPr txBox="1"/>
          <p:nvPr/>
        </p:nvSpPr>
        <p:spPr>
          <a:xfrm>
            <a:off x="2286000" y="1582341"/>
            <a:ext cx="4572000" cy="3693319"/>
          </a:xfrm>
          <a:prstGeom prst="rect">
            <a:avLst/>
          </a:prstGeom>
          <a:noFill/>
        </p:spPr>
        <p:txBody>
          <a:bodyPr wrap="square">
            <a:spAutoFit/>
          </a:bodyPr>
          <a:lstStyle/>
          <a:p>
            <a:r>
              <a:rPr lang="en-IN" dirty="0"/>
              <a:t>import </a:t>
            </a:r>
            <a:r>
              <a:rPr lang="en-IN" dirty="0" err="1"/>
              <a:t>numpy</a:t>
            </a:r>
            <a:r>
              <a:rPr lang="en-IN" dirty="0"/>
              <a:t> as np</a:t>
            </a:r>
          </a:p>
          <a:p>
            <a:endParaRPr lang="en-IN" dirty="0"/>
          </a:p>
          <a:p>
            <a:r>
              <a:rPr lang="en-IN" dirty="0"/>
              <a:t>data = [12, 15, 18, 20, 22, 25, 28, 30, 35]</a:t>
            </a:r>
          </a:p>
          <a:p>
            <a:endParaRPr lang="en-IN" dirty="0"/>
          </a:p>
          <a:p>
            <a:r>
              <a:rPr lang="en-IN" dirty="0"/>
              <a:t>q1 = </a:t>
            </a:r>
            <a:r>
              <a:rPr lang="en-IN" dirty="0" err="1"/>
              <a:t>np.percentile</a:t>
            </a:r>
            <a:r>
              <a:rPr lang="en-IN" dirty="0"/>
              <a:t>(data, 25)</a:t>
            </a:r>
          </a:p>
          <a:p>
            <a:r>
              <a:rPr lang="en-IN" dirty="0"/>
              <a:t>q2 = </a:t>
            </a:r>
            <a:r>
              <a:rPr lang="en-IN" dirty="0" err="1"/>
              <a:t>np.percentile</a:t>
            </a:r>
            <a:r>
              <a:rPr lang="en-IN" dirty="0"/>
              <a:t>(data, 50)</a:t>
            </a:r>
          </a:p>
          <a:p>
            <a:r>
              <a:rPr lang="en-IN" dirty="0"/>
              <a:t>q3 = </a:t>
            </a:r>
            <a:r>
              <a:rPr lang="en-IN" dirty="0" err="1"/>
              <a:t>np.percentile</a:t>
            </a:r>
            <a:r>
              <a:rPr lang="en-IN" dirty="0"/>
              <a:t>(data, 75)</a:t>
            </a:r>
          </a:p>
          <a:p>
            <a:r>
              <a:rPr lang="en-IN" dirty="0" err="1"/>
              <a:t>iqr</a:t>
            </a:r>
            <a:r>
              <a:rPr lang="en-IN" dirty="0"/>
              <a:t> = q3 - q1</a:t>
            </a:r>
          </a:p>
          <a:p>
            <a:endParaRPr lang="en-IN" dirty="0"/>
          </a:p>
          <a:p>
            <a:r>
              <a:rPr lang="en-IN" dirty="0"/>
              <a:t>print("Q1 =", q1)</a:t>
            </a:r>
          </a:p>
          <a:p>
            <a:r>
              <a:rPr lang="en-IN" dirty="0"/>
              <a:t>print("Q2 =", q2)</a:t>
            </a:r>
          </a:p>
          <a:p>
            <a:r>
              <a:rPr lang="en-IN" dirty="0"/>
              <a:t>print("Q3 =", q3)</a:t>
            </a:r>
          </a:p>
          <a:p>
            <a:r>
              <a:rPr lang="en-IN" dirty="0"/>
              <a:t>print("IQR =", </a:t>
            </a:r>
            <a:r>
              <a:rPr lang="en-IN" dirty="0" err="1"/>
              <a:t>iqr</a:t>
            </a:r>
            <a:r>
              <a:rPr lang="en-IN" dirty="0"/>
              <a:t>)</a:t>
            </a:r>
          </a:p>
        </p:txBody>
      </p:sp>
    </p:spTree>
    <p:extLst>
      <p:ext uri="{BB962C8B-B14F-4D97-AF65-F5344CB8AC3E}">
        <p14:creationId xmlns:p14="http://schemas.microsoft.com/office/powerpoint/2010/main" val="10481607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53BC78-E634-CD92-2251-BFB4E25AA448}"/>
              </a:ext>
            </a:extLst>
          </p:cNvPr>
          <p:cNvPicPr>
            <a:picLocks noChangeAspect="1"/>
          </p:cNvPicPr>
          <p:nvPr/>
        </p:nvPicPr>
        <p:blipFill>
          <a:blip r:embed="rId2"/>
          <a:stretch>
            <a:fillRect/>
          </a:stretch>
        </p:blipFill>
        <p:spPr>
          <a:xfrm>
            <a:off x="2357437" y="1914525"/>
            <a:ext cx="4429125" cy="3028950"/>
          </a:xfrm>
          <a:prstGeom prst="rect">
            <a:avLst/>
          </a:prstGeom>
        </p:spPr>
      </p:pic>
    </p:spTree>
    <p:extLst>
      <p:ext uri="{BB962C8B-B14F-4D97-AF65-F5344CB8AC3E}">
        <p14:creationId xmlns:p14="http://schemas.microsoft.com/office/powerpoint/2010/main" val="25993774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28600"/>
            <a:ext cx="8686799" cy="6400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45344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01B805-927D-D833-09CF-882059FAE5A9}"/>
              </a:ext>
            </a:extLst>
          </p:cNvPr>
          <p:cNvSpPr txBox="1"/>
          <p:nvPr/>
        </p:nvSpPr>
        <p:spPr>
          <a:xfrm>
            <a:off x="762000" y="1679483"/>
            <a:ext cx="6096000" cy="3499035"/>
          </a:xfrm>
          <a:prstGeom prst="rect">
            <a:avLst/>
          </a:prstGeom>
          <a:noFill/>
        </p:spPr>
        <p:txBody>
          <a:bodyPr wrap="square">
            <a:spAutoFit/>
          </a:bodyPr>
          <a:lstStyle/>
          <a:p>
            <a:pPr>
              <a:lnSpc>
                <a:spcPts val="1425"/>
              </a:lnSpc>
              <a:buNone/>
            </a:pPr>
            <a:r>
              <a:rPr lang="en-IN" sz="1050" b="0" dirty="0">
                <a:solidFill>
                  <a:srgbClr val="9723B4"/>
                </a:solidFill>
                <a:effectLst/>
                <a:latin typeface="Courier New" panose="02070309020205020404" pitchFamily="49" charset="0"/>
              </a:rPr>
              <a:t>import</a:t>
            </a:r>
            <a:r>
              <a:rPr lang="en-IN" sz="1050" b="0" dirty="0">
                <a:solidFill>
                  <a:srgbClr val="000000"/>
                </a:solidFill>
                <a:effectLst/>
                <a:latin typeface="Courier New" panose="02070309020205020404" pitchFamily="49" charset="0"/>
              </a:rPr>
              <a:t> pandas </a:t>
            </a:r>
            <a:r>
              <a:rPr lang="en-IN" sz="1050" b="0" dirty="0">
                <a:solidFill>
                  <a:srgbClr val="9723B4"/>
                </a:solidFill>
                <a:effectLst/>
                <a:latin typeface="Courier New" panose="02070309020205020404" pitchFamily="49" charset="0"/>
              </a:rPr>
              <a:t>as</a:t>
            </a:r>
            <a:r>
              <a:rPr lang="en-IN" sz="1050" b="0" dirty="0">
                <a:solidFill>
                  <a:srgbClr val="000000"/>
                </a:solidFill>
                <a:effectLst/>
                <a:latin typeface="Courier New" panose="02070309020205020404" pitchFamily="49" charset="0"/>
              </a:rPr>
              <a:t> pd</a:t>
            </a:r>
          </a:p>
          <a:p>
            <a:pPr>
              <a:lnSpc>
                <a:spcPts val="1425"/>
              </a:lnSpc>
              <a:buNone/>
            </a:pPr>
            <a:r>
              <a:rPr lang="en-IN" sz="1050" b="0" dirty="0">
                <a:solidFill>
                  <a:srgbClr val="9723B4"/>
                </a:solidFill>
                <a:effectLst/>
                <a:latin typeface="Courier New" panose="02070309020205020404" pitchFamily="49" charset="0"/>
              </a:rPr>
              <a:t>import</a:t>
            </a:r>
            <a:r>
              <a:rPr lang="en-IN" sz="1050" b="0" dirty="0">
                <a:solidFill>
                  <a:srgbClr val="000000"/>
                </a:solidFill>
                <a:effectLst/>
                <a:latin typeface="Courier New" panose="02070309020205020404" pitchFamily="49" charset="0"/>
              </a:rPr>
              <a:t> seaborn </a:t>
            </a:r>
            <a:r>
              <a:rPr lang="en-IN" sz="1050" b="0" dirty="0">
                <a:solidFill>
                  <a:srgbClr val="9723B4"/>
                </a:solidFill>
                <a:effectLst/>
                <a:latin typeface="Courier New" panose="02070309020205020404" pitchFamily="49" charset="0"/>
              </a:rPr>
              <a:t>as</a:t>
            </a:r>
            <a:r>
              <a:rPr lang="en-IN" sz="1050" b="0" dirty="0">
                <a:solidFill>
                  <a:srgbClr val="000000"/>
                </a:solidFill>
                <a:effectLst/>
                <a:latin typeface="Courier New" panose="02070309020205020404" pitchFamily="49" charset="0"/>
              </a:rPr>
              <a:t> </a:t>
            </a:r>
            <a:r>
              <a:rPr lang="en-IN" sz="1050" b="0" dirty="0" err="1">
                <a:solidFill>
                  <a:srgbClr val="000000"/>
                </a:solidFill>
                <a:effectLst/>
                <a:latin typeface="Courier New" panose="02070309020205020404" pitchFamily="49" charset="0"/>
              </a:rPr>
              <a:t>sns</a:t>
            </a:r>
            <a:endParaRPr lang="en-IN" sz="1050" b="0" dirty="0">
              <a:solidFill>
                <a:srgbClr val="000000"/>
              </a:solidFill>
              <a:effectLst/>
              <a:latin typeface="Courier New" panose="02070309020205020404" pitchFamily="49" charset="0"/>
            </a:endParaRPr>
          </a:p>
          <a:p>
            <a:pPr>
              <a:lnSpc>
                <a:spcPts val="1425"/>
              </a:lnSpc>
              <a:buNone/>
            </a:pPr>
            <a:r>
              <a:rPr lang="en-IN" sz="1050" b="0" dirty="0">
                <a:solidFill>
                  <a:srgbClr val="9723B4"/>
                </a:solidFill>
                <a:effectLst/>
                <a:latin typeface="Courier New" panose="02070309020205020404" pitchFamily="49" charset="0"/>
              </a:rPr>
              <a:t>import</a:t>
            </a:r>
            <a:r>
              <a:rPr lang="en-IN" sz="1050" b="0" dirty="0">
                <a:solidFill>
                  <a:srgbClr val="000000"/>
                </a:solidFill>
                <a:effectLst/>
                <a:latin typeface="Courier New" panose="02070309020205020404" pitchFamily="49" charset="0"/>
              </a:rPr>
              <a:t> </a:t>
            </a:r>
            <a:r>
              <a:rPr lang="en-IN" sz="1050" b="0" dirty="0" err="1">
                <a:solidFill>
                  <a:srgbClr val="000000"/>
                </a:solidFill>
                <a:effectLst/>
                <a:latin typeface="Courier New" panose="02070309020205020404" pitchFamily="49" charset="0"/>
              </a:rPr>
              <a:t>matplotlib.pyplot</a:t>
            </a:r>
            <a:r>
              <a:rPr lang="en-IN" sz="1050" b="0" dirty="0">
                <a:solidFill>
                  <a:srgbClr val="000000"/>
                </a:solidFill>
                <a:effectLst/>
                <a:latin typeface="Courier New" panose="02070309020205020404" pitchFamily="49" charset="0"/>
              </a:rPr>
              <a:t> </a:t>
            </a:r>
            <a:r>
              <a:rPr lang="en-IN" sz="1050" b="0" dirty="0">
                <a:solidFill>
                  <a:srgbClr val="9723B4"/>
                </a:solidFill>
                <a:effectLst/>
                <a:latin typeface="Courier New" panose="02070309020205020404" pitchFamily="49" charset="0"/>
              </a:rPr>
              <a:t>as</a:t>
            </a:r>
            <a:r>
              <a:rPr lang="en-IN" sz="1050" b="0" dirty="0">
                <a:solidFill>
                  <a:srgbClr val="000000"/>
                </a:solidFill>
                <a:effectLst/>
                <a:latin typeface="Courier New" panose="02070309020205020404" pitchFamily="49" charset="0"/>
              </a:rPr>
              <a:t> </a:t>
            </a:r>
            <a:r>
              <a:rPr lang="en-IN" sz="1050" b="0" dirty="0" err="1">
                <a:solidFill>
                  <a:srgbClr val="000000"/>
                </a:solidFill>
                <a:effectLst/>
                <a:latin typeface="Courier New" panose="02070309020205020404" pitchFamily="49" charset="0"/>
              </a:rPr>
              <a:t>plt</a:t>
            </a:r>
            <a:endParaRPr lang="en-IN" sz="1050" b="0" dirty="0">
              <a:solidFill>
                <a:srgbClr val="000000"/>
              </a:solidFill>
              <a:effectLst/>
              <a:latin typeface="Courier New" panose="02070309020205020404" pitchFamily="49" charset="0"/>
            </a:endParaRPr>
          </a:p>
          <a:p>
            <a:pPr>
              <a:lnSpc>
                <a:spcPts val="1425"/>
              </a:lnSpc>
              <a:buNone/>
            </a:pPr>
            <a:br>
              <a:rPr lang="en-IN" sz="1050" b="0" dirty="0">
                <a:solidFill>
                  <a:srgbClr val="000000"/>
                </a:solidFill>
                <a:effectLst/>
                <a:latin typeface="Courier New" panose="02070309020205020404" pitchFamily="49" charset="0"/>
              </a:rPr>
            </a:br>
            <a:endParaRPr lang="en-IN" sz="1050" b="0" dirty="0">
              <a:solidFill>
                <a:srgbClr val="000000"/>
              </a:solidFill>
              <a:effectLst/>
              <a:latin typeface="Courier New" panose="02070309020205020404" pitchFamily="49" charset="0"/>
            </a:endParaRPr>
          </a:p>
          <a:p>
            <a:pPr>
              <a:lnSpc>
                <a:spcPts val="1425"/>
              </a:lnSpc>
              <a:buNone/>
            </a:pPr>
            <a:r>
              <a:rPr lang="en-IN" sz="1050" b="0" dirty="0">
                <a:solidFill>
                  <a:srgbClr val="008000"/>
                </a:solidFill>
                <a:effectLst/>
                <a:latin typeface="Courier New" panose="02070309020205020404" pitchFamily="49" charset="0"/>
              </a:rPr>
              <a:t># Sample </a:t>
            </a:r>
            <a:r>
              <a:rPr lang="en-IN" sz="1050" b="0" dirty="0" err="1">
                <a:solidFill>
                  <a:srgbClr val="008000"/>
                </a:solidFill>
                <a:effectLst/>
                <a:latin typeface="Courier New" panose="02070309020205020404" pitchFamily="49" charset="0"/>
              </a:rPr>
              <a:t>DataFrame</a:t>
            </a:r>
            <a:endParaRPr lang="en-IN" sz="1050" b="0" dirty="0">
              <a:solidFill>
                <a:srgbClr val="000000"/>
              </a:solidFill>
              <a:effectLst/>
              <a:latin typeface="Courier New" panose="02070309020205020404" pitchFamily="49" charset="0"/>
            </a:endParaRPr>
          </a:p>
          <a:p>
            <a:pPr>
              <a:lnSpc>
                <a:spcPts val="1425"/>
              </a:lnSpc>
              <a:buNone/>
            </a:pPr>
            <a:r>
              <a:rPr lang="en-IN" sz="1050" b="0" dirty="0" err="1">
                <a:solidFill>
                  <a:srgbClr val="000000"/>
                </a:solidFill>
                <a:effectLst/>
                <a:latin typeface="Courier New" panose="02070309020205020404" pitchFamily="49" charset="0"/>
              </a:rPr>
              <a:t>df</a:t>
            </a:r>
            <a:r>
              <a:rPr lang="en-IN" sz="1050" b="0" dirty="0">
                <a:solidFill>
                  <a:srgbClr val="000000"/>
                </a:solidFill>
                <a:effectLst/>
                <a:latin typeface="Courier New" panose="02070309020205020404" pitchFamily="49" charset="0"/>
              </a:rPr>
              <a:t> = </a:t>
            </a:r>
            <a:r>
              <a:rPr lang="en-IN" sz="1050" b="0" dirty="0" err="1">
                <a:solidFill>
                  <a:srgbClr val="000000"/>
                </a:solidFill>
                <a:effectLst/>
                <a:latin typeface="Courier New" panose="02070309020205020404" pitchFamily="49" charset="0"/>
              </a:rPr>
              <a:t>pd.DataFrame</a:t>
            </a:r>
            <a:r>
              <a:rPr lang="en-IN" sz="1050" b="0" dirty="0">
                <a:solidFill>
                  <a:srgbClr val="000000"/>
                </a:solidFill>
                <a:effectLst/>
                <a:latin typeface="Courier New" panose="02070309020205020404" pitchFamily="49" charset="0"/>
              </a:rPr>
              <a:t>({</a:t>
            </a:r>
          </a:p>
          <a:p>
            <a:pPr>
              <a:lnSpc>
                <a:spcPts val="1425"/>
              </a:lnSpc>
              <a:buNone/>
            </a:pPr>
            <a:r>
              <a:rPr lang="en-IN" sz="1050" b="0" dirty="0">
                <a:solidFill>
                  <a:srgbClr val="000000"/>
                </a:solidFill>
                <a:effectLst/>
                <a:latin typeface="Courier New" panose="02070309020205020404" pitchFamily="49" charset="0"/>
              </a:rPr>
              <a:t>    </a:t>
            </a:r>
            <a:r>
              <a:rPr lang="en-IN" sz="1050" b="0" dirty="0">
                <a:solidFill>
                  <a:srgbClr val="A31515"/>
                </a:solidFill>
                <a:effectLst/>
                <a:latin typeface="Courier New" panose="02070309020205020404" pitchFamily="49" charset="0"/>
              </a:rPr>
              <a:t>'Age'</a:t>
            </a:r>
            <a:r>
              <a:rPr lang="en-IN" sz="1050" b="0" dirty="0">
                <a:solidFill>
                  <a:srgbClr val="000000"/>
                </a:solidFill>
                <a:effectLst/>
                <a:latin typeface="Courier New" panose="02070309020205020404" pitchFamily="49" charset="0"/>
              </a:rPr>
              <a:t>: [</a:t>
            </a:r>
            <a:r>
              <a:rPr lang="en-IN" sz="1050" b="0" dirty="0">
                <a:solidFill>
                  <a:srgbClr val="116644"/>
                </a:solidFill>
                <a:effectLst/>
                <a:latin typeface="Courier New" panose="02070309020205020404" pitchFamily="49" charset="0"/>
              </a:rPr>
              <a:t>20</a:t>
            </a:r>
            <a:r>
              <a:rPr lang="en-IN" sz="1050" b="0" dirty="0">
                <a:solidFill>
                  <a:srgbClr val="000000"/>
                </a:solidFill>
                <a:effectLst/>
                <a:latin typeface="Courier New" panose="02070309020205020404" pitchFamily="49" charset="0"/>
              </a:rPr>
              <a:t>, </a:t>
            </a:r>
            <a:r>
              <a:rPr lang="en-IN" sz="1050" b="0" dirty="0">
                <a:solidFill>
                  <a:srgbClr val="116644"/>
                </a:solidFill>
                <a:effectLst/>
                <a:latin typeface="Courier New" panose="02070309020205020404" pitchFamily="49" charset="0"/>
              </a:rPr>
              <a:t>22</a:t>
            </a:r>
            <a:r>
              <a:rPr lang="en-IN" sz="1050" b="0" dirty="0">
                <a:solidFill>
                  <a:srgbClr val="000000"/>
                </a:solidFill>
                <a:effectLst/>
                <a:latin typeface="Courier New" panose="02070309020205020404" pitchFamily="49" charset="0"/>
              </a:rPr>
              <a:t>, </a:t>
            </a:r>
            <a:r>
              <a:rPr lang="en-IN" sz="1050" b="0" dirty="0">
                <a:solidFill>
                  <a:srgbClr val="116644"/>
                </a:solidFill>
                <a:effectLst/>
                <a:latin typeface="Courier New" panose="02070309020205020404" pitchFamily="49" charset="0"/>
              </a:rPr>
              <a:t>25</a:t>
            </a:r>
            <a:r>
              <a:rPr lang="en-IN" sz="1050" b="0" dirty="0">
                <a:solidFill>
                  <a:srgbClr val="000000"/>
                </a:solidFill>
                <a:effectLst/>
                <a:latin typeface="Courier New" panose="02070309020205020404" pitchFamily="49" charset="0"/>
              </a:rPr>
              <a:t>, </a:t>
            </a:r>
            <a:r>
              <a:rPr lang="en-IN" sz="1050" b="0" dirty="0">
                <a:solidFill>
                  <a:srgbClr val="116644"/>
                </a:solidFill>
                <a:effectLst/>
                <a:latin typeface="Courier New" panose="02070309020205020404" pitchFamily="49" charset="0"/>
              </a:rPr>
              <a:t>24</a:t>
            </a:r>
            <a:r>
              <a:rPr lang="en-IN" sz="1050" b="0" dirty="0">
                <a:solidFill>
                  <a:srgbClr val="000000"/>
                </a:solidFill>
                <a:effectLst/>
                <a:latin typeface="Courier New" panose="02070309020205020404" pitchFamily="49" charset="0"/>
              </a:rPr>
              <a:t>, </a:t>
            </a:r>
            <a:r>
              <a:rPr lang="en-IN" sz="1050" b="0" dirty="0">
                <a:solidFill>
                  <a:srgbClr val="116644"/>
                </a:solidFill>
                <a:effectLst/>
                <a:latin typeface="Courier New" panose="02070309020205020404" pitchFamily="49" charset="0"/>
              </a:rPr>
              <a:t>26</a:t>
            </a:r>
            <a:r>
              <a:rPr lang="en-IN" sz="1050" b="0" dirty="0">
                <a:solidFill>
                  <a:srgbClr val="000000"/>
                </a:solidFill>
                <a:effectLst/>
                <a:latin typeface="Courier New" panose="02070309020205020404" pitchFamily="49" charset="0"/>
              </a:rPr>
              <a:t>, </a:t>
            </a:r>
            <a:r>
              <a:rPr lang="en-IN" sz="1050" b="0" dirty="0">
                <a:solidFill>
                  <a:srgbClr val="116644"/>
                </a:solidFill>
                <a:effectLst/>
                <a:latin typeface="Courier New" panose="02070309020205020404" pitchFamily="49" charset="0"/>
              </a:rPr>
              <a:t>23</a:t>
            </a:r>
            <a:r>
              <a:rPr lang="en-IN" sz="1050" b="0" dirty="0">
                <a:solidFill>
                  <a:srgbClr val="000000"/>
                </a:solidFill>
                <a:effectLst/>
                <a:latin typeface="Courier New" panose="02070309020205020404" pitchFamily="49" charset="0"/>
              </a:rPr>
              <a:t>, </a:t>
            </a:r>
            <a:r>
              <a:rPr lang="en-IN" sz="1050" b="0" dirty="0">
                <a:solidFill>
                  <a:srgbClr val="116644"/>
                </a:solidFill>
                <a:effectLst/>
                <a:latin typeface="Courier New" panose="02070309020205020404" pitchFamily="49" charset="0"/>
              </a:rPr>
              <a:t>21</a:t>
            </a:r>
            <a:r>
              <a:rPr lang="en-IN" sz="1050" b="0" dirty="0">
                <a:solidFill>
                  <a:srgbClr val="000000"/>
                </a:solidFill>
                <a:effectLst/>
                <a:latin typeface="Courier New" panose="02070309020205020404" pitchFamily="49" charset="0"/>
              </a:rPr>
              <a:t>],</a:t>
            </a:r>
          </a:p>
          <a:p>
            <a:pPr>
              <a:lnSpc>
                <a:spcPts val="1425"/>
              </a:lnSpc>
              <a:buNone/>
            </a:pPr>
            <a:r>
              <a:rPr lang="en-IN" sz="1050" b="0" dirty="0">
                <a:solidFill>
                  <a:srgbClr val="000000"/>
                </a:solidFill>
                <a:effectLst/>
                <a:latin typeface="Courier New" panose="02070309020205020404" pitchFamily="49" charset="0"/>
              </a:rPr>
              <a:t>    </a:t>
            </a:r>
          </a:p>
          <a:p>
            <a:pPr>
              <a:lnSpc>
                <a:spcPts val="1425"/>
              </a:lnSpc>
              <a:buNone/>
            </a:pPr>
            <a:r>
              <a:rPr lang="en-IN" sz="1050" b="0" dirty="0">
                <a:solidFill>
                  <a:srgbClr val="000000"/>
                </a:solidFill>
                <a:effectLst/>
                <a:latin typeface="Courier New" panose="02070309020205020404" pitchFamily="49" charset="0"/>
              </a:rPr>
              <a:t>    </a:t>
            </a:r>
            <a:r>
              <a:rPr lang="en-IN" sz="1050" b="0" dirty="0">
                <a:solidFill>
                  <a:srgbClr val="A31515"/>
                </a:solidFill>
                <a:effectLst/>
                <a:latin typeface="Courier New" panose="02070309020205020404" pitchFamily="49" charset="0"/>
              </a:rPr>
              <a:t>'Experience'</a:t>
            </a:r>
            <a:r>
              <a:rPr lang="en-IN" sz="1050" b="0" dirty="0">
                <a:solidFill>
                  <a:srgbClr val="000000"/>
                </a:solidFill>
                <a:effectLst/>
                <a:latin typeface="Courier New" panose="02070309020205020404" pitchFamily="49" charset="0"/>
              </a:rPr>
              <a:t>: [</a:t>
            </a:r>
            <a:r>
              <a:rPr lang="en-IN" sz="1050" b="0" dirty="0">
                <a:solidFill>
                  <a:srgbClr val="116644"/>
                </a:solidFill>
                <a:effectLst/>
                <a:latin typeface="Courier New" panose="02070309020205020404" pitchFamily="49" charset="0"/>
              </a:rPr>
              <a:t>1</a:t>
            </a:r>
            <a:r>
              <a:rPr lang="en-IN" sz="1050" b="0" dirty="0">
                <a:solidFill>
                  <a:srgbClr val="000000"/>
                </a:solidFill>
                <a:effectLst/>
                <a:latin typeface="Courier New" panose="02070309020205020404" pitchFamily="49" charset="0"/>
              </a:rPr>
              <a:t>, </a:t>
            </a:r>
            <a:r>
              <a:rPr lang="en-IN" sz="1050" b="0" dirty="0">
                <a:solidFill>
                  <a:srgbClr val="116644"/>
                </a:solidFill>
                <a:effectLst/>
                <a:latin typeface="Courier New" panose="02070309020205020404" pitchFamily="49" charset="0"/>
              </a:rPr>
              <a:t>2</a:t>
            </a:r>
            <a:r>
              <a:rPr lang="en-IN" sz="1050" b="0" dirty="0">
                <a:solidFill>
                  <a:srgbClr val="000000"/>
                </a:solidFill>
                <a:effectLst/>
                <a:latin typeface="Courier New" panose="02070309020205020404" pitchFamily="49" charset="0"/>
              </a:rPr>
              <a:t>, </a:t>
            </a:r>
            <a:r>
              <a:rPr lang="en-IN" sz="1050" b="0" dirty="0">
                <a:solidFill>
                  <a:srgbClr val="116644"/>
                </a:solidFill>
                <a:effectLst/>
                <a:latin typeface="Courier New" panose="02070309020205020404" pitchFamily="49" charset="0"/>
              </a:rPr>
              <a:t>3</a:t>
            </a:r>
            <a:r>
              <a:rPr lang="en-IN" sz="1050" b="0" dirty="0">
                <a:solidFill>
                  <a:srgbClr val="000000"/>
                </a:solidFill>
                <a:effectLst/>
                <a:latin typeface="Courier New" panose="02070309020205020404" pitchFamily="49" charset="0"/>
              </a:rPr>
              <a:t>, </a:t>
            </a:r>
            <a:r>
              <a:rPr lang="en-IN" sz="1050" b="0" dirty="0">
                <a:solidFill>
                  <a:srgbClr val="116644"/>
                </a:solidFill>
                <a:effectLst/>
                <a:latin typeface="Courier New" panose="02070309020205020404" pitchFamily="49" charset="0"/>
              </a:rPr>
              <a:t>2</a:t>
            </a:r>
            <a:r>
              <a:rPr lang="en-IN" sz="1050" b="0" dirty="0">
                <a:solidFill>
                  <a:srgbClr val="000000"/>
                </a:solidFill>
                <a:effectLst/>
                <a:latin typeface="Courier New" panose="02070309020205020404" pitchFamily="49" charset="0"/>
              </a:rPr>
              <a:t>, </a:t>
            </a:r>
            <a:r>
              <a:rPr lang="en-IN" sz="1050" b="0" dirty="0">
                <a:solidFill>
                  <a:srgbClr val="116644"/>
                </a:solidFill>
                <a:effectLst/>
                <a:latin typeface="Courier New" panose="02070309020205020404" pitchFamily="49" charset="0"/>
              </a:rPr>
              <a:t>4</a:t>
            </a:r>
            <a:r>
              <a:rPr lang="en-IN" sz="1050" b="0" dirty="0">
                <a:solidFill>
                  <a:srgbClr val="000000"/>
                </a:solidFill>
                <a:effectLst/>
                <a:latin typeface="Courier New" panose="02070309020205020404" pitchFamily="49" charset="0"/>
              </a:rPr>
              <a:t>, </a:t>
            </a:r>
            <a:r>
              <a:rPr lang="en-IN" sz="1050" b="0" dirty="0">
                <a:solidFill>
                  <a:srgbClr val="116644"/>
                </a:solidFill>
                <a:effectLst/>
                <a:latin typeface="Courier New" panose="02070309020205020404" pitchFamily="49" charset="0"/>
              </a:rPr>
              <a:t>2</a:t>
            </a:r>
            <a:r>
              <a:rPr lang="en-IN" sz="1050" b="0" dirty="0">
                <a:solidFill>
                  <a:srgbClr val="000000"/>
                </a:solidFill>
                <a:effectLst/>
                <a:latin typeface="Courier New" panose="02070309020205020404" pitchFamily="49" charset="0"/>
              </a:rPr>
              <a:t>, </a:t>
            </a:r>
            <a:r>
              <a:rPr lang="en-IN" sz="1050" b="0" dirty="0">
                <a:solidFill>
                  <a:srgbClr val="116644"/>
                </a:solidFill>
                <a:effectLst/>
                <a:latin typeface="Courier New" panose="02070309020205020404" pitchFamily="49" charset="0"/>
              </a:rPr>
              <a:t>3</a:t>
            </a:r>
            <a:r>
              <a:rPr lang="en-IN" sz="1050" b="0" dirty="0">
                <a:solidFill>
                  <a:srgbClr val="000000"/>
                </a:solidFill>
                <a:effectLst/>
                <a:latin typeface="Courier New" panose="02070309020205020404" pitchFamily="49" charset="0"/>
              </a:rPr>
              <a:t>]</a:t>
            </a:r>
          </a:p>
          <a:p>
            <a:pPr>
              <a:lnSpc>
                <a:spcPts val="1425"/>
              </a:lnSpc>
              <a:buNone/>
            </a:pPr>
            <a:r>
              <a:rPr lang="en-IN" sz="1050" b="0" dirty="0">
                <a:solidFill>
                  <a:srgbClr val="000000"/>
                </a:solidFill>
                <a:effectLst/>
                <a:latin typeface="Courier New" panose="02070309020205020404" pitchFamily="49" charset="0"/>
              </a:rPr>
              <a:t>})</a:t>
            </a:r>
          </a:p>
          <a:p>
            <a:pPr>
              <a:lnSpc>
                <a:spcPts val="1425"/>
              </a:lnSpc>
              <a:buNone/>
            </a:pPr>
            <a:br>
              <a:rPr lang="en-IN" sz="1050" b="0" dirty="0">
                <a:solidFill>
                  <a:srgbClr val="000000"/>
                </a:solidFill>
                <a:effectLst/>
                <a:latin typeface="Courier New" panose="02070309020205020404" pitchFamily="49" charset="0"/>
              </a:rPr>
            </a:br>
            <a:endParaRPr lang="en-IN" sz="1050" b="0" dirty="0">
              <a:solidFill>
                <a:srgbClr val="000000"/>
              </a:solidFill>
              <a:effectLst/>
              <a:latin typeface="Courier New" panose="02070309020205020404" pitchFamily="49" charset="0"/>
            </a:endParaRPr>
          </a:p>
          <a:p>
            <a:pPr>
              <a:lnSpc>
                <a:spcPts val="1425"/>
              </a:lnSpc>
              <a:buNone/>
            </a:pPr>
            <a:r>
              <a:rPr lang="en-IN" sz="1050" b="0" dirty="0" err="1">
                <a:solidFill>
                  <a:srgbClr val="000000"/>
                </a:solidFill>
                <a:effectLst/>
                <a:latin typeface="Courier New" panose="02070309020205020404" pitchFamily="49" charset="0"/>
              </a:rPr>
              <a:t>plt.figure</a:t>
            </a:r>
            <a:r>
              <a:rPr lang="en-IN" sz="1050" b="0" dirty="0">
                <a:solidFill>
                  <a:srgbClr val="000000"/>
                </a:solidFill>
                <a:effectLst/>
                <a:latin typeface="Courier New" panose="02070309020205020404" pitchFamily="49" charset="0"/>
              </a:rPr>
              <a:t>(</a:t>
            </a:r>
            <a:r>
              <a:rPr lang="en-IN" sz="1050" b="0" dirty="0" err="1">
                <a:solidFill>
                  <a:srgbClr val="000000"/>
                </a:solidFill>
                <a:effectLst/>
                <a:latin typeface="Courier New" panose="02070309020205020404" pitchFamily="49" charset="0"/>
              </a:rPr>
              <a:t>figsize</a:t>
            </a:r>
            <a:r>
              <a:rPr lang="en-IN" sz="1050" b="0" dirty="0">
                <a:solidFill>
                  <a:srgbClr val="000000"/>
                </a:solidFill>
                <a:effectLst/>
                <a:latin typeface="Courier New" panose="02070309020205020404" pitchFamily="49" charset="0"/>
              </a:rPr>
              <a:t>=(</a:t>
            </a:r>
            <a:r>
              <a:rPr lang="en-IN" sz="1050" b="0" dirty="0">
                <a:solidFill>
                  <a:srgbClr val="116644"/>
                </a:solidFill>
                <a:effectLst/>
                <a:latin typeface="Courier New" panose="02070309020205020404" pitchFamily="49" charset="0"/>
              </a:rPr>
              <a:t>8</a:t>
            </a:r>
            <a:r>
              <a:rPr lang="en-IN" sz="1050" b="0" dirty="0">
                <a:solidFill>
                  <a:srgbClr val="000000"/>
                </a:solidFill>
                <a:effectLst/>
                <a:latin typeface="Courier New" panose="02070309020205020404" pitchFamily="49" charset="0"/>
              </a:rPr>
              <a:t>,</a:t>
            </a:r>
            <a:r>
              <a:rPr lang="en-IN" sz="1050" b="0" dirty="0">
                <a:solidFill>
                  <a:srgbClr val="116644"/>
                </a:solidFill>
                <a:effectLst/>
                <a:latin typeface="Courier New" panose="02070309020205020404" pitchFamily="49" charset="0"/>
              </a:rPr>
              <a:t>5</a:t>
            </a:r>
            <a:r>
              <a:rPr lang="en-IN" sz="1050" b="0" dirty="0">
                <a:solidFill>
                  <a:srgbClr val="000000"/>
                </a:solidFill>
                <a:effectLst/>
                <a:latin typeface="Courier New" panose="02070309020205020404" pitchFamily="49" charset="0"/>
              </a:rPr>
              <a:t>))</a:t>
            </a:r>
          </a:p>
          <a:p>
            <a:pPr>
              <a:lnSpc>
                <a:spcPts val="1425"/>
              </a:lnSpc>
              <a:buNone/>
            </a:pPr>
            <a:r>
              <a:rPr lang="en-IN" sz="1050" b="0" dirty="0" err="1">
                <a:solidFill>
                  <a:srgbClr val="000000"/>
                </a:solidFill>
                <a:effectLst/>
                <a:latin typeface="Courier New" panose="02070309020205020404" pitchFamily="49" charset="0"/>
              </a:rPr>
              <a:t>sns.boxplot</a:t>
            </a:r>
            <a:r>
              <a:rPr lang="en-IN" sz="1050" b="0" dirty="0">
                <a:solidFill>
                  <a:srgbClr val="000000"/>
                </a:solidFill>
                <a:effectLst/>
                <a:latin typeface="Courier New" panose="02070309020205020404" pitchFamily="49" charset="0"/>
              </a:rPr>
              <a:t>(data=</a:t>
            </a:r>
            <a:r>
              <a:rPr lang="en-IN" sz="1050" b="0" dirty="0" err="1">
                <a:solidFill>
                  <a:srgbClr val="000000"/>
                </a:solidFill>
                <a:effectLst/>
                <a:latin typeface="Courier New" panose="02070309020205020404" pitchFamily="49" charset="0"/>
              </a:rPr>
              <a:t>df</a:t>
            </a:r>
            <a:r>
              <a:rPr lang="en-IN" sz="1050" b="0" dirty="0">
                <a:solidFill>
                  <a:srgbClr val="000000"/>
                </a:solidFill>
                <a:effectLst/>
                <a:latin typeface="Courier New" panose="02070309020205020404" pitchFamily="49" charset="0"/>
              </a:rPr>
              <a:t>)</a:t>
            </a:r>
          </a:p>
          <a:p>
            <a:pPr>
              <a:lnSpc>
                <a:spcPts val="1425"/>
              </a:lnSpc>
              <a:buNone/>
            </a:pPr>
            <a:br>
              <a:rPr lang="en-IN" sz="1050" b="0" dirty="0">
                <a:solidFill>
                  <a:srgbClr val="000000"/>
                </a:solidFill>
                <a:effectLst/>
                <a:latin typeface="Courier New" panose="02070309020205020404" pitchFamily="49" charset="0"/>
              </a:rPr>
            </a:br>
            <a:endParaRPr lang="en-IN" sz="1050" b="0" dirty="0">
              <a:solidFill>
                <a:srgbClr val="000000"/>
              </a:solidFill>
              <a:effectLst/>
              <a:latin typeface="Courier New" panose="02070309020205020404" pitchFamily="49" charset="0"/>
            </a:endParaRPr>
          </a:p>
          <a:p>
            <a:pPr>
              <a:lnSpc>
                <a:spcPts val="1425"/>
              </a:lnSpc>
              <a:buNone/>
            </a:pPr>
            <a:r>
              <a:rPr lang="en-IN" sz="1050" b="0" dirty="0" err="1">
                <a:solidFill>
                  <a:srgbClr val="000000"/>
                </a:solidFill>
                <a:effectLst/>
                <a:latin typeface="Courier New" panose="02070309020205020404" pitchFamily="49" charset="0"/>
              </a:rPr>
              <a:t>plt.title</a:t>
            </a:r>
            <a:r>
              <a:rPr lang="en-IN" sz="1050" b="0" dirty="0">
                <a:solidFill>
                  <a:srgbClr val="000000"/>
                </a:solidFill>
                <a:effectLst/>
                <a:latin typeface="Courier New" panose="02070309020205020404" pitchFamily="49" charset="0"/>
              </a:rPr>
              <a:t>(</a:t>
            </a:r>
            <a:r>
              <a:rPr lang="en-IN" sz="1050" b="0" dirty="0">
                <a:solidFill>
                  <a:srgbClr val="A31515"/>
                </a:solidFill>
                <a:effectLst/>
                <a:latin typeface="Courier New" panose="02070309020205020404" pitchFamily="49" charset="0"/>
              </a:rPr>
              <a:t>"Box Plot of Multiple Columns"</a:t>
            </a:r>
            <a:r>
              <a:rPr lang="en-IN" sz="1050" b="0" dirty="0">
                <a:solidFill>
                  <a:srgbClr val="000000"/>
                </a:solidFill>
                <a:effectLst/>
                <a:latin typeface="Courier New" panose="02070309020205020404" pitchFamily="49" charset="0"/>
              </a:rPr>
              <a:t>)</a:t>
            </a:r>
          </a:p>
          <a:p>
            <a:pPr>
              <a:lnSpc>
                <a:spcPts val="1425"/>
              </a:lnSpc>
              <a:buNone/>
            </a:pPr>
            <a:r>
              <a:rPr lang="en-IN" sz="1050" b="0" dirty="0" err="1">
                <a:solidFill>
                  <a:srgbClr val="000000"/>
                </a:solidFill>
                <a:effectLst/>
                <a:latin typeface="Courier New" panose="02070309020205020404" pitchFamily="49" charset="0"/>
              </a:rPr>
              <a:t>plt.show</a:t>
            </a:r>
            <a:r>
              <a:rPr lang="en-IN" sz="1050"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7635752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27E3CB-2A28-67AC-6242-627C336F3A4A}"/>
              </a:ext>
            </a:extLst>
          </p:cNvPr>
          <p:cNvPicPr>
            <a:picLocks noChangeAspect="1"/>
          </p:cNvPicPr>
          <p:nvPr/>
        </p:nvPicPr>
        <p:blipFill>
          <a:blip r:embed="rId2"/>
          <a:stretch>
            <a:fillRect/>
          </a:stretch>
        </p:blipFill>
        <p:spPr>
          <a:xfrm>
            <a:off x="1862137" y="1843087"/>
            <a:ext cx="5419725" cy="3171825"/>
          </a:xfrm>
          <a:prstGeom prst="rect">
            <a:avLst/>
          </a:prstGeom>
        </p:spPr>
      </p:pic>
    </p:spTree>
    <p:extLst>
      <p:ext uri="{BB962C8B-B14F-4D97-AF65-F5344CB8AC3E}">
        <p14:creationId xmlns:p14="http://schemas.microsoft.com/office/powerpoint/2010/main" val="13621907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302DB9-EAF3-ECA6-F343-8D5E1B5AA870}"/>
              </a:ext>
            </a:extLst>
          </p:cNvPr>
          <p:cNvSpPr txBox="1"/>
          <p:nvPr/>
        </p:nvSpPr>
        <p:spPr>
          <a:xfrm>
            <a:off x="2286000" y="2666933"/>
            <a:ext cx="4572000" cy="1524135"/>
          </a:xfrm>
          <a:prstGeom prst="rect">
            <a:avLst/>
          </a:prstGeom>
          <a:noFill/>
        </p:spPr>
        <p:txBody>
          <a:bodyPr wrap="square">
            <a:spAutoFit/>
          </a:bodyPr>
          <a:lstStyle/>
          <a:p>
            <a:pPr>
              <a:lnSpc>
                <a:spcPts val="1425"/>
              </a:lnSpc>
              <a:buNone/>
            </a:pPr>
            <a:r>
              <a:rPr lang="en-IN" sz="1050" b="0" dirty="0">
                <a:solidFill>
                  <a:srgbClr val="9723B4"/>
                </a:solidFill>
                <a:effectLst/>
                <a:latin typeface="Courier New" panose="02070309020205020404" pitchFamily="49" charset="0"/>
              </a:rPr>
              <a:t>import</a:t>
            </a:r>
            <a:r>
              <a:rPr lang="en-IN" sz="1050" b="0" dirty="0">
                <a:solidFill>
                  <a:srgbClr val="000000"/>
                </a:solidFill>
                <a:effectLst/>
                <a:latin typeface="Courier New" panose="02070309020205020404" pitchFamily="49" charset="0"/>
              </a:rPr>
              <a:t> seaborn </a:t>
            </a:r>
            <a:r>
              <a:rPr lang="en-IN" sz="1050" b="0" dirty="0">
                <a:solidFill>
                  <a:srgbClr val="9723B4"/>
                </a:solidFill>
                <a:effectLst/>
                <a:latin typeface="Courier New" panose="02070309020205020404" pitchFamily="49" charset="0"/>
              </a:rPr>
              <a:t>as</a:t>
            </a:r>
            <a:r>
              <a:rPr lang="en-IN" sz="1050" b="0" dirty="0">
                <a:solidFill>
                  <a:srgbClr val="000000"/>
                </a:solidFill>
                <a:effectLst/>
                <a:latin typeface="Courier New" panose="02070309020205020404" pitchFamily="49" charset="0"/>
              </a:rPr>
              <a:t> </a:t>
            </a:r>
            <a:r>
              <a:rPr lang="en-IN" sz="1050" b="0" dirty="0" err="1">
                <a:solidFill>
                  <a:srgbClr val="000000"/>
                </a:solidFill>
                <a:effectLst/>
                <a:latin typeface="Courier New" panose="02070309020205020404" pitchFamily="49" charset="0"/>
              </a:rPr>
              <a:t>sns</a:t>
            </a:r>
            <a:endParaRPr lang="en-IN" sz="1050" b="0" dirty="0">
              <a:solidFill>
                <a:srgbClr val="000000"/>
              </a:solidFill>
              <a:effectLst/>
              <a:latin typeface="Courier New" panose="02070309020205020404" pitchFamily="49" charset="0"/>
            </a:endParaRPr>
          </a:p>
          <a:p>
            <a:pPr>
              <a:lnSpc>
                <a:spcPts val="1425"/>
              </a:lnSpc>
              <a:buNone/>
            </a:pPr>
            <a:r>
              <a:rPr lang="en-IN" sz="1050" b="0" dirty="0">
                <a:solidFill>
                  <a:srgbClr val="9723B4"/>
                </a:solidFill>
                <a:effectLst/>
                <a:latin typeface="Courier New" panose="02070309020205020404" pitchFamily="49" charset="0"/>
              </a:rPr>
              <a:t>import</a:t>
            </a:r>
            <a:r>
              <a:rPr lang="en-IN" sz="1050" b="0" dirty="0">
                <a:solidFill>
                  <a:srgbClr val="000000"/>
                </a:solidFill>
                <a:effectLst/>
                <a:latin typeface="Courier New" panose="02070309020205020404" pitchFamily="49" charset="0"/>
              </a:rPr>
              <a:t> </a:t>
            </a:r>
            <a:r>
              <a:rPr lang="en-IN" sz="1050" b="0" dirty="0" err="1">
                <a:solidFill>
                  <a:srgbClr val="000000"/>
                </a:solidFill>
                <a:effectLst/>
                <a:latin typeface="Courier New" panose="02070309020205020404" pitchFamily="49" charset="0"/>
              </a:rPr>
              <a:t>matplotlib.pyplot</a:t>
            </a:r>
            <a:r>
              <a:rPr lang="en-IN" sz="1050" b="0" dirty="0">
                <a:solidFill>
                  <a:srgbClr val="000000"/>
                </a:solidFill>
                <a:effectLst/>
                <a:latin typeface="Courier New" panose="02070309020205020404" pitchFamily="49" charset="0"/>
              </a:rPr>
              <a:t> </a:t>
            </a:r>
            <a:r>
              <a:rPr lang="en-IN" sz="1050" b="0" dirty="0">
                <a:solidFill>
                  <a:srgbClr val="9723B4"/>
                </a:solidFill>
                <a:effectLst/>
                <a:latin typeface="Courier New" panose="02070309020205020404" pitchFamily="49" charset="0"/>
              </a:rPr>
              <a:t>as</a:t>
            </a:r>
            <a:r>
              <a:rPr lang="en-IN" sz="1050" b="0" dirty="0">
                <a:solidFill>
                  <a:srgbClr val="000000"/>
                </a:solidFill>
                <a:effectLst/>
                <a:latin typeface="Courier New" panose="02070309020205020404" pitchFamily="49" charset="0"/>
              </a:rPr>
              <a:t> </a:t>
            </a:r>
            <a:r>
              <a:rPr lang="en-IN" sz="1050" b="0" dirty="0" err="1">
                <a:solidFill>
                  <a:srgbClr val="000000"/>
                </a:solidFill>
                <a:effectLst/>
                <a:latin typeface="Courier New" panose="02070309020205020404" pitchFamily="49" charset="0"/>
              </a:rPr>
              <a:t>plt</a:t>
            </a:r>
            <a:endParaRPr lang="en-IN" sz="1050" b="0" dirty="0">
              <a:solidFill>
                <a:srgbClr val="000000"/>
              </a:solidFill>
              <a:effectLst/>
              <a:latin typeface="Courier New" panose="02070309020205020404" pitchFamily="49" charset="0"/>
            </a:endParaRPr>
          </a:p>
          <a:p>
            <a:pPr>
              <a:lnSpc>
                <a:spcPts val="1425"/>
              </a:lnSpc>
              <a:buNone/>
            </a:pPr>
            <a:br>
              <a:rPr lang="en-IN" sz="1050" b="0" dirty="0">
                <a:solidFill>
                  <a:srgbClr val="000000"/>
                </a:solidFill>
                <a:effectLst/>
                <a:latin typeface="Courier New" panose="02070309020205020404" pitchFamily="49" charset="0"/>
              </a:rPr>
            </a:br>
            <a:endParaRPr lang="en-IN" sz="1050" b="0" dirty="0">
              <a:solidFill>
                <a:srgbClr val="000000"/>
              </a:solidFill>
              <a:effectLst/>
              <a:latin typeface="Courier New" panose="02070309020205020404" pitchFamily="49" charset="0"/>
            </a:endParaRPr>
          </a:p>
          <a:p>
            <a:pPr>
              <a:lnSpc>
                <a:spcPts val="1425"/>
              </a:lnSpc>
              <a:buNone/>
            </a:pPr>
            <a:r>
              <a:rPr lang="en-IN" sz="1050" b="0" dirty="0" err="1">
                <a:solidFill>
                  <a:srgbClr val="000000"/>
                </a:solidFill>
                <a:effectLst/>
                <a:latin typeface="Courier New" panose="02070309020205020404" pitchFamily="49" charset="0"/>
              </a:rPr>
              <a:t>sns.boxplot</a:t>
            </a:r>
            <a:r>
              <a:rPr lang="en-IN" sz="1050" b="0" dirty="0">
                <a:solidFill>
                  <a:srgbClr val="000000"/>
                </a:solidFill>
                <a:effectLst/>
                <a:latin typeface="Courier New" panose="02070309020205020404" pitchFamily="49" charset="0"/>
              </a:rPr>
              <a:t>(y=</a:t>
            </a:r>
            <a:r>
              <a:rPr lang="en-IN" sz="1050" b="0" dirty="0">
                <a:solidFill>
                  <a:srgbClr val="A31515"/>
                </a:solidFill>
                <a:effectLst/>
                <a:latin typeface="Courier New" panose="02070309020205020404" pitchFamily="49" charset="0"/>
              </a:rPr>
              <a:t>'Age'</a:t>
            </a:r>
            <a:r>
              <a:rPr lang="en-IN" sz="1050" b="0" dirty="0">
                <a:solidFill>
                  <a:srgbClr val="000000"/>
                </a:solidFill>
                <a:effectLst/>
                <a:latin typeface="Courier New" panose="02070309020205020404" pitchFamily="49" charset="0"/>
              </a:rPr>
              <a:t>, data=</a:t>
            </a:r>
            <a:r>
              <a:rPr lang="en-IN" sz="1050" b="0" dirty="0" err="1">
                <a:solidFill>
                  <a:srgbClr val="000000"/>
                </a:solidFill>
                <a:effectLst/>
                <a:latin typeface="Courier New" panose="02070309020205020404" pitchFamily="49" charset="0"/>
              </a:rPr>
              <a:t>df</a:t>
            </a:r>
            <a:r>
              <a:rPr lang="en-IN" sz="1050" b="0" dirty="0">
                <a:solidFill>
                  <a:srgbClr val="000000"/>
                </a:solidFill>
                <a:effectLst/>
                <a:latin typeface="Courier New" panose="02070309020205020404" pitchFamily="49" charset="0"/>
              </a:rPr>
              <a:t>)</a:t>
            </a:r>
          </a:p>
          <a:p>
            <a:pPr>
              <a:lnSpc>
                <a:spcPts val="1425"/>
              </a:lnSpc>
              <a:buNone/>
            </a:pPr>
            <a:br>
              <a:rPr lang="en-IN" sz="1050" b="0" dirty="0">
                <a:solidFill>
                  <a:srgbClr val="000000"/>
                </a:solidFill>
                <a:effectLst/>
                <a:latin typeface="Courier New" panose="02070309020205020404" pitchFamily="49" charset="0"/>
              </a:rPr>
            </a:br>
            <a:endParaRPr lang="en-IN" sz="1050" b="0" dirty="0">
              <a:solidFill>
                <a:srgbClr val="000000"/>
              </a:solidFill>
              <a:effectLst/>
              <a:latin typeface="Courier New" panose="02070309020205020404" pitchFamily="49" charset="0"/>
            </a:endParaRPr>
          </a:p>
          <a:p>
            <a:pPr>
              <a:lnSpc>
                <a:spcPts val="1425"/>
              </a:lnSpc>
              <a:buNone/>
            </a:pPr>
            <a:r>
              <a:rPr lang="en-IN" sz="1050" b="0" dirty="0" err="1">
                <a:solidFill>
                  <a:srgbClr val="000000"/>
                </a:solidFill>
                <a:effectLst/>
                <a:latin typeface="Courier New" panose="02070309020205020404" pitchFamily="49" charset="0"/>
              </a:rPr>
              <a:t>plt.show</a:t>
            </a:r>
            <a:r>
              <a:rPr lang="en-IN" sz="1050"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25308190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763000" cy="4924425"/>
          </a:xfrm>
          <a:prstGeom prst="rect">
            <a:avLst/>
          </a:prstGeom>
        </p:spPr>
        <p:txBody>
          <a:bodyPr wrap="square">
            <a:spAutoFit/>
          </a:bodyPr>
          <a:lstStyle/>
          <a:p>
            <a:pPr algn="ctr"/>
            <a:r>
              <a:rPr lang="en-US" sz="2800" u="sng" dirty="0">
                <a:solidFill>
                  <a:srgbClr val="FF0000"/>
                </a:solidFill>
                <a:latin typeface="Times New Roman" pitchFamily="18" charset="0"/>
                <a:cs typeface="Times New Roman" pitchFamily="18" charset="0"/>
              </a:rPr>
              <a:t>Variance and Standard Deviation </a:t>
            </a:r>
          </a:p>
          <a:p>
            <a:pPr algn="just"/>
            <a:r>
              <a:rPr lang="en-US" sz="2200" dirty="0">
                <a:latin typeface="Times New Roman" pitchFamily="18" charset="0"/>
                <a:cs typeface="Times New Roman" pitchFamily="18" charset="0"/>
              </a:rPr>
              <a:t>	Variance and standard deviation are measures of data dispersion. They indicate how spread out a data distribution is. A low standard deviation means that the data observations tend to be very close to the mean, while a high standard deviation indicates that the data are spread out over a large range of values. </a:t>
            </a: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514600"/>
            <a:ext cx="8077200"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1194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8600"/>
            <a:ext cx="8763000"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47069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86106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3124199"/>
            <a:ext cx="8610600" cy="3505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47327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066800"/>
            <a:ext cx="8610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57288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373D02-01C8-7A06-7359-17119B60D150}"/>
              </a:ext>
            </a:extLst>
          </p:cNvPr>
          <p:cNvSpPr txBox="1"/>
          <p:nvPr/>
        </p:nvSpPr>
        <p:spPr>
          <a:xfrm>
            <a:off x="914400" y="1859340"/>
            <a:ext cx="5943600" cy="3139321"/>
          </a:xfrm>
          <a:prstGeom prst="rect">
            <a:avLst/>
          </a:prstGeom>
          <a:noFill/>
        </p:spPr>
        <p:txBody>
          <a:bodyPr wrap="square">
            <a:spAutoFit/>
          </a:bodyPr>
          <a:lstStyle/>
          <a:p>
            <a:r>
              <a:rPr lang="en-IN" dirty="0"/>
              <a:t>import pandas as pd</a:t>
            </a:r>
          </a:p>
          <a:p>
            <a:endParaRPr lang="en-IN" dirty="0"/>
          </a:p>
          <a:p>
            <a:r>
              <a:rPr lang="en-IN" dirty="0" err="1"/>
              <a:t>df</a:t>
            </a:r>
            <a:r>
              <a:rPr lang="en-IN" dirty="0"/>
              <a:t> = </a:t>
            </a:r>
            <a:r>
              <a:rPr lang="en-IN" dirty="0" err="1"/>
              <a:t>pd.DataFrame</a:t>
            </a:r>
            <a:r>
              <a:rPr lang="en-IN" dirty="0"/>
              <a:t>({</a:t>
            </a:r>
          </a:p>
          <a:p>
            <a:r>
              <a:rPr lang="en-IN" dirty="0"/>
              <a:t>    'Marks': [2, 4, 6, 8, 10]</a:t>
            </a:r>
          </a:p>
          <a:p>
            <a:r>
              <a:rPr lang="en-IN" dirty="0"/>
              <a:t>})</a:t>
            </a:r>
          </a:p>
          <a:p>
            <a:endParaRPr lang="en-IN" dirty="0"/>
          </a:p>
          <a:p>
            <a:r>
              <a:rPr lang="en-IN" dirty="0"/>
              <a:t># Sample Variance (default)</a:t>
            </a:r>
          </a:p>
          <a:p>
            <a:r>
              <a:rPr lang="en-IN" dirty="0"/>
              <a:t>print(</a:t>
            </a:r>
            <a:r>
              <a:rPr lang="en-IN" dirty="0" err="1"/>
              <a:t>df</a:t>
            </a:r>
            <a:r>
              <a:rPr lang="en-IN" dirty="0"/>
              <a:t>['Marks'].var())</a:t>
            </a:r>
          </a:p>
          <a:p>
            <a:endParaRPr lang="en-IN" dirty="0"/>
          </a:p>
          <a:p>
            <a:r>
              <a:rPr lang="en-IN" dirty="0"/>
              <a:t># Population Variance</a:t>
            </a:r>
          </a:p>
          <a:p>
            <a:r>
              <a:rPr lang="en-IN" dirty="0"/>
              <a:t>print(</a:t>
            </a:r>
            <a:r>
              <a:rPr lang="en-IN" dirty="0" err="1"/>
              <a:t>df</a:t>
            </a:r>
            <a:r>
              <a:rPr lang="en-IN" dirty="0"/>
              <a:t>['Marks'].var(</a:t>
            </a:r>
            <a:r>
              <a:rPr lang="en-IN" dirty="0" err="1"/>
              <a:t>ddof</a:t>
            </a:r>
            <a:r>
              <a:rPr lang="en-IN" dirty="0"/>
              <a:t>=0))</a:t>
            </a:r>
          </a:p>
        </p:txBody>
      </p:sp>
    </p:spTree>
    <p:extLst>
      <p:ext uri="{BB962C8B-B14F-4D97-AF65-F5344CB8AC3E}">
        <p14:creationId xmlns:p14="http://schemas.microsoft.com/office/powerpoint/2010/main" val="41353889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52401"/>
            <a:ext cx="8610600" cy="4708981"/>
          </a:xfrm>
          <a:prstGeom prst="rect">
            <a:avLst/>
          </a:prstGeom>
        </p:spPr>
        <p:txBody>
          <a:bodyPr wrap="square">
            <a:spAutoFit/>
          </a:bodyPr>
          <a:lstStyle/>
          <a:p>
            <a:pPr algn="just"/>
            <a:r>
              <a:rPr lang="en-IN" sz="2400" dirty="0">
                <a:solidFill>
                  <a:srgbClr val="FF0000"/>
                </a:solidFill>
                <a:latin typeface="Times New Roman" pitchFamily="18" charset="0"/>
                <a:cs typeface="Times New Roman" pitchFamily="18" charset="0"/>
              </a:rPr>
              <a:t>Graphic Displays of Basic Statistical Descriptions of Data:</a:t>
            </a:r>
          </a:p>
          <a:p>
            <a:pPr algn="just"/>
            <a:r>
              <a:rPr lang="en-IN" sz="2200" dirty="0">
                <a:latin typeface="Times New Roman" pitchFamily="18" charset="0"/>
                <a:cs typeface="Times New Roman" pitchFamily="18" charset="0"/>
              </a:rPr>
              <a:t>These include </a:t>
            </a:r>
            <a:r>
              <a:rPr lang="en-IN" sz="2200" dirty="0" err="1">
                <a:latin typeface="Times New Roman" pitchFamily="18" charset="0"/>
                <a:cs typeface="Times New Roman" pitchFamily="18" charset="0"/>
              </a:rPr>
              <a:t>quantile</a:t>
            </a:r>
            <a:r>
              <a:rPr lang="en-IN" sz="2200" dirty="0">
                <a:latin typeface="Times New Roman" pitchFamily="18" charset="0"/>
                <a:cs typeface="Times New Roman" pitchFamily="18" charset="0"/>
              </a:rPr>
              <a:t> plots, </a:t>
            </a:r>
            <a:r>
              <a:rPr lang="en-IN" sz="2200" dirty="0" err="1">
                <a:latin typeface="Times New Roman" pitchFamily="18" charset="0"/>
                <a:cs typeface="Times New Roman" pitchFamily="18" charset="0"/>
              </a:rPr>
              <a:t>quantile</a:t>
            </a:r>
            <a:r>
              <a:rPr lang="en-IN" sz="2200" dirty="0">
                <a:latin typeface="Times New Roman" pitchFamily="18" charset="0"/>
                <a:cs typeface="Times New Roman" pitchFamily="18" charset="0"/>
              </a:rPr>
              <a:t> –  </a:t>
            </a:r>
            <a:r>
              <a:rPr lang="en-IN" sz="2200" dirty="0" err="1">
                <a:latin typeface="Times New Roman" pitchFamily="18" charset="0"/>
                <a:cs typeface="Times New Roman" pitchFamily="18" charset="0"/>
              </a:rPr>
              <a:t>quantile</a:t>
            </a:r>
            <a:r>
              <a:rPr lang="en-IN" sz="2200" dirty="0">
                <a:latin typeface="Times New Roman" pitchFamily="18" charset="0"/>
                <a:cs typeface="Times New Roman" pitchFamily="18" charset="0"/>
              </a:rPr>
              <a:t> plots, histograms, and scatter plots. Such graphs are help full for the visual inspection of data, which is useful for data </a:t>
            </a:r>
            <a:r>
              <a:rPr lang="en-IN" sz="2200" dirty="0" err="1">
                <a:latin typeface="Times New Roman" pitchFamily="18" charset="0"/>
                <a:cs typeface="Times New Roman" pitchFamily="18" charset="0"/>
              </a:rPr>
              <a:t>preprocessing</a:t>
            </a:r>
            <a:r>
              <a:rPr lang="en-IN" sz="2200" dirty="0">
                <a:latin typeface="Times New Roman" pitchFamily="18" charset="0"/>
                <a:cs typeface="Times New Roman" pitchFamily="18" charset="0"/>
              </a:rPr>
              <a:t>. The first three of these show </a:t>
            </a:r>
            <a:r>
              <a:rPr lang="en-IN" sz="2200" dirty="0" err="1">
                <a:latin typeface="Times New Roman" pitchFamily="18" charset="0"/>
                <a:cs typeface="Times New Roman" pitchFamily="18" charset="0"/>
              </a:rPr>
              <a:t>univariate</a:t>
            </a:r>
            <a:r>
              <a:rPr lang="en-IN" sz="2200" dirty="0">
                <a:latin typeface="Times New Roman" pitchFamily="18" charset="0"/>
                <a:cs typeface="Times New Roman" pitchFamily="18" charset="0"/>
              </a:rPr>
              <a:t> distributions(i.e., data for one attribute), while scatter plots show bivariate distributions (i.e., involving two attributes). </a:t>
            </a:r>
          </a:p>
          <a:p>
            <a:pPr algn="just"/>
            <a:endParaRPr lang="en-IN" sz="2200" dirty="0">
              <a:latin typeface="Times New Roman" pitchFamily="18" charset="0"/>
              <a:cs typeface="Times New Roman" pitchFamily="18" charset="0"/>
            </a:endParaRPr>
          </a:p>
          <a:p>
            <a:pPr algn="just"/>
            <a:r>
              <a:rPr lang="en-IN" sz="2400" b="1" dirty="0" err="1">
                <a:solidFill>
                  <a:srgbClr val="FF0000"/>
                </a:solidFill>
                <a:latin typeface="Times New Roman" pitchFamily="18" charset="0"/>
                <a:cs typeface="Times New Roman" pitchFamily="18" charset="0"/>
              </a:rPr>
              <a:t>Quantile</a:t>
            </a:r>
            <a:r>
              <a:rPr lang="en-IN" sz="2400" b="1" dirty="0">
                <a:solidFill>
                  <a:srgbClr val="FF0000"/>
                </a:solidFill>
                <a:latin typeface="Times New Roman" pitchFamily="18" charset="0"/>
                <a:cs typeface="Times New Roman" pitchFamily="18" charset="0"/>
              </a:rPr>
              <a:t> Plot:</a:t>
            </a:r>
          </a:p>
          <a:p>
            <a:pPr algn="just"/>
            <a:endParaRPr lang="en-US" sz="2400" b="1" dirty="0">
              <a:solidFill>
                <a:srgbClr val="FF0000"/>
              </a:solidFill>
              <a:latin typeface="Times New Roman" pitchFamily="18" charset="0"/>
              <a:cs typeface="Times New Roman" pitchFamily="18" charset="0"/>
            </a:endParaRPr>
          </a:p>
          <a:p>
            <a:pPr algn="just"/>
            <a:endParaRPr lang="en-US" sz="2400" b="1" dirty="0">
              <a:solidFill>
                <a:srgbClr val="FF0000"/>
              </a:solidFill>
              <a:latin typeface="Times New Roman" pitchFamily="18" charset="0"/>
              <a:cs typeface="Times New Roman" pitchFamily="18" charset="0"/>
            </a:endParaRPr>
          </a:p>
          <a:p>
            <a:pPr algn="just"/>
            <a:r>
              <a:rPr lang="en-IN" sz="2400" b="1" dirty="0" err="1">
                <a:solidFill>
                  <a:srgbClr val="FF0000"/>
                </a:solidFill>
                <a:latin typeface="Times New Roman" pitchFamily="18" charset="0"/>
                <a:cs typeface="Times New Roman" pitchFamily="18" charset="0"/>
              </a:rPr>
              <a:t>Quantile</a:t>
            </a:r>
            <a:r>
              <a:rPr lang="en-IN" sz="2400" b="1" dirty="0">
                <a:solidFill>
                  <a:srgbClr val="FF0000"/>
                </a:solidFill>
                <a:latin typeface="Times New Roman" pitchFamily="18" charset="0"/>
                <a:cs typeface="Times New Roman" pitchFamily="18" charset="0"/>
              </a:rPr>
              <a:t> - </a:t>
            </a:r>
            <a:r>
              <a:rPr lang="en-IN" sz="2400" b="1" dirty="0" err="1">
                <a:solidFill>
                  <a:srgbClr val="FF0000"/>
                </a:solidFill>
                <a:latin typeface="Times New Roman" pitchFamily="18" charset="0"/>
                <a:cs typeface="Times New Roman" pitchFamily="18" charset="0"/>
              </a:rPr>
              <a:t>Quantile</a:t>
            </a:r>
            <a:r>
              <a:rPr lang="en-IN" sz="2400" b="1" dirty="0">
                <a:solidFill>
                  <a:srgbClr val="FF0000"/>
                </a:solidFill>
                <a:latin typeface="Times New Roman" pitchFamily="18" charset="0"/>
                <a:cs typeface="Times New Roman" pitchFamily="18" charset="0"/>
              </a:rPr>
              <a:t> Plot:</a:t>
            </a:r>
          </a:p>
          <a:p>
            <a:pPr algn="just"/>
            <a:endParaRPr lang="en-IN" sz="2400" b="1" dirty="0">
              <a:solidFill>
                <a:srgbClr val="FF0000"/>
              </a:solidFill>
              <a:latin typeface="Times New Roman" pitchFamily="18" charset="0"/>
              <a:cs typeface="Times New Roman" pitchFamily="18" charset="0"/>
            </a:endParaRPr>
          </a:p>
          <a:p>
            <a:pPr algn="just"/>
            <a:endParaRPr lang="en-IN" sz="2400"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9124680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76200" y="533400"/>
            <a:ext cx="8991599" cy="6248400"/>
          </a:xfrm>
          <a:prstGeom prst="rect">
            <a:avLst/>
          </a:prstGeom>
        </p:spPr>
      </p:pic>
      <p:sp>
        <p:nvSpPr>
          <p:cNvPr id="3" name="Rectangle 2"/>
          <p:cNvSpPr/>
          <p:nvPr/>
        </p:nvSpPr>
        <p:spPr>
          <a:xfrm>
            <a:off x="76199" y="0"/>
            <a:ext cx="8991599" cy="523220"/>
          </a:xfrm>
          <a:prstGeom prst="rect">
            <a:avLst/>
          </a:prstGeom>
        </p:spPr>
        <p:txBody>
          <a:bodyPr wrap="square">
            <a:spAutoFit/>
          </a:bodyPr>
          <a:lstStyle/>
          <a:p>
            <a:pPr algn="just"/>
            <a:r>
              <a:rPr lang="en-IN" sz="2800" b="1" dirty="0" err="1">
                <a:solidFill>
                  <a:srgbClr val="FF0000"/>
                </a:solidFill>
                <a:latin typeface="Times New Roman" pitchFamily="18" charset="0"/>
                <a:cs typeface="Times New Roman" pitchFamily="18" charset="0"/>
              </a:rPr>
              <a:t>Quantile</a:t>
            </a:r>
            <a:r>
              <a:rPr lang="en-IN" sz="2800" b="1" dirty="0">
                <a:solidFill>
                  <a:srgbClr val="FF0000"/>
                </a:solidFill>
                <a:latin typeface="Times New Roman" pitchFamily="18" charset="0"/>
                <a:cs typeface="Times New Roman" pitchFamily="18" charset="0"/>
              </a:rPr>
              <a:t> Plot:</a:t>
            </a:r>
          </a:p>
        </p:txBody>
      </p:sp>
    </p:spTree>
    <p:extLst>
      <p:ext uri="{BB962C8B-B14F-4D97-AF65-F5344CB8AC3E}">
        <p14:creationId xmlns:p14="http://schemas.microsoft.com/office/powerpoint/2010/main" val="9378007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609600"/>
            <a:ext cx="868680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76199" y="0"/>
            <a:ext cx="8991599" cy="523220"/>
          </a:xfrm>
          <a:prstGeom prst="rect">
            <a:avLst/>
          </a:prstGeom>
        </p:spPr>
        <p:txBody>
          <a:bodyPr wrap="square">
            <a:spAutoFit/>
          </a:bodyPr>
          <a:lstStyle/>
          <a:p>
            <a:pPr algn="just"/>
            <a:r>
              <a:rPr lang="en-IN" sz="2800" b="1" dirty="0" err="1">
                <a:solidFill>
                  <a:srgbClr val="FF0000"/>
                </a:solidFill>
                <a:latin typeface="Times New Roman" pitchFamily="18" charset="0"/>
                <a:cs typeface="Times New Roman" pitchFamily="18" charset="0"/>
              </a:rPr>
              <a:t>Quantile</a:t>
            </a:r>
            <a:r>
              <a:rPr lang="en-IN" sz="2800" b="1" dirty="0">
                <a:solidFill>
                  <a:srgbClr val="FF0000"/>
                </a:solidFill>
                <a:latin typeface="Times New Roman" pitchFamily="18" charset="0"/>
                <a:cs typeface="Times New Roman" pitchFamily="18" charset="0"/>
              </a:rPr>
              <a:t> - </a:t>
            </a:r>
            <a:r>
              <a:rPr lang="en-IN" sz="2800" b="1" dirty="0" err="1">
                <a:solidFill>
                  <a:srgbClr val="FF0000"/>
                </a:solidFill>
                <a:latin typeface="Times New Roman" pitchFamily="18" charset="0"/>
                <a:cs typeface="Times New Roman" pitchFamily="18" charset="0"/>
              </a:rPr>
              <a:t>Quantile</a:t>
            </a:r>
            <a:r>
              <a:rPr lang="en-IN" sz="2800" b="1" dirty="0">
                <a:solidFill>
                  <a:srgbClr val="FF0000"/>
                </a:solidFill>
                <a:latin typeface="Times New Roman" pitchFamily="18" charset="0"/>
                <a:cs typeface="Times New Roman" pitchFamily="18" charset="0"/>
              </a:rPr>
              <a:t> Plot:</a:t>
            </a:r>
          </a:p>
        </p:txBody>
      </p:sp>
    </p:spTree>
    <p:extLst>
      <p:ext uri="{BB962C8B-B14F-4D97-AF65-F5344CB8AC3E}">
        <p14:creationId xmlns:p14="http://schemas.microsoft.com/office/powerpoint/2010/main" val="26894378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304800"/>
            <a:ext cx="6477000"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489922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199" cy="523220"/>
          </a:xfrm>
          <a:prstGeom prst="rect">
            <a:avLst/>
          </a:prstGeom>
        </p:spPr>
        <p:txBody>
          <a:bodyPr wrap="square">
            <a:spAutoFit/>
          </a:bodyPr>
          <a:lstStyle/>
          <a:p>
            <a:r>
              <a:rPr lang="en-IN" sz="2800" dirty="0">
                <a:solidFill>
                  <a:srgbClr val="FF0000"/>
                </a:solidFill>
                <a:latin typeface="Times New Roman" pitchFamily="18" charset="0"/>
                <a:cs typeface="Times New Roman" pitchFamily="18" charset="0"/>
              </a:rPr>
              <a:t>Histograms: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96402"/>
            <a:ext cx="8686800" cy="59537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69979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166" y="152400"/>
            <a:ext cx="8664234"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24848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52400" y="675621"/>
            <a:ext cx="8839200" cy="6029980"/>
          </a:xfrm>
          <a:prstGeom prst="rect">
            <a:avLst/>
          </a:prstGeom>
        </p:spPr>
      </p:pic>
      <p:sp>
        <p:nvSpPr>
          <p:cNvPr id="3" name="Rectangle 2"/>
          <p:cNvSpPr/>
          <p:nvPr/>
        </p:nvSpPr>
        <p:spPr>
          <a:xfrm>
            <a:off x="152400" y="152400"/>
            <a:ext cx="8839199" cy="523220"/>
          </a:xfrm>
          <a:prstGeom prst="rect">
            <a:avLst/>
          </a:prstGeom>
        </p:spPr>
        <p:txBody>
          <a:bodyPr wrap="square">
            <a:spAutoFit/>
          </a:bodyPr>
          <a:lstStyle/>
          <a:p>
            <a:r>
              <a:rPr lang="en-IN" sz="2800" dirty="0">
                <a:solidFill>
                  <a:srgbClr val="FF0000"/>
                </a:solidFill>
                <a:latin typeface="Times New Roman" pitchFamily="18" charset="0"/>
                <a:cs typeface="Times New Roman" pitchFamily="18" charset="0"/>
              </a:rPr>
              <a:t>Histogram Analysis:</a:t>
            </a:r>
          </a:p>
        </p:txBody>
      </p:sp>
    </p:spTree>
    <p:extLst>
      <p:ext uri="{BB962C8B-B14F-4D97-AF65-F5344CB8AC3E}">
        <p14:creationId xmlns:p14="http://schemas.microsoft.com/office/powerpoint/2010/main" val="6418891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3000" cy="523220"/>
          </a:xfrm>
          <a:prstGeom prst="rect">
            <a:avLst/>
          </a:prstGeom>
        </p:spPr>
        <p:txBody>
          <a:bodyPr wrap="square">
            <a:spAutoFit/>
          </a:bodyPr>
          <a:lstStyle/>
          <a:p>
            <a:r>
              <a:rPr lang="en-US" sz="2800" dirty="0">
                <a:solidFill>
                  <a:srgbClr val="FF0000"/>
                </a:solidFill>
                <a:latin typeface="Times New Roman" pitchFamily="18" charset="0"/>
                <a:cs typeface="Times New Roman" pitchFamily="18" charset="0"/>
              </a:rPr>
              <a:t>Scatter Plots:</a:t>
            </a:r>
            <a:endParaRPr lang="en-IN" sz="2800" dirty="0">
              <a:solidFill>
                <a:srgbClr val="FF0000"/>
              </a:solidFill>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675620"/>
            <a:ext cx="8458200" cy="5877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902051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3000" cy="523220"/>
          </a:xfrm>
          <a:prstGeom prst="rect">
            <a:avLst/>
          </a:prstGeom>
        </p:spPr>
        <p:txBody>
          <a:bodyPr wrap="square">
            <a:spAutoFit/>
          </a:bodyPr>
          <a:lstStyle/>
          <a:p>
            <a:r>
              <a:rPr lang="en-US" sz="2800" dirty="0">
                <a:solidFill>
                  <a:srgbClr val="FF0000"/>
                </a:solidFill>
                <a:latin typeface="Times New Roman" pitchFamily="18" charset="0"/>
                <a:cs typeface="Times New Roman" pitchFamily="18" charset="0"/>
              </a:rPr>
              <a:t>Data Correlation:</a:t>
            </a:r>
            <a:endParaRPr lang="en-IN" sz="2800" dirty="0">
              <a:solidFill>
                <a:srgbClr val="FF0000"/>
              </a:solidFill>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1" y="1143000"/>
            <a:ext cx="87630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05777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1" y="838201"/>
            <a:ext cx="8686800" cy="3938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93730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ChangeArrowheads="1"/>
          </p:cNvSpPr>
          <p:nvPr/>
        </p:nvSpPr>
        <p:spPr>
          <a:xfrm>
            <a:off x="228600" y="365125"/>
            <a:ext cx="8534400" cy="625475"/>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4000" b="1" u="sng">
                <a:solidFill>
                  <a:srgbClr val="FF0000"/>
                </a:solidFill>
              </a:rPr>
              <a:t>Data Visualization</a:t>
            </a:r>
            <a:endParaRPr lang="en-IN" altLang="en-US" sz="4000" b="1" u="sng" dirty="0">
              <a:solidFill>
                <a:srgbClr val="FF0000"/>
              </a:solidFill>
            </a:endParaRPr>
          </a:p>
        </p:txBody>
      </p:sp>
      <p:pic>
        <p:nvPicPr>
          <p:cNvPr id="3" name="Content Placeholder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52401" y="1143000"/>
            <a:ext cx="8762999" cy="5181600"/>
          </a:xfrm>
          <a:prstGeom prst="rect">
            <a:avLst/>
          </a:prstGeom>
        </p:spPr>
      </p:pic>
    </p:spTree>
    <p:extLst>
      <p:ext uri="{BB962C8B-B14F-4D97-AF65-F5344CB8AC3E}">
        <p14:creationId xmlns:p14="http://schemas.microsoft.com/office/powerpoint/2010/main" val="8562043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ChangeArrowheads="1"/>
          </p:cNvSpPr>
          <p:nvPr/>
        </p:nvSpPr>
        <p:spPr>
          <a:xfrm>
            <a:off x="228600" y="152401"/>
            <a:ext cx="8686800" cy="6858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600" b="1"/>
              <a:t>Pixel-Oriented Visualization Techniques:</a:t>
            </a:r>
            <a:endParaRPr lang="en-IN" altLang="en-US" sz="3600" b="1" dirty="0"/>
          </a:p>
        </p:txBody>
      </p:sp>
      <p:pic>
        <p:nvPicPr>
          <p:cNvPr id="3" name="Content Placeholder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28601" y="838201"/>
            <a:ext cx="8686799" cy="5486399"/>
          </a:xfrm>
          <a:prstGeom prst="rect">
            <a:avLst/>
          </a:prstGeom>
        </p:spPr>
      </p:pic>
    </p:spTree>
    <p:extLst>
      <p:ext uri="{BB962C8B-B14F-4D97-AF65-F5344CB8AC3E}">
        <p14:creationId xmlns:p14="http://schemas.microsoft.com/office/powerpoint/2010/main" val="19077183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ChangeArrowheads="1"/>
          </p:cNvSpPr>
          <p:nvPr/>
        </p:nvSpPr>
        <p:spPr>
          <a:xfrm>
            <a:off x="152400" y="152401"/>
            <a:ext cx="8763000" cy="451644"/>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3200" b="1"/>
              <a:t>Laying out Pixels in Circle Segments:</a:t>
            </a:r>
            <a:endParaRPr lang="en-IN" altLang="en-US" sz="3200" b="1" dirty="0"/>
          </a:p>
        </p:txBody>
      </p:sp>
      <p:pic>
        <p:nvPicPr>
          <p:cNvPr id="4" name="Content Placeholder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28601" y="762000"/>
            <a:ext cx="8686799" cy="5486400"/>
          </a:xfrm>
          <a:prstGeom prst="rect">
            <a:avLst/>
          </a:prstGeom>
        </p:spPr>
      </p:pic>
    </p:spTree>
    <p:extLst>
      <p:ext uri="{BB962C8B-B14F-4D97-AF65-F5344CB8AC3E}">
        <p14:creationId xmlns:p14="http://schemas.microsoft.com/office/powerpoint/2010/main" val="40782673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ChangeArrowheads="1"/>
          </p:cNvSpPr>
          <p:nvPr/>
        </p:nvSpPr>
        <p:spPr>
          <a:xfrm>
            <a:off x="152400" y="76201"/>
            <a:ext cx="8839200" cy="533399"/>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altLang="en-US" sz="2200" b="1" dirty="0"/>
              <a:t>Geometric Projection Visualization Techniques: Direct Data Visualization:</a:t>
            </a:r>
            <a:endParaRPr lang="en-IN" altLang="en-US" sz="2200" b="1" dirty="0"/>
          </a:p>
        </p:txBody>
      </p:sp>
      <p:pic>
        <p:nvPicPr>
          <p:cNvPr id="3" name="Content Placeholder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81001" y="1068387"/>
            <a:ext cx="4648200" cy="3222625"/>
          </a:xfrm>
          <a:prstGeom prst="rect">
            <a:avLst/>
          </a:prstGeom>
        </p:spPr>
      </p:pic>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599" y="3276600"/>
            <a:ext cx="4191001" cy="343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57865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ChangeArrowheads="1"/>
          </p:cNvSpPr>
          <p:nvPr/>
        </p:nvSpPr>
        <p:spPr>
          <a:xfrm>
            <a:off x="838200" y="152401"/>
            <a:ext cx="7696200" cy="528638"/>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a:t>Scatterplot Matrices: Landscapes:</a:t>
            </a:r>
            <a:endParaRPr lang="en-IN" sz="3200" b="1" dirty="0"/>
          </a:p>
        </p:txBody>
      </p:sp>
      <p:pic>
        <p:nvPicPr>
          <p:cNvPr id="3" name="Content Placeholder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52400" y="1065213"/>
            <a:ext cx="4267201" cy="3859212"/>
          </a:xfrm>
          <a:prstGeom prst="rect">
            <a:avLst/>
          </a:prstGeom>
        </p:spPr>
      </p:pic>
      <p:pic>
        <p:nvPicPr>
          <p:cNvPr id="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1" y="1065213"/>
            <a:ext cx="4648199" cy="436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946031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ChangeArrowheads="1"/>
          </p:cNvSpPr>
          <p:nvPr/>
        </p:nvSpPr>
        <p:spPr>
          <a:xfrm>
            <a:off x="309563" y="152401"/>
            <a:ext cx="8148637" cy="533399"/>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dirty="0"/>
              <a:t>Parallel Coordinates: Parallel Coordinates of a Dataset</a:t>
            </a:r>
            <a:endParaRPr lang="en-IN" sz="2800" dirty="0"/>
          </a:p>
        </p:txBody>
      </p:sp>
      <p:pic>
        <p:nvPicPr>
          <p:cNvPr id="3" name="Content Placeholder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838200" y="928688"/>
            <a:ext cx="6781800" cy="4711700"/>
          </a:xfrm>
          <a:prstGeom prst="rect">
            <a:avLst/>
          </a:prstGeom>
        </p:spPr>
      </p:pic>
    </p:spTree>
    <p:extLst>
      <p:ext uri="{BB962C8B-B14F-4D97-AF65-F5344CB8AC3E}">
        <p14:creationId xmlns:p14="http://schemas.microsoft.com/office/powerpoint/2010/main" val="725708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245" y="685800"/>
            <a:ext cx="7696200" cy="471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47741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8534399" cy="584775"/>
          </a:xfrm>
          <a:prstGeom prst="rect">
            <a:avLst/>
          </a:prstGeom>
        </p:spPr>
        <p:txBody>
          <a:bodyPr wrap="square">
            <a:spAutoFit/>
          </a:bodyPr>
          <a:lstStyle/>
          <a:p>
            <a:r>
              <a:rPr lang="en-US" sz="3200" b="1" dirty="0"/>
              <a:t>Icon Based Visualization Techniques:</a:t>
            </a:r>
            <a:endParaRPr lang="en-IN" sz="3200" dirty="0"/>
          </a:p>
        </p:txBody>
      </p:sp>
      <p:pic>
        <p:nvPicPr>
          <p:cNvPr id="3" name="Content Placeholder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09601" y="813376"/>
            <a:ext cx="7619999" cy="5025450"/>
          </a:xfrm>
          <a:prstGeom prst="rect">
            <a:avLst/>
          </a:prstGeom>
        </p:spPr>
      </p:pic>
    </p:spTree>
    <p:extLst>
      <p:ext uri="{BB962C8B-B14F-4D97-AF65-F5344CB8AC3E}">
        <p14:creationId xmlns:p14="http://schemas.microsoft.com/office/powerpoint/2010/main" val="803852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ChangeArrowheads="1"/>
          </p:cNvSpPr>
          <p:nvPr/>
        </p:nvSpPr>
        <p:spPr>
          <a:xfrm>
            <a:off x="838200" y="152401"/>
            <a:ext cx="7924800" cy="6858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200" b="1" dirty="0" err="1"/>
              <a:t>Chernoff</a:t>
            </a:r>
            <a:r>
              <a:rPr lang="en-US" sz="3200" b="1" dirty="0"/>
              <a:t> Faces:</a:t>
            </a:r>
            <a:endParaRPr lang="en-IN" sz="3200" b="1" dirty="0"/>
          </a:p>
        </p:txBody>
      </p:sp>
      <p:pic>
        <p:nvPicPr>
          <p:cNvPr id="3" name="Content Placeholder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04801" y="1176338"/>
            <a:ext cx="8458199" cy="4505325"/>
          </a:xfrm>
          <a:prstGeom prst="rect">
            <a:avLst/>
          </a:prstGeom>
        </p:spPr>
      </p:pic>
    </p:spTree>
    <p:extLst>
      <p:ext uri="{BB962C8B-B14F-4D97-AF65-F5344CB8AC3E}">
        <p14:creationId xmlns:p14="http://schemas.microsoft.com/office/powerpoint/2010/main" val="41548204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ChangeArrowheads="1"/>
          </p:cNvSpPr>
          <p:nvPr/>
        </p:nvSpPr>
        <p:spPr>
          <a:xfrm>
            <a:off x="838200" y="152401"/>
            <a:ext cx="8001000" cy="609599"/>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200" b="1" dirty="0"/>
              <a:t>Stick Figure:</a:t>
            </a:r>
            <a:endParaRPr lang="en-IN" sz="3200" b="1" dirty="0"/>
          </a:p>
        </p:txBody>
      </p:sp>
      <p:pic>
        <p:nvPicPr>
          <p:cNvPr id="3" name="Content Placeholder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81001" y="838200"/>
            <a:ext cx="8229600" cy="5308600"/>
          </a:xfrm>
          <a:prstGeom prst="rect">
            <a:avLst/>
          </a:prstGeom>
        </p:spPr>
      </p:pic>
    </p:spTree>
    <p:extLst>
      <p:ext uri="{BB962C8B-B14F-4D97-AF65-F5344CB8AC3E}">
        <p14:creationId xmlns:p14="http://schemas.microsoft.com/office/powerpoint/2010/main" val="5993226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ChangeArrowheads="1"/>
          </p:cNvSpPr>
          <p:nvPr/>
        </p:nvSpPr>
        <p:spPr>
          <a:xfrm>
            <a:off x="838200" y="152401"/>
            <a:ext cx="7848600" cy="533399"/>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t>Hierarchical Visualization Techniques</a:t>
            </a:r>
            <a:r>
              <a:rPr lang="en-US" sz="2800" b="1" u="sng" dirty="0"/>
              <a:t>:            </a:t>
            </a:r>
            <a:endParaRPr lang="en-IN" sz="2800" b="1" u="sng" dirty="0"/>
          </a:p>
        </p:txBody>
      </p:sp>
      <p:pic>
        <p:nvPicPr>
          <p:cNvPr id="3" name="Content Placeholder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862013" y="1189038"/>
            <a:ext cx="5335587" cy="3927475"/>
          </a:xfrm>
          <a:prstGeom prst="rect">
            <a:avLst/>
          </a:prstGeom>
        </p:spPr>
      </p:pic>
    </p:spTree>
    <p:extLst>
      <p:ext uri="{BB962C8B-B14F-4D97-AF65-F5344CB8AC3E}">
        <p14:creationId xmlns:p14="http://schemas.microsoft.com/office/powerpoint/2010/main" val="9201408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ChangeArrowheads="1"/>
          </p:cNvSpPr>
          <p:nvPr/>
        </p:nvSpPr>
        <p:spPr>
          <a:xfrm>
            <a:off x="838200" y="76201"/>
            <a:ext cx="7924800" cy="6858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200" b="1" dirty="0"/>
              <a:t>Dimension Stacking:</a:t>
            </a:r>
            <a:endParaRPr lang="en-IN" sz="3200" b="1" dirty="0"/>
          </a:p>
        </p:txBody>
      </p:sp>
      <p:pic>
        <p:nvPicPr>
          <p:cNvPr id="3" name="Content Placeholder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817418" y="609600"/>
            <a:ext cx="7335982" cy="2425700"/>
          </a:xfrm>
          <a:prstGeom prst="rect">
            <a:avLst/>
          </a:prstGeom>
        </p:spPr>
      </p:pic>
      <p:pic>
        <p:nvPicPr>
          <p:cNvPr id="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035300"/>
            <a:ext cx="7315200" cy="3788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834158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ChangeArrowheads="1"/>
          </p:cNvSpPr>
          <p:nvPr/>
        </p:nvSpPr>
        <p:spPr>
          <a:xfrm>
            <a:off x="304800" y="141288"/>
            <a:ext cx="8001000" cy="62071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200" b="1" dirty="0"/>
              <a:t>Worlds-within-worlds: Tree-Map:</a:t>
            </a:r>
            <a:endParaRPr lang="en-IN" sz="3200" b="1" dirty="0"/>
          </a:p>
        </p:txBody>
      </p:sp>
      <p:pic>
        <p:nvPicPr>
          <p:cNvPr id="3" name="Content Placeholder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60363" y="1363663"/>
            <a:ext cx="7945437" cy="4130675"/>
          </a:xfrm>
          <a:prstGeom prst="rect">
            <a:avLst/>
          </a:prstGeom>
        </p:spPr>
      </p:pic>
    </p:spTree>
    <p:extLst>
      <p:ext uri="{BB962C8B-B14F-4D97-AF65-F5344CB8AC3E}">
        <p14:creationId xmlns:p14="http://schemas.microsoft.com/office/powerpoint/2010/main" val="4887466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363663"/>
            <a:ext cx="8229600"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14815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ChangeArrowheads="1"/>
          </p:cNvSpPr>
          <p:nvPr/>
        </p:nvSpPr>
        <p:spPr>
          <a:xfrm>
            <a:off x="533400" y="152401"/>
            <a:ext cx="8077200" cy="914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dirty="0" err="1"/>
              <a:t>InfoCube</a:t>
            </a:r>
            <a:endParaRPr lang="en-IN" dirty="0"/>
          </a:p>
        </p:txBody>
      </p:sp>
      <p:pic>
        <p:nvPicPr>
          <p:cNvPr id="3" name="Content Placeholder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61938" y="1066801"/>
            <a:ext cx="4310062" cy="3443287"/>
          </a:xfrm>
          <a:prstGeom prst="rect">
            <a:avLst/>
          </a:prstGeom>
        </p:spPr>
      </p:pic>
      <p:pic>
        <p:nvPicPr>
          <p:cNvPr id="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1" y="717550"/>
            <a:ext cx="4343400" cy="577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890907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52400"/>
            <a:ext cx="8077200" cy="584775"/>
          </a:xfrm>
          <a:prstGeom prst="rect">
            <a:avLst/>
          </a:prstGeom>
        </p:spPr>
        <p:txBody>
          <a:bodyPr wrap="square">
            <a:spAutoFit/>
          </a:bodyPr>
          <a:lstStyle/>
          <a:p>
            <a:r>
              <a:rPr lang="en-US" sz="3200" b="1" dirty="0"/>
              <a:t>Visualizing complex Data and Relations:</a:t>
            </a:r>
            <a:endParaRPr lang="en-IN" sz="3200" dirty="0"/>
          </a:p>
        </p:txBody>
      </p:sp>
      <p:pic>
        <p:nvPicPr>
          <p:cNvPr id="3" name="Content Placeholder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04801" y="1168400"/>
            <a:ext cx="8305800" cy="4529138"/>
          </a:xfrm>
          <a:prstGeom prst="rect">
            <a:avLst/>
          </a:prstGeom>
        </p:spPr>
      </p:pic>
    </p:spTree>
    <p:extLst>
      <p:ext uri="{BB962C8B-B14F-4D97-AF65-F5344CB8AC3E}">
        <p14:creationId xmlns:p14="http://schemas.microsoft.com/office/powerpoint/2010/main" val="34189056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988</TotalTime>
  <Words>2531</Words>
  <Application>Microsoft Office PowerPoint</Application>
  <PresentationFormat>On-screen Show (4:3)</PresentationFormat>
  <Paragraphs>250</Paragraphs>
  <Slides>59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59</vt:i4>
      </vt:variant>
    </vt:vector>
  </HeadingPairs>
  <TitlesOfParts>
    <vt:vector size="66" baseType="lpstr">
      <vt:lpstr>Arial</vt:lpstr>
      <vt:lpstr>Calibri</vt:lpstr>
      <vt:lpstr>Cambria Math</vt:lpstr>
      <vt:lpstr>Courier New</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india</dc:creator>
  <cp:lastModifiedBy>ADMIN</cp:lastModifiedBy>
  <cp:revision>45</cp:revision>
  <dcterms:created xsi:type="dcterms:W3CDTF">2006-08-16T00:00:00Z</dcterms:created>
  <dcterms:modified xsi:type="dcterms:W3CDTF">2026-07-31T04:27:20Z</dcterms:modified>
</cp:coreProperties>
</file>