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312" r:id="rId3"/>
    <p:sldId id="313" r:id="rId4"/>
    <p:sldId id="257" r:id="rId5"/>
    <p:sldId id="258" r:id="rId6"/>
    <p:sldId id="259" r:id="rId7"/>
    <p:sldId id="260" r:id="rId8"/>
    <p:sldId id="301" r:id="rId9"/>
    <p:sldId id="261" r:id="rId10"/>
    <p:sldId id="262" r:id="rId11"/>
    <p:sldId id="317" r:id="rId12"/>
    <p:sldId id="315" r:id="rId13"/>
    <p:sldId id="318" r:id="rId14"/>
    <p:sldId id="314" r:id="rId15"/>
    <p:sldId id="263" r:id="rId16"/>
    <p:sldId id="319" r:id="rId17"/>
    <p:sldId id="264" r:id="rId18"/>
    <p:sldId id="265" r:id="rId19"/>
    <p:sldId id="266" r:id="rId20"/>
    <p:sldId id="267" r:id="rId21"/>
    <p:sldId id="268" r:id="rId22"/>
    <p:sldId id="269" r:id="rId23"/>
    <p:sldId id="270" r:id="rId24"/>
    <p:sldId id="271" r:id="rId25"/>
    <p:sldId id="320" r:id="rId26"/>
    <p:sldId id="272" r:id="rId27"/>
    <p:sldId id="273" r:id="rId28"/>
    <p:sldId id="316" r:id="rId29"/>
    <p:sldId id="274" r:id="rId30"/>
    <p:sldId id="275" r:id="rId31"/>
    <p:sldId id="276" r:id="rId32"/>
    <p:sldId id="277" r:id="rId33"/>
    <p:sldId id="278" r:id="rId34"/>
    <p:sldId id="303" r:id="rId35"/>
    <p:sldId id="304" r:id="rId36"/>
    <p:sldId id="305" r:id="rId37"/>
    <p:sldId id="306" r:id="rId38"/>
    <p:sldId id="307" r:id="rId39"/>
    <p:sldId id="308" r:id="rId40"/>
    <p:sldId id="309" r:id="rId41"/>
    <p:sldId id="310" r:id="rId42"/>
    <p:sldId id="279" r:id="rId43"/>
    <p:sldId id="280" r:id="rId44"/>
    <p:sldId id="281" r:id="rId45"/>
    <p:sldId id="282" r:id="rId46"/>
    <p:sldId id="283" r:id="rId47"/>
    <p:sldId id="302" r:id="rId48"/>
    <p:sldId id="284" r:id="rId49"/>
    <p:sldId id="285" r:id="rId50"/>
    <p:sldId id="31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2" autoAdjust="0"/>
    <p:restoredTop sz="94660"/>
  </p:normalViewPr>
  <p:slideViewPr>
    <p:cSldViewPr>
      <p:cViewPr varScale="1">
        <p:scale>
          <a:sx n="81" d="100"/>
          <a:sy n="81" d="100"/>
        </p:scale>
        <p:origin x="15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386C26-66FF-4BE6-B205-DE18CC43BCE5}" type="datetimeFigureOut">
              <a:rPr lang="en-IN" smtClean="0"/>
              <a:t>14-07-2026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ACDD60-CE98-4051-B763-A2AE8CBD5982}" type="slidenum">
              <a:rPr lang="en-IN" smtClean="0"/>
              <a:t>‹#›</a:t>
            </a:fld>
            <a:endParaRPr lang="en-IN"/>
          </a:p>
        </p:txBody>
      </p:sp>
    </p:spTree>
    <p:extLst>
      <p:ext uri="{BB962C8B-B14F-4D97-AF65-F5344CB8AC3E}">
        <p14:creationId xmlns:p14="http://schemas.microsoft.com/office/powerpoint/2010/main" val="33073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3ACDD60-CE98-4051-B763-A2AE8CBD5982}" type="slidenum">
              <a:rPr lang="en-IN" smtClean="0"/>
              <a:t>10</a:t>
            </a:fld>
            <a:endParaRPr lang="en-IN"/>
          </a:p>
        </p:txBody>
      </p:sp>
    </p:spTree>
    <p:extLst>
      <p:ext uri="{BB962C8B-B14F-4D97-AF65-F5344CB8AC3E}">
        <p14:creationId xmlns:p14="http://schemas.microsoft.com/office/powerpoint/2010/main" val="1562439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81000"/>
            <a:ext cx="8305800" cy="2677656"/>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UNIT II</a:t>
            </a:r>
          </a:p>
          <a:p>
            <a:pPr algn="just"/>
            <a:endParaRPr lang="en-US" sz="2800" dirty="0">
              <a:solidFill>
                <a:srgbClr val="00B050"/>
              </a:solidFill>
              <a:latin typeface="Times New Roman" pitchFamily="18" charset="0"/>
              <a:cs typeface="Times New Roman" pitchFamily="18" charset="0"/>
            </a:endParaRPr>
          </a:p>
          <a:p>
            <a:pPr algn="just"/>
            <a:r>
              <a:rPr lang="en-US" sz="2800" dirty="0">
                <a:solidFill>
                  <a:srgbClr val="00B050"/>
                </a:solidFill>
                <a:latin typeface="Times New Roman" pitchFamily="18" charset="0"/>
                <a:cs typeface="Times New Roman" pitchFamily="18" charset="0"/>
              </a:rPr>
              <a:t>Data Preprocessing: </a:t>
            </a:r>
          </a:p>
          <a:p>
            <a:pPr algn="just"/>
            <a:r>
              <a:rPr lang="en-US" sz="2800" dirty="0">
                <a:solidFill>
                  <a:srgbClr val="00B050"/>
                </a:solidFill>
                <a:latin typeface="Times New Roman" pitchFamily="18" charset="0"/>
                <a:cs typeface="Times New Roman" pitchFamily="18" charset="0"/>
              </a:rPr>
              <a:t>	</a:t>
            </a:r>
            <a:r>
              <a:rPr lang="en-US" sz="2800" dirty="0">
                <a:latin typeface="Times New Roman" pitchFamily="18" charset="0"/>
                <a:cs typeface="Times New Roman" pitchFamily="18" charset="0"/>
              </a:rPr>
              <a:t>An Overview, Data Cleaning, Data Integration, Data Reduction, Data Transformation and Data Discretization.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80466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026D79-E664-4C3B-AA29-8406DA450A05}"/>
              </a:ext>
            </a:extLst>
          </p:cNvPr>
          <p:cNvSpPr/>
          <p:nvPr/>
        </p:nvSpPr>
        <p:spPr>
          <a:xfrm>
            <a:off x="685800" y="381000"/>
            <a:ext cx="7924800" cy="1323439"/>
          </a:xfrm>
          <a:prstGeom prst="rect">
            <a:avLst/>
          </a:prstGeom>
        </p:spPr>
        <p:txBody>
          <a:bodyPr wrap="square">
            <a:spAutoFit/>
          </a:bodyPr>
          <a:lstStyle/>
          <a:p>
            <a:pPr algn="just"/>
            <a:r>
              <a:rPr lang="en-GB" sz="2000" dirty="0">
                <a:latin typeface="Times New Roman" panose="02020603050405020304" pitchFamily="18" charset="0"/>
                <a:cs typeface="Times New Roman" panose="02020603050405020304" pitchFamily="18" charset="0"/>
              </a:rPr>
              <a:t>"</a:t>
            </a:r>
            <a:r>
              <a:rPr lang="en-GB" sz="2000" b="1" dirty="0">
                <a:highlight>
                  <a:srgbClr val="FFFF00"/>
                </a:highlight>
                <a:latin typeface="Times New Roman" panose="02020603050405020304" pitchFamily="18" charset="0"/>
                <a:cs typeface="Times New Roman" panose="02020603050405020304" pitchFamily="18" charset="0"/>
              </a:rPr>
              <a:t>Data Mining </a:t>
            </a:r>
            <a:r>
              <a:rPr lang="en-GB" sz="2000" dirty="0">
                <a:latin typeface="Times New Roman" panose="02020603050405020304" pitchFamily="18" charset="0"/>
                <a:cs typeface="Times New Roman" panose="02020603050405020304" pitchFamily="18" charset="0"/>
              </a:rPr>
              <a:t>is the process of discovering interesting knowledge, such as patterns, associations, changes, anomalies, and significant structures, from large amounts of data stored in databases, data warehouses, or other information repositories."</a:t>
            </a:r>
            <a:endParaRPr lang="en-IN" sz="2000" dirty="0">
              <a:latin typeface="Times New Roman" panose="02020603050405020304" pitchFamily="18" charset="0"/>
              <a:cs typeface="Times New Roman" panose="02020603050405020304" pitchFamily="18" charset="0"/>
            </a:endParaRPr>
          </a:p>
        </p:txBody>
      </p:sp>
      <p:pic>
        <p:nvPicPr>
          <p:cNvPr id="3" name="Picture 5">
            <a:extLst>
              <a:ext uri="{FF2B5EF4-FFF2-40B4-BE49-F238E27FC236}">
                <a16:creationId xmlns:a16="http://schemas.microsoft.com/office/drawing/2014/main" id="{5412F8CA-47FA-4735-9A6C-51F63060A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72092"/>
            <a:ext cx="7467600" cy="4933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7899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9FDD64-2A5D-41FD-BAAE-74EFA6855F0A}"/>
              </a:ext>
            </a:extLst>
          </p:cNvPr>
          <p:cNvSpPr/>
          <p:nvPr/>
        </p:nvSpPr>
        <p:spPr>
          <a:xfrm>
            <a:off x="304800" y="228601"/>
            <a:ext cx="8610600" cy="6370975"/>
          </a:xfrm>
          <a:prstGeom prst="rect">
            <a:avLst/>
          </a:prstGeom>
        </p:spPr>
        <p:txBody>
          <a:bodyPr wrap="square">
            <a:spAutoFit/>
          </a:bodyPr>
          <a:lstStyle/>
          <a:p>
            <a:pPr algn="just"/>
            <a:r>
              <a:rPr lang="en-US" sz="2400" dirty="0">
                <a:latin typeface="Times New Roman" pitchFamily="18" charset="0"/>
                <a:cs typeface="Times New Roman" pitchFamily="18" charset="0"/>
              </a:rPr>
              <a:t>The knowledge discovery process is shown in above Fig. as an iterative sequence of the following steps: </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1</a:t>
            </a:r>
            <a:r>
              <a:rPr lang="en-US" sz="2400" b="1" dirty="0">
                <a:latin typeface="Times New Roman" pitchFamily="18" charset="0"/>
                <a:cs typeface="Times New Roman" pitchFamily="18" charset="0"/>
              </a:rPr>
              <a:t>. Data cleaning </a:t>
            </a:r>
            <a:r>
              <a:rPr lang="en-US" sz="2400" dirty="0">
                <a:latin typeface="Times New Roman" pitchFamily="18" charset="0"/>
                <a:cs typeface="Times New Roman" pitchFamily="18" charset="0"/>
              </a:rPr>
              <a:t>(to remove noise and inconsistent data)  </a:t>
            </a:r>
          </a:p>
          <a:p>
            <a:pPr algn="just"/>
            <a:r>
              <a:rPr lang="en-US" sz="2400" dirty="0">
                <a:latin typeface="Times New Roman" pitchFamily="18" charset="0"/>
                <a:cs typeface="Times New Roman" pitchFamily="18" charset="0"/>
              </a:rPr>
              <a:t>2</a:t>
            </a:r>
            <a:r>
              <a:rPr lang="en-US" sz="2400" b="1" dirty="0">
                <a:latin typeface="Times New Roman" pitchFamily="18" charset="0"/>
                <a:cs typeface="Times New Roman" pitchFamily="18" charset="0"/>
              </a:rPr>
              <a:t>. Data integration </a:t>
            </a:r>
            <a:r>
              <a:rPr lang="en-US" sz="2400" dirty="0">
                <a:latin typeface="Times New Roman" pitchFamily="18" charset="0"/>
                <a:cs typeface="Times New Roman" pitchFamily="18" charset="0"/>
              </a:rPr>
              <a:t>(where multiple data sources may be combined)</a:t>
            </a:r>
          </a:p>
          <a:p>
            <a:pPr algn="just"/>
            <a:r>
              <a:rPr lang="en-US" sz="2400" dirty="0">
                <a:latin typeface="Times New Roman" pitchFamily="18" charset="0"/>
                <a:cs typeface="Times New Roman" pitchFamily="18" charset="0"/>
              </a:rPr>
              <a:t>3. </a:t>
            </a:r>
            <a:r>
              <a:rPr lang="en-US" sz="2400" b="1" dirty="0">
                <a:latin typeface="Times New Roman" pitchFamily="18" charset="0"/>
                <a:cs typeface="Times New Roman" pitchFamily="18" charset="0"/>
              </a:rPr>
              <a:t>Data selection </a:t>
            </a:r>
            <a:r>
              <a:rPr lang="en-US" sz="2400" dirty="0">
                <a:latin typeface="Times New Roman" pitchFamily="18" charset="0"/>
                <a:cs typeface="Times New Roman" pitchFamily="18" charset="0"/>
              </a:rPr>
              <a:t>(where data relevant to the analysis task are retrieved from the database) </a:t>
            </a:r>
          </a:p>
          <a:p>
            <a:pPr algn="just"/>
            <a:r>
              <a:rPr lang="en-US" sz="2400" dirty="0">
                <a:latin typeface="Times New Roman" pitchFamily="18" charset="0"/>
                <a:cs typeface="Times New Roman" pitchFamily="18" charset="0"/>
              </a:rPr>
              <a:t>4. </a:t>
            </a:r>
            <a:r>
              <a:rPr lang="en-US" sz="2400" b="1" dirty="0">
                <a:latin typeface="Times New Roman" pitchFamily="18" charset="0"/>
                <a:cs typeface="Times New Roman" pitchFamily="18" charset="0"/>
              </a:rPr>
              <a:t>Data transformation </a:t>
            </a:r>
            <a:r>
              <a:rPr lang="en-US" sz="2400" dirty="0">
                <a:latin typeface="Times New Roman" pitchFamily="18" charset="0"/>
                <a:cs typeface="Times New Roman" pitchFamily="18" charset="0"/>
              </a:rPr>
              <a:t>(where data are transformed and consolidated into forms appropriate for mining by performing summary or aggregation operations)</a:t>
            </a:r>
          </a:p>
          <a:p>
            <a:pPr algn="just"/>
            <a:r>
              <a:rPr lang="en-US" sz="2400" dirty="0">
                <a:latin typeface="Times New Roman" pitchFamily="18" charset="0"/>
                <a:cs typeface="Times New Roman" pitchFamily="18" charset="0"/>
              </a:rPr>
              <a:t>5. </a:t>
            </a:r>
            <a:r>
              <a:rPr lang="en-US" sz="2400" b="1" dirty="0">
                <a:latin typeface="Times New Roman" pitchFamily="18" charset="0"/>
                <a:cs typeface="Times New Roman" pitchFamily="18" charset="0"/>
              </a:rPr>
              <a:t>Data mining </a:t>
            </a:r>
            <a:r>
              <a:rPr lang="en-US" sz="2400" dirty="0">
                <a:latin typeface="Times New Roman" pitchFamily="18" charset="0"/>
                <a:cs typeface="Times New Roman" pitchFamily="18" charset="0"/>
              </a:rPr>
              <a:t>(an essential process where intelligent methods are applied to extract data patterns) </a:t>
            </a:r>
          </a:p>
          <a:p>
            <a:pPr algn="just"/>
            <a:r>
              <a:rPr lang="en-US" sz="2400" dirty="0">
                <a:latin typeface="Times New Roman" pitchFamily="18" charset="0"/>
                <a:cs typeface="Times New Roman" pitchFamily="18" charset="0"/>
              </a:rPr>
              <a:t>6. </a:t>
            </a:r>
            <a:r>
              <a:rPr lang="en-US" sz="2400" b="1" dirty="0">
                <a:latin typeface="Times New Roman" pitchFamily="18" charset="0"/>
                <a:cs typeface="Times New Roman" pitchFamily="18" charset="0"/>
              </a:rPr>
              <a:t>Pattern evaluation </a:t>
            </a:r>
            <a:r>
              <a:rPr lang="en-US" sz="2400" dirty="0">
                <a:latin typeface="Times New Roman" pitchFamily="18" charset="0"/>
                <a:cs typeface="Times New Roman" pitchFamily="18" charset="0"/>
              </a:rPr>
              <a:t>(to identify the truly interesting patterns representing knowledge based on interestingness measures) </a:t>
            </a:r>
          </a:p>
          <a:p>
            <a:pPr algn="just"/>
            <a:r>
              <a:rPr lang="en-US" sz="2400" dirty="0">
                <a:latin typeface="Times New Roman" pitchFamily="18" charset="0"/>
                <a:cs typeface="Times New Roman" pitchFamily="18" charset="0"/>
              </a:rPr>
              <a:t>7. </a:t>
            </a:r>
            <a:r>
              <a:rPr lang="en-US" sz="2400" b="1" dirty="0">
                <a:latin typeface="Times New Roman" pitchFamily="18" charset="0"/>
                <a:cs typeface="Times New Roman" pitchFamily="18" charset="0"/>
              </a:rPr>
              <a:t>Knowledge presentation </a:t>
            </a:r>
            <a:r>
              <a:rPr lang="en-US" sz="2400" dirty="0">
                <a:latin typeface="Times New Roman" pitchFamily="18" charset="0"/>
                <a:cs typeface="Times New Roman" pitchFamily="18" charset="0"/>
              </a:rPr>
              <a:t>(where visualization and knowledge representation techniques are used to present mined knowledge to users)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4018569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763000" cy="5539978"/>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Introduction:</a:t>
            </a:r>
          </a:p>
          <a:p>
            <a:pPr algn="just"/>
            <a:r>
              <a:rPr lang="en-US" sz="2200" dirty="0">
                <a:latin typeface="Times New Roman" pitchFamily="18" charset="0"/>
                <a:cs typeface="Times New Roman" pitchFamily="18" charset="0"/>
              </a:rPr>
              <a:t>	Today’s real-world databases are highly susceptible to noisy, missing, and inconsistent data due to their typically huge size and their likely origin from multiple, </a:t>
            </a:r>
            <a:r>
              <a:rPr lang="en-US" sz="2200" dirty="0" err="1">
                <a:latin typeface="Times New Roman" pitchFamily="18" charset="0"/>
                <a:cs typeface="Times New Roman" pitchFamily="18" charset="0"/>
              </a:rPr>
              <a:t>heterogenous</a:t>
            </a:r>
            <a:r>
              <a:rPr lang="en-US" sz="2200" dirty="0">
                <a:latin typeface="Times New Roman" pitchFamily="18" charset="0"/>
                <a:cs typeface="Times New Roman" pitchFamily="18" charset="0"/>
              </a:rPr>
              <a:t> sources.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Low-quality data will lead to low-quality mining results</a:t>
            </a:r>
            <a:r>
              <a:rPr lang="en-US" sz="2200" dirty="0">
                <a:latin typeface="Times New Roman" pitchFamily="18" charset="0"/>
                <a:cs typeface="Times New Roman" pitchFamily="18" charset="0"/>
              </a:rPr>
              <a:t>. </a:t>
            </a:r>
          </a:p>
          <a:p>
            <a:pPr marL="457200" indent="-457200" algn="just">
              <a:buAutoNum type="arabicPeriod"/>
            </a:pPr>
            <a:r>
              <a:rPr lang="en-US" sz="2200" dirty="0">
                <a:latin typeface="Times New Roman" pitchFamily="18" charset="0"/>
                <a:cs typeface="Times New Roman" pitchFamily="18" charset="0"/>
              </a:rPr>
              <a:t>How can the data be preprocessed in order to help improve the quality of the data and, consequently, of the mining results? </a:t>
            </a:r>
          </a:p>
          <a:p>
            <a:pPr marL="457200" indent="-457200" algn="just">
              <a:buAutoNum type="arabicPeriod"/>
            </a:pPr>
            <a:r>
              <a:rPr lang="en-US" sz="2200" dirty="0">
                <a:latin typeface="Times New Roman" pitchFamily="18" charset="0"/>
                <a:cs typeface="Times New Roman" pitchFamily="18" charset="0"/>
              </a:rPr>
              <a:t>How can the data be preprocessed so as to improve the efficiency and ease of the mining process?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There are several data preprocessing techniques. </a:t>
            </a:r>
          </a:p>
          <a:p>
            <a:pPr marL="457200" indent="-457200" algn="just">
              <a:buAutoNum type="arabicPeriod"/>
            </a:pPr>
            <a:r>
              <a:rPr lang="en-US" sz="2200" dirty="0">
                <a:latin typeface="Times New Roman" pitchFamily="18" charset="0"/>
                <a:cs typeface="Times New Roman" pitchFamily="18" charset="0"/>
              </a:rPr>
              <a:t>Data cleaning can be applied to remove noise and correct inconsistencies in data. </a:t>
            </a:r>
          </a:p>
          <a:p>
            <a:pPr marL="457200" indent="-457200" algn="just">
              <a:buAutoNum type="arabicPeriod"/>
            </a:pPr>
            <a:r>
              <a:rPr lang="en-US" sz="2200" dirty="0">
                <a:latin typeface="Times New Roman" pitchFamily="18" charset="0"/>
                <a:cs typeface="Times New Roman" pitchFamily="18" charset="0"/>
              </a:rPr>
              <a:t>Data integration merges data from multiple sources into a coherent data store such as a data warehouse.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846428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5509200"/>
          </a:xfrm>
          <a:prstGeom prst="rect">
            <a:avLst/>
          </a:prstGeom>
        </p:spPr>
        <p:txBody>
          <a:bodyPr wrap="square">
            <a:spAutoFit/>
          </a:bodyPr>
          <a:lstStyle/>
          <a:p>
            <a:pPr algn="just"/>
            <a:r>
              <a:rPr lang="en-US" sz="2200" dirty="0">
                <a:latin typeface="Times New Roman" pitchFamily="18" charset="0"/>
                <a:cs typeface="Times New Roman" pitchFamily="18" charset="0"/>
              </a:rPr>
              <a:t>3. Data reduction can reduce data size by: </a:t>
            </a: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Aggregating, eliminating redundant features, or clustering.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4. Data transformations may be applied, where data are scaled to fall within a smaller range like 0.0 to 1.0.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This can improve the accuracy and efficiency of mining algorithms involving distance measurements.</a:t>
            </a:r>
          </a:p>
          <a:p>
            <a:pPr algn="just"/>
            <a:endParaRPr lang="en-US" sz="2200" dirty="0">
              <a:latin typeface="Times New Roman" pitchFamily="18" charset="0"/>
              <a:cs typeface="Times New Roman" pitchFamily="18" charset="0"/>
            </a:endParaRPr>
          </a:p>
          <a:p>
            <a:pPr algn="just"/>
            <a:r>
              <a:rPr lang="en-IN" sz="2200" b="1" dirty="0">
                <a:solidFill>
                  <a:srgbClr val="FF0000"/>
                </a:solidFill>
                <a:latin typeface="Times New Roman" pitchFamily="18" charset="0"/>
                <a:cs typeface="Times New Roman" pitchFamily="18" charset="0"/>
              </a:rPr>
              <a:t>Data </a:t>
            </a:r>
            <a:r>
              <a:rPr lang="en-IN" sz="2200" b="1" dirty="0" err="1">
                <a:solidFill>
                  <a:srgbClr val="FF0000"/>
                </a:solidFill>
                <a:latin typeface="Times New Roman" pitchFamily="18" charset="0"/>
                <a:cs typeface="Times New Roman" pitchFamily="18" charset="0"/>
              </a:rPr>
              <a:t>Preprocessing</a:t>
            </a:r>
            <a:r>
              <a:rPr lang="en-IN" sz="2200" b="1" dirty="0">
                <a:solidFill>
                  <a:srgbClr val="FF0000"/>
                </a:solidFill>
                <a:latin typeface="Times New Roman" pitchFamily="18" charset="0"/>
                <a:cs typeface="Times New Roman" pitchFamily="18" charset="0"/>
              </a:rPr>
              <a:t>: An Overview</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Data Quality: </a:t>
            </a:r>
            <a:r>
              <a:rPr lang="en-US" sz="2200" dirty="0">
                <a:latin typeface="Times New Roman" pitchFamily="18" charset="0"/>
                <a:cs typeface="Times New Roman" pitchFamily="18" charset="0"/>
              </a:rPr>
              <a:t>Why Preprocess the Data?</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have quality if they satisfy the requirements of the intended use. There are many factors comprising data quality, including accuracy, completeness, consistency, timeliness, believability, and interpretability.</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22604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4832092"/>
          </a:xfrm>
          <a:prstGeom prst="rect">
            <a:avLst/>
          </a:prstGeom>
        </p:spPr>
        <p:txBody>
          <a:bodyPr wrap="square">
            <a:spAutoFit/>
          </a:bodyPr>
          <a:lstStyle/>
          <a:p>
            <a:pPr algn="just"/>
            <a:r>
              <a:rPr lang="en-US" sz="2200" dirty="0">
                <a:latin typeface="Times New Roman" pitchFamily="18" charset="0"/>
                <a:cs typeface="Times New Roman" pitchFamily="18" charset="0"/>
              </a:rPr>
              <a:t>	Suppose you want to analyze </a:t>
            </a:r>
            <a:r>
              <a:rPr lang="en-US" sz="2200" b="1"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with respect to your branch’s sales. You carefully inspect the company’s database and data warehouse, identifying and selecting the attributes or dimensions (e.g., item, price, and units sold) to be included in your analysis.</a:t>
            </a:r>
          </a:p>
          <a:p>
            <a:pPr algn="just"/>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This scenario illustrates three of the elements defining data quality: </a:t>
            </a:r>
            <a:r>
              <a:rPr lang="en-US" sz="2200" b="1" dirty="0">
                <a:latin typeface="Times New Roman" pitchFamily="18" charset="0"/>
                <a:cs typeface="Times New Roman" pitchFamily="18" charset="0"/>
              </a:rPr>
              <a:t>accuracy, completeness, and consistency.</a:t>
            </a:r>
          </a:p>
          <a:p>
            <a:pPr algn="just"/>
            <a:endParaRPr lang="en-US" sz="2200" b="1"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Timeliness</a:t>
            </a:r>
            <a:r>
              <a:rPr lang="en-US" sz="2200" dirty="0">
                <a:latin typeface="Times New Roman" pitchFamily="18" charset="0"/>
                <a:cs typeface="Times New Roman" pitchFamily="18" charset="0"/>
              </a:rPr>
              <a:t> also affects data quality.</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Two other factors: </a:t>
            </a:r>
          </a:p>
          <a:p>
            <a:pPr algn="just"/>
            <a:endParaRPr lang="en-US" sz="2200" b="1" dirty="0">
              <a:solidFill>
                <a:srgbClr val="00B050"/>
              </a:solidFill>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Believability</a:t>
            </a:r>
            <a:r>
              <a:rPr lang="en-US" sz="2200" dirty="0">
                <a:latin typeface="Times New Roman" pitchFamily="18" charset="0"/>
                <a:cs typeface="Times New Roman" pitchFamily="18" charset="0"/>
              </a:rPr>
              <a:t> reflects how much the data are trusted by users, while </a:t>
            </a:r>
            <a:r>
              <a:rPr lang="en-US" sz="2200" b="1" dirty="0">
                <a:latin typeface="Times New Roman" pitchFamily="18" charset="0"/>
                <a:cs typeface="Times New Roman" pitchFamily="18" charset="0"/>
              </a:rPr>
              <a:t>interpretability</a:t>
            </a:r>
            <a:r>
              <a:rPr lang="en-US" sz="2200" dirty="0">
                <a:latin typeface="Times New Roman" pitchFamily="18" charset="0"/>
                <a:cs typeface="Times New Roman" pitchFamily="18" charset="0"/>
              </a:rPr>
              <a:t> reflects how easy the data are understood.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552771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940088"/>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Major Tasks in Data Preprocessing:</a:t>
            </a:r>
          </a:p>
          <a:p>
            <a:pPr algn="just"/>
            <a:r>
              <a:rPr lang="en-US" sz="2200" dirty="0">
                <a:latin typeface="Times New Roman" pitchFamily="18" charset="0"/>
                <a:cs typeface="Times New Roman" pitchFamily="18" charset="0"/>
              </a:rPr>
              <a:t>	Major steps involved in data preprocessing: </a:t>
            </a:r>
            <a:r>
              <a:rPr lang="en-US" sz="2200" dirty="0">
                <a:solidFill>
                  <a:srgbClr val="7030A0"/>
                </a:solidFill>
                <a:latin typeface="Times New Roman" pitchFamily="18" charset="0"/>
                <a:cs typeface="Times New Roman" pitchFamily="18" charset="0"/>
              </a:rPr>
              <a:t>data cleaning, data integration, data reduction, and data transformation.</a:t>
            </a:r>
          </a:p>
          <a:p>
            <a:pPr algn="just"/>
            <a:endParaRPr lang="en-US" sz="2200" dirty="0">
              <a:solidFill>
                <a:srgbClr val="7030A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Data cleaning:</a:t>
            </a:r>
            <a:r>
              <a:rPr lang="en-US" sz="2200" dirty="0">
                <a:latin typeface="Times New Roman" pitchFamily="18" charset="0"/>
                <a:cs typeface="Times New Roman" pitchFamily="18" charset="0"/>
              </a:rPr>
              <a:t> “clean” the data by filling in missing values, smoothing noisy data, identifying or removing outliers, and resolving inconsistencies. </a:t>
            </a:r>
          </a:p>
          <a:p>
            <a:pPr algn="just"/>
            <a:endParaRPr lang="en-US" sz="2200" dirty="0">
              <a:latin typeface="Times New Roman" pitchFamily="18" charset="0"/>
              <a:cs typeface="Times New Roman" pitchFamily="18" charset="0"/>
            </a:endParaRPr>
          </a:p>
          <a:p>
            <a:pPr algn="just"/>
            <a:r>
              <a:rPr lang="en-US" sz="2200" b="1" dirty="0">
                <a:solidFill>
                  <a:srgbClr val="00B050"/>
                </a:solidFill>
                <a:latin typeface="Times New Roman" pitchFamily="18" charset="0"/>
                <a:cs typeface="Times New Roman" pitchFamily="18" charset="0"/>
              </a:rPr>
              <a:t>	Data integration:</a:t>
            </a:r>
            <a:r>
              <a:rPr lang="en-US" sz="2200" dirty="0">
                <a:latin typeface="Times New Roman" pitchFamily="18" charset="0"/>
                <a:cs typeface="Times New Roman" pitchFamily="18" charset="0"/>
              </a:rPr>
              <a:t> involve integrating multiple databases, data cubes, or files.</a:t>
            </a:r>
          </a:p>
          <a:p>
            <a:pPr algn="just"/>
            <a:endParaRPr lang="en-US" sz="2200" dirty="0">
              <a:latin typeface="Times New Roman" pitchFamily="18" charset="0"/>
              <a:cs typeface="Times New Roman" pitchFamily="18" charset="0"/>
            </a:endParaRPr>
          </a:p>
          <a:p>
            <a:pPr algn="just"/>
            <a:r>
              <a:rPr lang="en-US" sz="2200" b="1" dirty="0">
                <a:solidFill>
                  <a:srgbClr val="00B050"/>
                </a:solidFill>
                <a:latin typeface="Times New Roman" pitchFamily="18" charset="0"/>
                <a:cs typeface="Times New Roman" pitchFamily="18" charset="0"/>
              </a:rPr>
              <a:t>	Data reduction</a:t>
            </a:r>
            <a:r>
              <a:rPr lang="en-US" sz="2200" dirty="0">
                <a:solidFill>
                  <a:srgbClr val="00B050"/>
                </a:solidFill>
                <a:latin typeface="Times New Roman" pitchFamily="18" charset="0"/>
                <a:cs typeface="Times New Roman" pitchFamily="18" charset="0"/>
              </a:rPr>
              <a:t> </a:t>
            </a:r>
            <a:r>
              <a:rPr lang="en-US" sz="2200" dirty="0">
                <a:latin typeface="Times New Roman" pitchFamily="18" charset="0"/>
                <a:cs typeface="Times New Roman" pitchFamily="18" charset="0"/>
              </a:rPr>
              <a:t>obtains a reduced representation of the data set that is much smaller in volume, yet produces the same (or almost the same) analytical results. </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Example strategies: </a:t>
            </a:r>
            <a:r>
              <a:rPr lang="en-US" sz="2200" b="1" dirty="0">
                <a:latin typeface="Times New Roman" pitchFamily="18" charset="0"/>
                <a:cs typeface="Times New Roman" pitchFamily="18" charset="0"/>
              </a:rPr>
              <a:t>Dimensionality reduction </a:t>
            </a:r>
            <a:r>
              <a:rPr lang="en-US" sz="2200" dirty="0">
                <a:latin typeface="Times New Roman" pitchFamily="18" charset="0"/>
                <a:cs typeface="Times New Roman" pitchFamily="18" charset="0"/>
              </a:rPr>
              <a:t>and </a:t>
            </a:r>
            <a:r>
              <a:rPr lang="en-US" sz="2200" b="1" dirty="0" err="1">
                <a:latin typeface="Times New Roman" pitchFamily="18" charset="0"/>
                <a:cs typeface="Times New Roman" pitchFamily="18" charset="0"/>
              </a:rPr>
              <a:t>numerosity</a:t>
            </a:r>
            <a:r>
              <a:rPr lang="en-US" sz="2200" b="1" dirty="0">
                <a:latin typeface="Times New Roman" pitchFamily="18" charset="0"/>
                <a:cs typeface="Times New Roman" pitchFamily="18" charset="0"/>
              </a:rPr>
              <a:t> reduction</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706079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4493538"/>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Dimensionality reduction:</a:t>
            </a:r>
            <a:r>
              <a:rPr lang="en-US" sz="2200" dirty="0">
                <a:latin typeface="Times New Roman" pitchFamily="18" charset="0"/>
                <a:cs typeface="Times New Roman" pitchFamily="18" charset="0"/>
              </a:rPr>
              <a:t> “compressed” representation of the original data. Examples include data compression techniques (e.g., wavelet transforms and principal components analysis), attribute subset selection (e.g., removing irrelevant attributes), and attribute construction (e.g., where a small set of more useful attributes is derived from the original set). </a:t>
            </a:r>
          </a:p>
          <a:p>
            <a:pPr algn="just"/>
            <a:endParaRPr lang="en-US" sz="2200" dirty="0">
              <a:latin typeface="Times New Roman" pitchFamily="18" charset="0"/>
              <a:cs typeface="Times New Roman" pitchFamily="18" charset="0"/>
            </a:endParaRPr>
          </a:p>
          <a:p>
            <a:pPr algn="just"/>
            <a:r>
              <a:rPr lang="en-US" sz="2200" dirty="0" err="1">
                <a:solidFill>
                  <a:srgbClr val="00B050"/>
                </a:solidFill>
                <a:latin typeface="Times New Roman" pitchFamily="18" charset="0"/>
                <a:cs typeface="Times New Roman" pitchFamily="18" charset="0"/>
              </a:rPr>
              <a:t>Numerosity</a:t>
            </a:r>
            <a:r>
              <a:rPr lang="en-US" sz="2200" dirty="0">
                <a:solidFill>
                  <a:srgbClr val="00B050"/>
                </a:solidFill>
                <a:latin typeface="Times New Roman" pitchFamily="18" charset="0"/>
                <a:cs typeface="Times New Roman" pitchFamily="18" charset="0"/>
              </a:rPr>
              <a:t> reduction:</a:t>
            </a:r>
            <a:r>
              <a:rPr lang="en-US" sz="2200" dirty="0">
                <a:latin typeface="Times New Roman" pitchFamily="18" charset="0"/>
                <a:cs typeface="Times New Roman" pitchFamily="18" charset="0"/>
              </a:rPr>
              <a:t> The data are replaced by alternative, smaller representations using parametric models (e.g., regression or log-linear models) or nonparametric models (e.g., histograms, clusters, sampling, or data aggregation).</a:t>
            </a:r>
          </a:p>
          <a:p>
            <a:pPr algn="just"/>
            <a:endParaRPr lang="en-US" sz="2200" b="1" dirty="0">
              <a:solidFill>
                <a:srgbClr val="00B050"/>
              </a:solidFill>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Normalization, data </a:t>
            </a:r>
            <a:r>
              <a:rPr lang="en-US" sz="2200" dirty="0">
                <a:latin typeface="Times New Roman" pitchFamily="18" charset="0"/>
                <a:cs typeface="Times New Roman" pitchFamily="18" charset="0"/>
              </a:rPr>
              <a:t>discretization, and concept hierarchy generation are forms of </a:t>
            </a:r>
            <a:r>
              <a:rPr lang="en-US" sz="2200" b="1" dirty="0">
                <a:solidFill>
                  <a:srgbClr val="00B050"/>
                </a:solidFill>
                <a:latin typeface="Times New Roman" pitchFamily="18" charset="0"/>
                <a:cs typeface="Times New Roman" pitchFamily="18" charset="0"/>
              </a:rPr>
              <a:t>data transformation.</a:t>
            </a:r>
            <a:endParaRPr lang="en-IN" sz="2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300910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4171"/>
            <a:ext cx="7010399"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0524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647974"/>
          </a:xfrm>
          <a:prstGeom prst="rect">
            <a:avLst/>
          </a:prstGeom>
        </p:spPr>
        <p:txBody>
          <a:bodyPr wrap="square">
            <a:spAutoFit/>
          </a:bodyPr>
          <a:lstStyle/>
          <a:p>
            <a:pPr algn="just"/>
            <a:r>
              <a:rPr lang="en-US" sz="2800" u="sng" dirty="0">
                <a:solidFill>
                  <a:srgbClr val="FF0000"/>
                </a:solidFill>
                <a:latin typeface="Times New Roman" pitchFamily="18" charset="0"/>
                <a:cs typeface="Times New Roman" pitchFamily="18" charset="0"/>
              </a:rPr>
              <a:t>Data cleaning:</a:t>
            </a:r>
            <a:endParaRPr lang="en-US" sz="2200" u="sng"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cleaning routines attempt to fill in missing values, smooth out noise while identifying outliers, and correct inconsistencies in the data. </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Missing Values:  Ex: </a:t>
            </a:r>
            <a:r>
              <a:rPr lang="en-US" sz="2200" dirty="0">
                <a:latin typeface="Times New Roman" pitchFamily="18" charset="0"/>
                <a:cs typeface="Times New Roman" pitchFamily="18" charset="0"/>
              </a:rPr>
              <a:t>Analyze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sales and customer data.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If no recorded value for several attributes such as customer income. How can you go about filling.</a:t>
            </a:r>
          </a:p>
          <a:p>
            <a:pPr algn="just"/>
            <a:endParaRPr lang="en-US" sz="2200" dirty="0">
              <a:latin typeface="Times New Roman" pitchFamily="18" charset="0"/>
              <a:cs typeface="Times New Roman" pitchFamily="18" charset="0"/>
            </a:endParaRPr>
          </a:p>
          <a:p>
            <a:pPr marL="342900" indent="-342900" algn="just">
              <a:buAutoNum type="arabicPeriod"/>
            </a:pPr>
            <a:r>
              <a:rPr lang="en-US" sz="2200" dirty="0">
                <a:latin typeface="Times New Roman" pitchFamily="18" charset="0"/>
                <a:cs typeface="Times New Roman" pitchFamily="18" charset="0"/>
              </a:rPr>
              <a:t>Ignore the tuple</a:t>
            </a:r>
          </a:p>
          <a:p>
            <a:pPr marL="342900" indent="-342900" algn="just">
              <a:buAutoNum type="arabicPeriod"/>
            </a:pPr>
            <a:r>
              <a:rPr lang="en-US" sz="2200" dirty="0">
                <a:latin typeface="Times New Roman" pitchFamily="18" charset="0"/>
                <a:cs typeface="Times New Roman" pitchFamily="18" charset="0"/>
              </a:rPr>
              <a:t>Fill in the missing value manually</a:t>
            </a:r>
          </a:p>
          <a:p>
            <a:pPr marL="342900" indent="-342900" algn="just">
              <a:buAutoNum type="arabicPeriod"/>
            </a:pPr>
            <a:r>
              <a:rPr lang="en-IN" sz="2200" dirty="0">
                <a:latin typeface="Times New Roman" pitchFamily="18" charset="0"/>
                <a:cs typeface="Times New Roman" pitchFamily="18" charset="0"/>
              </a:rPr>
              <a:t>Use a global constant to fill in the missing value</a:t>
            </a:r>
          </a:p>
          <a:p>
            <a:pPr marL="342900" indent="-342900" algn="just">
              <a:buAutoNum type="arabicPeriod"/>
            </a:pPr>
            <a:r>
              <a:rPr lang="en-US" sz="2200" dirty="0">
                <a:latin typeface="Times New Roman" pitchFamily="18" charset="0"/>
                <a:cs typeface="Times New Roman" pitchFamily="18" charset="0"/>
              </a:rPr>
              <a:t>Use a measure of central tendency for the attribute(</a:t>
            </a:r>
            <a:r>
              <a:rPr lang="en-IN" dirty="0"/>
              <a:t>which indicate the “middle” value of a data distribution. For normal (symmetric)data distributions, the mean can be used, while skewed data distribution should employ the median </a:t>
            </a:r>
            <a:r>
              <a:rPr lang="en-US" sz="2200" dirty="0">
                <a:latin typeface="Times New Roman" pitchFamily="18" charset="0"/>
                <a:cs typeface="Times New Roman" pitchFamily="18" charset="0"/>
              </a:rPr>
              <a:t>)</a:t>
            </a:r>
          </a:p>
          <a:p>
            <a:pPr marL="342900" indent="-342900" algn="just">
              <a:buFontTx/>
              <a:buAutoNum type="arabicPeriod"/>
            </a:pPr>
            <a:r>
              <a:rPr lang="en-IN" b="1" dirty="0"/>
              <a:t>Use the attribute mean or median for all samples belonging to the same class as the given tuple</a:t>
            </a:r>
            <a:endParaRPr lang="en-IN" dirty="0"/>
          </a:p>
          <a:p>
            <a:pPr marL="342900" indent="-342900" algn="just">
              <a:buAutoNum type="arabicPeriod"/>
            </a:pPr>
            <a:r>
              <a:rPr lang="en-US" sz="2200" dirty="0">
                <a:latin typeface="Times New Roman" pitchFamily="18" charset="0"/>
                <a:cs typeface="Times New Roman" pitchFamily="18" charset="0"/>
              </a:rPr>
              <a:t>Use the most probable value to fill in the missing value</a:t>
            </a:r>
          </a:p>
          <a:p>
            <a:pPr marL="342900" indent="-342900">
              <a:buAutoNum type="arabicPeriod"/>
            </a:pPr>
            <a:endParaRPr lang="en-US" dirty="0"/>
          </a:p>
          <a:p>
            <a:endParaRPr lang="en-IN" dirty="0"/>
          </a:p>
        </p:txBody>
      </p:sp>
    </p:spTree>
    <p:extLst>
      <p:ext uri="{BB962C8B-B14F-4D97-AF65-F5344CB8AC3E}">
        <p14:creationId xmlns:p14="http://schemas.microsoft.com/office/powerpoint/2010/main" val="1486351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14A1A0E-305E-4F61-AAE8-354C4CA5E58B}"/>
              </a:ext>
            </a:extLst>
          </p:cNvPr>
          <p:cNvGraphicFramePr>
            <a:graphicFrameLocks noGrp="1"/>
          </p:cNvGraphicFramePr>
          <p:nvPr>
            <p:extLst>
              <p:ext uri="{D42A27DB-BD31-4B8C-83A1-F6EECF244321}">
                <p14:modId xmlns:p14="http://schemas.microsoft.com/office/powerpoint/2010/main" val="2064317830"/>
              </p:ext>
            </p:extLst>
          </p:nvPr>
        </p:nvGraphicFramePr>
        <p:xfrm>
          <a:off x="304800" y="381000"/>
          <a:ext cx="8382000" cy="2819400"/>
        </p:xfrm>
        <a:graphic>
          <a:graphicData uri="http://schemas.openxmlformats.org/drawingml/2006/table">
            <a:tbl>
              <a:tblPr firstRow="1" firstCol="1" bandRow="1">
                <a:tableStyleId>{5C22544A-7EE6-4342-B048-85BDC9FD1C3A}</a:tableStyleId>
              </a:tblPr>
              <a:tblGrid>
                <a:gridCol w="2095500">
                  <a:extLst>
                    <a:ext uri="{9D8B030D-6E8A-4147-A177-3AD203B41FA5}">
                      <a16:colId xmlns:a16="http://schemas.microsoft.com/office/drawing/2014/main" val="2576508319"/>
                    </a:ext>
                  </a:extLst>
                </a:gridCol>
                <a:gridCol w="2095500">
                  <a:extLst>
                    <a:ext uri="{9D8B030D-6E8A-4147-A177-3AD203B41FA5}">
                      <a16:colId xmlns:a16="http://schemas.microsoft.com/office/drawing/2014/main" val="1516301990"/>
                    </a:ext>
                  </a:extLst>
                </a:gridCol>
                <a:gridCol w="2095500">
                  <a:extLst>
                    <a:ext uri="{9D8B030D-6E8A-4147-A177-3AD203B41FA5}">
                      <a16:colId xmlns:a16="http://schemas.microsoft.com/office/drawing/2014/main" val="1750289008"/>
                    </a:ext>
                  </a:extLst>
                </a:gridCol>
                <a:gridCol w="2095500">
                  <a:extLst>
                    <a:ext uri="{9D8B030D-6E8A-4147-A177-3AD203B41FA5}">
                      <a16:colId xmlns:a16="http://schemas.microsoft.com/office/drawing/2014/main" val="1371053231"/>
                    </a:ext>
                  </a:extLst>
                </a:gridCol>
              </a:tblGrid>
              <a:tr h="939800">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Student ID</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Name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Marks</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Class Label</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29609656"/>
                  </a:ext>
                </a:extLst>
              </a:tr>
              <a:tr h="939800">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101</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Ravi</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85</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Pass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7486611"/>
                  </a:ext>
                </a:extLst>
              </a:tr>
              <a:tr h="939800">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102</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Sita</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90</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Missing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35884096"/>
                  </a:ext>
                </a:extLst>
              </a:tr>
            </a:tbl>
          </a:graphicData>
        </a:graphic>
      </p:graphicFrame>
      <p:sp>
        <p:nvSpPr>
          <p:cNvPr id="3" name="Rectangle 2">
            <a:extLst>
              <a:ext uri="{FF2B5EF4-FFF2-40B4-BE49-F238E27FC236}">
                <a16:creationId xmlns:a16="http://schemas.microsoft.com/office/drawing/2014/main" id="{EE875BD7-BC8E-48B5-9940-FCED71BAD8AB}"/>
              </a:ext>
            </a:extLst>
          </p:cNvPr>
          <p:cNvSpPr/>
          <p:nvPr/>
        </p:nvSpPr>
        <p:spPr>
          <a:xfrm>
            <a:off x="609600" y="3828560"/>
            <a:ext cx="7010400" cy="2888996"/>
          </a:xfrm>
          <a:prstGeom prst="rect">
            <a:avLst/>
          </a:prstGeom>
        </p:spPr>
        <p:txBody>
          <a:bodyPr wrap="square">
            <a:spAutoFit/>
          </a:bodyPr>
          <a:lstStyle/>
          <a:p>
            <a:pPr algn="just">
              <a:lnSpc>
                <a:spcPct val="107000"/>
              </a:lnSpc>
              <a:spcAft>
                <a:spcPts val="800"/>
              </a:spcAf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A global constant is a single fixed value that is used to replace every missing value in the dataset.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Common examples: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“Unknown”</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“N/A”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 (negative infinity)</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latin typeface="Times New Roman" panose="02020603050405020304" pitchFamily="18" charset="0"/>
                <a:ea typeface="Times New Roman" panose="02020603050405020304" pitchFamily="18" charset="0"/>
                <a:cs typeface="Times New Roman" panose="02020603050405020304" pitchFamily="18" charset="0"/>
              </a:rPr>
              <a:t>0 (in some cases)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2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63DB5BC-4C52-4F14-838B-507DFF9BB266}"/>
              </a:ext>
            </a:extLst>
          </p:cNvPr>
          <p:cNvGraphicFramePr>
            <a:graphicFrameLocks noGrp="1"/>
          </p:cNvGraphicFramePr>
          <p:nvPr>
            <p:extLst>
              <p:ext uri="{D42A27DB-BD31-4B8C-83A1-F6EECF244321}">
                <p14:modId xmlns:p14="http://schemas.microsoft.com/office/powerpoint/2010/main" val="713921631"/>
              </p:ext>
            </p:extLst>
          </p:nvPr>
        </p:nvGraphicFramePr>
        <p:xfrm>
          <a:off x="320510" y="2413262"/>
          <a:ext cx="8366289" cy="3454134"/>
        </p:xfrm>
        <a:graphic>
          <a:graphicData uri="http://schemas.openxmlformats.org/drawingml/2006/table">
            <a:tbl>
              <a:tblPr firstRow="1" firstCol="1" bandRow="1">
                <a:tableStyleId>{5C22544A-7EE6-4342-B048-85BDC9FD1C3A}</a:tableStyleId>
              </a:tblPr>
              <a:tblGrid>
                <a:gridCol w="2788763">
                  <a:extLst>
                    <a:ext uri="{9D8B030D-6E8A-4147-A177-3AD203B41FA5}">
                      <a16:colId xmlns:a16="http://schemas.microsoft.com/office/drawing/2014/main" val="3165056814"/>
                    </a:ext>
                  </a:extLst>
                </a:gridCol>
                <a:gridCol w="2788763">
                  <a:extLst>
                    <a:ext uri="{9D8B030D-6E8A-4147-A177-3AD203B41FA5}">
                      <a16:colId xmlns:a16="http://schemas.microsoft.com/office/drawing/2014/main" val="4197280652"/>
                    </a:ext>
                  </a:extLst>
                </a:gridCol>
                <a:gridCol w="2788763">
                  <a:extLst>
                    <a:ext uri="{9D8B030D-6E8A-4147-A177-3AD203B41FA5}">
                      <a16:colId xmlns:a16="http://schemas.microsoft.com/office/drawing/2014/main" val="3029409059"/>
                    </a:ext>
                  </a:extLst>
                </a:gridCol>
              </a:tblGrid>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Customer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Credit Risk</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Income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85995953"/>
                  </a:ext>
                </a:extLst>
              </a:tr>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A</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Low</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50,000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27450345"/>
                  </a:ext>
                </a:extLst>
              </a:tr>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B</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Low</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60,000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83542102"/>
                  </a:ext>
                </a:extLst>
              </a:tr>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C</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Low</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Missing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46513871"/>
                  </a:ext>
                </a:extLst>
              </a:tr>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D</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High</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20,000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32254728"/>
                  </a:ext>
                </a:extLst>
              </a:tr>
              <a:tr h="575689">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High</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Times New Roman" panose="02020603050405020304" pitchFamily="18" charset="0"/>
                          <a:cs typeface="Times New Roman" panose="02020603050405020304" pitchFamily="18" charset="0"/>
                        </a:rPr>
                        <a:t>25,000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03976008"/>
                  </a:ext>
                </a:extLst>
              </a:tr>
            </a:tbl>
          </a:graphicData>
        </a:graphic>
      </p:graphicFrame>
      <p:sp>
        <p:nvSpPr>
          <p:cNvPr id="3" name="Rectangle 1">
            <a:extLst>
              <a:ext uri="{FF2B5EF4-FFF2-40B4-BE49-F238E27FC236}">
                <a16:creationId xmlns:a16="http://schemas.microsoft.com/office/drawing/2014/main" id="{B1F924AA-C998-4F5D-BFA1-8C1EA7ACAAED}"/>
              </a:ext>
            </a:extLst>
          </p:cNvPr>
          <p:cNvSpPr>
            <a:spLocks noChangeArrowheads="1"/>
          </p:cNvSpPr>
          <p:nvPr/>
        </p:nvSpPr>
        <p:spPr bwMode="auto">
          <a:xfrm>
            <a:off x="762000" y="532986"/>
            <a:ext cx="79248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Suppose customers are classified by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Credit Risk</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 Customer C:</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Class label =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Low Risk</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Mean income of Low Risk customers = (50,000 + 60,000) / 2 =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55,000</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 the missing value is replaced by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55,000</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40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6D60491-A1A7-4153-A261-D9AD20CF2B92}"/>
              </a:ext>
            </a:extLst>
          </p:cNvPr>
          <p:cNvGraphicFramePr>
            <a:graphicFrameLocks noGrp="1"/>
          </p:cNvGraphicFramePr>
          <p:nvPr>
            <p:extLst>
              <p:ext uri="{D42A27DB-BD31-4B8C-83A1-F6EECF244321}">
                <p14:modId xmlns:p14="http://schemas.microsoft.com/office/powerpoint/2010/main" val="2751869885"/>
              </p:ext>
            </p:extLst>
          </p:nvPr>
        </p:nvGraphicFramePr>
        <p:xfrm>
          <a:off x="381000" y="609600"/>
          <a:ext cx="8382000" cy="3515328"/>
        </p:xfrm>
        <a:graphic>
          <a:graphicData uri="http://schemas.openxmlformats.org/drawingml/2006/table">
            <a:tbl>
              <a:tblPr firstRow="1" firstCol="1" bandRow="1">
                <a:tableStyleId>{5C22544A-7EE6-4342-B048-85BDC9FD1C3A}</a:tableStyleId>
              </a:tblPr>
              <a:tblGrid>
                <a:gridCol w="2095500">
                  <a:extLst>
                    <a:ext uri="{9D8B030D-6E8A-4147-A177-3AD203B41FA5}">
                      <a16:colId xmlns:a16="http://schemas.microsoft.com/office/drawing/2014/main" val="2378472179"/>
                    </a:ext>
                  </a:extLst>
                </a:gridCol>
                <a:gridCol w="2095500">
                  <a:extLst>
                    <a:ext uri="{9D8B030D-6E8A-4147-A177-3AD203B41FA5}">
                      <a16:colId xmlns:a16="http://schemas.microsoft.com/office/drawing/2014/main" val="3474123122"/>
                    </a:ext>
                  </a:extLst>
                </a:gridCol>
                <a:gridCol w="2095500">
                  <a:extLst>
                    <a:ext uri="{9D8B030D-6E8A-4147-A177-3AD203B41FA5}">
                      <a16:colId xmlns:a16="http://schemas.microsoft.com/office/drawing/2014/main" val="2784684289"/>
                    </a:ext>
                  </a:extLst>
                </a:gridCol>
                <a:gridCol w="2095500">
                  <a:extLst>
                    <a:ext uri="{9D8B030D-6E8A-4147-A177-3AD203B41FA5}">
                      <a16:colId xmlns:a16="http://schemas.microsoft.com/office/drawing/2014/main" val="256264338"/>
                    </a:ext>
                  </a:extLst>
                </a:gridCol>
              </a:tblGrid>
              <a:tr h="878832">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Age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Education</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Occupation</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Income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91554546"/>
                  </a:ext>
                </a:extLst>
              </a:tr>
              <a:tr h="878832">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30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Graduate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Engineer</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60,000</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73314219"/>
                  </a:ext>
                </a:extLst>
              </a:tr>
              <a:tr h="878832">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45</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Graduate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Manager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90,000</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47653683"/>
                  </a:ext>
                </a:extLst>
              </a:tr>
              <a:tr h="878832">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35</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a:effectLst/>
                          <a:latin typeface="Times New Roman" panose="02020603050405020304" pitchFamily="18" charset="0"/>
                          <a:cs typeface="Times New Roman" panose="02020603050405020304" pitchFamily="18" charset="0"/>
                        </a:rPr>
                        <a:t>Graduate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Engineer</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0"/>
                        </a:spcAft>
                      </a:pPr>
                      <a:r>
                        <a:rPr lang="en-IN" sz="2400" dirty="0">
                          <a:effectLst/>
                          <a:latin typeface="Times New Roman" panose="02020603050405020304" pitchFamily="18" charset="0"/>
                          <a:cs typeface="Times New Roman" panose="02020603050405020304" pitchFamily="18" charset="0"/>
                        </a:rPr>
                        <a:t>Missing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6436260"/>
                  </a:ext>
                </a:extLst>
              </a:tr>
            </a:tbl>
          </a:graphicData>
        </a:graphic>
      </p:graphicFrame>
    </p:spTree>
    <p:extLst>
      <p:ext uri="{BB962C8B-B14F-4D97-AF65-F5344CB8AC3E}">
        <p14:creationId xmlns:p14="http://schemas.microsoft.com/office/powerpoint/2010/main" val="224051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A47279-2C74-4240-8E13-934B508578C3}"/>
              </a:ext>
            </a:extLst>
          </p:cNvPr>
          <p:cNvSpPr/>
          <p:nvPr/>
        </p:nvSpPr>
        <p:spPr>
          <a:xfrm>
            <a:off x="304800" y="152400"/>
            <a:ext cx="8382000" cy="1200329"/>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Outliers are data points that significantly deviate from the rest of a dataset. Caused by measurement errors, data corruption, or natural variance.</a:t>
            </a:r>
            <a:endParaRPr lang="en-IN" dirty="0"/>
          </a:p>
        </p:txBody>
      </p:sp>
      <p:pic>
        <p:nvPicPr>
          <p:cNvPr id="4" name="Picture 3">
            <a:extLst>
              <a:ext uri="{FF2B5EF4-FFF2-40B4-BE49-F238E27FC236}">
                <a16:creationId xmlns:a16="http://schemas.microsoft.com/office/drawing/2014/main" id="{C99672F3-5AB6-4AA5-9538-624B95779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732" y="1695208"/>
            <a:ext cx="6344535" cy="3467584"/>
          </a:xfrm>
          <a:prstGeom prst="rect">
            <a:avLst/>
          </a:prstGeom>
        </p:spPr>
      </p:pic>
    </p:spTree>
    <p:extLst>
      <p:ext uri="{BB962C8B-B14F-4D97-AF65-F5344CB8AC3E}">
        <p14:creationId xmlns:p14="http://schemas.microsoft.com/office/powerpoint/2010/main" val="3647098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763000" cy="4031873"/>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Noisy Data:</a:t>
            </a:r>
          </a:p>
          <a:p>
            <a:pPr algn="just"/>
            <a:r>
              <a:rPr lang="en-US" sz="2200" dirty="0">
                <a:latin typeface="Times New Roman" pitchFamily="18" charset="0"/>
                <a:cs typeface="Times New Roman" pitchFamily="18" charset="0"/>
              </a:rPr>
              <a:t>	Noise is a random error or variance in a measured variable. some basic statistical description techniques (e.g., boxplots and scatter plots), and methods of data visualization can be used to identify outliers, which may represent noise. </a:t>
            </a:r>
          </a:p>
          <a:p>
            <a:pPr algn="just"/>
            <a:r>
              <a:rPr lang="en-IN" sz="2000" b="1" dirty="0">
                <a:latin typeface="Times New Roman" panose="02020603050405020304" pitchFamily="18" charset="0"/>
                <a:cs typeface="Times New Roman" panose="02020603050405020304" pitchFamily="18" charset="0"/>
              </a:rPr>
              <a:t>What is Data Smoothing?</a:t>
            </a:r>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Data smoothing</a:t>
            </a:r>
            <a:r>
              <a:rPr lang="en-IN" sz="2000" dirty="0">
                <a:latin typeface="Times New Roman" panose="02020603050405020304" pitchFamily="18" charset="0"/>
                <a:cs typeface="Times New Roman" panose="02020603050405020304" pitchFamily="18" charset="0"/>
              </a:rPr>
              <a:t> is the process of removing or reducing noise from data to reveal the underlying pattern.</a:t>
            </a:r>
            <a:endParaRPr lang="en-US" sz="2200" dirty="0">
              <a:solidFill>
                <a:srgbClr val="7030A0"/>
              </a:solidFill>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Binning: </a:t>
            </a:r>
            <a:r>
              <a:rPr lang="en-US" sz="2200" dirty="0">
                <a:latin typeface="Times New Roman" pitchFamily="18" charset="0"/>
                <a:cs typeface="Times New Roman" pitchFamily="18" charset="0"/>
              </a:rPr>
              <a:t>Binning methods smooth a sorted data value by consulting its “neighbor hood,” that is, the values around it.</a:t>
            </a:r>
            <a:endParaRPr lang="en-IN" sz="2200" dirty="0">
              <a:latin typeface="Times New Roman" pitchFamily="18" charset="0"/>
              <a:cs typeface="Times New Roman" pitchFamily="18" charset="0"/>
            </a:endParaRPr>
          </a:p>
          <a:p>
            <a:endParaRPr lang="en-US"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945431"/>
            <a:ext cx="5943600" cy="2912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5126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5426C0-058B-4A3D-A1AC-451712BE11B0}"/>
              </a:ext>
            </a:extLst>
          </p:cNvPr>
          <p:cNvSpPr/>
          <p:nvPr/>
        </p:nvSpPr>
        <p:spPr>
          <a:xfrm>
            <a:off x="1295400" y="609600"/>
            <a:ext cx="7162800" cy="2110514"/>
          </a:xfrm>
          <a:prstGeom prst="rect">
            <a:avLst/>
          </a:prstGeom>
        </p:spPr>
        <p:txBody>
          <a:bodyPr wrap="square">
            <a:spAutoFit/>
          </a:bodyPr>
          <a:lstStyle/>
          <a:p>
            <a:pPr algn="just">
              <a:lnSpc>
                <a:spcPct val="107000"/>
              </a:lnSpc>
              <a:spcAft>
                <a:spcPts val="800"/>
              </a:spcAf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Suppose the actual prices of a product are:</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100, 102, 101, 99, 100</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but one value is entered incorrectly as: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100, 102, 101, 999, 100</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34232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5847755"/>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Regression:</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Linear regression involves finding the “best” line(Y=</a:t>
            </a:r>
            <a:r>
              <a:rPr lang="en-US" sz="2200" dirty="0" err="1">
                <a:latin typeface="Times New Roman" pitchFamily="18" charset="0"/>
                <a:cs typeface="Times New Roman" pitchFamily="18" charset="0"/>
              </a:rPr>
              <a:t>mX+C</a:t>
            </a:r>
            <a:r>
              <a:rPr lang="en-US" sz="2200" dirty="0">
                <a:latin typeface="Times New Roman" pitchFamily="18" charset="0"/>
                <a:cs typeface="Times New Roman" pitchFamily="18" charset="0"/>
              </a:rPr>
              <a:t>) to fit two attributes so that one attribute can be used to predict the other. </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Note: </a:t>
            </a:r>
            <a:r>
              <a:rPr lang="en-US" sz="2200" dirty="0">
                <a:latin typeface="Times New Roman" pitchFamily="18" charset="0"/>
                <a:cs typeface="Times New Roman" pitchFamily="18" charset="0"/>
              </a:rPr>
              <a:t>Multiple linear regression is an extension of linear regression, where more than two attributes are involved and the data are fit to a multidimensional surface. (</a:t>
            </a:r>
            <a:r>
              <a:rPr lang="en-IN" dirty="0"/>
              <a:t>Y=a+b1X1+b2X2+⋯+</a:t>
            </a:r>
            <a:r>
              <a:rPr lang="en-IN" dirty="0" err="1"/>
              <a:t>bnXn</a:t>
            </a:r>
            <a:r>
              <a:rPr lang="en-IN" dirty="0"/>
              <a:t>​ </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Outlier analysis: </a:t>
            </a:r>
            <a:r>
              <a:rPr lang="en-US" sz="2200" dirty="0">
                <a:latin typeface="Times New Roman" pitchFamily="18" charset="0"/>
                <a:cs typeface="Times New Roman" pitchFamily="18" charset="0"/>
              </a:rPr>
              <a:t>Outliers may be detected by clustering, for example, where similar values are organized into groups. Intuitively, values that fall outside of the set of clusters may be considered outliers.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b="1" dirty="0">
                <a:solidFill>
                  <a:srgbClr val="FF0000"/>
                </a:solidFill>
                <a:latin typeface="Times New Roman" pitchFamily="18" charset="0"/>
                <a:cs typeface="Times New Roman" pitchFamily="18" charset="0"/>
              </a:rPr>
              <a:t>Note:</a:t>
            </a: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Many data smoothing methods are also used for data discretization (a form of data transformation) and data reduction. A concept hierarchy for price, for example, may map real price values into inexpensive, moderately priced, and expensive, thereby reducing the number of data values to be handled by the mining </a:t>
            </a:r>
            <a:r>
              <a:rPr lang="en-IN" sz="2200" dirty="0">
                <a:latin typeface="Times New Roman" pitchFamily="18" charset="0"/>
                <a:cs typeface="Times New Roman" pitchFamily="18" charset="0"/>
              </a:rPr>
              <a:t>process.</a:t>
            </a:r>
          </a:p>
        </p:txBody>
      </p:sp>
    </p:spTree>
    <p:extLst>
      <p:ext uri="{BB962C8B-B14F-4D97-AF65-F5344CB8AC3E}">
        <p14:creationId xmlns:p14="http://schemas.microsoft.com/office/powerpoint/2010/main" val="3579925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93" y="381000"/>
            <a:ext cx="8487007" cy="588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6612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001643"/>
          </a:xfrm>
          <a:prstGeom prst="rect">
            <a:avLst/>
          </a:prstGeom>
        </p:spPr>
        <p:txBody>
          <a:bodyPr wrap="square">
            <a:spAutoFit/>
          </a:bodyPr>
          <a:lstStyle/>
          <a:p>
            <a:pPr algn="ctr"/>
            <a:r>
              <a:rPr lang="en-US" sz="3200" u="sng" dirty="0">
                <a:solidFill>
                  <a:srgbClr val="FF0000"/>
                </a:solidFill>
                <a:latin typeface="Times New Roman" pitchFamily="18" charset="0"/>
                <a:cs typeface="Times New Roman" pitchFamily="18" charset="0"/>
              </a:rPr>
              <a:t>Data Cleaning as a Process </a:t>
            </a:r>
          </a:p>
          <a:p>
            <a:pPr algn="just"/>
            <a:r>
              <a:rPr lang="en-US" sz="2200" dirty="0">
                <a:latin typeface="Times New Roman" pitchFamily="18" charset="0"/>
                <a:cs typeface="Times New Roman" pitchFamily="18" charset="0"/>
              </a:rPr>
              <a:t>	Missing values, noise, and inconsistencies contribute to inaccurate data. So far, we have looked at techniques for handling missing data and for smoothing data.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first step in data cleaning as a process is discrepancy detection. Discrepancies can be caused by several factors, including </a:t>
            </a:r>
            <a:r>
              <a:rPr lang="en-US" sz="2200" dirty="0">
                <a:solidFill>
                  <a:srgbClr val="7030A0"/>
                </a:solidFill>
                <a:latin typeface="Times New Roman" pitchFamily="18" charset="0"/>
                <a:cs typeface="Times New Roman" pitchFamily="18" charset="0"/>
              </a:rPr>
              <a:t>poorly designed data entry forms </a:t>
            </a:r>
            <a:r>
              <a:rPr lang="en-US" sz="2200" dirty="0">
                <a:latin typeface="Times New Roman" pitchFamily="18" charset="0"/>
                <a:cs typeface="Times New Roman" pitchFamily="18" charset="0"/>
              </a:rPr>
              <a:t>that have </a:t>
            </a:r>
            <a:r>
              <a:rPr lang="en-US" sz="2200" dirty="0">
                <a:solidFill>
                  <a:srgbClr val="7030A0"/>
                </a:solidFill>
                <a:latin typeface="Times New Roman" pitchFamily="18" charset="0"/>
                <a:cs typeface="Times New Roman" pitchFamily="18" charset="0"/>
              </a:rPr>
              <a:t>many optional fields, human error in data entry</a:t>
            </a:r>
            <a:r>
              <a:rPr lang="en-US" sz="2200" dirty="0">
                <a:latin typeface="Times New Roman" pitchFamily="18" charset="0"/>
                <a:cs typeface="Times New Roman" pitchFamily="18" charset="0"/>
              </a:rPr>
              <a:t>, and data decay (e.g., </a:t>
            </a:r>
            <a:r>
              <a:rPr lang="en-US" sz="2200" dirty="0">
                <a:solidFill>
                  <a:srgbClr val="7030A0"/>
                </a:solidFill>
                <a:latin typeface="Times New Roman" pitchFamily="18" charset="0"/>
                <a:cs typeface="Times New Roman" pitchFamily="18" charset="0"/>
              </a:rPr>
              <a:t>outdated addresses</a:t>
            </a:r>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Other sources of discrepancies include </a:t>
            </a:r>
            <a:r>
              <a:rPr lang="en-US" sz="2200" dirty="0">
                <a:solidFill>
                  <a:srgbClr val="7030A0"/>
                </a:solidFill>
                <a:latin typeface="Times New Roman" pitchFamily="18" charset="0"/>
                <a:cs typeface="Times New Roman" pitchFamily="18" charset="0"/>
              </a:rPr>
              <a:t>errors in instrumentation devices </a:t>
            </a:r>
            <a:r>
              <a:rPr lang="en-US" sz="2200" dirty="0">
                <a:latin typeface="Times New Roman" pitchFamily="18" charset="0"/>
                <a:cs typeface="Times New Roman" pitchFamily="18" charset="0"/>
              </a:rPr>
              <a:t>that record data and system errors. </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Note: </a:t>
            </a:r>
            <a:r>
              <a:rPr lang="en-US" sz="2200" dirty="0">
                <a:latin typeface="Times New Roman" pitchFamily="18" charset="0"/>
                <a:cs typeface="Times New Roman" pitchFamily="18" charset="0"/>
              </a:rPr>
              <a:t>Errors can also occur when the data are used for purposes other than originally intended. There may also be inconsistencies due to data integration.</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187503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763000" cy="6524863"/>
          </a:xfrm>
          <a:prstGeom prst="rect">
            <a:avLst/>
          </a:prstGeom>
        </p:spPr>
        <p:txBody>
          <a:bodyPr wrap="square">
            <a:spAutoFit/>
          </a:bodyPr>
          <a:lstStyle/>
          <a:p>
            <a:pPr algn="just"/>
            <a:r>
              <a:rPr lang="en-US" dirty="0"/>
              <a:t>	</a:t>
            </a:r>
            <a:r>
              <a:rPr lang="en-US" sz="2200" dirty="0">
                <a:solidFill>
                  <a:srgbClr val="00B050"/>
                </a:solidFill>
                <a:latin typeface="Times New Roman" pitchFamily="18" charset="0"/>
                <a:cs typeface="Times New Roman" pitchFamily="18" charset="0"/>
              </a:rPr>
              <a:t>“So, how can we proceed with discrepancy detection?” </a:t>
            </a:r>
          </a:p>
          <a:p>
            <a:pPr algn="just"/>
            <a:r>
              <a:rPr lang="en-US" sz="2200" dirty="0">
                <a:latin typeface="Times New Roman" pitchFamily="18" charset="0"/>
                <a:cs typeface="Times New Roman" pitchFamily="18" charset="0"/>
              </a:rPr>
              <a:t>As a starting point, use any knowledge you may already have regarding properties of the data (metadata). </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For example: </a:t>
            </a:r>
            <a:r>
              <a:rPr lang="en-US" sz="2200" dirty="0">
                <a:latin typeface="Times New Roman" pitchFamily="18" charset="0"/>
                <a:cs typeface="Times New Roman" pitchFamily="18" charset="0"/>
              </a:rPr>
              <a:t>we may find noise, outliers, and unusual values with following information:</a:t>
            </a:r>
            <a:endParaRPr lang="en-US" sz="2200" dirty="0">
              <a:solidFill>
                <a:srgbClr val="7030A0"/>
              </a:solidFill>
              <a:latin typeface="Times New Roman" pitchFamily="18" charset="0"/>
              <a:cs typeface="Times New Roman" pitchFamily="18" charset="0"/>
            </a:endParaRPr>
          </a:p>
          <a:p>
            <a:pPr marL="342900" indent="-342900" algn="just">
              <a:buFont typeface="Wingdings" pitchFamily="2" charset="2"/>
              <a:buChar char="v"/>
            </a:pPr>
            <a:r>
              <a:rPr lang="en-US" sz="2200" dirty="0">
                <a:latin typeface="Times New Roman" pitchFamily="18" charset="0"/>
                <a:cs typeface="Times New Roman" pitchFamily="18" charset="0"/>
              </a:rPr>
              <a:t>What are the data type and domain of each attribute? </a:t>
            </a:r>
          </a:p>
          <a:p>
            <a:pPr marL="342900" indent="-342900" algn="just">
              <a:buFont typeface="Wingdings" pitchFamily="2" charset="2"/>
              <a:buChar char="v"/>
            </a:pPr>
            <a:r>
              <a:rPr lang="en-US" sz="2200" dirty="0">
                <a:latin typeface="Times New Roman" pitchFamily="18" charset="0"/>
                <a:cs typeface="Times New Roman" pitchFamily="18" charset="0"/>
              </a:rPr>
              <a:t>What are the acceptable values for each attribute? </a:t>
            </a:r>
          </a:p>
          <a:p>
            <a:pPr marL="342900" indent="-342900" algn="just">
              <a:buFont typeface="Wingdings" pitchFamily="2" charset="2"/>
              <a:buChar char="v"/>
            </a:pPr>
            <a:r>
              <a:rPr lang="en-US" sz="2200" dirty="0">
                <a:latin typeface="Times New Roman" pitchFamily="18" charset="0"/>
                <a:cs typeface="Times New Roman" pitchFamily="18" charset="0"/>
              </a:rPr>
              <a:t>The basic statistical data descriptions are useful to grasp data trends and identify anomalies. </a:t>
            </a:r>
          </a:p>
          <a:p>
            <a:pPr marL="342900" indent="-342900" algn="just">
              <a:buFont typeface="Wingdings" pitchFamily="2" charset="2"/>
              <a:buChar char="v"/>
            </a:pPr>
            <a:r>
              <a:rPr lang="en-US" sz="2200" dirty="0">
                <a:latin typeface="Times New Roman" pitchFamily="18" charset="0"/>
                <a:cs typeface="Times New Roman" pitchFamily="18" charset="0"/>
              </a:rPr>
              <a:t>Are the data symmetric or skewed? </a:t>
            </a:r>
          </a:p>
          <a:p>
            <a:pPr marL="342900" indent="-342900" algn="just">
              <a:buFont typeface="Wingdings" pitchFamily="2" charset="2"/>
              <a:buChar char="v"/>
            </a:pPr>
            <a:r>
              <a:rPr lang="en-US" sz="2200" dirty="0">
                <a:latin typeface="Times New Roman" pitchFamily="18" charset="0"/>
                <a:cs typeface="Times New Roman" pitchFamily="18" charset="0"/>
              </a:rPr>
              <a:t>What is the range of values? </a:t>
            </a:r>
          </a:p>
          <a:p>
            <a:pPr marL="342900" indent="-342900" algn="just">
              <a:buFont typeface="Wingdings" pitchFamily="2" charset="2"/>
              <a:buChar char="v"/>
            </a:pPr>
            <a:r>
              <a:rPr lang="en-US" sz="2200" dirty="0">
                <a:latin typeface="Times New Roman" pitchFamily="18" charset="0"/>
                <a:cs typeface="Times New Roman" pitchFamily="18" charset="0"/>
              </a:rPr>
              <a:t>Do all values fall within the expected range?</a:t>
            </a:r>
          </a:p>
          <a:p>
            <a:pPr algn="just"/>
            <a:r>
              <a:rPr lang="en-US" sz="2200" dirty="0">
                <a:latin typeface="Times New Roman" pitchFamily="18" charset="0"/>
                <a:cs typeface="Times New Roman" pitchFamily="18" charset="0"/>
              </a:rPr>
              <a:t>	</a:t>
            </a:r>
          </a:p>
          <a:p>
            <a:pPr algn="just"/>
            <a:r>
              <a:rPr lang="en-US" sz="2200" dirty="0">
                <a:solidFill>
                  <a:srgbClr val="7030A0"/>
                </a:solidFill>
                <a:latin typeface="Times New Roman" pitchFamily="18" charset="0"/>
                <a:cs typeface="Times New Roman" pitchFamily="18" charset="0"/>
              </a:rPr>
              <a:t>Note:</a:t>
            </a:r>
            <a:r>
              <a:rPr lang="en-US" sz="2200" dirty="0">
                <a:latin typeface="Times New Roman" pitchFamily="18" charset="0"/>
                <a:cs typeface="Times New Roman" pitchFamily="18" charset="0"/>
              </a:rPr>
              <a:t> </a:t>
            </a:r>
          </a:p>
          <a:p>
            <a:pPr marL="342900" indent="-342900" algn="just">
              <a:buFont typeface="Wingdings" pitchFamily="2" charset="2"/>
              <a:buChar char="Ø"/>
            </a:pPr>
            <a:r>
              <a:rPr lang="en-US" sz="2200" dirty="0">
                <a:latin typeface="Times New Roman" pitchFamily="18" charset="0"/>
                <a:cs typeface="Times New Roman" pitchFamily="18" charset="0"/>
              </a:rPr>
              <a:t>As a data analyst, you should be on the lookout for the inconsistent use of codes and any inconsistent data representations (e.g., “2010/12/25” and “25/12/2010” for date). </a:t>
            </a:r>
          </a:p>
          <a:p>
            <a:pPr marL="342900" indent="-342900" algn="just">
              <a:buFont typeface="Wingdings" pitchFamily="2" charset="2"/>
              <a:buChar char="Ø"/>
            </a:pPr>
            <a:r>
              <a:rPr lang="en-US" sz="2200" dirty="0">
                <a:latin typeface="Times New Roman" pitchFamily="18" charset="0"/>
                <a:cs typeface="Times New Roman" pitchFamily="18" charset="0"/>
              </a:rPr>
              <a:t>Field overloading is another error source.</a:t>
            </a:r>
          </a:p>
        </p:txBody>
      </p:sp>
    </p:spTree>
    <p:extLst>
      <p:ext uri="{BB962C8B-B14F-4D97-AF65-F5344CB8AC3E}">
        <p14:creationId xmlns:p14="http://schemas.microsoft.com/office/powerpoint/2010/main" val="3138911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763000" cy="5847755"/>
          </a:xfrm>
          <a:prstGeom prst="rect">
            <a:avLst/>
          </a:prstGeom>
        </p:spPr>
        <p:txBody>
          <a:bodyPr wrap="square">
            <a:spAutoFit/>
          </a:bodyPr>
          <a:lstStyle/>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The data should also be examined regarding unique rules, consecutive rules, and null rules. </a:t>
            </a:r>
          </a:p>
          <a:p>
            <a:pPr algn="just"/>
            <a:r>
              <a:rPr lang="en-US" sz="2200" dirty="0">
                <a:solidFill>
                  <a:srgbClr val="7030A0"/>
                </a:solidFill>
                <a:latin typeface="Times New Roman" pitchFamily="18" charset="0"/>
                <a:cs typeface="Times New Roman" pitchFamily="18" charset="0"/>
              </a:rPr>
              <a:t>A unique rule</a:t>
            </a:r>
            <a:r>
              <a:rPr lang="en-US" sz="2200" dirty="0">
                <a:latin typeface="Times New Roman" pitchFamily="18" charset="0"/>
                <a:cs typeface="Times New Roman" pitchFamily="18" charset="0"/>
              </a:rPr>
              <a:t> says that each value of the given attribute must be different from all other values for that attribute. </a:t>
            </a:r>
          </a:p>
          <a:p>
            <a:pPr algn="just"/>
            <a:r>
              <a:rPr lang="en-US" sz="2200" dirty="0">
                <a:solidFill>
                  <a:srgbClr val="7030A0"/>
                </a:solidFill>
                <a:latin typeface="Times New Roman" pitchFamily="18" charset="0"/>
                <a:cs typeface="Times New Roman" pitchFamily="18" charset="0"/>
              </a:rPr>
              <a:t>A consecutive rule </a:t>
            </a:r>
            <a:r>
              <a:rPr lang="en-US" sz="2200" dirty="0">
                <a:latin typeface="Times New Roman" pitchFamily="18" charset="0"/>
                <a:cs typeface="Times New Roman" pitchFamily="18" charset="0"/>
              </a:rPr>
              <a:t>says that there can be no missing values between the lowest and highest values for the attribute, and that all values must also be unique </a:t>
            </a:r>
          </a:p>
          <a:p>
            <a:pPr algn="just"/>
            <a:r>
              <a:rPr lang="en-US" sz="2200" dirty="0">
                <a:solidFill>
                  <a:srgbClr val="7030A0"/>
                </a:solidFill>
                <a:latin typeface="Times New Roman" pitchFamily="18" charset="0"/>
                <a:cs typeface="Times New Roman" pitchFamily="18" charset="0"/>
              </a:rPr>
              <a:t>The null rule </a:t>
            </a:r>
            <a:r>
              <a:rPr lang="en-US" sz="2200" dirty="0">
                <a:latin typeface="Times New Roman" pitchFamily="18" charset="0"/>
                <a:cs typeface="Times New Roman" pitchFamily="18" charset="0"/>
              </a:rPr>
              <a:t>should specify how to record the null condition.</a:t>
            </a:r>
          </a:p>
          <a:p>
            <a:pPr algn="just"/>
            <a:r>
              <a:rPr lang="en-US" sz="2200" dirty="0">
                <a:latin typeface="Times New Roman" pitchFamily="18" charset="0"/>
                <a:cs typeface="Times New Roman" pitchFamily="18" charset="0"/>
              </a:rPr>
              <a:t>    Ex:  Store zero for numeric attributes, a blank for character attributes, or any other conventions that may be in use (e.g., entries like “don’t know” or “?” should be transformed to blank)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Reasons for missing values may include: </a:t>
            </a:r>
          </a:p>
          <a:p>
            <a:pPr marL="457200" indent="-457200" algn="just">
              <a:buAutoNum type="arabicParenBoth"/>
            </a:pPr>
            <a:r>
              <a:rPr lang="en-US" sz="2200" dirty="0">
                <a:latin typeface="Times New Roman" pitchFamily="18" charset="0"/>
                <a:cs typeface="Times New Roman" pitchFamily="18" charset="0"/>
              </a:rPr>
              <a:t>The person originally asked to provide a value for the attribute refuses and/or finds that the information requested is not applicable; </a:t>
            </a:r>
          </a:p>
          <a:p>
            <a:pPr marL="457200" indent="-457200" algn="just">
              <a:buAutoNum type="arabicParenBoth"/>
            </a:pPr>
            <a:r>
              <a:rPr lang="en-US" sz="2200" dirty="0">
                <a:latin typeface="Times New Roman" pitchFamily="18" charset="0"/>
                <a:cs typeface="Times New Roman" pitchFamily="18" charset="0"/>
              </a:rPr>
              <a:t>The data entry person does not know the correct value; </a:t>
            </a:r>
          </a:p>
          <a:p>
            <a:pPr marL="457200" indent="-457200" algn="just">
              <a:buAutoNum type="arabicParenBoth"/>
            </a:pPr>
            <a:r>
              <a:rPr lang="en-US" sz="2200" dirty="0">
                <a:latin typeface="Times New Roman" pitchFamily="18" charset="0"/>
                <a:cs typeface="Times New Roman" pitchFamily="18" charset="0"/>
              </a:rPr>
              <a:t>The value is to be provided by a later step of the process.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944413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217087"/>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Different commercial tools that can aid in the discrepancy detection step.</a:t>
            </a:r>
          </a:p>
          <a:p>
            <a:pPr algn="just"/>
            <a:endParaRPr lang="en-US" sz="2200" dirty="0">
              <a:solidFill>
                <a:srgbClr val="7030A0"/>
              </a:solidFill>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Data scrubbing tools</a:t>
            </a:r>
            <a:r>
              <a:rPr lang="en-US" sz="2200" dirty="0">
                <a:latin typeface="Times New Roman" pitchFamily="18" charset="0"/>
                <a:cs typeface="Times New Roman" pitchFamily="18" charset="0"/>
              </a:rPr>
              <a:t> use simple domain knowledge to detect errors and make corrections in the data (e.g., knowledge of postal addresses and spell-checking)</a:t>
            </a:r>
          </a:p>
          <a:p>
            <a:r>
              <a:rPr lang="en-IN" b="1" dirty="0"/>
              <a:t>Parsing</a:t>
            </a:r>
          </a:p>
          <a:p>
            <a:r>
              <a:rPr lang="en-IN" b="1" dirty="0"/>
              <a:t>Parsing</a:t>
            </a:r>
            <a:r>
              <a:rPr lang="en-IN" dirty="0"/>
              <a:t> means breaking data into smaller components and checking whether they follow the expected format.</a:t>
            </a:r>
          </a:p>
          <a:p>
            <a:r>
              <a:rPr lang="en-IN" b="1" dirty="0"/>
              <a:t>Fuzzy Matching</a:t>
            </a:r>
          </a:p>
          <a:p>
            <a:r>
              <a:rPr lang="en-IN" b="1" dirty="0"/>
              <a:t>Fuzzy matching</a:t>
            </a:r>
            <a:r>
              <a:rPr lang="en-IN" dirty="0"/>
              <a:t> identifies values that are similar but not exactly identical.</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Data auditing tools</a:t>
            </a:r>
            <a:r>
              <a:rPr lang="en-US" sz="2200" dirty="0">
                <a:latin typeface="Times New Roman" pitchFamily="18" charset="0"/>
                <a:cs typeface="Times New Roman" pitchFamily="18" charset="0"/>
              </a:rPr>
              <a:t> find discrepancies by analyzing the data to discover rules and relationships, and detecting data that violate such conditions. </a:t>
            </a:r>
          </a:p>
          <a:p>
            <a:pPr algn="just"/>
            <a:endParaRPr lang="en-US" sz="2200" dirty="0">
              <a:latin typeface="Times New Roman" pitchFamily="18" charset="0"/>
              <a:cs typeface="Times New Roman" pitchFamily="18" charset="0"/>
            </a:endParaRPr>
          </a:p>
          <a:p>
            <a:pPr algn="just"/>
            <a:r>
              <a:rPr lang="en-US" sz="2200" b="1" dirty="0">
                <a:solidFill>
                  <a:srgbClr val="7030A0"/>
                </a:solidFill>
                <a:latin typeface="Times New Roman" pitchFamily="18" charset="0"/>
                <a:cs typeface="Times New Roman" pitchFamily="18" charset="0"/>
              </a:rPr>
              <a:t>Data migration tools</a:t>
            </a:r>
            <a:r>
              <a:rPr lang="en-US" sz="2200" dirty="0">
                <a:solidFill>
                  <a:srgbClr val="7030A0"/>
                </a:solidFill>
                <a:latin typeface="Times New Roman" pitchFamily="18" charset="0"/>
                <a:cs typeface="Times New Roman" pitchFamily="18" charset="0"/>
              </a:rPr>
              <a:t> </a:t>
            </a:r>
            <a:r>
              <a:rPr lang="en-US" sz="2200" dirty="0">
                <a:latin typeface="Times New Roman" pitchFamily="18" charset="0"/>
                <a:cs typeface="Times New Roman" pitchFamily="18" charset="0"/>
              </a:rPr>
              <a:t>allow simple transformations to be specified such as to replace the string “gender” by “sex.”</a:t>
            </a:r>
          </a:p>
          <a:p>
            <a:pPr algn="just"/>
            <a:endParaRPr lang="en-US" sz="2200" dirty="0">
              <a:latin typeface="Times New Roman" pitchFamily="18" charset="0"/>
              <a:cs typeface="Times New Roman" pitchFamily="18" charset="0"/>
            </a:endParaRPr>
          </a:p>
          <a:p>
            <a:pPr algn="just"/>
            <a:r>
              <a:rPr lang="en-US" sz="2200" b="1" dirty="0">
                <a:solidFill>
                  <a:srgbClr val="7030A0"/>
                </a:solidFill>
                <a:latin typeface="Times New Roman" pitchFamily="18" charset="0"/>
                <a:cs typeface="Times New Roman" pitchFamily="18" charset="0"/>
              </a:rPr>
              <a:t>ETL(extraction/transformation/loading) tools </a:t>
            </a:r>
            <a:r>
              <a:rPr lang="en-US" sz="2200" dirty="0">
                <a:latin typeface="Times New Roman" pitchFamily="18" charset="0"/>
                <a:cs typeface="Times New Roman" pitchFamily="18" charset="0"/>
              </a:rPr>
              <a:t>allow users to specify transforms through a graphical user interface (GUI). </a:t>
            </a:r>
          </a:p>
        </p:txBody>
      </p:sp>
    </p:spTree>
    <p:extLst>
      <p:ext uri="{BB962C8B-B14F-4D97-AF65-F5344CB8AC3E}">
        <p14:creationId xmlns:p14="http://schemas.microsoft.com/office/powerpoint/2010/main" val="1583893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52400" y="152400"/>
            <a:ext cx="8763000" cy="3477875"/>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The two-step process of discrepancy detection and data transformation (to correct discrepancies) iterates. </a:t>
            </a:r>
          </a:p>
          <a:p>
            <a:pPr algn="just"/>
            <a:endParaRPr lang="en-US" sz="2200" dirty="0">
              <a:latin typeface="Times New Roman" pitchFamily="18" charset="0"/>
              <a:cs typeface="Times New Roman" pitchFamily="18" charset="0"/>
            </a:endParaRPr>
          </a:p>
          <a:p>
            <a:pPr algn="just"/>
            <a:r>
              <a:rPr lang="en-US" sz="2200" dirty="0">
                <a:solidFill>
                  <a:srgbClr val="002060"/>
                </a:solidFill>
                <a:latin typeface="Times New Roman" pitchFamily="18" charset="0"/>
                <a:cs typeface="Times New Roman" pitchFamily="18" charset="0"/>
              </a:rPr>
              <a:t>Note: </a:t>
            </a:r>
            <a:r>
              <a:rPr lang="en-US" sz="2200" dirty="0">
                <a:latin typeface="Times New Roman" pitchFamily="18" charset="0"/>
                <a:cs typeface="Times New Roman" pitchFamily="18" charset="0"/>
              </a:rPr>
              <a:t>This process is error-prone and time consuming.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Some transformations may introduce more discrepancies. Some nested discrepancies may only be detected after others have been fixed.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example, a typo such as “20010” in a year field may only surface once all date values have been converted to a uniform format.</a:t>
            </a:r>
          </a:p>
        </p:txBody>
      </p:sp>
    </p:spTree>
    <p:extLst>
      <p:ext uri="{BB962C8B-B14F-4D97-AF65-F5344CB8AC3E}">
        <p14:creationId xmlns:p14="http://schemas.microsoft.com/office/powerpoint/2010/main" val="2393962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124754"/>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Data Integration</a:t>
            </a:r>
            <a:r>
              <a:rPr lang="en-US" sz="2200" dirty="0">
                <a:latin typeface="Times New Roman" pitchFamily="18" charset="0"/>
                <a:cs typeface="Times New Roman" pitchFamily="18" charset="0"/>
              </a:rPr>
              <a:t> </a:t>
            </a:r>
          </a:p>
          <a:p>
            <a:pPr algn="ct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mining often requires data integration—the merging of data from multiple data stores. Careful integration can help reduce and avoid redundancies and inconsistencies in the resulting data set. This can help </a:t>
            </a:r>
            <a:r>
              <a:rPr lang="en-US" sz="2000" dirty="0">
                <a:latin typeface="Times New Roman" pitchFamily="18" charset="0"/>
                <a:cs typeface="Times New Roman" pitchFamily="18" charset="0"/>
              </a:rPr>
              <a:t>improve the accuracy and speed of the subsequent data mining process.</a:t>
            </a:r>
          </a:p>
          <a:p>
            <a:pPr algn="just"/>
            <a:r>
              <a:rPr lang="en-IN" sz="2000" dirty="0">
                <a:solidFill>
                  <a:srgbClr val="FF0000"/>
                </a:solidFill>
                <a:latin typeface="Times New Roman" panose="02020603050405020304" pitchFamily="18" charset="0"/>
                <a:cs typeface="Times New Roman" panose="02020603050405020304" pitchFamily="18" charset="0"/>
              </a:rPr>
              <a:t>Semantic heterogeneity </a:t>
            </a:r>
            <a:r>
              <a:rPr lang="en-IN" sz="2000" dirty="0">
                <a:latin typeface="Times New Roman" panose="02020603050405020304" pitchFamily="18" charset="0"/>
                <a:cs typeface="Times New Roman" panose="02020603050405020304" pitchFamily="18" charset="0"/>
              </a:rPr>
              <a:t>occurs when different databases use different meanings, formats, names, or representations for the same data. </a:t>
            </a:r>
            <a:r>
              <a:rPr lang="en-IN" sz="2000" dirty="0">
                <a:solidFill>
                  <a:srgbClr val="FF0000"/>
                </a:solidFill>
                <a:latin typeface="Times New Roman" panose="02020603050405020304" pitchFamily="18" charset="0"/>
                <a:cs typeface="Times New Roman" panose="02020603050405020304" pitchFamily="18" charset="0"/>
              </a:rPr>
              <a:t>Structural heterogeneity </a:t>
            </a:r>
            <a:r>
              <a:rPr lang="en-IN" sz="2000" dirty="0">
                <a:latin typeface="Times New Roman" panose="02020603050405020304" pitchFamily="18" charset="0"/>
                <a:cs typeface="Times New Roman" panose="02020603050405020304" pitchFamily="18" charset="0"/>
              </a:rPr>
              <a:t>occurs when data is organized differently across various sources. These differences make it difficult to combine data from multiple sources into a unified view. </a:t>
            </a:r>
            <a:endParaRPr lang="en-US" sz="20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How can we match schema and objects from different sources..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Are any attributes correlated..</a:t>
            </a:r>
          </a:p>
          <a:p>
            <a:pPr algn="just"/>
            <a:endParaRPr lang="en-US"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Tuple duplication..</a:t>
            </a:r>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And need to focus on detection and resolution of data value conflicts..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737664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E42846-E46F-4E57-9E32-D89CBF3EC289}"/>
              </a:ext>
            </a:extLst>
          </p:cNvPr>
          <p:cNvSpPr>
            <a:spLocks noChangeArrowheads="1"/>
          </p:cNvSpPr>
          <p:nvPr/>
        </p:nvSpPr>
        <p:spPr bwMode="auto">
          <a:xfrm>
            <a:off x="228600" y="1527106"/>
            <a:ext cx="8610600" cy="1964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Semantic Heterogeneity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Same data has different meanings or names in different databases.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Database A: </a:t>
            </a:r>
            <a:r>
              <a:rPr kumimoji="0" lang="en-US" altLang="en-US" sz="2000" b="1"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Emp_ID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Database B: </a:t>
            </a:r>
            <a:r>
              <a:rPr kumimoji="0" lang="en-US" altLang="en-US" sz="2000" b="1"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Employee_Number</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A520224-75C3-42E3-BD6C-D9AB83D6E0A9}"/>
              </a:ext>
            </a:extLst>
          </p:cNvPr>
          <p:cNvSpPr>
            <a:spLocks noChangeArrowheads="1"/>
          </p:cNvSpPr>
          <p:nvPr/>
        </p:nvSpPr>
        <p:spPr bwMode="auto">
          <a:xfrm>
            <a:off x="0" y="457200"/>
            <a:ext cx="8839200" cy="196056"/>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3">
            <a:extLst>
              <a:ext uri="{FF2B5EF4-FFF2-40B4-BE49-F238E27FC236}">
                <a16:creationId xmlns:a16="http://schemas.microsoft.com/office/drawing/2014/main" id="{3767DE62-4BE1-42ED-8787-C5EC1FBCE7CA}"/>
              </a:ext>
            </a:extLst>
          </p:cNvPr>
          <p:cNvSpPr>
            <a:spLocks noChangeArrowheads="1"/>
          </p:cNvSpPr>
          <p:nvPr/>
        </p:nvSpPr>
        <p:spPr bwMode="auto">
          <a:xfrm>
            <a:off x="152400" y="3645270"/>
            <a:ext cx="8686800"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 Structural Heterogeneity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same information is organized differently in different databases.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Database A: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Employee(</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Emp_ID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Name, Department)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Database B: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Employee(</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Emp_ID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Name) </a:t>
            </a:r>
            <a:endPar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Department(</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Dept_ID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Dept_Name</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003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839200" cy="6771084"/>
          </a:xfrm>
          <a:prstGeom prst="rect">
            <a:avLst/>
          </a:prstGeom>
        </p:spPr>
        <p:txBody>
          <a:bodyPr wrap="square">
            <a:spAutoFit/>
          </a:bodyPr>
          <a:lstStyle/>
          <a:p>
            <a:pPr algn="just"/>
            <a:r>
              <a:rPr lang="en-US" sz="2400" dirty="0">
                <a:solidFill>
                  <a:srgbClr val="00B050"/>
                </a:solidFill>
                <a:latin typeface="Times New Roman" pitchFamily="18" charset="0"/>
                <a:cs typeface="Times New Roman" pitchFamily="18" charset="0"/>
              </a:rPr>
              <a:t>Issues to consider during data integration: </a:t>
            </a:r>
          </a:p>
          <a:p>
            <a:pPr algn="just"/>
            <a:r>
              <a:rPr lang="en-IN" sz="2800" b="1" dirty="0">
                <a:solidFill>
                  <a:srgbClr val="FF0000"/>
                </a:solidFill>
                <a:latin typeface="Times New Roman" panose="02020603050405020304" pitchFamily="18" charset="0"/>
                <a:cs typeface="Times New Roman" panose="02020603050405020304" pitchFamily="18" charset="0"/>
              </a:rPr>
              <a:t>Entity Identification Problem:</a:t>
            </a:r>
          </a:p>
          <a:p>
            <a:pPr algn="just"/>
            <a:r>
              <a:rPr lang="en-IN" sz="2400" dirty="0">
                <a:latin typeface="Times New Roman" panose="02020603050405020304" pitchFamily="18" charset="0"/>
                <a:cs typeface="Times New Roman" panose="02020603050405020304" pitchFamily="18" charset="0"/>
              </a:rPr>
              <a:t>It is the problem of determining whether attributes or records from different data sources refer to the same real-world entity.</a:t>
            </a:r>
          </a:p>
          <a:p>
            <a:pPr algn="just"/>
            <a:endParaRPr lang="en-US" sz="2400" dirty="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How can the data analyst or the computer be sure that </a:t>
            </a:r>
            <a:r>
              <a:rPr lang="en-US" sz="2200" dirty="0">
                <a:solidFill>
                  <a:srgbClr val="FF0000"/>
                </a:solidFill>
                <a:latin typeface="Times New Roman" pitchFamily="18" charset="0"/>
                <a:cs typeface="Times New Roman" pitchFamily="18" charset="0"/>
              </a:rPr>
              <a:t>customer id</a:t>
            </a:r>
            <a:r>
              <a:rPr lang="en-US" sz="2200" dirty="0">
                <a:latin typeface="Times New Roman" pitchFamily="18" charset="0"/>
                <a:cs typeface="Times New Roman" pitchFamily="18" charset="0"/>
              </a:rPr>
              <a:t> </a:t>
            </a:r>
            <a:r>
              <a:rPr lang="en-US" sz="2200" dirty="0">
                <a:solidFill>
                  <a:srgbClr val="FF0000"/>
                </a:solidFill>
                <a:latin typeface="Times New Roman" pitchFamily="18" charset="0"/>
                <a:cs typeface="Times New Roman" pitchFamily="18" charset="0"/>
              </a:rPr>
              <a:t>in one database</a:t>
            </a:r>
            <a:r>
              <a:rPr lang="en-US" sz="2200" dirty="0">
                <a:latin typeface="Times New Roman" pitchFamily="18" charset="0"/>
                <a:cs typeface="Times New Roman" pitchFamily="18" charset="0"/>
              </a:rPr>
              <a:t> and </a:t>
            </a:r>
            <a:r>
              <a:rPr lang="en-US" sz="2200" dirty="0">
                <a:solidFill>
                  <a:srgbClr val="FF0000"/>
                </a:solidFill>
                <a:latin typeface="Times New Roman" pitchFamily="18" charset="0"/>
                <a:cs typeface="Times New Roman" pitchFamily="18" charset="0"/>
              </a:rPr>
              <a:t>customer number in another refer</a:t>
            </a:r>
            <a:r>
              <a:rPr lang="en-US" sz="2200" dirty="0">
                <a:latin typeface="Times New Roman" pitchFamily="18" charset="0"/>
                <a:cs typeface="Times New Roman" pitchFamily="18" charset="0"/>
              </a:rPr>
              <a:t> to the same attribute? </a:t>
            </a:r>
          </a:p>
          <a:p>
            <a:pPr algn="just"/>
            <a:r>
              <a:rPr lang="en-IN" sz="2400" b="1" u="sng" dirty="0">
                <a:latin typeface="Times New Roman" panose="02020603050405020304" pitchFamily="18" charset="0"/>
                <a:cs typeface="Times New Roman" panose="02020603050405020304" pitchFamily="18" charset="0"/>
              </a:rPr>
              <a:t>Metadata-Based Matching</a:t>
            </a:r>
          </a:p>
          <a:p>
            <a:pPr algn="just"/>
            <a:r>
              <a:rPr lang="en-IN" sz="2400" b="1" u="sng" dirty="0">
                <a:latin typeface="Times New Roman" panose="02020603050405020304" pitchFamily="18" charset="0"/>
                <a:cs typeface="Times New Roman" panose="02020603050405020304" pitchFamily="18" charset="0"/>
              </a:rPr>
              <a:t>Structural Matching and Constraints</a:t>
            </a:r>
            <a:endParaRPr lang="en-IN" sz="2400" u="sng" dirty="0">
              <a:latin typeface="Times New Roman" panose="02020603050405020304" pitchFamily="18" charset="0"/>
              <a:cs typeface="Times New Roman" panose="02020603050405020304" pitchFamily="18" charset="0"/>
            </a:endParaRPr>
          </a:p>
          <a:p>
            <a:pPr algn="just"/>
            <a:endParaRPr lang="en-US" sz="2000" u="sng" dirty="0">
              <a:latin typeface="Times New Roman" panose="02020603050405020304" pitchFamily="18" charset="0"/>
              <a:cs typeface="Times New Roman" pitchFamily="18" charset="0"/>
            </a:endParaRPr>
          </a:p>
          <a:p>
            <a:pPr algn="just"/>
            <a:r>
              <a:rPr lang="en-US" sz="2200" dirty="0">
                <a:latin typeface="Times New Roman" pitchFamily="18" charset="0"/>
                <a:cs typeface="Times New Roman" pitchFamily="18" charset="0"/>
              </a:rPr>
              <a:t>	When </a:t>
            </a:r>
            <a:r>
              <a:rPr lang="en-US" sz="2200" dirty="0">
                <a:solidFill>
                  <a:srgbClr val="FF0000"/>
                </a:solidFill>
                <a:latin typeface="Times New Roman" pitchFamily="18" charset="0"/>
                <a:cs typeface="Times New Roman" pitchFamily="18" charset="0"/>
              </a:rPr>
              <a:t>matching attributes from one database to another</a:t>
            </a:r>
            <a:r>
              <a:rPr lang="en-US" sz="2200" dirty="0">
                <a:latin typeface="Times New Roman" pitchFamily="18" charset="0"/>
                <a:cs typeface="Times New Roman" pitchFamily="18" charset="0"/>
              </a:rPr>
              <a:t> during integration, special </a:t>
            </a:r>
            <a:r>
              <a:rPr lang="en-US" sz="2200" dirty="0">
                <a:solidFill>
                  <a:srgbClr val="FF0000"/>
                </a:solidFill>
                <a:latin typeface="Times New Roman" pitchFamily="18" charset="0"/>
                <a:cs typeface="Times New Roman" pitchFamily="18" charset="0"/>
              </a:rPr>
              <a:t>attention must be paid to the structure of the data</a:t>
            </a:r>
            <a:r>
              <a:rPr lang="en-US" sz="2200" dirty="0">
                <a:latin typeface="Times New Roman" pitchFamily="18" charset="0"/>
                <a:cs typeface="Times New Roman" pitchFamily="18" charset="0"/>
              </a:rPr>
              <a:t>. This is to ensure that any </a:t>
            </a:r>
            <a:r>
              <a:rPr lang="en-US" sz="2200" dirty="0">
                <a:solidFill>
                  <a:srgbClr val="FF0000"/>
                </a:solidFill>
                <a:latin typeface="Times New Roman" pitchFamily="18" charset="0"/>
                <a:cs typeface="Times New Roman" pitchFamily="18" charset="0"/>
              </a:rPr>
              <a:t>attribute functional dependencies and referential constraints</a:t>
            </a:r>
            <a:r>
              <a:rPr lang="en-US" sz="2200" dirty="0">
                <a:latin typeface="Times New Roman" pitchFamily="18" charset="0"/>
                <a:cs typeface="Times New Roman" pitchFamily="18" charset="0"/>
              </a:rPr>
              <a:t> in the source system match those in the target system.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example, in one system, a discount may be applied to the order, whereas in another system it is applied to each individual line item within the order. If this is not caught before integration, items in the target system may be improperly discounted.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945149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763000" cy="5878532"/>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Redundancy and Correlation Analysis</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An attribute (such as annual revenue, for instance) may be redundant if it can be “derived” from another attribute or set of attributes. Inconsistencies in attribute naming can also cause redundancies in the resulting data set. </a:t>
            </a:r>
          </a:p>
          <a:p>
            <a:pPr algn="just"/>
            <a:r>
              <a:rPr lang="en-IN" b="1" dirty="0"/>
              <a:t>1. Derived Attribute Redundancy</a:t>
            </a:r>
            <a:endParaRPr lang="en-IN" dirty="0"/>
          </a:p>
          <a:p>
            <a:pPr algn="just"/>
            <a:r>
              <a:rPr lang="en-IN" b="1" dirty="0"/>
              <a:t>2. Naming Inconsistency Redundancy</a:t>
            </a:r>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Some redundancies can be detected by correlation analysis. Given two attributes, such analysis can measure how strongly one attribute implies the other, based on the available data.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nominal data, we use the                        . For numeric attributes, we can use the correlation coefficient and covariance, both of which access how one attribute’s values vary from those of another.</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3901" y="3962400"/>
            <a:ext cx="1562099" cy="413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0642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Pictures\Screenshots\Screenshot 2026-06-17 103832.png">
            <a:extLst>
              <a:ext uri="{FF2B5EF4-FFF2-40B4-BE49-F238E27FC236}">
                <a16:creationId xmlns:a16="http://schemas.microsoft.com/office/drawing/2014/main" id="{58DA9A89-DC52-40D4-B0D4-944352872D8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619999" cy="4800600"/>
          </a:xfrm>
          <a:prstGeom prst="rect">
            <a:avLst/>
          </a:prstGeom>
          <a:noFill/>
          <a:ln>
            <a:noFill/>
          </a:ln>
        </p:spPr>
      </p:pic>
    </p:spTree>
    <p:extLst>
      <p:ext uri="{BB962C8B-B14F-4D97-AF65-F5344CB8AC3E}">
        <p14:creationId xmlns:p14="http://schemas.microsoft.com/office/powerpoint/2010/main" val="2070705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838201"/>
            <a:ext cx="8686800" cy="5539978"/>
          </a:xfrm>
          <a:prstGeom prst="rect">
            <a:avLst/>
          </a:prstGeom>
        </p:spPr>
        <p:txBody>
          <a:bodyPr wrap="square">
            <a:spAutoFit/>
          </a:bodyPr>
          <a:lstStyle/>
          <a:p>
            <a:pPr algn="just"/>
            <a:r>
              <a:rPr lang="en-IN" sz="2200" dirty="0">
                <a:latin typeface="Times New Roman" pitchFamily="18" charset="0"/>
                <a:cs typeface="Times New Roman" pitchFamily="18" charset="0"/>
              </a:rPr>
              <a:t>For nominal data, a correlation relationship between two attributes, A and B, can be discovered by a</a:t>
            </a:r>
          </a:p>
          <a:p>
            <a:pPr algn="just"/>
            <a:r>
              <a:rPr lang="en-IN" sz="2400" dirty="0"/>
              <a:t>	</a:t>
            </a:r>
            <a:r>
              <a:rPr lang="en-IN" sz="2200" dirty="0">
                <a:latin typeface="Times New Roman" pitchFamily="18" charset="0"/>
                <a:cs typeface="Times New Roman" pitchFamily="18" charset="0"/>
              </a:rPr>
              <a:t>Suppose A has c distinct values, namely a1,a2, ac. B has r distinct values, namely b1,b2, br. The data tuples described by A and B can be shown as a contingency table, with the c values of A making up the columns and the r values of B making up the rows. Let (Ai,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denote the joint event that attribute A takes on value </a:t>
            </a:r>
            <a:r>
              <a:rPr lang="en-IN" sz="2200" dirty="0" err="1">
                <a:latin typeface="Times New Roman" pitchFamily="18" charset="0"/>
                <a:cs typeface="Times New Roman" pitchFamily="18" charset="0"/>
              </a:rPr>
              <a:t>ai</a:t>
            </a:r>
            <a:r>
              <a:rPr lang="en-IN" sz="2200" dirty="0">
                <a:latin typeface="Times New Roman" pitchFamily="18" charset="0"/>
                <a:cs typeface="Times New Roman" pitchFamily="18" charset="0"/>
              </a:rPr>
              <a:t> and attribute B takes on value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that is, where(A=</a:t>
            </a:r>
            <a:r>
              <a:rPr lang="en-IN" sz="2200" dirty="0" err="1">
                <a:latin typeface="Times New Roman" pitchFamily="18" charset="0"/>
                <a:cs typeface="Times New Roman" pitchFamily="18" charset="0"/>
              </a:rPr>
              <a:t>ai</a:t>
            </a:r>
            <a:r>
              <a:rPr lang="en-IN" sz="2200" dirty="0">
                <a:latin typeface="Times New Roman" pitchFamily="18" charset="0"/>
                <a:cs typeface="Times New Roman" pitchFamily="18" charset="0"/>
              </a:rPr>
              <a:t>, B=</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Each and every possible(Ai,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joint event has its own cell (or slot) in the table.</a:t>
            </a: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Where </a:t>
            </a:r>
            <a:r>
              <a:rPr lang="en-IN" sz="2200" dirty="0" err="1">
                <a:latin typeface="Times New Roman" pitchFamily="18" charset="0"/>
                <a:cs typeface="Times New Roman" pitchFamily="18" charset="0"/>
              </a:rPr>
              <a:t>oij</a:t>
            </a:r>
            <a:r>
              <a:rPr lang="en-IN" sz="2200" dirty="0">
                <a:latin typeface="Times New Roman" pitchFamily="18" charset="0"/>
                <a:cs typeface="Times New Roman" pitchFamily="18" charset="0"/>
              </a:rPr>
              <a:t> is the observed frequency (i.e., actual count) of the joint event (Ai,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and </a:t>
            </a:r>
            <a:r>
              <a:rPr lang="en-IN" sz="2200" dirty="0" err="1">
                <a:latin typeface="Times New Roman" pitchFamily="18" charset="0"/>
                <a:cs typeface="Times New Roman" pitchFamily="18" charset="0"/>
              </a:rPr>
              <a:t>eij</a:t>
            </a:r>
            <a:r>
              <a:rPr lang="en-IN" sz="2200" dirty="0">
                <a:latin typeface="Times New Roman" pitchFamily="18" charset="0"/>
                <a:cs typeface="Times New Roman" pitchFamily="18" charset="0"/>
              </a:rPr>
              <a:t> is the expected frequency of (Ai,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which can be computed as follows:</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222921"/>
            <a:ext cx="1562099" cy="413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008300"/>
            <a:ext cx="3505200" cy="11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0823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10600" cy="5170646"/>
          </a:xfrm>
          <a:prstGeom prst="rect">
            <a:avLst/>
          </a:prstGeom>
        </p:spPr>
        <p:txBody>
          <a:bodyPr wrap="square">
            <a:spAutoFit/>
          </a:bodyPr>
          <a:lstStyle/>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Where n is the number of data tuples, count(A=</a:t>
            </a:r>
            <a:r>
              <a:rPr lang="en-IN" sz="2200" dirty="0" err="1">
                <a:latin typeface="Times New Roman" pitchFamily="18" charset="0"/>
                <a:cs typeface="Times New Roman" pitchFamily="18" charset="0"/>
              </a:rPr>
              <a:t>ai</a:t>
            </a:r>
            <a:r>
              <a:rPr lang="en-IN" sz="2200" dirty="0">
                <a:latin typeface="Times New Roman" pitchFamily="18" charset="0"/>
                <a:cs typeface="Times New Roman" pitchFamily="18" charset="0"/>
              </a:rPr>
              <a:t>) is the number of tuples having value </a:t>
            </a:r>
            <a:r>
              <a:rPr lang="en-IN" sz="2200" dirty="0" err="1">
                <a:latin typeface="Times New Roman" pitchFamily="18" charset="0"/>
                <a:cs typeface="Times New Roman" pitchFamily="18" charset="0"/>
              </a:rPr>
              <a:t>ai</a:t>
            </a:r>
            <a:r>
              <a:rPr lang="en-IN" sz="2200" dirty="0">
                <a:latin typeface="Times New Roman" pitchFamily="18" charset="0"/>
                <a:cs typeface="Times New Roman" pitchFamily="18" charset="0"/>
              </a:rPr>
              <a:t> for A, and count (B=</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is the number of tuples having value </a:t>
            </a:r>
            <a:r>
              <a:rPr lang="en-IN" sz="2200" dirty="0" err="1">
                <a:latin typeface="Times New Roman" pitchFamily="18" charset="0"/>
                <a:cs typeface="Times New Roman" pitchFamily="18" charset="0"/>
              </a:rPr>
              <a:t>bj</a:t>
            </a:r>
            <a:r>
              <a:rPr lang="en-IN" sz="2200" dirty="0">
                <a:latin typeface="Times New Roman" pitchFamily="18" charset="0"/>
                <a:cs typeface="Times New Roman" pitchFamily="18" charset="0"/>
              </a:rPr>
              <a:t> for B. The sum in is computed overall of the r x c cells.</a:t>
            </a:r>
          </a:p>
          <a:p>
            <a:pPr algn="just"/>
            <a:r>
              <a:rPr lang="en-IN" sz="2200" dirty="0">
                <a:latin typeface="Times New Roman" pitchFamily="18" charset="0"/>
                <a:cs typeface="Times New Roman" pitchFamily="18" charset="0"/>
              </a:rPr>
              <a:t>	Note that the cells that contribute the most to the           value are those for which the actual count is very different from that expected.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The     statistic tests the hypothesis that A and B are independent, that is, there is no correlation between them. The test is based on a significance level, with (r-1)x(c-1) degrees of freedom. We illustrate the use of this statistic in Example 3.1. If the hypothesis can be rejected, then we say that A and B are statistically correlated.</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52400"/>
            <a:ext cx="5638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2559854"/>
            <a:ext cx="367266" cy="353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2705" y="3614738"/>
            <a:ext cx="28232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342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
            <a:ext cx="8534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914401"/>
            <a:ext cx="8686800" cy="3816429"/>
          </a:xfrm>
          <a:prstGeom prst="rect">
            <a:avLst/>
          </a:prstGeom>
        </p:spPr>
        <p:txBody>
          <a:bodyPr wrap="square">
            <a:spAutoFit/>
          </a:bodyPr>
          <a:lstStyle/>
          <a:p>
            <a:pPr algn="just"/>
            <a:r>
              <a:rPr lang="en-IN" sz="2200" dirty="0">
                <a:latin typeface="Times New Roman" pitchFamily="18" charset="0"/>
                <a:cs typeface="Times New Roman" pitchFamily="18" charset="0"/>
              </a:rPr>
              <a:t>Suppose that a group of 1500 people was surveyed. The gender of each person was noted. Each person was polled as to whether his or her preferred type of reading material was fiction or nonfiction. Thus, we have two attributes, gender and preferred reading. The observed frequency(or count) of each possible joint event is summarized in the contingency table shown in Table 3.1, where the numbers in parentheses are the expected frequencies.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For example, the expected frequency for the cell(male, fiction) is:</a:t>
            </a: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399" y="4385066"/>
            <a:ext cx="6629401" cy="1177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4271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240" y="304800"/>
            <a:ext cx="857316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6904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81000"/>
            <a:ext cx="8686800" cy="5878532"/>
          </a:xfrm>
          <a:prstGeom prst="rect">
            <a:avLst/>
          </a:prstGeom>
        </p:spPr>
        <p:txBody>
          <a:bodyPr wrap="square">
            <a:spAutoFit/>
          </a:bodyPr>
          <a:lstStyle/>
          <a:p>
            <a:pPr algn="just"/>
            <a:r>
              <a:rPr lang="en-US" sz="2200" dirty="0">
                <a:latin typeface="Times New Roman" pitchFamily="18" charset="0"/>
                <a:cs typeface="Times New Roman" pitchFamily="18" charset="0"/>
              </a:rPr>
              <a:t>	For this 2x2 table, the degrees of freedom are.(2-1)(2-1)=1. </a:t>
            </a:r>
            <a:r>
              <a:rPr lang="en-IN" sz="2200" dirty="0">
                <a:latin typeface="Times New Roman" pitchFamily="18" charset="0"/>
                <a:cs typeface="Times New Roman" pitchFamily="18" charset="0"/>
              </a:rPr>
              <a:t>For 1 degree of freedom, the chi-square value needed to reject the hypothesis at the 0.001 significance level is10.828.</a:t>
            </a:r>
          </a:p>
          <a:p>
            <a:pPr algn="just"/>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Since our computed value is above this, we can reject the hypothesis that gender and preferred reading are independent and conclude that the two attributes are (strongly) correlated for the given group of people.</a:t>
            </a:r>
          </a:p>
          <a:p>
            <a:pPr algn="just"/>
            <a:r>
              <a:rPr lang="en-US" sz="2200" dirty="0">
                <a:latin typeface="Times New Roman" pitchFamily="18" charset="0"/>
                <a:cs typeface="Times New Roman" pitchFamily="18" charset="0"/>
              </a:rPr>
              <a:t>Computed Chi-square value &gt;10.828</a:t>
            </a:r>
            <a:r>
              <a:rPr lang="en-US" sz="2200" dirty="0">
                <a:latin typeface="Times New Roman" pitchFamily="18" charset="0"/>
                <a:cs typeface="Times New Roman" pitchFamily="18" charset="0"/>
                <a:sym typeface="Wingdings" panose="05000000000000000000" pitchFamily="2" charset="2"/>
              </a:rPr>
              <a:t>null hypothesis is reject(accept alternate hypothesis)2 variables are not </a:t>
            </a:r>
            <a:r>
              <a:rPr lang="en-US" sz="2200" dirty="0" err="1">
                <a:latin typeface="Times New Roman" pitchFamily="18" charset="0"/>
                <a:cs typeface="Times New Roman" pitchFamily="18" charset="0"/>
                <a:sym typeface="Wingdings" panose="05000000000000000000" pitchFamily="2" charset="2"/>
              </a:rPr>
              <a:t>independent.correlation</a:t>
            </a:r>
            <a:r>
              <a:rPr lang="en-US" sz="2200" dirty="0">
                <a:latin typeface="Times New Roman" pitchFamily="18" charset="0"/>
                <a:cs typeface="Times New Roman" pitchFamily="18" charset="0"/>
                <a:sym typeface="Wingdings" panose="05000000000000000000" pitchFamily="2" charset="2"/>
              </a:rPr>
              <a:t> b/w two variables.</a:t>
            </a:r>
          </a:p>
          <a:p>
            <a:pPr algn="just"/>
            <a:r>
              <a:rPr lang="en-US" sz="2200" dirty="0">
                <a:latin typeface="Times New Roman" pitchFamily="18" charset="0"/>
                <a:cs typeface="Times New Roman" pitchFamily="18" charset="0"/>
              </a:rPr>
              <a:t>Computed Chi-square value &lt; 10.828</a:t>
            </a:r>
            <a:r>
              <a:rPr lang="en-US" sz="2200" dirty="0">
                <a:latin typeface="Times New Roman" pitchFamily="18" charset="0"/>
                <a:cs typeface="Times New Roman" pitchFamily="18" charset="0"/>
                <a:sym typeface="Wingdings" panose="05000000000000000000" pitchFamily="2" charset="2"/>
              </a:rPr>
              <a:t>null hypothesis is Accept2 variables are  independent. no correlation b/w two variables.</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Note: </a:t>
            </a:r>
            <a:endParaRPr lang="en-IN" sz="2400" b="1" dirty="0">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5637229"/>
            <a:ext cx="8534400" cy="1220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180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55" y="3962400"/>
            <a:ext cx="850551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954" y="152400"/>
            <a:ext cx="8505510" cy="281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9057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228600"/>
            <a:ext cx="80772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4489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8600"/>
            <a:ext cx="8534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4563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76200"/>
            <a:ext cx="6019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86868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9819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719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34636"/>
            <a:ext cx="8686800" cy="3699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886200"/>
            <a:ext cx="8610599" cy="2819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700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 y="0"/>
            <a:ext cx="9130573"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1440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1"/>
            <a:ext cx="8763001"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7579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
            <a:ext cx="8915400" cy="6278642"/>
          </a:xfrm>
          <a:prstGeom prst="rect">
            <a:avLst/>
          </a:prstGeom>
        </p:spPr>
        <p:txBody>
          <a:bodyPr wrap="square">
            <a:spAutoFit/>
          </a:bodyPr>
          <a:lstStyle/>
          <a:p>
            <a:pPr algn="ctr"/>
            <a:r>
              <a:rPr lang="en-IN" sz="2800" u="sng" dirty="0">
                <a:solidFill>
                  <a:srgbClr val="FF0000"/>
                </a:solidFill>
                <a:latin typeface="Times New Roman" pitchFamily="18" charset="0"/>
                <a:cs typeface="Times New Roman" pitchFamily="18" charset="0"/>
              </a:rPr>
              <a:t>Correlation Coefficient for Numeric Data  </a:t>
            </a:r>
            <a:r>
              <a:rPr lang="en-IN" sz="2200" dirty="0">
                <a:latin typeface="Times New Roman" pitchFamily="18" charset="0"/>
                <a:cs typeface="Times New Roman" pitchFamily="18" charset="0"/>
              </a:rPr>
              <a:t>	</a:t>
            </a:r>
          </a:p>
          <a:p>
            <a:pPr algn="just"/>
            <a:r>
              <a:rPr lang="en-IN" sz="2200" dirty="0">
                <a:latin typeface="Times New Roman" pitchFamily="18" charset="0"/>
                <a:cs typeface="Times New Roman" pitchFamily="18" charset="0"/>
              </a:rPr>
              <a:t>	For numeric attributes, we can evaluate the correlation between two attributes, A and B,  by computing the correlation coefficient (also known as Pearson’s product moment coefficient). That is:</a:t>
            </a:r>
          </a:p>
          <a:p>
            <a:pPr algn="just"/>
            <a:endParaRPr lang="en-IN"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Where n is the number of tuples, </a:t>
            </a:r>
            <a:r>
              <a:rPr lang="en-IN" sz="2200" dirty="0" err="1">
                <a:latin typeface="Times New Roman" pitchFamily="18" charset="0"/>
                <a:cs typeface="Times New Roman" pitchFamily="18" charset="0"/>
              </a:rPr>
              <a:t>a</a:t>
            </a:r>
            <a:r>
              <a:rPr lang="en-IN" sz="2200" baseline="-25000" dirty="0" err="1">
                <a:latin typeface="Times New Roman" pitchFamily="18" charset="0"/>
                <a:cs typeface="Times New Roman" pitchFamily="18" charset="0"/>
              </a:rPr>
              <a:t>i</a:t>
            </a:r>
            <a:r>
              <a:rPr lang="en-IN" sz="2200" dirty="0">
                <a:latin typeface="Times New Roman" pitchFamily="18" charset="0"/>
                <a:cs typeface="Times New Roman" pitchFamily="18" charset="0"/>
              </a:rPr>
              <a:t> and b</a:t>
            </a:r>
            <a:r>
              <a:rPr lang="en-IN" sz="2200" baseline="-25000" dirty="0">
                <a:latin typeface="Times New Roman" pitchFamily="18" charset="0"/>
                <a:cs typeface="Times New Roman" pitchFamily="18" charset="0"/>
              </a:rPr>
              <a:t>i</a:t>
            </a:r>
            <a:r>
              <a:rPr lang="en-IN" sz="2200" dirty="0">
                <a:latin typeface="Times New Roman" pitchFamily="18" charset="0"/>
                <a:cs typeface="Times New Roman" pitchFamily="18" charset="0"/>
              </a:rPr>
              <a:t> are the respective values of A and B in tuple i,                        mean values of A and B,                         respective standard deviations of A and B, and            is the sum of the AB cross-product (i.e., for each tuple, the value for A is multiplied by the value for B in that tuple).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Note:  -1 &lt;= </a:t>
            </a:r>
            <a:r>
              <a:rPr lang="en-IN" sz="2200" dirty="0" err="1">
                <a:latin typeface="Times New Roman" pitchFamily="18" charset="0"/>
                <a:cs typeface="Times New Roman" pitchFamily="18" charset="0"/>
              </a:rPr>
              <a:t>r</a:t>
            </a:r>
            <a:r>
              <a:rPr lang="en-IN" sz="2200" baseline="-25000" dirty="0" err="1">
                <a:latin typeface="Times New Roman" pitchFamily="18" charset="0"/>
                <a:cs typeface="Times New Roman" pitchFamily="18" charset="0"/>
              </a:rPr>
              <a:t>A,B</a:t>
            </a:r>
            <a:r>
              <a:rPr lang="en-IN" sz="2200" dirty="0">
                <a:latin typeface="Times New Roman" pitchFamily="18" charset="0"/>
                <a:cs typeface="Times New Roman" pitchFamily="18" charset="0"/>
              </a:rPr>
              <a:t> &lt;= +1. If </a:t>
            </a:r>
            <a:r>
              <a:rPr lang="en-IN" sz="2200" dirty="0" err="1">
                <a:latin typeface="Times New Roman" pitchFamily="18" charset="0"/>
                <a:cs typeface="Times New Roman" pitchFamily="18" charset="0"/>
              </a:rPr>
              <a:t>r</a:t>
            </a:r>
            <a:r>
              <a:rPr lang="en-IN" sz="2200" baseline="-25000" dirty="0" err="1">
                <a:latin typeface="Times New Roman" pitchFamily="18" charset="0"/>
                <a:cs typeface="Times New Roman" pitchFamily="18" charset="0"/>
              </a:rPr>
              <a:t>A,B</a:t>
            </a:r>
            <a:r>
              <a:rPr lang="en-IN" sz="2200" dirty="0">
                <a:latin typeface="Times New Roman" pitchFamily="18" charset="0"/>
                <a:cs typeface="Times New Roman" pitchFamily="18" charset="0"/>
              </a:rPr>
              <a:t> is greater than 0, then A and B are positively correlated, meaning that the values of A increase as the values of B increase. The higher the value, the stronger the correlation.</a:t>
            </a:r>
            <a:endParaRPr lang="en-US"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71245"/>
            <a:ext cx="5486400" cy="114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3571009"/>
            <a:ext cx="685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7559" y="3303106"/>
            <a:ext cx="1564482" cy="304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3282060"/>
            <a:ext cx="1676400" cy="293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4217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763000" cy="4832092"/>
          </a:xfrm>
          <a:prstGeom prst="rect">
            <a:avLst/>
          </a:prstGeom>
        </p:spPr>
        <p:txBody>
          <a:bodyPr wrap="square">
            <a:spAutoFit/>
          </a:bodyPr>
          <a:lstStyle/>
          <a:p>
            <a:pPr algn="just"/>
            <a:r>
              <a:rPr lang="en-IN" sz="2200" dirty="0">
                <a:latin typeface="Times New Roman" pitchFamily="18" charset="0"/>
                <a:cs typeface="Times New Roman" pitchFamily="18" charset="0"/>
              </a:rPr>
              <a:t>	If the resulting value is equal to 0, then A and B are independent and there is no correlation between them. If the resulting value is less than 0, then A and B are negatively correlated, where the values of one attribute increase as the values of the other attribute decrease.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Note that correlation does not imply causality. That is, if A and B are correlated, this does not necessarily imply that A causes B or that B causes A.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example, in analyzing a demographic database, we may find that attributes representing the number of hospitals and the number of car thefts in a region are correlated. This does not mean that one causes the other. Both are actually causally linked to a third attribute, namely, population.</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821051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3908762"/>
          </a:xfrm>
          <a:prstGeom prst="rect">
            <a:avLst/>
          </a:prstGeom>
        </p:spPr>
        <p:txBody>
          <a:bodyPr wrap="square">
            <a:spAutoFit/>
          </a:bodyPr>
          <a:lstStyle/>
          <a:p>
            <a:pPr algn="ctr"/>
            <a:r>
              <a:rPr lang="en-US" sz="2800" u="sng" dirty="0">
                <a:solidFill>
                  <a:srgbClr val="FF0000"/>
                </a:solidFill>
                <a:latin typeface="Times New Roman" pitchFamily="18" charset="0"/>
                <a:cs typeface="Times New Roman" pitchFamily="18" charset="0"/>
              </a:rPr>
              <a:t>Covariance of Numeric Data </a:t>
            </a:r>
          </a:p>
          <a:p>
            <a:pPr algn="just"/>
            <a:r>
              <a:rPr lang="en-US" sz="2200" dirty="0">
                <a:latin typeface="Times New Roman" pitchFamily="18" charset="0"/>
                <a:cs typeface="Times New Roman" pitchFamily="18" charset="0"/>
              </a:rPr>
              <a:t>In probability theory and statistics, correlation and covariance are two similar measures for assessing how much two attributes change together. Consider two numeric attributes A and B, and a set of n observations (a1,b1), ,(</a:t>
            </a:r>
            <a:r>
              <a:rPr lang="en-US" sz="2200" dirty="0" err="1">
                <a:latin typeface="Times New Roman" pitchFamily="18" charset="0"/>
                <a:cs typeface="Times New Roman" pitchFamily="18" charset="0"/>
              </a:rPr>
              <a:t>a</a:t>
            </a:r>
            <a:r>
              <a:rPr lang="en-US" sz="2200" baseline="-25000" dirty="0" err="1">
                <a:latin typeface="Times New Roman" pitchFamily="18" charset="0"/>
                <a:cs typeface="Times New Roman" pitchFamily="18" charset="0"/>
              </a:rPr>
              <a:t>n</a:t>
            </a:r>
            <a:r>
              <a:rPr lang="en-US" sz="2200" dirty="0" err="1">
                <a:latin typeface="Times New Roman" pitchFamily="18" charset="0"/>
                <a:cs typeface="Times New Roman" pitchFamily="18" charset="0"/>
              </a:rPr>
              <a:t>,b</a:t>
            </a:r>
            <a:r>
              <a:rPr lang="en-US" sz="2200" baseline="-25000" dirty="0" err="1">
                <a:latin typeface="Times New Roman" pitchFamily="18" charset="0"/>
                <a:cs typeface="Times New Roman" pitchFamily="18" charset="0"/>
              </a:rPr>
              <a:t>n</a:t>
            </a:r>
            <a:r>
              <a:rPr lang="en-US" sz="2200" dirty="0">
                <a:latin typeface="Times New Roman" pitchFamily="18" charset="0"/>
                <a:cs typeface="Times New Roman" pitchFamily="18" charset="0"/>
              </a:rPr>
              <a:t>) . The mean values of A and B, respectively, are also known as the expected values on A and B. that is:</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362200"/>
            <a:ext cx="8763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272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1"/>
            <a:ext cx="8686800" cy="281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2828836"/>
            <a:ext cx="8686800" cy="1107996"/>
          </a:xfrm>
          <a:prstGeom prst="rect">
            <a:avLst/>
          </a:prstGeom>
        </p:spPr>
        <p:txBody>
          <a:bodyPr wrap="square">
            <a:spAutoFit/>
          </a:bodyPr>
          <a:lstStyle/>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Note:</a:t>
            </a:r>
            <a:r>
              <a:rPr lang="en-US" sz="2200" dirty="0">
                <a:latin typeface="Times New Roman" pitchFamily="18" charset="0"/>
                <a:cs typeface="Times New Roman" pitchFamily="18" charset="0"/>
              </a:rPr>
              <a:t>  The converse is not true. Some pairs of random variables (attributes) may have a covariance of 0 but are not independent.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213161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1877437"/>
          </a:xfrm>
          <a:prstGeom prst="rect">
            <a:avLst/>
          </a:prstGeom>
        </p:spPr>
        <p:txBody>
          <a:bodyPr wrap="square">
            <a:spAutoFit/>
          </a:bodyPr>
          <a:lstStyle/>
          <a:p>
            <a:pPr algn="just"/>
            <a:r>
              <a:rPr lang="en-IN" sz="2800" dirty="0">
                <a:solidFill>
                  <a:srgbClr val="00B050"/>
                </a:solidFill>
                <a:latin typeface="Times New Roman" pitchFamily="18" charset="0"/>
                <a:cs typeface="Times New Roman" pitchFamily="18" charset="0"/>
              </a:rPr>
              <a:t>Covariance analysis of numeric attributes:</a:t>
            </a:r>
          </a:p>
          <a:p>
            <a:pPr algn="just"/>
            <a:r>
              <a:rPr lang="en-IN" sz="2200" dirty="0">
                <a:latin typeface="Times New Roman" pitchFamily="18" charset="0"/>
                <a:cs typeface="Times New Roman" pitchFamily="18" charset="0"/>
              </a:rPr>
              <a:t> 	Consider Table3.2, which presents a simplified example of stock prices observed at five time points for </a:t>
            </a:r>
            <a:r>
              <a:rPr lang="en-IN" sz="2200" dirty="0" err="1">
                <a:latin typeface="Times New Roman" pitchFamily="18" charset="0"/>
                <a:cs typeface="Times New Roman" pitchFamily="18" charset="0"/>
              </a:rPr>
              <a:t>AllElectronics</a:t>
            </a:r>
            <a:r>
              <a:rPr lang="en-IN" sz="2200" dirty="0">
                <a:latin typeface="Times New Roman" pitchFamily="18" charset="0"/>
                <a:cs typeface="Times New Roman" pitchFamily="18" charset="0"/>
              </a:rPr>
              <a:t> and High Tech, a high-tech company. If the stocks are affected by the same industry trends, will their prices rise or fall together?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2452688"/>
            <a:ext cx="8382000" cy="333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73761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6200"/>
            <a:ext cx="87630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5721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4924425"/>
          </a:xfrm>
          <a:prstGeom prst="rect">
            <a:avLst/>
          </a:prstGeom>
        </p:spPr>
        <p:txBody>
          <a:bodyPr wrap="square">
            <a:spAutoFit/>
          </a:bodyPr>
          <a:lstStyle/>
          <a:p>
            <a:pPr algn="just"/>
            <a:r>
              <a:rPr lang="en-IN" sz="2800" u="sng" dirty="0">
                <a:solidFill>
                  <a:srgbClr val="FF0000"/>
                </a:solidFill>
                <a:latin typeface="Times New Roman" pitchFamily="18" charset="0"/>
                <a:cs typeface="Times New Roman" pitchFamily="18" charset="0"/>
              </a:rPr>
              <a:t>Tuple Duplication: </a:t>
            </a:r>
            <a:endParaRPr lang="en-IN" sz="2200" u="sng" dirty="0">
              <a:solidFill>
                <a:srgbClr val="FF0000"/>
              </a:solidFill>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In addition to detecting redundancies between attributes, duplication should also be detected at the tuple level.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The use of </a:t>
            </a:r>
            <a:r>
              <a:rPr lang="en-IN" sz="2200" dirty="0" err="1">
                <a:latin typeface="Times New Roman" pitchFamily="18" charset="0"/>
                <a:cs typeface="Times New Roman" pitchFamily="18" charset="0"/>
              </a:rPr>
              <a:t>denormalized</a:t>
            </a:r>
            <a:r>
              <a:rPr lang="en-IN" sz="2200" dirty="0">
                <a:latin typeface="Times New Roman" pitchFamily="18" charset="0"/>
                <a:cs typeface="Times New Roman" pitchFamily="18" charset="0"/>
              </a:rPr>
              <a:t> tables (often done to improve performance by avoiding joins) is another source of data redundancy. Inconsistencies often arise between various duplicates, due to inaccurate data entry or updating some but not all data occurrences. </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For example, if a purchase order data base contains attributes for </a:t>
            </a:r>
            <a:r>
              <a:rPr lang="en-US" sz="2200" dirty="0">
                <a:latin typeface="Times New Roman" pitchFamily="18" charset="0"/>
                <a:cs typeface="Times New Roman" pitchFamily="18" charset="0"/>
              </a:rPr>
              <a:t>the purchaser’s name and address instead of a key to this information in a purchaser database, discrepancies can occur, such as the same purchaser’s name appearing with different addresses within the purchase order database.</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916909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1"/>
            <a:ext cx="8763000" cy="5601533"/>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Data Value Conflict Detection and Resolution</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Data integration also involves the detection and resolution of data value conflicts. </a:t>
            </a:r>
          </a:p>
          <a:p>
            <a:pPr algn="just"/>
            <a:r>
              <a:rPr lang="en-US" sz="2200" dirty="0">
                <a:latin typeface="Times New Roman" pitchFamily="18" charset="0"/>
                <a:cs typeface="Times New Roman" pitchFamily="18" charset="0"/>
              </a:rPr>
              <a:t>	For example, for the same real-world entity, attribute values from different sources may differ. This may be due to differences in representation, scaling, or encoding. For instance, a weight attribute may be stored in metric units in one system and British imperial units in another. For a hotel chain, the price of rooms in different cities may involve not only different currencies but also different services (e.g., free breakfast) and taxes.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When exchanging information between schools, for example, each school may have its own curriculum and grading scheme. One university may adopt a quarter system, offer three courses on database systems, and assign grades from A to F, whereas another may adopt a semester system, offer two courses on databases, and assign grades from 1 to 10. </a:t>
            </a:r>
          </a:p>
        </p:txBody>
      </p:sp>
    </p:spTree>
    <p:extLst>
      <p:ext uri="{BB962C8B-B14F-4D97-AF65-F5344CB8AC3E}">
        <p14:creationId xmlns:p14="http://schemas.microsoft.com/office/powerpoint/2010/main" val="683337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810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2651</TotalTime>
  <Words>3917</Words>
  <Application>Microsoft Office PowerPoint</Application>
  <PresentationFormat>On-screen Show (4:3)</PresentationFormat>
  <Paragraphs>306</Paragraphs>
  <Slides>50</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Lenovo</cp:lastModifiedBy>
  <cp:revision>123</cp:revision>
  <dcterms:created xsi:type="dcterms:W3CDTF">2006-08-16T00:00:00Z</dcterms:created>
  <dcterms:modified xsi:type="dcterms:W3CDTF">2026-07-14T05:15:29Z</dcterms:modified>
</cp:coreProperties>
</file>