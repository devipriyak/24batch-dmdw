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6" r:id="rId2"/>
    <p:sldId id="257" r:id="rId3"/>
    <p:sldId id="258" r:id="rId4"/>
    <p:sldId id="338" r:id="rId5"/>
    <p:sldId id="339" r:id="rId6"/>
    <p:sldId id="259" r:id="rId7"/>
    <p:sldId id="266" r:id="rId8"/>
    <p:sldId id="260" r:id="rId9"/>
    <p:sldId id="270" r:id="rId10"/>
    <p:sldId id="267" r:id="rId11"/>
    <p:sldId id="340" r:id="rId12"/>
    <p:sldId id="268" r:id="rId13"/>
    <p:sldId id="269" r:id="rId14"/>
    <p:sldId id="263" r:id="rId15"/>
    <p:sldId id="341" r:id="rId16"/>
    <p:sldId id="342" r:id="rId17"/>
    <p:sldId id="264" r:id="rId18"/>
    <p:sldId id="265"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6" r:id="rId44"/>
    <p:sldId id="297" r:id="rId45"/>
    <p:sldId id="343" r:id="rId46"/>
    <p:sldId id="298" r:id="rId47"/>
    <p:sldId id="299" r:id="rId48"/>
    <p:sldId id="310" r:id="rId49"/>
    <p:sldId id="300" r:id="rId50"/>
    <p:sldId id="311" r:id="rId51"/>
    <p:sldId id="312" r:id="rId52"/>
    <p:sldId id="302" r:id="rId53"/>
    <p:sldId id="303" r:id="rId54"/>
    <p:sldId id="304" r:id="rId55"/>
    <p:sldId id="305" r:id="rId56"/>
    <p:sldId id="306" r:id="rId57"/>
    <p:sldId id="313" r:id="rId58"/>
    <p:sldId id="314" r:id="rId59"/>
    <p:sldId id="315" r:id="rId60"/>
    <p:sldId id="316" r:id="rId61"/>
    <p:sldId id="317" r:id="rId62"/>
    <p:sldId id="319" r:id="rId63"/>
    <p:sldId id="320" r:id="rId64"/>
    <p:sldId id="321" r:id="rId65"/>
    <p:sldId id="322" r:id="rId66"/>
    <p:sldId id="323" r:id="rId67"/>
    <p:sldId id="329" r:id="rId68"/>
    <p:sldId id="330" r:id="rId69"/>
    <p:sldId id="331" r:id="rId70"/>
    <p:sldId id="332" r:id="rId71"/>
    <p:sldId id="333" r:id="rId72"/>
    <p:sldId id="334" r:id="rId73"/>
    <p:sldId id="335" r:id="rId74"/>
    <p:sldId id="336" r:id="rId75"/>
    <p:sldId id="337" r:id="rId76"/>
    <p:sldId id="324" r:id="rId77"/>
    <p:sldId id="326"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34" autoAdjust="0"/>
    <p:restoredTop sz="94660"/>
  </p:normalViewPr>
  <p:slideViewPr>
    <p:cSldViewPr>
      <p:cViewPr varScale="1">
        <p:scale>
          <a:sx n="67" d="100"/>
          <a:sy n="67" d="100"/>
        </p:scale>
        <p:origin x="62" y="3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emf"/><Relationship Id="rId4"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6A0E43-AA85-4A5E-AF7A-747EA27722DB}" type="datetimeFigureOut">
              <a:rPr lang="en-IN" smtClean="0"/>
              <a:t>24-09-2026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94139A-7F07-435D-95DC-CDF9FF8D4E7B}" type="slidenum">
              <a:rPr lang="en-IN" smtClean="0"/>
              <a:t>‹#›</a:t>
            </a:fld>
            <a:endParaRPr lang="en-IN"/>
          </a:p>
        </p:txBody>
      </p:sp>
    </p:spTree>
    <p:extLst>
      <p:ext uri="{BB962C8B-B14F-4D97-AF65-F5344CB8AC3E}">
        <p14:creationId xmlns:p14="http://schemas.microsoft.com/office/powerpoint/2010/main" val="2634228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F94139A-7F07-435D-95DC-CDF9FF8D4E7B}" type="slidenum">
              <a:rPr lang="en-IN" smtClean="0"/>
              <a:t>35</a:t>
            </a:fld>
            <a:endParaRPr lang="en-IN"/>
          </a:p>
        </p:txBody>
      </p:sp>
    </p:spTree>
    <p:extLst>
      <p:ext uri="{BB962C8B-B14F-4D97-AF65-F5344CB8AC3E}">
        <p14:creationId xmlns:p14="http://schemas.microsoft.com/office/powerpoint/2010/main" val="1276243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4.wmf"/><Relationship Id="rId5" Type="http://schemas.openxmlformats.org/officeDocument/2006/relationships/oleObject" Target="../embeddings/oleObject4.bin"/><Relationship Id="rId10" Type="http://schemas.openxmlformats.org/officeDocument/2006/relationships/image" Target="../media/image6.wmf"/><Relationship Id="rId4" Type="http://schemas.openxmlformats.org/officeDocument/2006/relationships/image" Target="../media/image3.emf"/><Relationship Id="rId9"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27.emf"/><Relationship Id="rId4" Type="http://schemas.openxmlformats.org/officeDocument/2006/relationships/oleObject" Target="../embeddings/oleObject7.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28600"/>
            <a:ext cx="8153400" cy="3046988"/>
          </a:xfrm>
          <a:prstGeom prst="rect">
            <a:avLst/>
          </a:prstGeom>
        </p:spPr>
        <p:txBody>
          <a:bodyPr wrap="square">
            <a:spAutoFit/>
          </a:bodyPr>
          <a:lstStyle/>
          <a:p>
            <a:pPr algn="ctr"/>
            <a:r>
              <a:rPr lang="en-IN" sz="2400" b="1" dirty="0">
                <a:solidFill>
                  <a:srgbClr val="FF0000"/>
                </a:solidFill>
                <a:latin typeface="Times New Roman" pitchFamily="18" charset="0"/>
                <a:cs typeface="Times New Roman" pitchFamily="18" charset="0"/>
              </a:rPr>
              <a:t>UNIT–IV</a:t>
            </a:r>
          </a:p>
          <a:p>
            <a:endParaRPr lang="en-IN" sz="2400" dirty="0">
              <a:latin typeface="Times New Roman" pitchFamily="18" charset="0"/>
              <a:cs typeface="Times New Roman" pitchFamily="18" charset="0"/>
            </a:endParaRPr>
          </a:p>
          <a:p>
            <a:pPr algn="just"/>
            <a:r>
              <a:rPr lang="en-IN" sz="2400" dirty="0">
                <a:solidFill>
                  <a:srgbClr val="00B050"/>
                </a:solidFill>
                <a:latin typeface="Times New Roman" pitchFamily="18" charset="0"/>
                <a:cs typeface="Times New Roman" pitchFamily="18" charset="0"/>
              </a:rPr>
              <a:t>Association Analysis:</a:t>
            </a:r>
            <a:r>
              <a:rPr lang="en-IN" sz="2400" dirty="0">
                <a:latin typeface="Times New Roman" pitchFamily="18" charset="0"/>
                <a:cs typeface="Times New Roman" pitchFamily="18" charset="0"/>
              </a:rPr>
              <a:t> </a:t>
            </a:r>
            <a:r>
              <a:rPr lang="en-IN" sz="2400" dirty="0">
                <a:solidFill>
                  <a:srgbClr val="7030A0"/>
                </a:solidFill>
                <a:latin typeface="Times New Roman" pitchFamily="18" charset="0"/>
                <a:cs typeface="Times New Roman" pitchFamily="18" charset="0"/>
              </a:rPr>
              <a:t>Problem Definition, Frequent </a:t>
            </a:r>
            <a:r>
              <a:rPr lang="en-IN" sz="2400" dirty="0" err="1">
                <a:solidFill>
                  <a:srgbClr val="7030A0"/>
                </a:solidFill>
                <a:latin typeface="Times New Roman" pitchFamily="18" charset="0"/>
                <a:cs typeface="Times New Roman" pitchFamily="18" charset="0"/>
              </a:rPr>
              <a:t>Itemset</a:t>
            </a:r>
            <a:r>
              <a:rPr lang="en-IN" sz="2400" dirty="0">
                <a:solidFill>
                  <a:srgbClr val="7030A0"/>
                </a:solidFill>
                <a:latin typeface="Times New Roman" pitchFamily="18" charset="0"/>
                <a:cs typeface="Times New Roman" pitchFamily="18" charset="0"/>
              </a:rPr>
              <a:t> Generation, </a:t>
            </a:r>
          </a:p>
          <a:p>
            <a:pPr algn="just"/>
            <a:endParaRPr lang="en-IN" sz="2400" dirty="0">
              <a:latin typeface="Times New Roman" pitchFamily="18" charset="0"/>
              <a:cs typeface="Times New Roman" pitchFamily="18" charset="0"/>
            </a:endParaRPr>
          </a:p>
          <a:p>
            <a:pPr algn="just"/>
            <a:r>
              <a:rPr lang="en-IN" sz="2400" dirty="0">
                <a:solidFill>
                  <a:srgbClr val="00B050"/>
                </a:solidFill>
                <a:latin typeface="Times New Roman" pitchFamily="18" charset="0"/>
                <a:cs typeface="Times New Roman" pitchFamily="18" charset="0"/>
              </a:rPr>
              <a:t>Rule Generation: </a:t>
            </a:r>
            <a:r>
              <a:rPr lang="en-IN" sz="2400" dirty="0">
                <a:solidFill>
                  <a:srgbClr val="7030A0"/>
                </a:solidFill>
                <a:latin typeface="Times New Roman" pitchFamily="18" charset="0"/>
                <a:cs typeface="Times New Roman" pitchFamily="18" charset="0"/>
              </a:rPr>
              <a:t>Confident Based Pruning, Rule Generation in </a:t>
            </a:r>
            <a:r>
              <a:rPr lang="en-IN" sz="2400" dirty="0" err="1">
                <a:solidFill>
                  <a:srgbClr val="7030A0"/>
                </a:solidFill>
                <a:latin typeface="Times New Roman" pitchFamily="18" charset="0"/>
                <a:cs typeface="Times New Roman" pitchFamily="18" charset="0"/>
              </a:rPr>
              <a:t>Apriori</a:t>
            </a:r>
            <a:r>
              <a:rPr lang="en-IN" sz="2400" dirty="0">
                <a:solidFill>
                  <a:srgbClr val="7030A0"/>
                </a:solidFill>
                <a:latin typeface="Times New Roman" pitchFamily="18" charset="0"/>
                <a:cs typeface="Times New Roman" pitchFamily="18" charset="0"/>
              </a:rPr>
              <a:t> Algorithm, Compact Representation of frequent item sets, FP-Growth Algorithm.</a:t>
            </a:r>
            <a:r>
              <a:rPr lang="en-IN" sz="2400" dirty="0">
                <a:latin typeface="Times New Roman" pitchFamily="18" charset="0"/>
                <a:cs typeface="Times New Roman" pitchFamily="18" charset="0"/>
              </a:rPr>
              <a:t>  </a:t>
            </a:r>
          </a:p>
        </p:txBody>
      </p:sp>
    </p:spTree>
    <p:extLst>
      <p:ext uri="{BB962C8B-B14F-4D97-AF65-F5344CB8AC3E}">
        <p14:creationId xmlns:p14="http://schemas.microsoft.com/office/powerpoint/2010/main" val="1313152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1"/>
            <a:ext cx="8610600" cy="3631763"/>
          </a:xfrm>
          <a:prstGeom prst="rect">
            <a:avLst/>
          </a:prstGeom>
        </p:spPr>
        <p:txBody>
          <a:bodyPr wrap="square">
            <a:spAutoFit/>
          </a:bodyPr>
          <a:lstStyle/>
          <a:p>
            <a:r>
              <a:rPr lang="en-IN" sz="2800" dirty="0">
                <a:solidFill>
                  <a:srgbClr val="FF0000"/>
                </a:solidFill>
                <a:latin typeface="Times New Roman" pitchFamily="18" charset="0"/>
                <a:cs typeface="Times New Roman" pitchFamily="18" charset="0"/>
              </a:rPr>
              <a:t>Association Analysis: Basic Concepts and Algorithms</a:t>
            </a:r>
          </a:p>
          <a:p>
            <a:endParaRPr lang="en-IN" sz="2800" dirty="0">
              <a:solidFill>
                <a:srgbClr val="FF0000"/>
              </a:solidFill>
              <a:latin typeface="Times New Roman" pitchFamily="18" charset="0"/>
              <a:cs typeface="Times New Roman" pitchFamily="18" charset="0"/>
            </a:endParaRPr>
          </a:p>
          <a:p>
            <a:pPr algn="just">
              <a:lnSpc>
                <a:spcPct val="90000"/>
              </a:lnSpc>
            </a:pPr>
            <a:r>
              <a:rPr lang="en-US" sz="2800" dirty="0">
                <a:solidFill>
                  <a:srgbClr val="FF0000"/>
                </a:solidFill>
                <a:latin typeface="Times New Roman" pitchFamily="18" charset="0"/>
                <a:cs typeface="Times New Roman" pitchFamily="18" charset="0"/>
              </a:rPr>
              <a:t>	</a:t>
            </a:r>
            <a:r>
              <a:rPr lang="en-US" altLang="en-US" sz="2200" dirty="0">
                <a:latin typeface="Times New Roman" pitchFamily="18" charset="0"/>
                <a:cs typeface="Times New Roman" pitchFamily="18" charset="0"/>
              </a:rPr>
              <a:t>Association Rule Mining Given a set of transactions, find rules that will predict the occurrence of an item based on the occurrences of other items in the transaction</a:t>
            </a:r>
          </a:p>
          <a:p>
            <a:pPr>
              <a:lnSpc>
                <a:spcPct val="90000"/>
              </a:lnSpc>
            </a:pPr>
            <a:endParaRPr lang="en-US" altLang="en-US" sz="2800" dirty="0"/>
          </a:p>
          <a:p>
            <a:r>
              <a:rPr lang="en-US" altLang="en-US" sz="2800" dirty="0">
                <a:solidFill>
                  <a:srgbClr val="0C6D9C"/>
                </a:solidFill>
                <a:latin typeface="Times New Roman" pitchFamily="18" charset="0"/>
                <a:cs typeface="Times New Roman" pitchFamily="18" charset="0"/>
              </a:rPr>
              <a:t>Market-Basket transactions</a:t>
            </a:r>
          </a:p>
          <a:p>
            <a:pPr algn="just"/>
            <a:r>
              <a:rPr lang="en-US" altLang="en-US" sz="2200" dirty="0">
                <a:latin typeface="Times New Roman" pitchFamily="18" charset="0"/>
                <a:cs typeface="Times New Roman" pitchFamily="18" charset="0"/>
              </a:rPr>
              <a:t>Example of Association Rules:</a:t>
            </a:r>
          </a:p>
          <a:p>
            <a:endParaRPr lang="en-IN" sz="2800" dirty="0">
              <a:solidFill>
                <a:srgbClr val="FF0000"/>
              </a:solidFill>
              <a:latin typeface="Times New Roman" pitchFamily="18" charset="0"/>
              <a:cs typeface="Times New Roman" pitchFamily="18" charset="0"/>
            </a:endParaRPr>
          </a:p>
        </p:txBody>
      </p:sp>
      <p:sp>
        <p:nvSpPr>
          <p:cNvPr id="4" name="Text Box 7"/>
          <p:cNvSpPr txBox="1">
            <a:spLocks noChangeArrowheads="1"/>
          </p:cNvSpPr>
          <p:nvPr/>
        </p:nvSpPr>
        <p:spPr bwMode="auto">
          <a:xfrm>
            <a:off x="5105400" y="3936564"/>
            <a:ext cx="33528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b="0" dirty="0"/>
              <a:t>{Diaper} </a:t>
            </a:r>
            <a:r>
              <a:rPr lang="en-US" altLang="en-US" sz="1800" b="0" dirty="0">
                <a:sym typeface="Symbol" pitchFamily="18" charset="2"/>
              </a:rPr>
              <a:t> {Beer},</a:t>
            </a:r>
            <a:br>
              <a:rPr lang="en-US" altLang="en-US" sz="1800" b="0" dirty="0">
                <a:sym typeface="Symbol" pitchFamily="18" charset="2"/>
              </a:rPr>
            </a:br>
            <a:r>
              <a:rPr lang="en-US" altLang="en-US" sz="1800" b="0" dirty="0">
                <a:sym typeface="Symbol" pitchFamily="18" charset="2"/>
              </a:rPr>
              <a:t>{Milk, Bread}  {Eggs, Coke},</a:t>
            </a:r>
            <a:br>
              <a:rPr lang="en-US" altLang="en-US" sz="1800" b="0" dirty="0">
                <a:sym typeface="Symbol" pitchFamily="18" charset="2"/>
              </a:rPr>
            </a:br>
            <a:r>
              <a:rPr lang="en-US" altLang="en-US" sz="1800" b="0" dirty="0">
                <a:sym typeface="Symbol" pitchFamily="18" charset="2"/>
              </a:rPr>
              <a:t>{Beer, Bread}  {Milk},</a:t>
            </a:r>
          </a:p>
        </p:txBody>
      </p:sp>
      <p:graphicFrame>
        <p:nvGraphicFramePr>
          <p:cNvPr id="5" name="Object 4"/>
          <p:cNvGraphicFramePr>
            <a:graphicFrameLocks noChangeAspect="1"/>
          </p:cNvGraphicFramePr>
          <p:nvPr>
            <p:extLst>
              <p:ext uri="{D42A27DB-BD31-4B8C-83A1-F6EECF244321}">
                <p14:modId xmlns:p14="http://schemas.microsoft.com/office/powerpoint/2010/main" val="4152281372"/>
              </p:ext>
            </p:extLst>
          </p:nvPr>
        </p:nvGraphicFramePr>
        <p:xfrm>
          <a:off x="533400" y="3810001"/>
          <a:ext cx="4076700" cy="2285999"/>
        </p:xfrm>
        <a:graphic>
          <a:graphicData uri="http://schemas.openxmlformats.org/presentationml/2006/ole">
            <mc:AlternateContent xmlns:mc="http://schemas.openxmlformats.org/markup-compatibility/2006">
              <mc:Choice xmlns:v="urn:schemas-microsoft-com:vml" Requires="v">
                <p:oleObj spid="_x0000_s1232" name="Document" r:id="rId3" imgW="3433292" imgH="1998228" progId="Word.Document.8">
                  <p:embed/>
                </p:oleObj>
              </mc:Choice>
              <mc:Fallback>
                <p:oleObj name="Document" r:id="rId3" imgW="3433292" imgH="1998228" progId="Word.Document.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810001"/>
                        <a:ext cx="4076700" cy="228599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14718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523220"/>
          </a:xfrm>
          <a:prstGeom prst="rect">
            <a:avLst/>
          </a:prstGeom>
        </p:spPr>
        <p:txBody>
          <a:bodyPr wrap="square">
            <a:spAutoFit/>
          </a:bodyPr>
          <a:lstStyle/>
          <a:p>
            <a:pPr algn="just"/>
            <a:r>
              <a:rPr lang="en-US" altLang="en-US" sz="2800" dirty="0">
                <a:solidFill>
                  <a:srgbClr val="FF0000"/>
                </a:solidFill>
                <a:latin typeface="Times New Roman" pitchFamily="18" charset="0"/>
                <a:cs typeface="Times New Roman" pitchFamily="18" charset="0"/>
              </a:rPr>
              <a:t>Definition: Frequent </a:t>
            </a:r>
            <a:r>
              <a:rPr lang="en-US" altLang="en-US" sz="2800" dirty="0" err="1">
                <a:solidFill>
                  <a:srgbClr val="FF0000"/>
                </a:solidFill>
                <a:latin typeface="Times New Roman" pitchFamily="18" charset="0"/>
                <a:cs typeface="Times New Roman" pitchFamily="18" charset="0"/>
              </a:rPr>
              <a:t>Itemset</a:t>
            </a:r>
            <a:endParaRPr lang="en-IN" sz="2800" dirty="0">
              <a:solidFill>
                <a:srgbClr val="FF0000"/>
              </a:solidFill>
              <a:latin typeface="Times New Roman" pitchFamily="18" charset="0"/>
              <a:cs typeface="Times New Roman" pitchFamily="18" charset="0"/>
            </a:endParaRPr>
          </a:p>
        </p:txBody>
      </p:sp>
      <p:sp>
        <p:nvSpPr>
          <p:cNvPr id="3" name="Rectangle 3"/>
          <p:cNvSpPr txBox="1">
            <a:spLocks noChangeArrowheads="1"/>
          </p:cNvSpPr>
          <p:nvPr/>
        </p:nvSpPr>
        <p:spPr>
          <a:xfrm>
            <a:off x="304800" y="675620"/>
            <a:ext cx="5867400" cy="5953780"/>
          </a:xfrm>
          <a:prstGeom prst="rect">
            <a:avLst/>
          </a:prstGeom>
          <a:noFill/>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altLang="en-US" sz="2200" b="1" dirty="0" err="1">
                <a:solidFill>
                  <a:srgbClr val="00B050"/>
                </a:solidFill>
                <a:latin typeface="Times New Roman" pitchFamily="18" charset="0"/>
                <a:cs typeface="Times New Roman" pitchFamily="18" charset="0"/>
              </a:rPr>
              <a:t>Itemset</a:t>
            </a:r>
            <a:endParaRPr lang="en-US" altLang="en-US" sz="2200" b="1" dirty="0">
              <a:solidFill>
                <a:srgbClr val="00B050"/>
              </a:solidFill>
              <a:latin typeface="Times New Roman" pitchFamily="18" charset="0"/>
              <a:cs typeface="Times New Roman" pitchFamily="18" charset="0"/>
            </a:endParaRPr>
          </a:p>
          <a:p>
            <a:pPr lvl="1" algn="just"/>
            <a:r>
              <a:rPr lang="en-US" altLang="en-US" sz="2200" dirty="0">
                <a:latin typeface="Times New Roman" pitchFamily="18" charset="0"/>
                <a:cs typeface="Times New Roman" pitchFamily="18" charset="0"/>
              </a:rPr>
              <a:t>A collection of one or more items</a:t>
            </a:r>
          </a:p>
          <a:p>
            <a:pPr lvl="2" algn="just"/>
            <a:r>
              <a:rPr lang="en-US" altLang="en-US" sz="2200" dirty="0">
                <a:latin typeface="Times New Roman" pitchFamily="18" charset="0"/>
                <a:cs typeface="Times New Roman" pitchFamily="18" charset="0"/>
              </a:rPr>
              <a:t>Example:{</a:t>
            </a:r>
            <a:r>
              <a:rPr lang="en-US" altLang="en-US" sz="2200" dirty="0" err="1">
                <a:latin typeface="Times New Roman" pitchFamily="18" charset="0"/>
                <a:cs typeface="Times New Roman" pitchFamily="18" charset="0"/>
              </a:rPr>
              <a:t>Milk,Bread</a:t>
            </a:r>
            <a:r>
              <a:rPr lang="en-US" altLang="en-US" sz="2200" dirty="0">
                <a:latin typeface="Times New Roman" pitchFamily="18" charset="0"/>
                <a:cs typeface="Times New Roman" pitchFamily="18" charset="0"/>
              </a:rPr>
              <a:t>, Diaper}</a:t>
            </a:r>
          </a:p>
          <a:p>
            <a:pPr lvl="1" algn="just"/>
            <a:r>
              <a:rPr lang="en-US" altLang="en-US" sz="2200" dirty="0">
                <a:solidFill>
                  <a:srgbClr val="00B050"/>
                </a:solidFill>
                <a:latin typeface="Times New Roman" pitchFamily="18" charset="0"/>
                <a:cs typeface="Times New Roman" pitchFamily="18" charset="0"/>
              </a:rPr>
              <a:t>k-</a:t>
            </a:r>
            <a:r>
              <a:rPr lang="en-US" altLang="en-US" sz="2200" dirty="0" err="1">
                <a:solidFill>
                  <a:srgbClr val="00B050"/>
                </a:solidFill>
                <a:latin typeface="Times New Roman" pitchFamily="18" charset="0"/>
                <a:cs typeface="Times New Roman" pitchFamily="18" charset="0"/>
              </a:rPr>
              <a:t>itemset</a:t>
            </a:r>
            <a:endParaRPr lang="en-US" altLang="en-US" sz="2200" dirty="0">
              <a:solidFill>
                <a:srgbClr val="00B050"/>
              </a:solidFill>
              <a:latin typeface="Times New Roman" pitchFamily="18" charset="0"/>
              <a:cs typeface="Times New Roman" pitchFamily="18" charset="0"/>
            </a:endParaRPr>
          </a:p>
          <a:p>
            <a:pPr lvl="2" algn="just"/>
            <a:r>
              <a:rPr lang="en-US" altLang="en-US" sz="2200" dirty="0">
                <a:latin typeface="Times New Roman" pitchFamily="18" charset="0"/>
                <a:cs typeface="Times New Roman" pitchFamily="18" charset="0"/>
              </a:rPr>
              <a:t>An </a:t>
            </a:r>
            <a:r>
              <a:rPr lang="en-US" altLang="en-US" sz="2200" dirty="0" err="1">
                <a:latin typeface="Times New Roman" pitchFamily="18" charset="0"/>
                <a:cs typeface="Times New Roman" pitchFamily="18" charset="0"/>
              </a:rPr>
              <a:t>itemset</a:t>
            </a:r>
            <a:r>
              <a:rPr lang="en-US" altLang="en-US" sz="2200" dirty="0">
                <a:latin typeface="Times New Roman" pitchFamily="18" charset="0"/>
                <a:cs typeface="Times New Roman" pitchFamily="18" charset="0"/>
              </a:rPr>
              <a:t> that contains k items</a:t>
            </a:r>
            <a:endParaRPr lang="en-US" altLang="en-US" sz="2200" b="1" dirty="0">
              <a:latin typeface="Times New Roman" pitchFamily="18" charset="0"/>
              <a:cs typeface="Times New Roman" pitchFamily="18" charset="0"/>
            </a:endParaRPr>
          </a:p>
          <a:p>
            <a:pPr algn="just"/>
            <a:r>
              <a:rPr lang="en-US" altLang="en-US" sz="2200" b="1" dirty="0">
                <a:solidFill>
                  <a:srgbClr val="00B050"/>
                </a:solidFill>
                <a:latin typeface="Times New Roman" pitchFamily="18" charset="0"/>
                <a:cs typeface="Times New Roman" pitchFamily="18" charset="0"/>
              </a:rPr>
              <a:t>Support count (</a:t>
            </a:r>
            <a:r>
              <a:rPr lang="en-US" altLang="en-US" sz="2200" b="1" dirty="0">
                <a:solidFill>
                  <a:srgbClr val="00B050"/>
                </a:solidFill>
                <a:latin typeface="Times New Roman" pitchFamily="18" charset="0"/>
                <a:cs typeface="Times New Roman" pitchFamily="18" charset="0"/>
                <a:sym typeface="Symbol" pitchFamily="18" charset="2"/>
              </a:rPr>
              <a:t>)</a:t>
            </a:r>
          </a:p>
          <a:p>
            <a:pPr lvl="1" algn="just"/>
            <a:r>
              <a:rPr lang="en-US" altLang="en-US" sz="2200" dirty="0">
                <a:latin typeface="Times New Roman" pitchFamily="18" charset="0"/>
                <a:cs typeface="Times New Roman" pitchFamily="18" charset="0"/>
              </a:rPr>
              <a:t>Frequency of occurrence of an </a:t>
            </a:r>
            <a:r>
              <a:rPr lang="en-US" altLang="en-US" sz="2200" dirty="0" err="1">
                <a:latin typeface="Times New Roman" pitchFamily="18" charset="0"/>
                <a:cs typeface="Times New Roman" pitchFamily="18" charset="0"/>
              </a:rPr>
              <a:t>itemset</a:t>
            </a:r>
            <a:endParaRPr lang="en-US" altLang="en-US" sz="2200" dirty="0">
              <a:latin typeface="Times New Roman" pitchFamily="18" charset="0"/>
              <a:cs typeface="Times New Roman" pitchFamily="18" charset="0"/>
            </a:endParaRPr>
          </a:p>
          <a:p>
            <a:pPr lvl="1" algn="just"/>
            <a:r>
              <a:rPr lang="en-US" altLang="en-US" sz="2200" dirty="0">
                <a:latin typeface="Times New Roman" pitchFamily="18" charset="0"/>
                <a:cs typeface="Times New Roman" pitchFamily="18" charset="0"/>
              </a:rPr>
              <a:t>E.g.   </a:t>
            </a:r>
            <a:r>
              <a:rPr lang="en-US" altLang="en-US" sz="2200" dirty="0">
                <a:latin typeface="Times New Roman" pitchFamily="18" charset="0"/>
                <a:cs typeface="Times New Roman" pitchFamily="18" charset="0"/>
                <a:sym typeface="Symbol" pitchFamily="18" charset="2"/>
              </a:rPr>
              <a:t>({Milk, </a:t>
            </a:r>
            <a:r>
              <a:rPr lang="en-US" altLang="en-US" sz="2200" dirty="0" err="1">
                <a:latin typeface="Times New Roman" pitchFamily="18" charset="0"/>
                <a:cs typeface="Times New Roman" pitchFamily="18" charset="0"/>
                <a:sym typeface="Symbol" pitchFamily="18" charset="2"/>
              </a:rPr>
              <a:t>Bread,Diaper</a:t>
            </a:r>
            <a:r>
              <a:rPr lang="en-US" altLang="en-US" sz="2200" dirty="0">
                <a:latin typeface="Times New Roman" pitchFamily="18" charset="0"/>
                <a:cs typeface="Times New Roman" pitchFamily="18" charset="0"/>
                <a:sym typeface="Symbol" pitchFamily="18" charset="2"/>
              </a:rPr>
              <a:t>}) = 2 </a:t>
            </a:r>
            <a:endParaRPr lang="en-US" altLang="en-US" sz="2200" dirty="0">
              <a:latin typeface="Times New Roman" pitchFamily="18" charset="0"/>
              <a:cs typeface="Times New Roman" pitchFamily="18" charset="0"/>
            </a:endParaRPr>
          </a:p>
          <a:p>
            <a:pPr algn="just"/>
            <a:r>
              <a:rPr lang="en-US" altLang="en-US" sz="2200" b="1" dirty="0">
                <a:solidFill>
                  <a:srgbClr val="00B050"/>
                </a:solidFill>
                <a:latin typeface="Times New Roman" pitchFamily="18" charset="0"/>
                <a:cs typeface="Times New Roman" pitchFamily="18" charset="0"/>
              </a:rPr>
              <a:t>Support</a:t>
            </a:r>
          </a:p>
          <a:p>
            <a:pPr lvl="1" algn="just"/>
            <a:r>
              <a:rPr lang="en-US" altLang="en-US" sz="2200" dirty="0">
                <a:latin typeface="Times New Roman" pitchFamily="18" charset="0"/>
                <a:cs typeface="Times New Roman" pitchFamily="18" charset="0"/>
              </a:rPr>
              <a:t>Fraction of transactions that contain an </a:t>
            </a:r>
            <a:r>
              <a:rPr lang="en-US" altLang="en-US" sz="2200" dirty="0" err="1">
                <a:latin typeface="Times New Roman" pitchFamily="18" charset="0"/>
                <a:cs typeface="Times New Roman" pitchFamily="18" charset="0"/>
              </a:rPr>
              <a:t>itemset</a:t>
            </a:r>
            <a:endParaRPr lang="en-US" altLang="en-US" sz="2200" dirty="0">
              <a:latin typeface="Times New Roman" pitchFamily="18" charset="0"/>
              <a:cs typeface="Times New Roman" pitchFamily="18" charset="0"/>
            </a:endParaRPr>
          </a:p>
          <a:p>
            <a:pPr lvl="1" algn="just"/>
            <a:r>
              <a:rPr lang="en-US" altLang="en-US" sz="2200" dirty="0">
                <a:latin typeface="Times New Roman" pitchFamily="18" charset="0"/>
                <a:cs typeface="Times New Roman" pitchFamily="18" charset="0"/>
              </a:rPr>
              <a:t>E.g.   s({Milk, Bread, Diaper}) = 2/5</a:t>
            </a:r>
          </a:p>
          <a:p>
            <a:pPr algn="just"/>
            <a:r>
              <a:rPr lang="en-US" altLang="en-US" sz="2200" b="1" dirty="0">
                <a:solidFill>
                  <a:srgbClr val="00B050"/>
                </a:solidFill>
                <a:latin typeface="Times New Roman" pitchFamily="18" charset="0"/>
                <a:cs typeface="Times New Roman" pitchFamily="18" charset="0"/>
              </a:rPr>
              <a:t>Frequent </a:t>
            </a:r>
            <a:r>
              <a:rPr lang="en-US" altLang="en-US" sz="2200" b="1" dirty="0" err="1">
                <a:solidFill>
                  <a:srgbClr val="00B050"/>
                </a:solidFill>
                <a:latin typeface="Times New Roman" pitchFamily="18" charset="0"/>
                <a:cs typeface="Times New Roman" pitchFamily="18" charset="0"/>
              </a:rPr>
              <a:t>Itemset</a:t>
            </a:r>
            <a:endParaRPr lang="en-US" altLang="en-US" sz="2200" b="1" dirty="0">
              <a:solidFill>
                <a:srgbClr val="00B050"/>
              </a:solidFill>
              <a:latin typeface="Times New Roman" pitchFamily="18" charset="0"/>
              <a:cs typeface="Times New Roman" pitchFamily="18" charset="0"/>
            </a:endParaRPr>
          </a:p>
          <a:p>
            <a:pPr lvl="1" algn="just"/>
            <a:r>
              <a:rPr lang="en-US" altLang="en-US" sz="2200" dirty="0">
                <a:latin typeface="Times New Roman" pitchFamily="18" charset="0"/>
                <a:cs typeface="Times New Roman" pitchFamily="18" charset="0"/>
              </a:rPr>
              <a:t>An </a:t>
            </a:r>
            <a:r>
              <a:rPr lang="en-US" altLang="en-US" sz="2200" dirty="0" err="1">
                <a:latin typeface="Times New Roman" pitchFamily="18" charset="0"/>
                <a:cs typeface="Times New Roman" pitchFamily="18" charset="0"/>
              </a:rPr>
              <a:t>itemset</a:t>
            </a:r>
            <a:r>
              <a:rPr lang="en-US" altLang="en-US" sz="2200" dirty="0">
                <a:latin typeface="Times New Roman" pitchFamily="18" charset="0"/>
                <a:cs typeface="Times New Roman" pitchFamily="18" charset="0"/>
              </a:rPr>
              <a:t> whose support is greater than or equal to a </a:t>
            </a:r>
            <a:r>
              <a:rPr lang="en-US" altLang="en-US" sz="2200" i="1" dirty="0" err="1">
                <a:latin typeface="Times New Roman" pitchFamily="18" charset="0"/>
                <a:cs typeface="Times New Roman" pitchFamily="18" charset="0"/>
              </a:rPr>
              <a:t>minsup</a:t>
            </a:r>
            <a:r>
              <a:rPr lang="en-US" altLang="en-US" sz="2200" dirty="0">
                <a:latin typeface="Times New Roman" pitchFamily="18" charset="0"/>
                <a:cs typeface="Times New Roman" pitchFamily="18" charset="0"/>
              </a:rPr>
              <a:t> threshold</a:t>
            </a:r>
          </a:p>
        </p:txBody>
      </p:sp>
      <p:graphicFrame>
        <p:nvGraphicFramePr>
          <p:cNvPr id="4" name="Object 3"/>
          <p:cNvGraphicFramePr>
            <a:graphicFrameLocks noGrp="1" noChangeAspect="1"/>
          </p:cNvGraphicFramePr>
          <p:nvPr>
            <p:extLst>
              <p:ext uri="{D42A27DB-BD31-4B8C-83A1-F6EECF244321}">
                <p14:modId xmlns:p14="http://schemas.microsoft.com/office/powerpoint/2010/main" val="3549091352"/>
              </p:ext>
            </p:extLst>
          </p:nvPr>
        </p:nvGraphicFramePr>
        <p:xfrm>
          <a:off x="6248400" y="2224087"/>
          <a:ext cx="2819400" cy="2195513"/>
        </p:xfrm>
        <a:graphic>
          <a:graphicData uri="http://schemas.openxmlformats.org/presentationml/2006/ole">
            <mc:AlternateContent xmlns:mc="http://schemas.openxmlformats.org/markup-compatibility/2006">
              <mc:Choice xmlns:v="urn:schemas-microsoft-com:vml" Requires="v">
                <p:oleObj spid="_x0000_s2256" name="Document" r:id="rId3" imgW="3359338" imgH="2015504" progId="Word.Document.8">
                  <p:embed/>
                </p:oleObj>
              </mc:Choice>
              <mc:Fallback>
                <p:oleObj name="Document" r:id="rId3" imgW="3359338" imgH="2015504" progId="Word.Document.8">
                  <p:embed/>
                  <p:pic>
                    <p:nvPicPr>
                      <p:cNvPr id="0" name="Object 4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2224087"/>
                        <a:ext cx="2819400" cy="2195513"/>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98597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88290DB-1233-487E-A9B4-02F33844B5EB}"/>
              </a:ext>
            </a:extLst>
          </p:cNvPr>
          <p:cNvSpPr/>
          <p:nvPr/>
        </p:nvSpPr>
        <p:spPr>
          <a:xfrm>
            <a:off x="838200" y="1219200"/>
            <a:ext cx="8001000" cy="5150449"/>
          </a:xfrm>
          <a:prstGeom prst="rect">
            <a:avLst/>
          </a:prstGeom>
        </p:spPr>
        <p:txBody>
          <a:bodyPr wrap="square">
            <a:spAutoFit/>
          </a:bodyPr>
          <a:lstStyle/>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Support Count of Itemset</a:t>
            </a:r>
          </a:p>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Support =        ─────────────────────────</a:t>
            </a:r>
          </a:p>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Total number of Transactions</a:t>
            </a:r>
          </a:p>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Confidence:</a:t>
            </a:r>
          </a:p>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Confidence is the probability that Itemset B exists when given</a:t>
            </a:r>
          </a:p>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Itemset A exists in transaction.</a:t>
            </a:r>
          </a:p>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Support Count (A ∪ B)</a:t>
            </a:r>
          </a:p>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Confidence =       ───────────────────────</a:t>
            </a:r>
          </a:p>
          <a:p>
            <a:pPr>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Support Count (A)</a:t>
            </a:r>
          </a:p>
        </p:txBody>
      </p:sp>
    </p:spTree>
    <p:extLst>
      <p:ext uri="{BB962C8B-B14F-4D97-AF65-F5344CB8AC3E}">
        <p14:creationId xmlns:p14="http://schemas.microsoft.com/office/powerpoint/2010/main" val="2763358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92192A-FD22-4A43-AE69-AD24D3CACA6F}"/>
              </a:ext>
            </a:extLst>
          </p:cNvPr>
          <p:cNvSpPr>
            <a:spLocks noChangeArrowheads="1"/>
          </p:cNvSpPr>
          <p:nvPr/>
        </p:nvSpPr>
        <p:spPr bwMode="auto">
          <a:xfrm>
            <a:off x="990600" y="691139"/>
            <a:ext cx="7848600" cy="4088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Suppose there are </a:t>
            </a:r>
            <a:r>
              <a:rPr kumimoji="0" lang="en-US" altLang="en-US" sz="2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10 transactions</a:t>
            </a:r>
            <a:r>
              <a:rPr kumimoji="0" lang="en-US" altLang="en-US"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and:</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Unicode MS"/>
                <a:ea typeface="Calibri" panose="020F0502020204030204" pitchFamily="34" charset="0"/>
                <a:cs typeface="Courier New" panose="02070309020205020404" pitchFamily="49" charset="0"/>
              </a:rPr>
              <a:t>{Milk, Bread}</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appears in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 transactions</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Minimum support =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50%</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Support(</a:t>
            </a:r>
            <a:r>
              <a:rPr kumimoji="0" lang="en-US" altLang="en-US" sz="24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Milk,Bread</a:t>
            </a:r>
            <a:r>
              <a:rPr kumimoji="0" lang="en-US" altLang="en-US"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)=6/10=60%</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alibri" panose="020F0502020204030204" pitchFamily="34" charset="0"/>
              <a:cs typeface="Times New Roman" panose="02020603050405020304" pitchFamily="18" charset="0"/>
            </a:endParaRPr>
          </a:p>
          <a:p>
            <a:r>
              <a:rPr lang="en-IN" sz="2400" dirty="0"/>
              <a:t>60% ≥  50%</a:t>
            </a:r>
          </a:p>
          <a:p>
            <a:r>
              <a:rPr lang="en-IN" sz="2400" dirty="0"/>
              <a:t>Therefore, </a:t>
            </a:r>
            <a:r>
              <a:rPr lang="en-IN" sz="2400" b="1" dirty="0"/>
              <a:t>{Milk, Bread} is a Frequent Itemset.</a:t>
            </a:r>
            <a:endParaRPr lang="en-IN"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20714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534400" cy="523220"/>
          </a:xfrm>
          <a:prstGeom prst="rect">
            <a:avLst/>
          </a:prstGeom>
        </p:spPr>
        <p:txBody>
          <a:bodyPr wrap="square">
            <a:spAutoFit/>
          </a:bodyPr>
          <a:lstStyle/>
          <a:p>
            <a:r>
              <a:rPr lang="en-US" altLang="en-US" sz="2800" dirty="0">
                <a:solidFill>
                  <a:srgbClr val="FF0000"/>
                </a:solidFill>
                <a:latin typeface="Times New Roman" pitchFamily="18" charset="0"/>
                <a:cs typeface="Times New Roman" pitchFamily="18" charset="0"/>
              </a:rPr>
              <a:t>Definition: Association Rule</a:t>
            </a:r>
            <a:endParaRPr lang="en-IN" sz="2800" dirty="0">
              <a:solidFill>
                <a:srgbClr val="FF0000"/>
              </a:solidFill>
              <a:latin typeface="Times New Roman" pitchFamily="18" charset="0"/>
              <a:cs typeface="Times New Roman" pitchFamily="18" charset="0"/>
            </a:endParaRPr>
          </a:p>
        </p:txBody>
      </p:sp>
      <p:sp>
        <p:nvSpPr>
          <p:cNvPr id="3" name="Rectangle 19"/>
          <p:cNvSpPr>
            <a:spLocks noChangeArrowheads="1"/>
          </p:cNvSpPr>
          <p:nvPr/>
        </p:nvSpPr>
        <p:spPr bwMode="auto">
          <a:xfrm>
            <a:off x="228601" y="675620"/>
            <a:ext cx="4800600" cy="5877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just"/>
            <a:r>
              <a:rPr lang="en-US" altLang="en-US" sz="2200" dirty="0">
                <a:solidFill>
                  <a:srgbClr val="00B050"/>
                </a:solidFill>
                <a:latin typeface="Times New Roman" pitchFamily="18" charset="0"/>
                <a:cs typeface="Times New Roman" pitchFamily="18" charset="0"/>
              </a:rPr>
              <a:t>Association Rule</a:t>
            </a:r>
          </a:p>
          <a:p>
            <a:pPr lvl="1" algn="just"/>
            <a:r>
              <a:rPr lang="en-US" altLang="en-US" sz="2200" b="0" dirty="0">
                <a:latin typeface="Times New Roman" pitchFamily="18" charset="0"/>
                <a:cs typeface="Times New Roman" pitchFamily="18" charset="0"/>
              </a:rPr>
              <a:t>An implication expression of the form X </a:t>
            </a:r>
            <a:r>
              <a:rPr lang="en-US" altLang="en-US" sz="2200" b="0" dirty="0">
                <a:latin typeface="Times New Roman" pitchFamily="18" charset="0"/>
                <a:cs typeface="Times New Roman" pitchFamily="18" charset="0"/>
                <a:sym typeface="Symbol" pitchFamily="18" charset="2"/>
              </a:rPr>
              <a:t> Y, where X and Y are </a:t>
            </a:r>
            <a:r>
              <a:rPr lang="en-US" altLang="en-US" sz="2200" b="0" dirty="0" err="1">
                <a:latin typeface="Times New Roman" pitchFamily="18" charset="0"/>
                <a:cs typeface="Times New Roman" pitchFamily="18" charset="0"/>
                <a:sym typeface="Symbol" pitchFamily="18" charset="2"/>
              </a:rPr>
              <a:t>itemsets</a:t>
            </a:r>
            <a:endParaRPr lang="en-US" altLang="en-US" sz="2200" b="0" dirty="0">
              <a:latin typeface="Times New Roman" pitchFamily="18" charset="0"/>
              <a:cs typeface="Times New Roman" pitchFamily="18" charset="0"/>
              <a:sym typeface="Symbol" pitchFamily="18" charset="2"/>
            </a:endParaRPr>
          </a:p>
          <a:p>
            <a:pPr lvl="1" algn="just"/>
            <a:r>
              <a:rPr lang="en-US" altLang="en-US" sz="2200" b="0" dirty="0">
                <a:latin typeface="Times New Roman" pitchFamily="18" charset="0"/>
                <a:cs typeface="Times New Roman" pitchFamily="18" charset="0"/>
              </a:rPr>
              <a:t>Example:</a:t>
            </a:r>
            <a:br>
              <a:rPr lang="en-US" altLang="en-US" sz="2200" b="0" dirty="0">
                <a:latin typeface="Times New Roman" pitchFamily="18" charset="0"/>
                <a:cs typeface="Times New Roman" pitchFamily="18" charset="0"/>
              </a:rPr>
            </a:br>
            <a:r>
              <a:rPr lang="en-US" altLang="en-US" sz="2200" b="0" dirty="0">
                <a:latin typeface="Times New Roman" pitchFamily="18" charset="0"/>
                <a:cs typeface="Times New Roman" pitchFamily="18" charset="0"/>
              </a:rPr>
              <a:t>   {Milk, Diaper} </a:t>
            </a:r>
            <a:r>
              <a:rPr lang="en-US" altLang="en-US" sz="2200" b="0" dirty="0">
                <a:latin typeface="Times New Roman" pitchFamily="18" charset="0"/>
                <a:cs typeface="Times New Roman" pitchFamily="18" charset="0"/>
                <a:sym typeface="Symbol" pitchFamily="18" charset="2"/>
              </a:rPr>
              <a:t> {Beer}</a:t>
            </a:r>
            <a:r>
              <a:rPr lang="en-US" altLang="en-US" sz="2200" b="0" dirty="0">
                <a:latin typeface="Times New Roman" pitchFamily="18" charset="0"/>
                <a:cs typeface="Times New Roman" pitchFamily="18" charset="0"/>
              </a:rPr>
              <a:t> </a:t>
            </a:r>
          </a:p>
          <a:p>
            <a:pPr lvl="1" algn="just">
              <a:buFont typeface="Arial" charset="0"/>
              <a:buNone/>
            </a:pPr>
            <a:endParaRPr lang="en-US" altLang="en-US" sz="2200" dirty="0">
              <a:latin typeface="Times New Roman" pitchFamily="18" charset="0"/>
              <a:cs typeface="Times New Roman" pitchFamily="18" charset="0"/>
            </a:endParaRPr>
          </a:p>
          <a:p>
            <a:pPr algn="just"/>
            <a:r>
              <a:rPr lang="en-US" altLang="en-US" sz="2200" dirty="0">
                <a:solidFill>
                  <a:srgbClr val="00B050"/>
                </a:solidFill>
                <a:latin typeface="Times New Roman" pitchFamily="18" charset="0"/>
                <a:cs typeface="Times New Roman" pitchFamily="18" charset="0"/>
              </a:rPr>
              <a:t>Rule Evaluation Metrics</a:t>
            </a:r>
            <a:endParaRPr lang="en-US" altLang="en-US" sz="2200" dirty="0">
              <a:solidFill>
                <a:srgbClr val="00B050"/>
              </a:solidFill>
              <a:latin typeface="Times New Roman" pitchFamily="18" charset="0"/>
              <a:cs typeface="Times New Roman" pitchFamily="18" charset="0"/>
              <a:sym typeface="Symbol" pitchFamily="18" charset="2"/>
            </a:endParaRPr>
          </a:p>
          <a:p>
            <a:pPr lvl="1" algn="just"/>
            <a:r>
              <a:rPr lang="en-US" altLang="en-US" sz="2200" b="0" dirty="0">
                <a:latin typeface="Times New Roman" pitchFamily="18" charset="0"/>
                <a:cs typeface="Times New Roman" pitchFamily="18" charset="0"/>
              </a:rPr>
              <a:t>Support (s)</a:t>
            </a:r>
          </a:p>
          <a:p>
            <a:pPr lvl="2" algn="just"/>
            <a:r>
              <a:rPr lang="en-US" altLang="en-US" sz="2200" b="0" dirty="0">
                <a:latin typeface="Times New Roman" pitchFamily="18" charset="0"/>
                <a:cs typeface="Times New Roman" pitchFamily="18" charset="0"/>
              </a:rPr>
              <a:t>Fraction of transactions that contain both X and Y</a:t>
            </a:r>
          </a:p>
          <a:p>
            <a:pPr lvl="1" algn="just"/>
            <a:r>
              <a:rPr lang="en-US" altLang="en-US" sz="2200" b="0" dirty="0">
                <a:latin typeface="Times New Roman" pitchFamily="18" charset="0"/>
                <a:cs typeface="Times New Roman" pitchFamily="18" charset="0"/>
              </a:rPr>
              <a:t>Confidence (c)</a:t>
            </a:r>
          </a:p>
          <a:p>
            <a:pPr lvl="2" algn="just"/>
            <a:r>
              <a:rPr lang="en-US" altLang="en-US" sz="2200" b="0" dirty="0">
                <a:latin typeface="Times New Roman" pitchFamily="18" charset="0"/>
                <a:cs typeface="Times New Roman" pitchFamily="18" charset="0"/>
              </a:rPr>
              <a:t>Measures how often items in Y</a:t>
            </a:r>
            <a:r>
              <a:rPr lang="en-US" altLang="en-US" sz="2200" dirty="0">
                <a:latin typeface="Times New Roman" pitchFamily="18" charset="0"/>
                <a:cs typeface="Times New Roman" pitchFamily="18" charset="0"/>
              </a:rPr>
              <a:t> </a:t>
            </a:r>
            <a:r>
              <a:rPr lang="en-US" altLang="en-US" sz="2200" b="0" dirty="0">
                <a:latin typeface="Times New Roman" pitchFamily="18" charset="0"/>
                <a:cs typeface="Times New Roman" pitchFamily="18" charset="0"/>
              </a:rPr>
              <a:t>appear in transactions that</a:t>
            </a:r>
            <a:br>
              <a:rPr lang="en-US" altLang="en-US" sz="2200" b="0" dirty="0">
                <a:latin typeface="Times New Roman" pitchFamily="18" charset="0"/>
                <a:cs typeface="Times New Roman" pitchFamily="18" charset="0"/>
              </a:rPr>
            </a:br>
            <a:r>
              <a:rPr lang="en-US" altLang="en-US" sz="2200" b="0" dirty="0">
                <a:latin typeface="Times New Roman" pitchFamily="18" charset="0"/>
                <a:cs typeface="Times New Roman" pitchFamily="18" charset="0"/>
              </a:rPr>
              <a:t>contain X</a:t>
            </a:r>
          </a:p>
        </p:txBody>
      </p:sp>
      <p:graphicFrame>
        <p:nvGraphicFramePr>
          <p:cNvPr id="4" name="Object 3"/>
          <p:cNvGraphicFramePr>
            <a:graphicFrameLocks noGrp="1" noChangeAspect="1"/>
          </p:cNvGraphicFramePr>
          <p:nvPr>
            <p:extLst>
              <p:ext uri="{D42A27DB-BD31-4B8C-83A1-F6EECF244321}">
                <p14:modId xmlns:p14="http://schemas.microsoft.com/office/powerpoint/2010/main" val="1966441754"/>
              </p:ext>
            </p:extLst>
          </p:nvPr>
        </p:nvGraphicFramePr>
        <p:xfrm>
          <a:off x="5543405" y="793384"/>
          <a:ext cx="3579813" cy="2152650"/>
        </p:xfrm>
        <a:graphic>
          <a:graphicData uri="http://schemas.openxmlformats.org/presentationml/2006/ole">
            <mc:AlternateContent xmlns:mc="http://schemas.openxmlformats.org/markup-compatibility/2006">
              <mc:Choice xmlns:v="urn:schemas-microsoft-com:vml" Requires="v">
                <p:oleObj spid="_x0000_s3895" name="Document" r:id="rId3" imgW="3352666" imgH="2016134" progId="Word.Document.8">
                  <p:embed/>
                </p:oleObj>
              </mc:Choice>
              <mc:Fallback>
                <p:oleObj name="Document" r:id="rId3" imgW="3352666" imgH="2016134" progId="Word.Document.8">
                  <p:embed/>
                  <p:pic>
                    <p:nvPicPr>
                      <p:cNvPr id="0" name="Object 2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3405" y="793384"/>
                        <a:ext cx="3579813"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grpSp>
        <p:nvGrpSpPr>
          <p:cNvPr id="5" name="Group 23"/>
          <p:cNvGrpSpPr>
            <a:grpSpLocks/>
          </p:cNvGrpSpPr>
          <p:nvPr/>
        </p:nvGrpSpPr>
        <p:grpSpPr bwMode="auto">
          <a:xfrm>
            <a:off x="5182232" y="3733800"/>
            <a:ext cx="3656076" cy="2451100"/>
            <a:chOff x="2968" y="2304"/>
            <a:chExt cx="2620" cy="1592"/>
          </a:xfrm>
        </p:grpSpPr>
        <p:sp>
          <p:nvSpPr>
            <p:cNvPr id="6" name="Text Box 11"/>
            <p:cNvSpPr txBox="1">
              <a:spLocks noChangeArrowheads="1"/>
            </p:cNvSpPr>
            <p:nvPr/>
          </p:nvSpPr>
          <p:spPr bwMode="auto">
            <a:xfrm>
              <a:off x="2968" y="2304"/>
              <a:ext cx="92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dirty="0">
                  <a:solidFill>
                    <a:srgbClr val="FF0000"/>
                  </a:solidFill>
                  <a:latin typeface="Times New Roman" pitchFamily="18" charset="0"/>
                </a:rPr>
                <a:t>Example:</a:t>
              </a:r>
              <a:endParaRPr lang="en-US" altLang="en-US" b="0" dirty="0">
                <a:solidFill>
                  <a:srgbClr val="FF0000"/>
                </a:solidFill>
                <a:latin typeface="Times New Roman" pitchFamily="18" charset="0"/>
              </a:endParaRPr>
            </a:p>
          </p:txBody>
        </p:sp>
        <p:graphicFrame>
          <p:nvGraphicFramePr>
            <p:cNvPr id="7" name="Object 12"/>
            <p:cNvGraphicFramePr>
              <a:graphicFrameLocks noChangeAspect="1"/>
            </p:cNvGraphicFramePr>
            <p:nvPr/>
          </p:nvGraphicFramePr>
          <p:xfrm>
            <a:off x="3711" y="2545"/>
            <a:ext cx="1877" cy="239"/>
          </p:xfrm>
          <a:graphic>
            <a:graphicData uri="http://schemas.openxmlformats.org/presentationml/2006/ole">
              <mc:AlternateContent xmlns:mc="http://schemas.openxmlformats.org/markup-compatibility/2006">
                <mc:Choice xmlns:v="urn:schemas-microsoft-com:vml" Requires="v">
                  <p:oleObj spid="_x0000_s3896" name="Equation" r:id="rId5" imgW="1574800" imgH="203200" progId="Equation.3">
                    <p:embed/>
                  </p:oleObj>
                </mc:Choice>
                <mc:Fallback>
                  <p:oleObj name="Equation" r:id="rId5" imgW="1574800" imgH="203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1" y="2545"/>
                          <a:ext cx="1877"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3"/>
            <p:cNvGraphicFramePr>
              <a:graphicFrameLocks noChangeAspect="1"/>
            </p:cNvGraphicFramePr>
            <p:nvPr/>
          </p:nvGraphicFramePr>
          <p:xfrm>
            <a:off x="3060" y="2928"/>
            <a:ext cx="2460" cy="445"/>
          </p:xfrm>
          <a:graphic>
            <a:graphicData uri="http://schemas.openxmlformats.org/presentationml/2006/ole">
              <mc:AlternateContent xmlns:mc="http://schemas.openxmlformats.org/markup-compatibility/2006">
                <mc:Choice xmlns:v="urn:schemas-microsoft-com:vml" Requires="v">
                  <p:oleObj spid="_x0000_s3897" name="Equation" r:id="rId7" imgW="4318000" imgH="787400" progId="Equation.3">
                    <p:embed/>
                  </p:oleObj>
                </mc:Choice>
                <mc:Fallback>
                  <p:oleObj name="Equation" r:id="rId7" imgW="4318000" imgH="787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60" y="2928"/>
                          <a:ext cx="2460" cy="4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4"/>
            <p:cNvGraphicFramePr>
              <a:graphicFrameLocks noChangeAspect="1"/>
            </p:cNvGraphicFramePr>
            <p:nvPr/>
          </p:nvGraphicFramePr>
          <p:xfrm>
            <a:off x="3014" y="3456"/>
            <a:ext cx="2475" cy="440"/>
          </p:xfrm>
          <a:graphic>
            <a:graphicData uri="http://schemas.openxmlformats.org/presentationml/2006/ole">
              <mc:AlternateContent xmlns:mc="http://schemas.openxmlformats.org/markup-compatibility/2006">
                <mc:Choice xmlns:v="urn:schemas-microsoft-com:vml" Requires="v">
                  <p:oleObj spid="_x0000_s3898" name="Equation" r:id="rId9" imgW="4470400" imgH="787400" progId="Equation.3">
                    <p:embed/>
                  </p:oleObj>
                </mc:Choice>
                <mc:Fallback>
                  <p:oleObj name="Equation" r:id="rId9" imgW="4470400" imgH="7874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4" y="3456"/>
                          <a:ext cx="2475" cy="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091422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610600" cy="1785104"/>
          </a:xfrm>
          <a:prstGeom prst="rect">
            <a:avLst/>
          </a:prstGeom>
        </p:spPr>
        <p:txBody>
          <a:bodyPr wrap="square">
            <a:spAutoFit/>
          </a:bodyPr>
          <a:lstStyle/>
          <a:p>
            <a:pPr algn="just"/>
            <a:r>
              <a:rPr lang="en-US" sz="2200" dirty="0">
                <a:latin typeface="Times New Roman" pitchFamily="18" charset="0"/>
                <a:cs typeface="Times New Roman" pitchFamily="18" charset="0"/>
              </a:rPr>
              <a:t>	The strength of an association rule can be measured in terms of its support and confidence.  Support determines how often a rule is applicable to a given data set, while confidence determines how frequently items in Y appear in transactions that contain X. The formal definitions of these metrics are:</a:t>
            </a:r>
            <a:endParaRPr lang="en-IN" sz="2200"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6513" y="1828801"/>
            <a:ext cx="5653087" cy="137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04800" y="3244334"/>
            <a:ext cx="8610599" cy="954107"/>
          </a:xfrm>
          <a:prstGeom prst="rect">
            <a:avLst/>
          </a:prstGeom>
        </p:spPr>
        <p:txBody>
          <a:bodyPr wrap="square">
            <a:spAutoFit/>
          </a:bodyPr>
          <a:lstStyle/>
          <a:p>
            <a:pPr algn="just"/>
            <a:r>
              <a:rPr lang="en-IN" sz="2800" dirty="0">
                <a:solidFill>
                  <a:srgbClr val="FF0000"/>
                </a:solidFill>
                <a:latin typeface="Times New Roman" pitchFamily="18" charset="0"/>
                <a:cs typeface="Times New Roman" pitchFamily="18" charset="0"/>
              </a:rPr>
              <a:t>Binary Representation:</a:t>
            </a:r>
          </a:p>
          <a:p>
            <a:pPr algn="just"/>
            <a:endParaRPr lang="en-IN" sz="2800" dirty="0">
              <a:solidFill>
                <a:srgbClr val="FF0000"/>
              </a:solidFill>
              <a:latin typeface="Times New Roman" pitchFamily="18" charset="0"/>
              <a:cs typeface="Times New Roman" pitchFamily="18" charset="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198441"/>
            <a:ext cx="6477000" cy="1981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7868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
            <a:ext cx="8763000" cy="523220"/>
          </a:xfrm>
          <a:prstGeom prst="rect">
            <a:avLst/>
          </a:prstGeom>
        </p:spPr>
        <p:txBody>
          <a:bodyPr wrap="square">
            <a:spAutoFit/>
          </a:bodyPr>
          <a:lstStyle/>
          <a:p>
            <a:r>
              <a:rPr lang="en-US" altLang="en-US" sz="2800" dirty="0">
                <a:solidFill>
                  <a:srgbClr val="FF0000"/>
                </a:solidFill>
                <a:latin typeface="Times New Roman" pitchFamily="18" charset="0"/>
                <a:cs typeface="Times New Roman" pitchFamily="18" charset="0"/>
              </a:rPr>
              <a:t>Association Rule Mining Task</a:t>
            </a:r>
            <a:endParaRPr lang="en-IN" sz="2800" dirty="0">
              <a:solidFill>
                <a:srgbClr val="FF0000"/>
              </a:solidFill>
              <a:latin typeface="Times New Roman" pitchFamily="18" charset="0"/>
              <a:cs typeface="Times New Roman" pitchFamily="18" charset="0"/>
            </a:endParaRPr>
          </a:p>
        </p:txBody>
      </p:sp>
      <p:sp>
        <p:nvSpPr>
          <p:cNvPr id="3" name="Rectangle 2"/>
          <p:cNvSpPr/>
          <p:nvPr/>
        </p:nvSpPr>
        <p:spPr>
          <a:xfrm>
            <a:off x="228600" y="914400"/>
            <a:ext cx="8534400" cy="5170646"/>
          </a:xfrm>
          <a:prstGeom prst="rect">
            <a:avLst/>
          </a:prstGeom>
        </p:spPr>
        <p:txBody>
          <a:bodyPr wrap="square">
            <a:spAutoFit/>
          </a:bodyPr>
          <a:lstStyle/>
          <a:p>
            <a:pPr algn="just"/>
            <a:r>
              <a:rPr lang="en-US" altLang="en-US" sz="2200" dirty="0">
                <a:latin typeface="Times New Roman" pitchFamily="18" charset="0"/>
                <a:cs typeface="Times New Roman" pitchFamily="18" charset="0"/>
              </a:rPr>
              <a:t>Given a set of transactions T, the goal of association rule mining is to find all rules having </a:t>
            </a:r>
          </a:p>
          <a:p>
            <a:pPr lvl="1" algn="just"/>
            <a:r>
              <a:rPr lang="en-US" altLang="en-US" sz="2200" dirty="0">
                <a:latin typeface="Times New Roman" pitchFamily="18" charset="0"/>
                <a:cs typeface="Times New Roman" pitchFamily="18" charset="0"/>
              </a:rPr>
              <a:t>support ≥ </a:t>
            </a:r>
            <a:r>
              <a:rPr lang="en-US" altLang="en-US" sz="2200" i="1" dirty="0" err="1">
                <a:latin typeface="Times New Roman" pitchFamily="18" charset="0"/>
                <a:cs typeface="Times New Roman" pitchFamily="18" charset="0"/>
              </a:rPr>
              <a:t>minsup</a:t>
            </a:r>
            <a:r>
              <a:rPr lang="en-US" altLang="en-US" sz="2200" i="1" dirty="0">
                <a:latin typeface="Times New Roman" pitchFamily="18" charset="0"/>
                <a:cs typeface="Times New Roman" pitchFamily="18" charset="0"/>
              </a:rPr>
              <a:t> </a:t>
            </a:r>
            <a:r>
              <a:rPr lang="en-US" altLang="en-US" sz="2200" dirty="0">
                <a:latin typeface="Times New Roman" pitchFamily="18" charset="0"/>
                <a:cs typeface="Times New Roman" pitchFamily="18" charset="0"/>
              </a:rPr>
              <a:t>threshold and confidence ≥ </a:t>
            </a:r>
            <a:r>
              <a:rPr lang="en-US" altLang="en-US" sz="2200" i="1" dirty="0" err="1">
                <a:latin typeface="Times New Roman" pitchFamily="18" charset="0"/>
                <a:cs typeface="Times New Roman" pitchFamily="18" charset="0"/>
              </a:rPr>
              <a:t>minconf</a:t>
            </a:r>
            <a:r>
              <a:rPr lang="en-US" altLang="en-US" sz="2200" i="1" dirty="0">
                <a:latin typeface="Times New Roman" pitchFamily="18" charset="0"/>
                <a:cs typeface="Times New Roman" pitchFamily="18" charset="0"/>
              </a:rPr>
              <a:t> </a:t>
            </a:r>
            <a:r>
              <a:rPr lang="en-US" altLang="en-US" sz="2200" dirty="0">
                <a:latin typeface="Times New Roman" pitchFamily="18" charset="0"/>
                <a:cs typeface="Times New Roman" pitchFamily="18" charset="0"/>
              </a:rPr>
              <a:t>threshold</a:t>
            </a:r>
          </a:p>
          <a:p>
            <a:pPr lvl="1" algn="just"/>
            <a:endParaRPr lang="en-US" altLang="en-US" sz="2200" dirty="0">
              <a:latin typeface="Times New Roman" pitchFamily="18" charset="0"/>
              <a:cs typeface="Times New Roman" pitchFamily="18" charset="0"/>
            </a:endParaRPr>
          </a:p>
          <a:p>
            <a:pPr algn="just"/>
            <a:r>
              <a:rPr lang="en-US" altLang="en-US" sz="2200" dirty="0">
                <a:solidFill>
                  <a:srgbClr val="00B050"/>
                </a:solidFill>
                <a:latin typeface="Times New Roman" pitchFamily="18" charset="0"/>
                <a:cs typeface="Times New Roman" pitchFamily="18" charset="0"/>
              </a:rPr>
              <a:t>Brute-force approach:</a:t>
            </a:r>
          </a:p>
          <a:p>
            <a:pPr algn="just"/>
            <a:r>
              <a:rPr lang="en-US" sz="2200" dirty="0">
                <a:latin typeface="Times New Roman" pitchFamily="18" charset="0"/>
                <a:cs typeface="Times New Roman" pitchFamily="18" charset="0"/>
              </a:rPr>
              <a:t>	A brute-force approach for mining association rules is to compute the support and confidence for every possible rule. This approach is prohibitively expensive because there are exponentially many rules that can be extracted from a data set. More specifically, the total number of possible rules extracted from a data set that contains d items is: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Even for the small data set shown in our Table (Previous), this approach requires us to compute the support and confidence for 3</a:t>
            </a:r>
            <a:r>
              <a:rPr lang="en-US" sz="2200" baseline="30000" dirty="0">
                <a:latin typeface="Times New Roman" pitchFamily="18" charset="0"/>
                <a:cs typeface="Times New Roman" pitchFamily="18" charset="0"/>
              </a:rPr>
              <a:t>6</a:t>
            </a:r>
            <a:r>
              <a:rPr lang="en-US" sz="2200" dirty="0">
                <a:latin typeface="Times New Roman" pitchFamily="18" charset="0"/>
                <a:cs typeface="Times New Roman" pitchFamily="18" charset="0"/>
              </a:rPr>
              <a:t>−2</a:t>
            </a:r>
            <a:r>
              <a:rPr lang="en-US" sz="2200" baseline="30000" dirty="0">
                <a:latin typeface="Times New Roman" pitchFamily="18" charset="0"/>
                <a:cs typeface="Times New Roman" pitchFamily="18" charset="0"/>
              </a:rPr>
              <a:t>7</a:t>
            </a:r>
            <a:r>
              <a:rPr lang="en-US" sz="2200" dirty="0">
                <a:latin typeface="Times New Roman" pitchFamily="18" charset="0"/>
                <a:cs typeface="Times New Roman" pitchFamily="18" charset="0"/>
              </a:rPr>
              <a:t>+1 = 602 rules.</a:t>
            </a:r>
            <a:endParaRPr lang="en-US" altLang="en-US" sz="2200" dirty="0">
              <a:latin typeface="Times New Roman" pitchFamily="18" charset="0"/>
              <a:cs typeface="Times New Roman"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4267200"/>
            <a:ext cx="2590800" cy="704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1854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04799"/>
            <a:ext cx="8496300" cy="6019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6199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6186309"/>
          </a:xfrm>
          <a:prstGeom prst="rect">
            <a:avLst/>
          </a:prstGeom>
        </p:spPr>
        <p:txBody>
          <a:bodyPr wrap="square">
            <a:spAutoFit/>
          </a:bodyPr>
          <a:lstStyle/>
          <a:p>
            <a:pPr lvl="1" algn="just"/>
            <a:r>
              <a:rPr lang="en-US" sz="2200" dirty="0">
                <a:latin typeface="Times New Roman" pitchFamily="18" charset="0"/>
                <a:cs typeface="Times New Roman" pitchFamily="18" charset="0"/>
              </a:rPr>
              <a:t>	More than 80% of the rules are discarded after applying </a:t>
            </a:r>
            <a:r>
              <a:rPr lang="en-US" sz="2200" dirty="0" err="1">
                <a:latin typeface="Times New Roman" pitchFamily="18" charset="0"/>
                <a:cs typeface="Times New Roman" pitchFamily="18" charset="0"/>
              </a:rPr>
              <a:t>minsup</a:t>
            </a:r>
            <a:r>
              <a:rPr lang="en-US" sz="2200" dirty="0">
                <a:latin typeface="Times New Roman" pitchFamily="18" charset="0"/>
                <a:cs typeface="Times New Roman" pitchFamily="18" charset="0"/>
              </a:rPr>
              <a:t> = 20% and </a:t>
            </a:r>
            <a:r>
              <a:rPr lang="en-US" sz="2200" dirty="0" err="1">
                <a:latin typeface="Times New Roman" pitchFamily="18" charset="0"/>
                <a:cs typeface="Times New Roman" pitchFamily="18" charset="0"/>
              </a:rPr>
              <a:t>minconf</a:t>
            </a:r>
            <a:r>
              <a:rPr lang="en-US" sz="2200" dirty="0">
                <a:latin typeface="Times New Roman" pitchFamily="18" charset="0"/>
                <a:cs typeface="Times New Roman" pitchFamily="18" charset="0"/>
              </a:rPr>
              <a:t> = 50%, thus making most of the computations become wasted. To avoid performing needless computations, it would be useful to prune the rules early without having to compute their support and confidence values.</a:t>
            </a:r>
          </a:p>
          <a:p>
            <a:pPr lvl="1" algn="just"/>
            <a:endParaRPr lang="en-US" sz="2200" dirty="0">
              <a:latin typeface="Times New Roman" pitchFamily="18" charset="0"/>
              <a:cs typeface="Times New Roman" pitchFamily="18" charset="0"/>
            </a:endParaRPr>
          </a:p>
          <a:p>
            <a:pPr lvl="1" algn="just"/>
            <a:r>
              <a:rPr lang="en-US" sz="2200" dirty="0">
                <a:latin typeface="Times New Roman" pitchFamily="18" charset="0"/>
                <a:cs typeface="Times New Roman" pitchFamily="18" charset="0"/>
              </a:rPr>
              <a:t>	Therefore, a common strategy adopted by many association rule mining algorithms is to decompose the problem into two major subtasks:</a:t>
            </a:r>
          </a:p>
          <a:p>
            <a:pPr lvl="1" algn="just"/>
            <a:endParaRPr lang="en-US" sz="2200" dirty="0">
              <a:latin typeface="Times New Roman" pitchFamily="18" charset="0"/>
              <a:cs typeface="Times New Roman" pitchFamily="18" charset="0"/>
            </a:endParaRPr>
          </a:p>
          <a:p>
            <a:pPr marL="914400" lvl="1" indent="-457200" algn="just">
              <a:buAutoNum type="arabicPeriod"/>
            </a:pPr>
            <a:r>
              <a:rPr lang="en-US" sz="2200" dirty="0">
                <a:latin typeface="Times New Roman" pitchFamily="18" charset="0"/>
                <a:cs typeface="Times New Roman" pitchFamily="18" charset="0"/>
              </a:rPr>
              <a:t>Frequent </a:t>
            </a:r>
            <a:r>
              <a:rPr lang="en-US" sz="2200" dirty="0" err="1">
                <a:latin typeface="Times New Roman" pitchFamily="18" charset="0"/>
                <a:cs typeface="Times New Roman" pitchFamily="18" charset="0"/>
              </a:rPr>
              <a:t>Itemset</a:t>
            </a:r>
            <a:r>
              <a:rPr lang="en-US" sz="2200" dirty="0">
                <a:latin typeface="Times New Roman" pitchFamily="18" charset="0"/>
                <a:cs typeface="Times New Roman" pitchFamily="18" charset="0"/>
              </a:rPr>
              <a:t> Generation, whose objective is to find all the item sets that satisfy the </a:t>
            </a:r>
            <a:r>
              <a:rPr lang="en-US" sz="2200" dirty="0" err="1">
                <a:latin typeface="Times New Roman" pitchFamily="18" charset="0"/>
                <a:cs typeface="Times New Roman" pitchFamily="18" charset="0"/>
              </a:rPr>
              <a:t>minsup</a:t>
            </a:r>
            <a:r>
              <a:rPr lang="en-US" sz="2200" dirty="0">
                <a:latin typeface="Times New Roman" pitchFamily="18" charset="0"/>
                <a:cs typeface="Times New Roman" pitchFamily="18" charset="0"/>
              </a:rPr>
              <a:t> threshold. These </a:t>
            </a:r>
            <a:r>
              <a:rPr lang="en-US" sz="2200" dirty="0" err="1">
                <a:latin typeface="Times New Roman" pitchFamily="18" charset="0"/>
                <a:cs typeface="Times New Roman" pitchFamily="18" charset="0"/>
              </a:rPr>
              <a:t>itemsets</a:t>
            </a:r>
            <a:r>
              <a:rPr lang="en-US" sz="2200" dirty="0">
                <a:latin typeface="Times New Roman" pitchFamily="18" charset="0"/>
                <a:cs typeface="Times New Roman" pitchFamily="18" charset="0"/>
              </a:rPr>
              <a:t> are called frequent </a:t>
            </a:r>
            <a:r>
              <a:rPr lang="en-US" sz="2200" dirty="0" err="1">
                <a:latin typeface="Times New Roman" pitchFamily="18" charset="0"/>
                <a:cs typeface="Times New Roman" pitchFamily="18" charset="0"/>
              </a:rPr>
              <a:t>itemsets</a:t>
            </a:r>
            <a:r>
              <a:rPr lang="en-US" sz="2200" dirty="0">
                <a:latin typeface="Times New Roman" pitchFamily="18" charset="0"/>
                <a:cs typeface="Times New Roman" pitchFamily="18" charset="0"/>
              </a:rPr>
              <a:t>. </a:t>
            </a:r>
          </a:p>
          <a:p>
            <a:pPr marL="914400" lvl="1" indent="-457200" algn="just">
              <a:buAutoNum type="arabicPeriod"/>
            </a:pPr>
            <a:r>
              <a:rPr lang="en-US" sz="2200" dirty="0">
                <a:latin typeface="Times New Roman" pitchFamily="18" charset="0"/>
                <a:cs typeface="Times New Roman" pitchFamily="18" charset="0"/>
              </a:rPr>
              <a:t>Rule Generation, whose objective is to extract all the high-confidence rules from the frequent </a:t>
            </a:r>
            <a:r>
              <a:rPr lang="en-US" sz="2200" dirty="0" err="1">
                <a:latin typeface="Times New Roman" pitchFamily="18" charset="0"/>
                <a:cs typeface="Times New Roman" pitchFamily="18" charset="0"/>
              </a:rPr>
              <a:t>itemsets</a:t>
            </a:r>
            <a:r>
              <a:rPr lang="en-US" sz="2200" dirty="0">
                <a:latin typeface="Times New Roman" pitchFamily="18" charset="0"/>
                <a:cs typeface="Times New Roman" pitchFamily="18" charset="0"/>
              </a:rPr>
              <a:t> found in the previous step. These rules are called strong rules.</a:t>
            </a:r>
          </a:p>
          <a:p>
            <a:pPr lvl="1" algn="just"/>
            <a:r>
              <a:rPr lang="en-US" sz="2200" dirty="0">
                <a:solidFill>
                  <a:srgbClr val="00B050"/>
                </a:solidFill>
                <a:latin typeface="Times New Roman" pitchFamily="18" charset="0"/>
                <a:cs typeface="Times New Roman" pitchFamily="18" charset="0"/>
              </a:rPr>
              <a:t>Note: </a:t>
            </a:r>
            <a:r>
              <a:rPr lang="en-US" sz="2200" dirty="0">
                <a:latin typeface="Times New Roman" pitchFamily="18" charset="0"/>
                <a:cs typeface="Times New Roman" pitchFamily="18" charset="0"/>
              </a:rPr>
              <a:t>The computational requirements for frequent </a:t>
            </a:r>
            <a:r>
              <a:rPr lang="en-US" sz="2200" dirty="0" err="1">
                <a:latin typeface="Times New Roman" pitchFamily="18" charset="0"/>
                <a:cs typeface="Times New Roman" pitchFamily="18" charset="0"/>
              </a:rPr>
              <a:t>itemset</a:t>
            </a:r>
            <a:r>
              <a:rPr lang="en-US" sz="2200" dirty="0">
                <a:latin typeface="Times New Roman" pitchFamily="18" charset="0"/>
                <a:cs typeface="Times New Roman" pitchFamily="18" charset="0"/>
              </a:rPr>
              <a:t> generation are generally more expensive than those of rule generation.</a:t>
            </a:r>
          </a:p>
        </p:txBody>
      </p:sp>
    </p:spTree>
    <p:extLst>
      <p:ext uri="{BB962C8B-B14F-4D97-AF65-F5344CB8AC3E}">
        <p14:creationId xmlns:p14="http://schemas.microsoft.com/office/powerpoint/2010/main" val="2769179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AF2209-ADA6-4DC3-828C-B29BD8C294C8}"/>
              </a:ext>
            </a:extLst>
          </p:cNvPr>
          <p:cNvSpPr/>
          <p:nvPr/>
        </p:nvSpPr>
        <p:spPr>
          <a:xfrm>
            <a:off x="1676400" y="1143001"/>
            <a:ext cx="6172200" cy="4893647"/>
          </a:xfrm>
          <a:prstGeom prst="rect">
            <a:avLst/>
          </a:prstGeom>
        </p:spPr>
        <p:txBody>
          <a:bodyPr wrap="square">
            <a:spAutoFit/>
          </a:bodyPr>
          <a:lstStyle/>
          <a:p>
            <a:r>
              <a:rPr lang="en-IN" sz="2400" dirty="0"/>
              <a:t>1000 students</a:t>
            </a:r>
          </a:p>
          <a:p>
            <a:r>
              <a:rPr lang="en-IN" sz="2400" dirty="0"/>
              <a:t>     ↓</a:t>
            </a:r>
          </a:p>
          <a:p>
            <a:r>
              <a:rPr lang="en-IN" sz="2400" dirty="0"/>
              <a:t>Apply first filter</a:t>
            </a:r>
          </a:p>
          <a:p>
            <a:r>
              <a:rPr lang="en-IN" sz="2400" dirty="0"/>
              <a:t>     ↓</a:t>
            </a:r>
          </a:p>
          <a:p>
            <a:r>
              <a:rPr lang="en-IN" sz="2400" dirty="0"/>
              <a:t>Students who satisfy support</a:t>
            </a:r>
          </a:p>
          <a:p>
            <a:r>
              <a:rPr lang="en-IN" sz="2400" dirty="0"/>
              <a:t>     ↓</a:t>
            </a:r>
          </a:p>
          <a:p>
            <a:r>
              <a:rPr lang="en-IN" sz="2400" dirty="0"/>
              <a:t>Frequent </a:t>
            </a:r>
            <a:r>
              <a:rPr lang="en-IN" sz="2400" dirty="0" err="1"/>
              <a:t>itemsets</a:t>
            </a:r>
            <a:endParaRPr lang="en-IN" sz="2400" dirty="0"/>
          </a:p>
          <a:p>
            <a:r>
              <a:rPr lang="en-IN" sz="2400" dirty="0"/>
              <a:t>     ↓</a:t>
            </a:r>
          </a:p>
          <a:p>
            <a:r>
              <a:rPr lang="en-IN" sz="2400" dirty="0"/>
              <a:t>Apply second filter</a:t>
            </a:r>
          </a:p>
          <a:p>
            <a:r>
              <a:rPr lang="en-IN" sz="2400" dirty="0"/>
              <a:t>     ↓</a:t>
            </a:r>
          </a:p>
          <a:p>
            <a:r>
              <a:rPr lang="en-IN" sz="2400" dirty="0"/>
              <a:t>Students/rules who satisfy confidence</a:t>
            </a:r>
          </a:p>
          <a:p>
            <a:r>
              <a:rPr lang="en-IN" sz="2400" dirty="0"/>
              <a:t>     ↓</a:t>
            </a:r>
          </a:p>
          <a:p>
            <a:r>
              <a:rPr lang="en-IN" sz="2400" dirty="0"/>
              <a:t>Strong association rules</a:t>
            </a:r>
          </a:p>
        </p:txBody>
      </p:sp>
    </p:spTree>
    <p:extLst>
      <p:ext uri="{BB962C8B-B14F-4D97-AF65-F5344CB8AC3E}">
        <p14:creationId xmlns:p14="http://schemas.microsoft.com/office/powerpoint/2010/main" val="1605817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626" y="490210"/>
            <a:ext cx="8610599" cy="6291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6200" y="76200"/>
            <a:ext cx="8915400" cy="954107"/>
          </a:xfrm>
          <a:prstGeom prst="rect">
            <a:avLst/>
          </a:prstGeom>
        </p:spPr>
        <p:txBody>
          <a:bodyPr wrap="square">
            <a:spAutoFit/>
          </a:bodyPr>
          <a:lstStyle/>
          <a:p>
            <a:pPr algn="just"/>
            <a:r>
              <a:rPr lang="en-IN" sz="2800" dirty="0">
                <a:solidFill>
                  <a:srgbClr val="00B050"/>
                </a:solidFill>
                <a:latin typeface="Times New Roman" pitchFamily="18" charset="0"/>
                <a:cs typeface="Times New Roman" pitchFamily="18" charset="0"/>
              </a:rPr>
              <a:t>An </a:t>
            </a:r>
            <a:r>
              <a:rPr lang="en-IN" sz="2800" dirty="0" err="1">
                <a:solidFill>
                  <a:srgbClr val="00B050"/>
                </a:solidFill>
                <a:latin typeface="Times New Roman" pitchFamily="18" charset="0"/>
                <a:cs typeface="Times New Roman" pitchFamily="18" charset="0"/>
              </a:rPr>
              <a:t>itemset</a:t>
            </a:r>
            <a:r>
              <a:rPr lang="en-IN" sz="2800" dirty="0">
                <a:solidFill>
                  <a:srgbClr val="00B050"/>
                </a:solidFill>
                <a:latin typeface="Times New Roman" pitchFamily="18" charset="0"/>
                <a:cs typeface="Times New Roman" pitchFamily="18" charset="0"/>
              </a:rPr>
              <a:t> lattice: </a:t>
            </a:r>
            <a:r>
              <a:rPr lang="en-US" altLang="en-US" sz="2000" dirty="0">
                <a:solidFill>
                  <a:srgbClr val="7030A0"/>
                </a:solidFill>
                <a:latin typeface="Times New Roman" pitchFamily="18" charset="0"/>
                <a:cs typeface="Times New Roman" pitchFamily="18" charset="0"/>
              </a:rPr>
              <a:t>Given d items, there are 2</a:t>
            </a:r>
            <a:r>
              <a:rPr lang="en-US" altLang="en-US" sz="2000" baseline="30000" dirty="0">
                <a:solidFill>
                  <a:srgbClr val="7030A0"/>
                </a:solidFill>
                <a:latin typeface="Times New Roman" pitchFamily="18" charset="0"/>
                <a:cs typeface="Times New Roman" pitchFamily="18" charset="0"/>
              </a:rPr>
              <a:t>d</a:t>
            </a:r>
            <a:r>
              <a:rPr lang="en-US" altLang="en-US" sz="2000" dirty="0">
                <a:solidFill>
                  <a:srgbClr val="7030A0"/>
                </a:solidFill>
                <a:latin typeface="Times New Roman" pitchFamily="18" charset="0"/>
                <a:cs typeface="Times New Roman" pitchFamily="18" charset="0"/>
              </a:rPr>
              <a:t> possible candidate </a:t>
            </a:r>
            <a:r>
              <a:rPr lang="en-US" altLang="en-US" sz="2000" dirty="0" err="1">
                <a:solidFill>
                  <a:srgbClr val="7030A0"/>
                </a:solidFill>
                <a:latin typeface="Times New Roman" pitchFamily="18" charset="0"/>
                <a:cs typeface="Times New Roman" pitchFamily="18" charset="0"/>
              </a:rPr>
              <a:t>itemsets</a:t>
            </a:r>
            <a:endParaRPr lang="en-US" altLang="en-US" sz="2000" dirty="0">
              <a:solidFill>
                <a:srgbClr val="7030A0"/>
              </a:solidFill>
              <a:latin typeface="Times New Roman" pitchFamily="18" charset="0"/>
              <a:cs typeface="Times New Roman" pitchFamily="18" charset="0"/>
              <a:sym typeface="Symbol" pitchFamily="18" charset="2"/>
            </a:endParaRPr>
          </a:p>
          <a:p>
            <a:pPr algn="just"/>
            <a:endParaRPr lang="en-IN" sz="2800"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4210825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04800"/>
            <a:ext cx="8686800" cy="861774"/>
          </a:xfrm>
          <a:prstGeom prst="rect">
            <a:avLst/>
          </a:prstGeom>
        </p:spPr>
        <p:txBody>
          <a:bodyPr wrap="square">
            <a:spAutoFit/>
          </a:bodyPr>
          <a:lstStyle/>
          <a:p>
            <a:pPr algn="just"/>
            <a:r>
              <a:rPr lang="en-IN" sz="2800" dirty="0">
                <a:solidFill>
                  <a:srgbClr val="FF0000"/>
                </a:solidFill>
                <a:latin typeface="Times New Roman" pitchFamily="18" charset="0"/>
                <a:cs typeface="Times New Roman" pitchFamily="18" charset="0"/>
              </a:rPr>
              <a:t>Frequent </a:t>
            </a:r>
            <a:r>
              <a:rPr lang="en-IN" sz="2800" dirty="0" err="1">
                <a:solidFill>
                  <a:srgbClr val="FF0000"/>
                </a:solidFill>
                <a:latin typeface="Times New Roman" pitchFamily="18" charset="0"/>
                <a:cs typeface="Times New Roman" pitchFamily="18" charset="0"/>
              </a:rPr>
              <a:t>Itemset</a:t>
            </a:r>
            <a:r>
              <a:rPr lang="en-IN" sz="2800" dirty="0">
                <a:solidFill>
                  <a:srgbClr val="FF0000"/>
                </a:solidFill>
                <a:latin typeface="Times New Roman" pitchFamily="18" charset="0"/>
                <a:cs typeface="Times New Roman" pitchFamily="18" charset="0"/>
              </a:rPr>
              <a:t> Generation:</a:t>
            </a:r>
          </a:p>
          <a:p>
            <a:pPr algn="just"/>
            <a:endParaRPr lang="en-IN" sz="2200" dirty="0">
              <a:solidFill>
                <a:srgbClr val="FF0000"/>
              </a:solidFill>
              <a:latin typeface="Times New Roman" pitchFamily="18" charset="0"/>
              <a:cs typeface="Times New Roman" pitchFamily="18" charset="0"/>
            </a:endParaRPr>
          </a:p>
        </p:txBody>
      </p:sp>
      <p:sp>
        <p:nvSpPr>
          <p:cNvPr id="3" name="Rectangle 2"/>
          <p:cNvSpPr/>
          <p:nvPr/>
        </p:nvSpPr>
        <p:spPr>
          <a:xfrm>
            <a:off x="228600" y="990600"/>
            <a:ext cx="8686800" cy="1107996"/>
          </a:xfrm>
          <a:prstGeom prst="rect">
            <a:avLst/>
          </a:prstGeom>
        </p:spPr>
        <p:txBody>
          <a:bodyPr wrap="square">
            <a:spAutoFit/>
          </a:bodyPr>
          <a:lstStyle/>
          <a:p>
            <a:pPr algn="just"/>
            <a:r>
              <a:rPr lang="en-US" altLang="en-US" sz="2200" dirty="0">
                <a:latin typeface="Times New Roman" pitchFamily="18" charset="0"/>
                <a:cs typeface="Times New Roman" pitchFamily="18" charset="0"/>
              </a:rPr>
              <a:t>Brute-force approach: </a:t>
            </a:r>
          </a:p>
          <a:p>
            <a:pPr lvl="1" algn="just"/>
            <a:r>
              <a:rPr lang="en-US" altLang="en-US" sz="2200" dirty="0">
                <a:latin typeface="Times New Roman" pitchFamily="18" charset="0"/>
                <a:cs typeface="Times New Roman" pitchFamily="18" charset="0"/>
              </a:rPr>
              <a:t>Each </a:t>
            </a:r>
            <a:r>
              <a:rPr lang="en-US" altLang="en-US" sz="2200" dirty="0" err="1">
                <a:latin typeface="Times New Roman" pitchFamily="18" charset="0"/>
                <a:cs typeface="Times New Roman" pitchFamily="18" charset="0"/>
              </a:rPr>
              <a:t>itemset</a:t>
            </a:r>
            <a:r>
              <a:rPr lang="en-US" altLang="en-US" sz="2200" dirty="0">
                <a:latin typeface="Times New Roman" pitchFamily="18" charset="0"/>
                <a:cs typeface="Times New Roman" pitchFamily="18" charset="0"/>
              </a:rPr>
              <a:t> in the lattice is a </a:t>
            </a:r>
            <a:r>
              <a:rPr lang="en-US" altLang="en-US" sz="2200" dirty="0">
                <a:solidFill>
                  <a:srgbClr val="FF0000"/>
                </a:solidFill>
                <a:latin typeface="Times New Roman" pitchFamily="18" charset="0"/>
                <a:cs typeface="Times New Roman" pitchFamily="18" charset="0"/>
              </a:rPr>
              <a:t>candidate</a:t>
            </a:r>
            <a:r>
              <a:rPr lang="en-US" altLang="en-US" sz="2200" dirty="0">
                <a:latin typeface="Times New Roman" pitchFamily="18" charset="0"/>
                <a:cs typeface="Times New Roman" pitchFamily="18" charset="0"/>
              </a:rPr>
              <a:t> frequent </a:t>
            </a:r>
            <a:r>
              <a:rPr lang="en-US" altLang="en-US" sz="2200" dirty="0" err="1">
                <a:latin typeface="Times New Roman" pitchFamily="18" charset="0"/>
                <a:cs typeface="Times New Roman" pitchFamily="18" charset="0"/>
              </a:rPr>
              <a:t>itemset</a:t>
            </a:r>
            <a:endParaRPr lang="en-US" altLang="en-US" sz="2200" dirty="0">
              <a:latin typeface="Times New Roman" pitchFamily="18" charset="0"/>
              <a:cs typeface="Times New Roman" pitchFamily="18" charset="0"/>
            </a:endParaRPr>
          </a:p>
          <a:p>
            <a:pPr lvl="1" algn="just"/>
            <a:r>
              <a:rPr lang="en-US" altLang="en-US" sz="2200" dirty="0">
                <a:latin typeface="Times New Roman" pitchFamily="18" charset="0"/>
                <a:cs typeface="Times New Roman" pitchFamily="18" charset="0"/>
              </a:rPr>
              <a:t>Count the support of each candidate by scanning the database</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209800"/>
            <a:ext cx="8153399"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2443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000" y="152400"/>
            <a:ext cx="8382000" cy="5890843"/>
          </a:xfrm>
          <a:prstGeom prst="rect">
            <a:avLst/>
          </a:prstGeom>
        </p:spPr>
        <p:txBody>
          <a:bodyPr wrap="square">
            <a:spAutoFit/>
          </a:bodyPr>
          <a:lstStyle/>
          <a:p>
            <a:pPr algn="just"/>
            <a:r>
              <a:rPr lang="en-US" altLang="en-US" sz="2400" dirty="0">
                <a:solidFill>
                  <a:srgbClr val="FF0000"/>
                </a:solidFill>
                <a:latin typeface="Times New Roman" pitchFamily="18" charset="0"/>
                <a:cs typeface="Times New Roman" pitchFamily="18" charset="0"/>
              </a:rPr>
              <a:t>Frequent </a:t>
            </a:r>
            <a:r>
              <a:rPr lang="en-US" altLang="en-US" sz="2400" dirty="0" err="1">
                <a:solidFill>
                  <a:srgbClr val="FF0000"/>
                </a:solidFill>
                <a:latin typeface="Times New Roman" pitchFamily="18" charset="0"/>
                <a:cs typeface="Times New Roman" pitchFamily="18" charset="0"/>
              </a:rPr>
              <a:t>Itemset</a:t>
            </a:r>
            <a:r>
              <a:rPr lang="en-US" altLang="en-US" sz="2400" dirty="0">
                <a:solidFill>
                  <a:srgbClr val="FF0000"/>
                </a:solidFill>
                <a:latin typeface="Times New Roman" pitchFamily="18" charset="0"/>
                <a:cs typeface="Times New Roman" pitchFamily="18" charset="0"/>
              </a:rPr>
              <a:t> Generation Strategies:</a:t>
            </a:r>
          </a:p>
          <a:p>
            <a:pPr algn="just"/>
            <a:endParaRPr lang="en-US" sz="2400" dirty="0">
              <a:latin typeface="Times New Roman" pitchFamily="18" charset="0"/>
              <a:cs typeface="Times New Roman" pitchFamily="18" charset="0"/>
            </a:endParaRPr>
          </a:p>
          <a:p>
            <a:pPr algn="just">
              <a:lnSpc>
                <a:spcPct val="90000"/>
              </a:lnSpc>
            </a:pPr>
            <a:r>
              <a:rPr lang="en-US" altLang="en-US" sz="2400" dirty="0">
                <a:latin typeface="Times New Roman" pitchFamily="18" charset="0"/>
                <a:cs typeface="Times New Roman" pitchFamily="18" charset="0"/>
              </a:rPr>
              <a:t>Reduce the </a:t>
            </a:r>
            <a:r>
              <a:rPr lang="en-US" altLang="en-US" sz="2400" dirty="0">
                <a:solidFill>
                  <a:srgbClr val="FF0000"/>
                </a:solidFill>
                <a:latin typeface="Times New Roman" pitchFamily="18" charset="0"/>
                <a:cs typeface="Times New Roman" pitchFamily="18" charset="0"/>
              </a:rPr>
              <a:t>number of candidates</a:t>
            </a:r>
            <a:r>
              <a:rPr lang="en-US" altLang="en-US" sz="2400" dirty="0">
                <a:latin typeface="Times New Roman" pitchFamily="18" charset="0"/>
                <a:cs typeface="Times New Roman" pitchFamily="18" charset="0"/>
              </a:rPr>
              <a:t> (M)</a:t>
            </a:r>
          </a:p>
          <a:p>
            <a:pPr lvl="1" algn="just">
              <a:lnSpc>
                <a:spcPct val="90000"/>
              </a:lnSpc>
            </a:pPr>
            <a:r>
              <a:rPr lang="en-US" altLang="en-US" sz="2400" dirty="0">
                <a:latin typeface="Times New Roman" pitchFamily="18" charset="0"/>
                <a:cs typeface="Times New Roman" pitchFamily="18" charset="0"/>
              </a:rPr>
              <a:t>Complete search: M=2</a:t>
            </a:r>
            <a:r>
              <a:rPr lang="en-US" altLang="en-US" sz="2400" baseline="30000" dirty="0">
                <a:latin typeface="Times New Roman" pitchFamily="18" charset="0"/>
                <a:cs typeface="Times New Roman" pitchFamily="18" charset="0"/>
              </a:rPr>
              <a:t>d</a:t>
            </a:r>
          </a:p>
          <a:p>
            <a:pPr lvl="1" algn="just">
              <a:lnSpc>
                <a:spcPct val="90000"/>
              </a:lnSpc>
            </a:pPr>
            <a:r>
              <a:rPr lang="en-US" altLang="en-US" sz="2400" dirty="0">
                <a:latin typeface="Times New Roman" pitchFamily="18" charset="0"/>
                <a:cs typeface="Times New Roman" pitchFamily="18" charset="0"/>
              </a:rPr>
              <a:t>Use pruning techniques to reduce M</a:t>
            </a:r>
          </a:p>
          <a:p>
            <a:pPr lvl="4" algn="just">
              <a:lnSpc>
                <a:spcPct val="90000"/>
              </a:lnSpc>
            </a:pPr>
            <a:endParaRPr lang="en-US" altLang="en-US" sz="2400" dirty="0">
              <a:latin typeface="Times New Roman" pitchFamily="18" charset="0"/>
              <a:cs typeface="Times New Roman" pitchFamily="18" charset="0"/>
            </a:endParaRPr>
          </a:p>
          <a:p>
            <a:pPr algn="just">
              <a:lnSpc>
                <a:spcPct val="90000"/>
              </a:lnSpc>
            </a:pPr>
            <a:r>
              <a:rPr lang="en-US" altLang="en-US" sz="2400" dirty="0">
                <a:latin typeface="Times New Roman" pitchFamily="18" charset="0"/>
                <a:cs typeface="Times New Roman" pitchFamily="18" charset="0"/>
              </a:rPr>
              <a:t>Reduce the </a:t>
            </a:r>
            <a:r>
              <a:rPr lang="en-US" altLang="en-US" sz="2400" dirty="0">
                <a:solidFill>
                  <a:srgbClr val="FF0000"/>
                </a:solidFill>
                <a:latin typeface="Times New Roman" pitchFamily="18" charset="0"/>
                <a:cs typeface="Times New Roman" pitchFamily="18" charset="0"/>
              </a:rPr>
              <a:t>number of transactions </a:t>
            </a:r>
            <a:r>
              <a:rPr lang="en-US" altLang="en-US" sz="2400" dirty="0">
                <a:latin typeface="Times New Roman" pitchFamily="18" charset="0"/>
                <a:cs typeface="Times New Roman" pitchFamily="18" charset="0"/>
              </a:rPr>
              <a:t>(N)</a:t>
            </a:r>
          </a:p>
          <a:p>
            <a:pPr lvl="1" algn="just">
              <a:lnSpc>
                <a:spcPct val="90000"/>
              </a:lnSpc>
            </a:pPr>
            <a:r>
              <a:rPr lang="en-US" altLang="en-US" sz="2400" dirty="0">
                <a:latin typeface="Times New Roman" pitchFamily="18" charset="0"/>
                <a:cs typeface="Times New Roman" pitchFamily="18" charset="0"/>
              </a:rPr>
              <a:t>Reduce size of N as the size of </a:t>
            </a:r>
            <a:r>
              <a:rPr lang="en-US" altLang="en-US" sz="2400" dirty="0" err="1">
                <a:latin typeface="Times New Roman" pitchFamily="18" charset="0"/>
                <a:cs typeface="Times New Roman" pitchFamily="18" charset="0"/>
              </a:rPr>
              <a:t>itemset</a:t>
            </a:r>
            <a:r>
              <a:rPr lang="en-US" altLang="en-US" sz="2400" dirty="0">
                <a:latin typeface="Times New Roman" pitchFamily="18" charset="0"/>
                <a:cs typeface="Times New Roman" pitchFamily="18" charset="0"/>
              </a:rPr>
              <a:t> increases</a:t>
            </a:r>
          </a:p>
          <a:p>
            <a:pPr lvl="1" algn="just">
              <a:lnSpc>
                <a:spcPct val="90000"/>
              </a:lnSpc>
            </a:pPr>
            <a:r>
              <a:rPr lang="en-US" altLang="en-US" sz="2400" dirty="0">
                <a:latin typeface="Times New Roman" pitchFamily="18" charset="0"/>
                <a:cs typeface="Times New Roman" pitchFamily="18" charset="0"/>
              </a:rPr>
              <a:t>Used by DHP(</a:t>
            </a:r>
            <a:r>
              <a:rPr lang="en-IN" sz="2400" b="1" dirty="0"/>
              <a:t>Direct Hashing and Pruning</a:t>
            </a:r>
            <a:r>
              <a:rPr lang="en-US" altLang="en-US" sz="2400" dirty="0">
                <a:latin typeface="Times New Roman" pitchFamily="18" charset="0"/>
                <a:cs typeface="Times New Roman" pitchFamily="18" charset="0"/>
              </a:rPr>
              <a:t>) and vertical-based mining algorithms</a:t>
            </a:r>
          </a:p>
          <a:p>
            <a:pPr lvl="4" algn="just">
              <a:lnSpc>
                <a:spcPct val="90000"/>
              </a:lnSpc>
            </a:pPr>
            <a:endParaRPr lang="en-US" altLang="en-US" sz="2400" dirty="0">
              <a:latin typeface="Times New Roman" pitchFamily="18" charset="0"/>
              <a:cs typeface="Times New Roman" pitchFamily="18" charset="0"/>
            </a:endParaRPr>
          </a:p>
          <a:p>
            <a:pPr algn="just">
              <a:lnSpc>
                <a:spcPct val="90000"/>
              </a:lnSpc>
            </a:pPr>
            <a:r>
              <a:rPr lang="en-US" altLang="en-US" sz="2400" dirty="0">
                <a:latin typeface="Times New Roman" pitchFamily="18" charset="0"/>
                <a:cs typeface="Times New Roman" pitchFamily="18" charset="0"/>
              </a:rPr>
              <a:t>Reduce the </a:t>
            </a:r>
            <a:r>
              <a:rPr lang="en-US" altLang="en-US" sz="2400" dirty="0">
                <a:solidFill>
                  <a:srgbClr val="FF0000"/>
                </a:solidFill>
                <a:latin typeface="Times New Roman" pitchFamily="18" charset="0"/>
                <a:cs typeface="Times New Roman" pitchFamily="18" charset="0"/>
              </a:rPr>
              <a:t>number of comparisons</a:t>
            </a:r>
            <a:r>
              <a:rPr lang="en-US" altLang="en-US" sz="2400" dirty="0">
                <a:latin typeface="Times New Roman" pitchFamily="18" charset="0"/>
                <a:cs typeface="Times New Roman" pitchFamily="18" charset="0"/>
              </a:rPr>
              <a:t> (NM)</a:t>
            </a:r>
          </a:p>
          <a:p>
            <a:pPr lvl="1" algn="just">
              <a:lnSpc>
                <a:spcPct val="90000"/>
              </a:lnSpc>
            </a:pPr>
            <a:r>
              <a:rPr lang="en-US" altLang="en-US" sz="2400" dirty="0">
                <a:latin typeface="Times New Roman" pitchFamily="18" charset="0"/>
                <a:cs typeface="Times New Roman" pitchFamily="18" charset="0"/>
              </a:rPr>
              <a:t>Use efficient data structures to store the candidates or transactions</a:t>
            </a:r>
          </a:p>
          <a:p>
            <a:pPr lvl="1" algn="just">
              <a:lnSpc>
                <a:spcPct val="90000"/>
              </a:lnSpc>
            </a:pPr>
            <a:r>
              <a:rPr lang="en-US" altLang="en-US" sz="2400" dirty="0">
                <a:latin typeface="Times New Roman" pitchFamily="18" charset="0"/>
                <a:cs typeface="Times New Roman" pitchFamily="18" charset="0"/>
              </a:rPr>
              <a:t>No need to match every candidate against every transaction</a:t>
            </a:r>
          </a:p>
          <a:p>
            <a:pPr algn="just"/>
            <a:endParaRPr lang="en-US" sz="2400" dirty="0">
              <a:latin typeface="Times New Roman" pitchFamily="18" charset="0"/>
              <a:cs typeface="Times New Roman" pitchFamily="18" charset="0"/>
            </a:endParaRPr>
          </a:p>
          <a:p>
            <a:pPr algn="just"/>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845624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31208B-38B4-4753-9E3C-CAD30E5EF695}"/>
              </a:ext>
            </a:extLst>
          </p:cNvPr>
          <p:cNvSpPr>
            <a:spLocks noChangeArrowheads="1"/>
          </p:cNvSpPr>
          <p:nvPr/>
        </p:nvSpPr>
        <p:spPr bwMode="auto">
          <a:xfrm>
            <a:off x="304800" y="324256"/>
            <a:ext cx="7848600" cy="176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highlight>
                  <a:srgbClr val="FFFF00"/>
                </a:highlight>
                <a:latin typeface="Arial" panose="020B0604020202020204" pitchFamily="34" charset="0"/>
                <a:ea typeface="Times New Roman" panose="02020603050405020304" pitchFamily="18" charset="0"/>
              </a:rPr>
              <a:t>For 1</a:t>
            </a:r>
            <a:r>
              <a:rPr lang="en-US" altLang="en-US" sz="1600" baseline="30000" dirty="0">
                <a:highlight>
                  <a:srgbClr val="FFFF00"/>
                </a:highlight>
                <a:latin typeface="Arial" panose="020B0604020202020204" pitchFamily="34" charset="0"/>
                <a:ea typeface="Times New Roman" panose="02020603050405020304" pitchFamily="18" charset="0"/>
              </a:rPr>
              <a:t>st</a:t>
            </a:r>
            <a:r>
              <a:rPr lang="en-US" altLang="en-US" sz="1600" dirty="0">
                <a:highlight>
                  <a:srgbClr val="FFFF00"/>
                </a:highlight>
                <a:latin typeface="Arial" panose="020B0604020202020204" pitchFamily="34" charset="0"/>
                <a:ea typeface="Times New Roman" panose="02020603050405020304" pitchFamily="18" charset="0"/>
              </a:rPr>
              <a:t> one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For example:</a:t>
            </a:r>
            <a:endParaRPr kumimoji="0" lang="en-US" altLang="en-US" sz="16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{Milk, Bread} → </a:t>
            </a:r>
            <a:r>
              <a:rPr kumimoji="0" lang="en-US" altLang="en-US" sz="1600" b="0" i="0" u="none" strike="noStrike" cap="none" normalizeH="0" baseline="0" dirty="0">
                <a:ln>
                  <a:noFill/>
                </a:ln>
                <a:solidFill>
                  <a:schemeClr val="tx1"/>
                </a:solidFill>
                <a:effectLst/>
                <a:latin typeface="Arial Unicode MS"/>
                <a:ea typeface="Times New Roman" panose="02020603050405020304" pitchFamily="18" charset="0"/>
                <a:cs typeface="Segoe UI Emoji" panose="020B0502040204020203" pitchFamily="34" charset="0"/>
              </a:rPr>
              <a:t>❌</a:t>
            </a:r>
            <a:r>
              <a:rPr kumimoji="0" lang="en-US" altLang="en-US" sz="16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 Infrequent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Then don't generate: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{Milk, Bread, Butter}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{Milk, Bread, Eggs}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{Milk, Bread, Coke}</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278C8565-AD59-4AE0-818C-53049E86AE41}"/>
              </a:ext>
            </a:extLst>
          </p:cNvPr>
          <p:cNvSpPr/>
          <p:nvPr/>
        </p:nvSpPr>
        <p:spPr>
          <a:xfrm>
            <a:off x="304800" y="2286001"/>
            <a:ext cx="4724400" cy="4708981"/>
          </a:xfrm>
          <a:prstGeom prst="rect">
            <a:avLst/>
          </a:prstGeom>
        </p:spPr>
        <p:txBody>
          <a:bodyPr wrap="square">
            <a:spAutoFit/>
          </a:bodyPr>
          <a:lstStyle/>
          <a:p>
            <a:r>
              <a:rPr lang="en-IN" sz="2000" dirty="0">
                <a:highlight>
                  <a:srgbClr val="FFFF00"/>
                </a:highlight>
              </a:rPr>
              <a:t>For 2</a:t>
            </a:r>
            <a:r>
              <a:rPr lang="en-IN" sz="2000" baseline="30000" dirty="0">
                <a:highlight>
                  <a:srgbClr val="FFFF00"/>
                </a:highlight>
              </a:rPr>
              <a:t>nd</a:t>
            </a:r>
            <a:r>
              <a:rPr lang="en-IN" sz="2000" dirty="0">
                <a:highlight>
                  <a:srgbClr val="FFFF00"/>
                </a:highlight>
              </a:rPr>
              <a:t> one</a:t>
            </a:r>
          </a:p>
          <a:p>
            <a:r>
              <a:rPr lang="en-IN" sz="2000" dirty="0"/>
              <a:t>1-itemset</a:t>
            </a:r>
          </a:p>
          <a:p>
            <a:r>
              <a:rPr lang="en-IN" sz="2000" dirty="0"/>
              <a:t>   ↓</a:t>
            </a:r>
          </a:p>
          <a:p>
            <a:r>
              <a:rPr lang="en-IN" sz="2000" dirty="0"/>
              <a:t>Consider many/all relevant transactions</a:t>
            </a:r>
          </a:p>
          <a:p>
            <a:r>
              <a:rPr lang="en-IN" sz="2000" dirty="0"/>
              <a:t>N = 5</a:t>
            </a:r>
          </a:p>
          <a:p>
            <a:r>
              <a:rPr lang="en-IN" sz="2000" dirty="0"/>
              <a:t>   ↓</a:t>
            </a:r>
          </a:p>
          <a:p>
            <a:r>
              <a:rPr lang="en-IN" sz="2000" dirty="0"/>
              <a:t>2-itemset</a:t>
            </a:r>
          </a:p>
          <a:p>
            <a:r>
              <a:rPr lang="en-IN" sz="2000" dirty="0"/>
              <a:t>   ↓</a:t>
            </a:r>
          </a:p>
          <a:p>
            <a:r>
              <a:rPr lang="en-IN" sz="2000" dirty="0"/>
              <a:t>Fewer relevant transactions</a:t>
            </a:r>
          </a:p>
          <a:p>
            <a:r>
              <a:rPr lang="en-IN" sz="2000" dirty="0"/>
              <a:t>N may decrease</a:t>
            </a:r>
          </a:p>
          <a:p>
            <a:r>
              <a:rPr lang="en-IN" sz="2000" dirty="0"/>
              <a:t>   ↓</a:t>
            </a:r>
          </a:p>
          <a:p>
            <a:r>
              <a:rPr lang="en-IN" sz="2000" dirty="0"/>
              <a:t>3-itemset</a:t>
            </a:r>
          </a:p>
          <a:p>
            <a:r>
              <a:rPr lang="en-IN" sz="2000" dirty="0"/>
              <a:t>   ↓</a:t>
            </a:r>
          </a:p>
          <a:p>
            <a:r>
              <a:rPr lang="en-IN" sz="2000" dirty="0"/>
              <a:t>Even fewer relevant transactions</a:t>
            </a:r>
          </a:p>
          <a:p>
            <a:r>
              <a:rPr lang="en-IN" sz="2000" dirty="0"/>
              <a:t>N may decrease further</a:t>
            </a:r>
          </a:p>
        </p:txBody>
      </p:sp>
    </p:spTree>
    <p:extLst>
      <p:ext uri="{BB962C8B-B14F-4D97-AF65-F5344CB8AC3E}">
        <p14:creationId xmlns:p14="http://schemas.microsoft.com/office/powerpoint/2010/main" val="2762282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4A6917-CAED-4AB7-9538-EF90A4569775}"/>
              </a:ext>
            </a:extLst>
          </p:cNvPr>
          <p:cNvSpPr>
            <a:spLocks noChangeArrowheads="1"/>
          </p:cNvSpPr>
          <p:nvPr/>
        </p:nvSpPr>
        <p:spPr bwMode="auto">
          <a:xfrm>
            <a:off x="152400" y="757182"/>
            <a:ext cx="7871460"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For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Brute force: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T1 → C1, C2, C3, C4, C5, ... C10000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T2 → C1, C2, C3, C4, C5, ... C10000...</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Instead, an efficient structure may allow:</a:t>
            </a:r>
          </a:p>
          <a:p>
            <a:pPr eaLnBrk="0" fontAlgn="base" hangingPunct="0">
              <a:spcBef>
                <a:spcPct val="0"/>
              </a:spcBef>
              <a:spcAft>
                <a:spcPct val="0"/>
              </a:spcAft>
            </a:pP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T1 → only relevant candidates</a:t>
            </a:r>
          </a:p>
          <a:p>
            <a:pPr eaLnBrk="0" fontAlgn="base" hangingPunct="0">
              <a:spcBef>
                <a:spcPct val="0"/>
              </a:spcBef>
              <a:spcAft>
                <a:spcPct val="0"/>
              </a:spcAft>
            </a:pP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T2 → only relevant candidates...</a:t>
            </a:r>
          </a:p>
          <a:p>
            <a:pPr eaLnBrk="0" fontAlgn="base" hangingPunct="0">
              <a:spcBef>
                <a:spcPct val="0"/>
              </a:spcBef>
              <a:spcAft>
                <a:spcPct val="0"/>
              </a:spcAft>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Therefore, the number of comparisons decreases.</a:t>
            </a:r>
            <a:r>
              <a:rPr lang="en-US" altLang="en-US" sz="2400" dirty="0">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54497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000" y="228600"/>
            <a:ext cx="8610600" cy="523220"/>
          </a:xfrm>
          <a:prstGeom prst="rect">
            <a:avLst/>
          </a:prstGeom>
        </p:spPr>
        <p:txBody>
          <a:bodyPr wrap="square">
            <a:spAutoFit/>
          </a:bodyPr>
          <a:lstStyle/>
          <a:p>
            <a:r>
              <a:rPr lang="en-US" altLang="en-US" sz="2800" dirty="0">
                <a:latin typeface="Times New Roman" pitchFamily="18" charset="0"/>
                <a:cs typeface="Times New Roman" pitchFamily="18" charset="0"/>
              </a:rPr>
              <a:t>Reducing Number of Candidates:</a:t>
            </a:r>
            <a:endParaRPr lang="en-IN" dirty="0">
              <a:latin typeface="Times New Roman" pitchFamily="18" charset="0"/>
              <a:cs typeface="Times New Roman" pitchFamily="18" charset="0"/>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51820"/>
            <a:ext cx="8458199" cy="5496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619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0"/>
            <a:ext cx="8382000" cy="800219"/>
          </a:xfrm>
          <a:prstGeom prst="rect">
            <a:avLst/>
          </a:prstGeom>
        </p:spPr>
        <p:txBody>
          <a:bodyPr wrap="square">
            <a:spAutoFit/>
          </a:bodyPr>
          <a:lstStyle/>
          <a:p>
            <a:r>
              <a:rPr lang="en-US" altLang="en-US" sz="2800" dirty="0">
                <a:solidFill>
                  <a:srgbClr val="FF0000"/>
                </a:solidFill>
              </a:rPr>
              <a:t>Illustrating </a:t>
            </a:r>
            <a:r>
              <a:rPr lang="en-US" altLang="en-US" sz="2800" dirty="0" err="1">
                <a:solidFill>
                  <a:srgbClr val="FF0000"/>
                </a:solidFill>
              </a:rPr>
              <a:t>Apriori</a:t>
            </a:r>
            <a:r>
              <a:rPr lang="en-US" altLang="en-US" sz="2800" dirty="0">
                <a:solidFill>
                  <a:srgbClr val="FF0000"/>
                </a:solidFill>
              </a:rPr>
              <a:t> Principle: </a:t>
            </a:r>
          </a:p>
          <a:p>
            <a:endParaRPr lang="en-IN" dirty="0">
              <a:solidFill>
                <a:srgbClr val="FF0000"/>
              </a:solidFill>
            </a:endParaRP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62000"/>
            <a:ext cx="8381999"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8940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179512" y="409533"/>
            <a:ext cx="8856984" cy="6143667"/>
          </a:xfrm>
          <a:prstGeom prst="rect">
            <a:avLst/>
          </a:prstGeom>
          <a:noFill/>
          <a:ln w="9525">
            <a:noFill/>
            <a:miter lim="800000"/>
            <a:headEnd/>
            <a:tailEnd/>
          </a:ln>
          <a:effectLst/>
        </p:spPr>
      </p:pic>
    </p:spTree>
    <p:extLst>
      <p:ext uri="{BB962C8B-B14F-4D97-AF65-F5344CB8AC3E}">
        <p14:creationId xmlns:p14="http://schemas.microsoft.com/office/powerpoint/2010/main" val="1460172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285720" y="428604"/>
            <a:ext cx="8358245" cy="5500726"/>
          </a:xfrm>
          <a:prstGeom prst="rect">
            <a:avLst/>
          </a:prstGeom>
          <a:noFill/>
          <a:ln w="9525">
            <a:noFill/>
            <a:miter lim="800000"/>
            <a:headEnd/>
            <a:tailEnd/>
          </a:ln>
          <a:effectLst/>
        </p:spPr>
      </p:pic>
    </p:spTree>
    <p:extLst>
      <p:ext uri="{BB962C8B-B14F-4D97-AF65-F5344CB8AC3E}">
        <p14:creationId xmlns:p14="http://schemas.microsoft.com/office/powerpoint/2010/main" val="1410686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135233" y="642918"/>
            <a:ext cx="8723047" cy="5715040"/>
          </a:xfrm>
          <a:prstGeom prst="rect">
            <a:avLst/>
          </a:prstGeom>
          <a:noFill/>
          <a:ln w="9525">
            <a:noFill/>
            <a:miter lim="800000"/>
            <a:headEnd/>
            <a:tailEnd/>
          </a:ln>
          <a:effectLst/>
        </p:spPr>
      </p:pic>
    </p:spTree>
    <p:extLst>
      <p:ext uri="{BB962C8B-B14F-4D97-AF65-F5344CB8AC3E}">
        <p14:creationId xmlns:p14="http://schemas.microsoft.com/office/powerpoint/2010/main" val="3007476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457200"/>
            <a:ext cx="8382000" cy="523220"/>
          </a:xfrm>
          <a:prstGeom prst="rect">
            <a:avLst/>
          </a:prstGeom>
        </p:spPr>
        <p:txBody>
          <a:bodyPr wrap="square">
            <a:spAutoFit/>
          </a:bodyPr>
          <a:lstStyle/>
          <a:p>
            <a:r>
              <a:rPr lang="en-US" altLang="en-US" sz="2800" dirty="0">
                <a:solidFill>
                  <a:srgbClr val="00B050"/>
                </a:solidFill>
              </a:rPr>
              <a:t>Illustrating </a:t>
            </a:r>
            <a:r>
              <a:rPr lang="en-US" altLang="en-US" sz="2800" dirty="0" err="1">
                <a:solidFill>
                  <a:srgbClr val="00B050"/>
                </a:solidFill>
              </a:rPr>
              <a:t>Apriori</a:t>
            </a:r>
            <a:r>
              <a:rPr lang="en-US" altLang="en-US" sz="2800" dirty="0">
                <a:solidFill>
                  <a:srgbClr val="00B050"/>
                </a:solidFill>
              </a:rPr>
              <a:t> Principle:</a:t>
            </a:r>
            <a:endParaRPr lang="en-IN" dirty="0">
              <a:solidFill>
                <a:srgbClr val="00B050"/>
              </a:solidFill>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43000"/>
            <a:ext cx="8382000" cy="530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493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04800"/>
            <a:ext cx="86106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4368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04800"/>
            <a:ext cx="8534399"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0593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150" y="1066800"/>
            <a:ext cx="6743700"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031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38" y="1095375"/>
            <a:ext cx="6715125" cy="466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9696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6825" y="1123950"/>
            <a:ext cx="6610350" cy="474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5879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963" y="1033463"/>
            <a:ext cx="6696075" cy="47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8204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915400" cy="3323987"/>
          </a:xfrm>
          <a:prstGeom prst="rect">
            <a:avLst/>
          </a:prstGeom>
        </p:spPr>
        <p:txBody>
          <a:bodyPr wrap="square">
            <a:spAutoFit/>
          </a:bodyPr>
          <a:lstStyle/>
          <a:p>
            <a:pPr marL="533400" indent="-533400" algn="just"/>
            <a:r>
              <a:rPr lang="en-US" altLang="en-US" sz="2400" dirty="0">
                <a:solidFill>
                  <a:srgbClr val="FF0000"/>
                </a:solidFill>
                <a:latin typeface="Times New Roman" pitchFamily="18" charset="0"/>
                <a:cs typeface="Times New Roman" pitchFamily="18" charset="0"/>
              </a:rPr>
              <a:t>Mining Association Rules:</a:t>
            </a:r>
          </a:p>
          <a:p>
            <a:pPr marL="533400" indent="-533400" algn="just"/>
            <a:endParaRPr lang="en-US" altLang="en-US" dirty="0">
              <a:latin typeface="Times New Roman" pitchFamily="18" charset="0"/>
              <a:cs typeface="Times New Roman" pitchFamily="18" charset="0"/>
            </a:endParaRPr>
          </a:p>
          <a:p>
            <a:pPr marL="533400" indent="-533400" algn="just"/>
            <a:r>
              <a:rPr lang="en-US" altLang="en-US" sz="2400" dirty="0">
                <a:solidFill>
                  <a:srgbClr val="00B050"/>
                </a:solidFill>
                <a:latin typeface="Times New Roman" pitchFamily="18" charset="0"/>
                <a:cs typeface="Times New Roman" pitchFamily="18" charset="0"/>
              </a:rPr>
              <a:t>Two-step approach: </a:t>
            </a:r>
            <a:endParaRPr lang="en-US" altLang="en-US" sz="2400" dirty="0">
              <a:solidFill>
                <a:srgbClr val="002060"/>
              </a:solidFill>
              <a:latin typeface="Times New Roman" pitchFamily="18" charset="0"/>
              <a:cs typeface="Times New Roman" pitchFamily="18" charset="0"/>
            </a:endParaRPr>
          </a:p>
          <a:p>
            <a:pPr marL="914400" lvl="1" indent="-457200" algn="just">
              <a:buFont typeface="Arial" charset="0"/>
              <a:buAutoNum type="arabicPeriod"/>
            </a:pPr>
            <a:r>
              <a:rPr lang="en-US" altLang="en-US" sz="2400" dirty="0">
                <a:solidFill>
                  <a:srgbClr val="002060"/>
                </a:solidFill>
                <a:latin typeface="Times New Roman" pitchFamily="18" charset="0"/>
                <a:cs typeface="Times New Roman" pitchFamily="18" charset="0"/>
              </a:rPr>
              <a:t>Frequent Item set Generation</a:t>
            </a:r>
          </a:p>
          <a:p>
            <a:pPr marL="1295400" lvl="2" indent="-381000" algn="just">
              <a:buFont typeface="Arial" charset="0"/>
              <a:buChar char="–"/>
            </a:pPr>
            <a:r>
              <a:rPr lang="en-US" altLang="en-US" sz="2400" dirty="0">
                <a:latin typeface="Times New Roman" pitchFamily="18" charset="0"/>
                <a:cs typeface="Times New Roman" pitchFamily="18" charset="0"/>
              </a:rPr>
              <a:t>Generate all item sets whose support </a:t>
            </a:r>
            <a:r>
              <a:rPr lang="en-US" altLang="en-US" sz="2400" dirty="0">
                <a:latin typeface="Times New Roman" pitchFamily="18" charset="0"/>
                <a:cs typeface="Times New Roman" pitchFamily="18" charset="0"/>
                <a:sym typeface="Symbol" pitchFamily="18" charset="2"/>
              </a:rPr>
              <a:t> </a:t>
            </a:r>
            <a:r>
              <a:rPr lang="en-US" altLang="en-US" sz="2400" dirty="0">
                <a:latin typeface="Times New Roman" pitchFamily="18" charset="0"/>
                <a:cs typeface="Times New Roman" pitchFamily="18" charset="0"/>
              </a:rPr>
              <a:t>min sup</a:t>
            </a:r>
          </a:p>
          <a:p>
            <a:pPr marL="1295400" lvl="2" indent="-381000" algn="just">
              <a:buFont typeface="Arial" charset="0"/>
              <a:buNone/>
            </a:pPr>
            <a:endParaRPr lang="en-US" altLang="en-US" sz="2400" dirty="0">
              <a:solidFill>
                <a:srgbClr val="002060"/>
              </a:solidFill>
              <a:latin typeface="Times New Roman" pitchFamily="18" charset="0"/>
              <a:cs typeface="Times New Roman" pitchFamily="18" charset="0"/>
            </a:endParaRPr>
          </a:p>
          <a:p>
            <a:pPr marL="914400" lvl="1" indent="-457200" algn="just">
              <a:buFont typeface="Arial" charset="0"/>
              <a:buAutoNum type="arabicPeriod"/>
            </a:pPr>
            <a:r>
              <a:rPr lang="en-US" altLang="en-US" sz="2400" dirty="0">
                <a:solidFill>
                  <a:srgbClr val="002060"/>
                </a:solidFill>
                <a:latin typeface="Times New Roman" pitchFamily="18" charset="0"/>
                <a:cs typeface="Times New Roman" pitchFamily="18" charset="0"/>
              </a:rPr>
              <a:t>Rule Generation</a:t>
            </a:r>
          </a:p>
          <a:p>
            <a:pPr marL="1295400" lvl="2" indent="-381000" algn="just">
              <a:buFont typeface="Arial" charset="0"/>
              <a:buChar char="–"/>
            </a:pPr>
            <a:r>
              <a:rPr lang="en-US" altLang="en-US" sz="2400" dirty="0">
                <a:latin typeface="Times New Roman" pitchFamily="18" charset="0"/>
                <a:cs typeface="Times New Roman" pitchFamily="18" charset="0"/>
              </a:rPr>
              <a:t>Generate high confidence rules from each frequent item set, where each rule is a binary partitioning of a frequent item set</a:t>
            </a:r>
          </a:p>
        </p:txBody>
      </p:sp>
    </p:spTree>
    <p:extLst>
      <p:ext uri="{BB962C8B-B14F-4D97-AF65-F5344CB8AC3E}">
        <p14:creationId xmlns:p14="http://schemas.microsoft.com/office/powerpoint/2010/main" val="2270188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76200"/>
            <a:ext cx="4792057" cy="492443"/>
          </a:xfrm>
          <a:prstGeom prst="rect">
            <a:avLst/>
          </a:prstGeom>
        </p:spPr>
        <p:txBody>
          <a:bodyPr wrap="square">
            <a:spAutoFit/>
          </a:bodyPr>
          <a:lstStyle/>
          <a:p>
            <a:pPr algn="just"/>
            <a:r>
              <a:rPr lang="en-US" altLang="en-US" sz="2600" dirty="0" err="1">
                <a:solidFill>
                  <a:srgbClr val="FF0000"/>
                </a:solidFill>
                <a:latin typeface="Times New Roman" pitchFamily="18" charset="0"/>
                <a:cs typeface="Times New Roman" pitchFamily="18" charset="0"/>
              </a:rPr>
              <a:t>Apriori</a:t>
            </a:r>
            <a:r>
              <a:rPr lang="en-US" altLang="en-US" sz="2600" dirty="0">
                <a:solidFill>
                  <a:srgbClr val="FF0000"/>
                </a:solidFill>
                <a:latin typeface="Times New Roman" pitchFamily="18" charset="0"/>
                <a:cs typeface="Times New Roman" pitchFamily="18" charset="0"/>
              </a:rPr>
              <a:t> Algorithm</a:t>
            </a:r>
            <a:endParaRPr lang="en-IN" sz="2600" dirty="0">
              <a:solidFill>
                <a:srgbClr val="FF0000"/>
              </a:solidFill>
              <a:latin typeface="Times New Roman" pitchFamily="18" charset="0"/>
              <a:cs typeface="Times New Roman" pitchFamily="18" charset="0"/>
            </a:endParaRPr>
          </a:p>
        </p:txBody>
      </p:sp>
      <p:sp>
        <p:nvSpPr>
          <p:cNvPr id="3" name="Rectangle 3"/>
          <p:cNvSpPr txBox="1">
            <a:spLocks noChangeArrowheads="1"/>
          </p:cNvSpPr>
          <p:nvPr/>
        </p:nvSpPr>
        <p:spPr>
          <a:xfrm>
            <a:off x="457200" y="1066800"/>
            <a:ext cx="8229600" cy="5059363"/>
          </a:xfrm>
          <a:prstGeom prst="rect">
            <a:avLst/>
          </a:prstGeom>
        </p:spPr>
        <p:txBody>
          <a:bodyPr>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nSpc>
                <a:spcPct val="90000"/>
              </a:lnSpc>
            </a:pPr>
            <a:r>
              <a:rPr lang="en-US" altLang="en-US" sz="2400" dirty="0" err="1">
                <a:latin typeface="Times New Roman" pitchFamily="18" charset="0"/>
                <a:cs typeface="Times New Roman" pitchFamily="18" charset="0"/>
              </a:rPr>
              <a:t>F</a:t>
            </a:r>
            <a:r>
              <a:rPr lang="en-US" altLang="en-US" sz="2400" baseline="-25000" dirty="0" err="1">
                <a:latin typeface="Times New Roman" pitchFamily="18" charset="0"/>
                <a:cs typeface="Times New Roman" pitchFamily="18" charset="0"/>
              </a:rPr>
              <a:t>k</a:t>
            </a:r>
            <a:r>
              <a:rPr lang="en-US" altLang="en-US" sz="2400" dirty="0">
                <a:latin typeface="Times New Roman" pitchFamily="18" charset="0"/>
                <a:cs typeface="Times New Roman" pitchFamily="18" charset="0"/>
              </a:rPr>
              <a:t>: frequent k-</a:t>
            </a:r>
            <a:r>
              <a:rPr lang="en-US" altLang="en-US" sz="2400" dirty="0" err="1">
                <a:latin typeface="Times New Roman" pitchFamily="18" charset="0"/>
                <a:cs typeface="Times New Roman" pitchFamily="18" charset="0"/>
              </a:rPr>
              <a:t>itemsets</a:t>
            </a:r>
            <a:endParaRPr lang="en-US" altLang="en-US" sz="2400" dirty="0">
              <a:latin typeface="Times New Roman" pitchFamily="18" charset="0"/>
              <a:cs typeface="Times New Roman" pitchFamily="18" charset="0"/>
            </a:endParaRPr>
          </a:p>
          <a:p>
            <a:pPr lvl="1">
              <a:lnSpc>
                <a:spcPct val="90000"/>
              </a:lnSpc>
            </a:pPr>
            <a:r>
              <a:rPr lang="en-US" altLang="en-US" sz="2400" dirty="0" err="1">
                <a:latin typeface="Times New Roman" pitchFamily="18" charset="0"/>
                <a:cs typeface="Times New Roman" pitchFamily="18" charset="0"/>
              </a:rPr>
              <a:t>L</a:t>
            </a:r>
            <a:r>
              <a:rPr lang="en-US" altLang="en-US" sz="2400" baseline="-25000" dirty="0" err="1">
                <a:latin typeface="Times New Roman" pitchFamily="18" charset="0"/>
                <a:cs typeface="Times New Roman" pitchFamily="18" charset="0"/>
              </a:rPr>
              <a:t>k</a:t>
            </a:r>
            <a:r>
              <a:rPr lang="en-US" altLang="en-US" sz="2400" dirty="0">
                <a:latin typeface="Times New Roman" pitchFamily="18" charset="0"/>
                <a:cs typeface="Times New Roman" pitchFamily="18" charset="0"/>
              </a:rPr>
              <a:t>: candidate k-</a:t>
            </a:r>
            <a:r>
              <a:rPr lang="en-US" altLang="en-US" sz="2400" dirty="0" err="1">
                <a:latin typeface="Times New Roman" pitchFamily="18" charset="0"/>
                <a:cs typeface="Times New Roman" pitchFamily="18" charset="0"/>
              </a:rPr>
              <a:t>itemsets</a:t>
            </a:r>
            <a:endParaRPr lang="en-US" altLang="en-US" sz="2400" dirty="0">
              <a:latin typeface="Times New Roman" pitchFamily="18" charset="0"/>
              <a:cs typeface="Times New Roman" pitchFamily="18" charset="0"/>
            </a:endParaRPr>
          </a:p>
          <a:p>
            <a:pPr marL="1543050" lvl="3" indent="-285750">
              <a:lnSpc>
                <a:spcPct val="90000"/>
              </a:lnSpc>
            </a:pPr>
            <a:endParaRPr lang="en-US" altLang="en-US" sz="2400" dirty="0">
              <a:latin typeface="Times New Roman" pitchFamily="18" charset="0"/>
              <a:cs typeface="Times New Roman" pitchFamily="18" charset="0"/>
            </a:endParaRPr>
          </a:p>
          <a:p>
            <a:pPr marL="234950" indent="-285750">
              <a:lnSpc>
                <a:spcPct val="90000"/>
              </a:lnSpc>
            </a:pPr>
            <a:r>
              <a:rPr lang="en-US" altLang="en-US" sz="2400" dirty="0">
                <a:latin typeface="Times New Roman" pitchFamily="18" charset="0"/>
                <a:cs typeface="Times New Roman" pitchFamily="18" charset="0"/>
              </a:rPr>
              <a:t>Algorithm</a:t>
            </a:r>
          </a:p>
          <a:p>
            <a:pPr lvl="1">
              <a:lnSpc>
                <a:spcPct val="90000"/>
              </a:lnSpc>
            </a:pPr>
            <a:r>
              <a:rPr lang="en-US" altLang="en-US" sz="2400" dirty="0">
                <a:latin typeface="Times New Roman" pitchFamily="18" charset="0"/>
                <a:cs typeface="Times New Roman" pitchFamily="18" charset="0"/>
              </a:rPr>
              <a:t>Let k=1</a:t>
            </a:r>
          </a:p>
          <a:p>
            <a:pPr lvl="1">
              <a:lnSpc>
                <a:spcPct val="90000"/>
              </a:lnSpc>
            </a:pPr>
            <a:r>
              <a:rPr lang="en-US" altLang="en-US" sz="2400" dirty="0">
                <a:latin typeface="Times New Roman" pitchFamily="18" charset="0"/>
                <a:cs typeface="Times New Roman" pitchFamily="18" charset="0"/>
              </a:rPr>
              <a:t>Generate F</a:t>
            </a:r>
            <a:r>
              <a:rPr lang="en-US" altLang="en-US" sz="2400" baseline="-25000" dirty="0">
                <a:latin typeface="Times New Roman" pitchFamily="18" charset="0"/>
                <a:cs typeface="Times New Roman" pitchFamily="18" charset="0"/>
              </a:rPr>
              <a:t>1</a:t>
            </a:r>
            <a:r>
              <a:rPr lang="en-US" altLang="en-US" sz="2400" dirty="0">
                <a:latin typeface="Times New Roman" pitchFamily="18" charset="0"/>
                <a:cs typeface="Times New Roman" pitchFamily="18" charset="0"/>
              </a:rPr>
              <a:t> = {frequent 1-itemsets}</a:t>
            </a:r>
          </a:p>
          <a:p>
            <a:pPr lvl="1">
              <a:lnSpc>
                <a:spcPct val="90000"/>
              </a:lnSpc>
            </a:pPr>
            <a:r>
              <a:rPr lang="en-US" altLang="en-US" sz="2400" dirty="0">
                <a:latin typeface="Times New Roman" pitchFamily="18" charset="0"/>
                <a:cs typeface="Times New Roman" pitchFamily="18" charset="0"/>
              </a:rPr>
              <a:t>Repeat until </a:t>
            </a:r>
            <a:r>
              <a:rPr lang="en-US" altLang="en-US" sz="2400" dirty="0" err="1">
                <a:latin typeface="Times New Roman" pitchFamily="18" charset="0"/>
                <a:cs typeface="Times New Roman" pitchFamily="18" charset="0"/>
              </a:rPr>
              <a:t>F</a:t>
            </a:r>
            <a:r>
              <a:rPr lang="en-US" altLang="en-US" sz="2400" baseline="-25000" dirty="0" err="1">
                <a:latin typeface="Times New Roman" pitchFamily="18" charset="0"/>
                <a:cs typeface="Times New Roman" pitchFamily="18" charset="0"/>
              </a:rPr>
              <a:t>k</a:t>
            </a:r>
            <a:r>
              <a:rPr lang="en-US" altLang="en-US" sz="2400" dirty="0">
                <a:latin typeface="Times New Roman" pitchFamily="18" charset="0"/>
                <a:cs typeface="Times New Roman" pitchFamily="18" charset="0"/>
              </a:rPr>
              <a:t> is empty</a:t>
            </a:r>
          </a:p>
          <a:p>
            <a:pPr lvl="2">
              <a:lnSpc>
                <a:spcPct val="90000"/>
              </a:lnSpc>
            </a:pPr>
            <a:r>
              <a:rPr lang="en-US" altLang="en-US" b="1" dirty="0">
                <a:latin typeface="Times New Roman" pitchFamily="18" charset="0"/>
                <a:cs typeface="Times New Roman" pitchFamily="18" charset="0"/>
              </a:rPr>
              <a:t>Candidate Generation</a:t>
            </a:r>
            <a:r>
              <a:rPr lang="en-US" altLang="en-US" dirty="0">
                <a:latin typeface="Times New Roman" pitchFamily="18" charset="0"/>
                <a:cs typeface="Times New Roman" pitchFamily="18" charset="0"/>
              </a:rPr>
              <a:t>: Generate L</a:t>
            </a:r>
            <a:r>
              <a:rPr lang="en-US" altLang="en-US" baseline="-25000" dirty="0">
                <a:latin typeface="Times New Roman" pitchFamily="18" charset="0"/>
                <a:cs typeface="Times New Roman" pitchFamily="18" charset="0"/>
              </a:rPr>
              <a:t>k+1 </a:t>
            </a:r>
            <a:r>
              <a:rPr lang="en-US" altLang="en-US" dirty="0">
                <a:latin typeface="Times New Roman" pitchFamily="18" charset="0"/>
                <a:cs typeface="Times New Roman" pitchFamily="18" charset="0"/>
              </a:rPr>
              <a:t>from </a:t>
            </a:r>
            <a:r>
              <a:rPr lang="en-US" altLang="en-US" dirty="0" err="1">
                <a:latin typeface="Times New Roman" pitchFamily="18" charset="0"/>
                <a:cs typeface="Times New Roman" pitchFamily="18" charset="0"/>
              </a:rPr>
              <a:t>F</a:t>
            </a:r>
            <a:r>
              <a:rPr lang="en-US" altLang="en-US" baseline="-25000" dirty="0" err="1">
                <a:latin typeface="Times New Roman" pitchFamily="18" charset="0"/>
                <a:cs typeface="Times New Roman" pitchFamily="18" charset="0"/>
              </a:rPr>
              <a:t>k</a:t>
            </a:r>
            <a:endParaRPr lang="en-US" altLang="en-US" baseline="-25000" dirty="0">
              <a:latin typeface="Times New Roman" pitchFamily="18" charset="0"/>
              <a:cs typeface="Times New Roman" pitchFamily="18" charset="0"/>
            </a:endParaRPr>
          </a:p>
          <a:p>
            <a:pPr lvl="2">
              <a:lnSpc>
                <a:spcPct val="90000"/>
              </a:lnSpc>
            </a:pPr>
            <a:r>
              <a:rPr lang="en-US" altLang="en-US" b="1" dirty="0">
                <a:latin typeface="Times New Roman" pitchFamily="18" charset="0"/>
                <a:cs typeface="Times New Roman" pitchFamily="18" charset="0"/>
              </a:rPr>
              <a:t>Candidate Pruning</a:t>
            </a:r>
            <a:r>
              <a:rPr lang="en-US" altLang="en-US" dirty="0">
                <a:latin typeface="Times New Roman" pitchFamily="18" charset="0"/>
                <a:cs typeface="Times New Roman" pitchFamily="18" charset="0"/>
              </a:rPr>
              <a:t>: Prune candidate </a:t>
            </a:r>
            <a:r>
              <a:rPr lang="en-US" altLang="en-US" dirty="0" err="1">
                <a:latin typeface="Times New Roman" pitchFamily="18" charset="0"/>
                <a:cs typeface="Times New Roman" pitchFamily="18" charset="0"/>
              </a:rPr>
              <a:t>itemsets</a:t>
            </a:r>
            <a:r>
              <a:rPr lang="en-US" altLang="en-US" dirty="0">
                <a:latin typeface="Times New Roman" pitchFamily="18" charset="0"/>
                <a:cs typeface="Times New Roman" pitchFamily="18" charset="0"/>
              </a:rPr>
              <a:t> in L</a:t>
            </a:r>
            <a:r>
              <a:rPr lang="en-US" altLang="en-US" baseline="-25000" dirty="0">
                <a:latin typeface="Times New Roman" pitchFamily="18" charset="0"/>
                <a:cs typeface="Times New Roman" pitchFamily="18" charset="0"/>
              </a:rPr>
              <a:t>k+1 </a:t>
            </a:r>
            <a:r>
              <a:rPr lang="en-US" altLang="en-US" dirty="0">
                <a:latin typeface="Times New Roman" pitchFamily="18" charset="0"/>
                <a:cs typeface="Times New Roman" pitchFamily="18" charset="0"/>
              </a:rPr>
              <a:t>containing subsets of length k that are infrequent </a:t>
            </a:r>
          </a:p>
          <a:p>
            <a:pPr lvl="2">
              <a:lnSpc>
                <a:spcPct val="90000"/>
              </a:lnSpc>
            </a:pPr>
            <a:r>
              <a:rPr lang="en-US" altLang="en-US" b="1" dirty="0">
                <a:latin typeface="Times New Roman" pitchFamily="18" charset="0"/>
                <a:cs typeface="Times New Roman" pitchFamily="18" charset="0"/>
              </a:rPr>
              <a:t>Support Counting</a:t>
            </a:r>
            <a:r>
              <a:rPr lang="en-US" altLang="en-US" dirty="0">
                <a:latin typeface="Times New Roman" pitchFamily="18" charset="0"/>
                <a:cs typeface="Times New Roman" pitchFamily="18" charset="0"/>
              </a:rPr>
              <a:t>: Count the support of each candidate in L</a:t>
            </a:r>
            <a:r>
              <a:rPr lang="en-US" altLang="en-US" baseline="-25000" dirty="0">
                <a:latin typeface="Times New Roman" pitchFamily="18" charset="0"/>
                <a:cs typeface="Times New Roman" pitchFamily="18" charset="0"/>
              </a:rPr>
              <a:t>k+1 </a:t>
            </a:r>
            <a:r>
              <a:rPr lang="en-US" altLang="en-US" dirty="0">
                <a:latin typeface="Times New Roman" pitchFamily="18" charset="0"/>
                <a:cs typeface="Times New Roman" pitchFamily="18" charset="0"/>
              </a:rPr>
              <a:t>by scanning the DB</a:t>
            </a:r>
          </a:p>
          <a:p>
            <a:pPr lvl="2">
              <a:lnSpc>
                <a:spcPct val="90000"/>
              </a:lnSpc>
            </a:pPr>
            <a:r>
              <a:rPr lang="en-US" altLang="en-US" b="1" dirty="0">
                <a:latin typeface="Times New Roman" pitchFamily="18" charset="0"/>
                <a:cs typeface="Times New Roman" pitchFamily="18" charset="0"/>
              </a:rPr>
              <a:t>Candidate Elimination</a:t>
            </a:r>
            <a:r>
              <a:rPr lang="en-US" altLang="en-US" dirty="0">
                <a:latin typeface="Times New Roman" pitchFamily="18" charset="0"/>
                <a:cs typeface="Times New Roman" pitchFamily="18" charset="0"/>
              </a:rPr>
              <a:t>: Eliminate candidates in L</a:t>
            </a:r>
            <a:r>
              <a:rPr lang="en-US" altLang="en-US" baseline="-25000" dirty="0">
                <a:latin typeface="Times New Roman" pitchFamily="18" charset="0"/>
                <a:cs typeface="Times New Roman" pitchFamily="18" charset="0"/>
              </a:rPr>
              <a:t>k+1 </a:t>
            </a:r>
            <a:r>
              <a:rPr lang="en-US" altLang="en-US" dirty="0">
                <a:latin typeface="Times New Roman" pitchFamily="18" charset="0"/>
                <a:cs typeface="Times New Roman" pitchFamily="18" charset="0"/>
              </a:rPr>
              <a:t>that are infrequent, leaving only those that are frequent =&gt; F</a:t>
            </a:r>
            <a:r>
              <a:rPr lang="en-US" altLang="en-US" baseline="-25000" dirty="0">
                <a:latin typeface="Times New Roman" pitchFamily="18" charset="0"/>
                <a:cs typeface="Times New Roman" pitchFamily="18" charset="0"/>
              </a:rPr>
              <a:t>k+1</a:t>
            </a:r>
          </a:p>
        </p:txBody>
      </p:sp>
    </p:spTree>
    <p:extLst>
      <p:ext uri="{BB962C8B-B14F-4D97-AF65-F5344CB8AC3E}">
        <p14:creationId xmlns:p14="http://schemas.microsoft.com/office/powerpoint/2010/main" val="449723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458200" cy="5863913"/>
          </a:xfrm>
          <a:prstGeom prst="rect">
            <a:avLst/>
          </a:prstGeom>
        </p:spPr>
        <p:txBody>
          <a:bodyPr wrap="square">
            <a:spAutoFit/>
          </a:bodyPr>
          <a:lstStyle/>
          <a:p>
            <a:pPr algn="just"/>
            <a:r>
              <a:rPr lang="en-IN" sz="2800" dirty="0">
                <a:solidFill>
                  <a:srgbClr val="FF0000"/>
                </a:solidFill>
                <a:latin typeface="Times New Roman" pitchFamily="18" charset="0"/>
                <a:cs typeface="Times New Roman" pitchFamily="18" charset="0"/>
              </a:rPr>
              <a:t>Support counting:</a:t>
            </a:r>
          </a:p>
          <a:p>
            <a:pPr algn="just">
              <a:lnSpc>
                <a:spcPct val="150000"/>
              </a:lnSpc>
              <a:buFont typeface="Wingdings" pitchFamily="2" charset="2"/>
              <a:buChar char="Ø"/>
            </a:pPr>
            <a:r>
              <a:rPr lang="en-IN" sz="2200" dirty="0">
                <a:latin typeface="Times New Roman" pitchFamily="18" charset="0"/>
                <a:cs typeface="Times New Roman" pitchFamily="18" charset="0"/>
              </a:rPr>
              <a:t>Support counting is the process of determining the frequency of occurrence for every  candidate item set that survives the candidate pruning step of the </a:t>
            </a:r>
            <a:r>
              <a:rPr lang="en-IN" sz="2200" dirty="0" err="1">
                <a:latin typeface="Times New Roman" pitchFamily="18" charset="0"/>
                <a:cs typeface="Times New Roman" pitchFamily="18" charset="0"/>
              </a:rPr>
              <a:t>Apriori</a:t>
            </a:r>
            <a:r>
              <a:rPr lang="en-IN" sz="2200" dirty="0">
                <a:latin typeface="Times New Roman" pitchFamily="18" charset="0"/>
                <a:cs typeface="Times New Roman" pitchFamily="18" charset="0"/>
              </a:rPr>
              <a:t>-gen function.</a:t>
            </a:r>
          </a:p>
          <a:p>
            <a:pPr algn="just">
              <a:lnSpc>
                <a:spcPct val="150000"/>
              </a:lnSpc>
              <a:buFont typeface="Wingdings" pitchFamily="2" charset="2"/>
              <a:buChar char="Ø"/>
            </a:pPr>
            <a:r>
              <a:rPr lang="en-IN" b="1" dirty="0"/>
              <a:t>How many transactions contain each candidate?</a:t>
            </a:r>
            <a:endParaRPr lang="en-IN" dirty="0"/>
          </a:p>
          <a:p>
            <a:pPr algn="just">
              <a:lnSpc>
                <a:spcPct val="150000"/>
              </a:lnSpc>
              <a:buFont typeface="Wingdings" pitchFamily="2" charset="2"/>
              <a:buChar char="Ø"/>
            </a:pPr>
            <a:r>
              <a:rPr lang="en-IN" b="1" dirty="0"/>
              <a:t>Support count = Number of transactions containing the itemset</a:t>
            </a:r>
            <a:endParaRPr lang="en-IN" sz="2200" dirty="0">
              <a:latin typeface="Times New Roman" pitchFamily="18" charset="0"/>
              <a:cs typeface="Times New Roman" pitchFamily="18" charset="0"/>
            </a:endParaRPr>
          </a:p>
          <a:p>
            <a:pPr algn="just">
              <a:lnSpc>
                <a:spcPct val="150000"/>
              </a:lnSpc>
              <a:buFont typeface="Wingdings" pitchFamily="2" charset="2"/>
              <a:buChar char="Ø"/>
            </a:pPr>
            <a:r>
              <a:rPr lang="en-IN" sz="2200" dirty="0">
                <a:latin typeface="Times New Roman" pitchFamily="18" charset="0"/>
                <a:cs typeface="Times New Roman" pitchFamily="18" charset="0"/>
              </a:rPr>
              <a:t>One approach for doing this is to compare each transaction against every candidate item set and to update the support counts of candidates contained in the transaction.</a:t>
            </a:r>
          </a:p>
          <a:p>
            <a:pPr algn="just">
              <a:lnSpc>
                <a:spcPct val="150000"/>
              </a:lnSpc>
              <a:buFont typeface="Wingdings" pitchFamily="2" charset="2"/>
              <a:buChar char="Ø"/>
            </a:pPr>
            <a:r>
              <a:rPr lang="en-IN" sz="2200" dirty="0">
                <a:latin typeface="Times New Roman" pitchFamily="18" charset="0"/>
                <a:cs typeface="Times New Roman" pitchFamily="18" charset="0"/>
              </a:rPr>
              <a:t>An alternative approach is to enumerate the item sets contained in each transaction and use them to update the support counts of their respective candidate item sets.</a:t>
            </a:r>
          </a:p>
        </p:txBody>
      </p:sp>
    </p:spTree>
    <p:extLst>
      <p:ext uri="{BB962C8B-B14F-4D97-AF65-F5344CB8AC3E}">
        <p14:creationId xmlns:p14="http://schemas.microsoft.com/office/powerpoint/2010/main" val="16066481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610600" cy="954107"/>
          </a:xfrm>
          <a:prstGeom prst="rect">
            <a:avLst/>
          </a:prstGeom>
        </p:spPr>
        <p:txBody>
          <a:bodyPr wrap="square">
            <a:spAutoFit/>
          </a:bodyPr>
          <a:lstStyle/>
          <a:p>
            <a:r>
              <a:rPr lang="en-US" sz="2800" dirty="0">
                <a:solidFill>
                  <a:srgbClr val="00B050"/>
                </a:solidFill>
                <a:latin typeface="Times New Roman" pitchFamily="18" charset="0"/>
                <a:cs typeface="Times New Roman" pitchFamily="18" charset="0"/>
              </a:rPr>
              <a:t>Example:</a:t>
            </a:r>
          </a:p>
          <a:p>
            <a:endParaRPr lang="en-IN" sz="2800" dirty="0">
              <a:solidFill>
                <a:srgbClr val="00B050"/>
              </a:solidFill>
              <a:latin typeface="Times New Roman" pitchFamily="18" charset="0"/>
              <a:cs typeface="Times New Roman" pitchFamily="18" charset="0"/>
            </a:endParaRPr>
          </a:p>
        </p:txBody>
      </p:sp>
      <p:pic>
        <p:nvPicPr>
          <p:cNvPr id="3" name="Picture 2"/>
          <p:cNvPicPr>
            <a:picLocks noChangeAspect="1" noChangeArrowheads="1"/>
          </p:cNvPicPr>
          <p:nvPr/>
        </p:nvPicPr>
        <p:blipFill>
          <a:blip r:embed="rId2"/>
          <a:srcRect/>
          <a:stretch>
            <a:fillRect/>
          </a:stretch>
        </p:blipFill>
        <p:spPr bwMode="auto">
          <a:xfrm>
            <a:off x="285720" y="798852"/>
            <a:ext cx="8572560" cy="5844858"/>
          </a:xfrm>
          <a:prstGeom prst="rect">
            <a:avLst/>
          </a:prstGeom>
          <a:noFill/>
          <a:ln w="9525">
            <a:noFill/>
            <a:miter lim="800000"/>
            <a:headEnd/>
            <a:tailEnd/>
          </a:ln>
          <a:effectLst/>
        </p:spPr>
      </p:pic>
    </p:spTree>
    <p:extLst>
      <p:ext uri="{BB962C8B-B14F-4D97-AF65-F5344CB8AC3E}">
        <p14:creationId xmlns:p14="http://schemas.microsoft.com/office/powerpoint/2010/main" val="1993091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28600"/>
            <a:ext cx="8534400" cy="4093428"/>
          </a:xfrm>
          <a:prstGeom prst="rect">
            <a:avLst/>
          </a:prstGeom>
        </p:spPr>
        <p:txBody>
          <a:bodyPr wrap="square">
            <a:spAutoFit/>
          </a:bodyPr>
          <a:lstStyle/>
          <a:p>
            <a:r>
              <a:rPr lang="en-IN" sz="2800" dirty="0">
                <a:solidFill>
                  <a:srgbClr val="FF0000"/>
                </a:solidFill>
                <a:latin typeface="Times New Roman" pitchFamily="18" charset="0"/>
                <a:cs typeface="Times New Roman" pitchFamily="18" charset="0"/>
              </a:rPr>
              <a:t>Support Counting Using a Hash Tree:</a:t>
            </a:r>
          </a:p>
          <a:p>
            <a:endParaRPr lang="en-IN" sz="2800" dirty="0">
              <a:solidFill>
                <a:srgbClr val="FF0000"/>
              </a:solidFill>
              <a:latin typeface="Times New Roman" pitchFamily="18" charset="0"/>
              <a:cs typeface="Times New Roman" pitchFamily="18" charset="0"/>
            </a:endParaRPr>
          </a:p>
          <a:p>
            <a:pPr algn="just"/>
            <a:r>
              <a:rPr lang="en-IN" sz="2200" dirty="0">
                <a:latin typeface="Bookman Old Style" pitchFamily="18" charset="0"/>
              </a:rPr>
              <a:t>	In the </a:t>
            </a:r>
            <a:r>
              <a:rPr lang="en-IN" sz="2200" dirty="0" err="1">
                <a:latin typeface="Bookman Old Style" pitchFamily="18" charset="0"/>
              </a:rPr>
              <a:t>Apriori</a:t>
            </a:r>
            <a:r>
              <a:rPr lang="en-IN" sz="2200" dirty="0">
                <a:latin typeface="Bookman Old Style" pitchFamily="18" charset="0"/>
              </a:rPr>
              <a:t>, algorithm, candidate item sets are partitioned into different buckets and stored in a hash tree. </a:t>
            </a:r>
          </a:p>
          <a:p>
            <a:pPr algn="just"/>
            <a:r>
              <a:rPr lang="en-IN" sz="2200" dirty="0">
                <a:latin typeface="Bookman Old Style" pitchFamily="18" charset="0"/>
              </a:rPr>
              <a:t>During support counting, item sets contained in each transaction are also hashed into their appropriate buckets.</a:t>
            </a:r>
          </a:p>
          <a:p>
            <a:pPr algn="just"/>
            <a:r>
              <a:rPr lang="en-IN" sz="2200" dirty="0">
                <a:latin typeface="Bookman Old Style" pitchFamily="18" charset="0"/>
              </a:rPr>
              <a:t> </a:t>
            </a:r>
          </a:p>
          <a:p>
            <a:pPr algn="just"/>
            <a:r>
              <a:rPr lang="en-IN" sz="2200" dirty="0">
                <a:latin typeface="Bookman Old Style" pitchFamily="18" charset="0"/>
              </a:rPr>
              <a:t>	Instead of comparing each item set in the transaction with every candidate item set, it is matched only against candidate item sets that belong to the same bucket</a:t>
            </a:r>
          </a:p>
          <a:p>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015863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0" y="285729"/>
            <a:ext cx="9144000" cy="6572272"/>
          </a:xfrm>
          <a:prstGeom prst="rect">
            <a:avLst/>
          </a:prstGeom>
          <a:noFill/>
          <a:ln w="9525">
            <a:noFill/>
            <a:miter lim="800000"/>
            <a:headEnd/>
            <a:tailEnd/>
          </a:ln>
          <a:effectLst/>
        </p:spPr>
      </p:pic>
    </p:spTree>
    <p:extLst>
      <p:ext uri="{BB962C8B-B14F-4D97-AF65-F5344CB8AC3E}">
        <p14:creationId xmlns:p14="http://schemas.microsoft.com/office/powerpoint/2010/main" val="2272494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04800"/>
            <a:ext cx="8229600" cy="1077218"/>
          </a:xfrm>
          <a:prstGeom prst="rect">
            <a:avLst/>
          </a:prstGeom>
        </p:spPr>
        <p:txBody>
          <a:bodyPr wrap="square">
            <a:spAutoFit/>
          </a:bodyPr>
          <a:lstStyle/>
          <a:p>
            <a:pPr algn="just"/>
            <a:r>
              <a:rPr lang="en-US" altLang="en-US" sz="3200" dirty="0">
                <a:solidFill>
                  <a:srgbClr val="FF0000"/>
                </a:solidFill>
                <a:latin typeface="Times New Roman" pitchFamily="18" charset="0"/>
                <a:cs typeface="Times New Roman" pitchFamily="18" charset="0"/>
              </a:rPr>
              <a:t>Support Counting of Candidate Item sets</a:t>
            </a:r>
          </a:p>
          <a:p>
            <a:pPr algn="just"/>
            <a:endParaRPr lang="en-IN" sz="3200" dirty="0">
              <a:latin typeface="Times New Roman" pitchFamily="18" charset="0"/>
              <a:cs typeface="Times New Roman" pitchFamily="18" charset="0"/>
            </a:endParaRPr>
          </a:p>
        </p:txBody>
      </p:sp>
      <p:sp>
        <p:nvSpPr>
          <p:cNvPr id="3" name="Rectangle 3"/>
          <p:cNvSpPr txBox="1">
            <a:spLocks noChangeArrowheads="1"/>
          </p:cNvSpPr>
          <p:nvPr/>
        </p:nvSpPr>
        <p:spPr>
          <a:xfrm>
            <a:off x="381001" y="990600"/>
            <a:ext cx="8348662" cy="2895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90000"/>
              </a:lnSpc>
            </a:pPr>
            <a:r>
              <a:rPr lang="en-US" altLang="en-US" sz="2200" dirty="0">
                <a:latin typeface="Times New Roman" pitchFamily="18" charset="0"/>
                <a:cs typeface="Times New Roman" pitchFamily="18" charset="0"/>
              </a:rPr>
              <a:t>To reduce number of comparisons, store the candidate item sets in a hash structure</a:t>
            </a:r>
          </a:p>
          <a:p>
            <a:pPr lvl="1" algn="just">
              <a:lnSpc>
                <a:spcPct val="90000"/>
              </a:lnSpc>
            </a:pPr>
            <a:r>
              <a:rPr lang="en-US" altLang="en-US" sz="2200" dirty="0">
                <a:latin typeface="Times New Roman" pitchFamily="18" charset="0"/>
                <a:cs typeface="Times New Roman" pitchFamily="18" charset="0"/>
              </a:rPr>
              <a:t>Instead of matching each transaction against every candidate, match it against candidates contained in the hashed buckets. </a:t>
            </a:r>
          </a:p>
          <a:p>
            <a:pPr marL="457200" lvl="1" indent="0" algn="just">
              <a:lnSpc>
                <a:spcPct val="90000"/>
              </a:lnSpc>
              <a:buNone/>
            </a:pPr>
            <a:endParaRPr lang="en-US" altLang="en-US" sz="2200" dirty="0">
              <a:latin typeface="Times New Roman" pitchFamily="18" charset="0"/>
              <a:cs typeface="Times New Roman"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2236690979"/>
              </p:ext>
            </p:extLst>
          </p:nvPr>
        </p:nvGraphicFramePr>
        <p:xfrm>
          <a:off x="1066800" y="2895600"/>
          <a:ext cx="7162800" cy="3390900"/>
        </p:xfrm>
        <a:graphic>
          <a:graphicData uri="http://schemas.openxmlformats.org/presentationml/2006/ole">
            <mc:AlternateContent xmlns:mc="http://schemas.openxmlformats.org/markup-compatibility/2006">
              <mc:Choice xmlns:v="urn:schemas-microsoft-com:vml" Requires="v">
                <p:oleObj spid="_x0000_s4293" name="Visio" r:id="rId4" imgW="7643978" imgH="3191008" progId="">
                  <p:embed/>
                </p:oleObj>
              </mc:Choice>
              <mc:Fallback>
                <p:oleObj name="Visio" r:id="rId4" imgW="7643978" imgH="3191008"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2895600"/>
                        <a:ext cx="7162800" cy="33909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55082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0"/>
            <a:ext cx="8610600" cy="4247317"/>
          </a:xfrm>
          <a:prstGeom prst="rect">
            <a:avLst/>
          </a:prstGeom>
        </p:spPr>
        <p:txBody>
          <a:bodyPr wrap="square">
            <a:spAutoFit/>
          </a:bodyPr>
          <a:lstStyle/>
          <a:p>
            <a:pPr algn="just"/>
            <a:r>
              <a:rPr lang="en-IN" sz="2800" dirty="0">
                <a:solidFill>
                  <a:srgbClr val="FF0000"/>
                </a:solidFill>
                <a:latin typeface="Times New Roman" pitchFamily="18" charset="0"/>
                <a:cs typeface="Times New Roman" pitchFamily="18" charset="0"/>
              </a:rPr>
              <a:t>Support Counting Using a Hash Tree</a:t>
            </a:r>
            <a:endParaRPr lang="en-IN" sz="2200" dirty="0">
              <a:solidFill>
                <a:srgbClr val="FF0000"/>
              </a:solidFill>
              <a:latin typeface="Times New Roman" pitchFamily="18" charset="0"/>
              <a:cs typeface="Times New Roman" pitchFamily="18" charset="0"/>
            </a:endParaRPr>
          </a:p>
          <a:p>
            <a:pPr algn="just">
              <a:buFont typeface="Wingdings" pitchFamily="2" charset="2"/>
              <a:buChar char="Ø"/>
            </a:pPr>
            <a:r>
              <a:rPr lang="en-IN" sz="2200" dirty="0">
                <a:latin typeface="Times New Roman" pitchFamily="18" charset="0"/>
                <a:cs typeface="Times New Roman" pitchFamily="18" charset="0"/>
              </a:rPr>
              <a:t>Hash tree structure. Each internal node of the tree uses the following hash function, h(p) : p mod 3, to determine which branch of the current node</a:t>
            </a:r>
          </a:p>
          <a:p>
            <a:pPr algn="just">
              <a:buFont typeface="Wingdings" pitchFamily="2" charset="2"/>
              <a:buChar char="Ø"/>
            </a:pPr>
            <a:r>
              <a:rPr lang="en-IN" sz="2200" dirty="0">
                <a:latin typeface="Times New Roman" pitchFamily="18" charset="0"/>
                <a:cs typeface="Times New Roman" pitchFamily="18" charset="0"/>
              </a:rPr>
              <a:t>All candidate item sets are stored at the leaf nodes of the hash tree.</a:t>
            </a:r>
          </a:p>
          <a:p>
            <a:pPr algn="just">
              <a:buFont typeface="Wingdings" pitchFamily="2" charset="2"/>
              <a:buChar char="Ø"/>
            </a:pPr>
            <a:r>
              <a:rPr lang="en-US" sz="2200" dirty="0">
                <a:latin typeface="Times New Roman" pitchFamily="18" charset="0"/>
                <a:cs typeface="Times New Roman" pitchFamily="18" charset="0"/>
              </a:rPr>
              <a:t> </a:t>
            </a:r>
            <a:r>
              <a:rPr lang="en-IN" sz="2200" dirty="0">
                <a:latin typeface="Times New Roman" pitchFamily="18" charset="0"/>
                <a:cs typeface="Times New Roman" pitchFamily="18" charset="0"/>
              </a:rPr>
              <a:t>Consider a transaction, f : {1,2,3,5,6}. </a:t>
            </a:r>
          </a:p>
          <a:p>
            <a:pPr algn="just">
              <a:buFont typeface="Wingdings" pitchFamily="2" charset="2"/>
              <a:buChar char="Ø"/>
            </a:pPr>
            <a:r>
              <a:rPr lang="en-IN" sz="2200" dirty="0">
                <a:latin typeface="Times New Roman" pitchFamily="18" charset="0"/>
                <a:cs typeface="Times New Roman" pitchFamily="18" charset="0"/>
              </a:rPr>
              <a:t>To update the support counts of the candidate item sets, the hash tree must be traversed in such a way that all the leaf nodes containing candidate 3-itemsets belonging to f must be visited at least once.</a:t>
            </a:r>
          </a:p>
          <a:p>
            <a:pPr algn="just">
              <a:buFont typeface="Wingdings" pitchFamily="2" charset="2"/>
              <a:buChar char="Ø"/>
            </a:pPr>
            <a:endParaRPr lang="en-US" sz="2200" dirty="0">
              <a:latin typeface="Times New Roman" pitchFamily="18" charset="0"/>
              <a:cs typeface="Times New Roman" pitchFamily="18" charset="0"/>
            </a:endParaRPr>
          </a:p>
          <a:p>
            <a:pPr algn="just">
              <a:buFont typeface="Wingdings" pitchFamily="2" charset="2"/>
              <a:buChar char="Ø"/>
            </a:pPr>
            <a:endParaRPr lang="en-US" sz="2200" dirty="0">
              <a:latin typeface="Times New Roman" pitchFamily="18" charset="0"/>
              <a:cs typeface="Times New Roman" pitchFamily="18" charset="0"/>
            </a:endParaRPr>
          </a:p>
          <a:p>
            <a:pPr algn="just">
              <a:buFont typeface="Wingdings" pitchFamily="2" charset="2"/>
              <a:buChar char="Ø"/>
            </a:pPr>
            <a:endParaRPr lang="en-IN" sz="2200" dirty="0">
              <a:latin typeface="Times New Roman" pitchFamily="18" charset="0"/>
              <a:cs typeface="Times New Roman" pitchFamily="18" charset="0"/>
            </a:endParaRPr>
          </a:p>
        </p:txBody>
      </p:sp>
      <p:grpSp>
        <p:nvGrpSpPr>
          <p:cNvPr id="3" name="Group 25"/>
          <p:cNvGrpSpPr>
            <a:grpSpLocks/>
          </p:cNvGrpSpPr>
          <p:nvPr/>
        </p:nvGrpSpPr>
        <p:grpSpPr bwMode="auto">
          <a:xfrm>
            <a:off x="2857488" y="3733800"/>
            <a:ext cx="3467112" cy="1551595"/>
            <a:chOff x="144" y="912"/>
            <a:chExt cx="1440" cy="787"/>
          </a:xfrm>
        </p:grpSpPr>
        <p:sp>
          <p:nvSpPr>
            <p:cNvPr id="4" name="Line 26"/>
            <p:cNvSpPr>
              <a:spLocks noChangeShapeType="1"/>
            </p:cNvSpPr>
            <p:nvPr/>
          </p:nvSpPr>
          <p:spPr bwMode="auto">
            <a:xfrm flipH="1">
              <a:off x="480" y="1200"/>
              <a:ext cx="38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 name="Line 27"/>
            <p:cNvSpPr>
              <a:spLocks noChangeShapeType="1"/>
            </p:cNvSpPr>
            <p:nvPr/>
          </p:nvSpPr>
          <p:spPr bwMode="auto">
            <a:xfrm>
              <a:off x="864" y="120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Text Box 28"/>
            <p:cNvSpPr txBox="1">
              <a:spLocks noChangeArrowheads="1"/>
            </p:cNvSpPr>
            <p:nvPr/>
          </p:nvSpPr>
          <p:spPr bwMode="auto">
            <a:xfrm>
              <a:off x="240" y="1200"/>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1,4,7</a:t>
              </a:r>
            </a:p>
          </p:txBody>
        </p:sp>
        <p:sp>
          <p:nvSpPr>
            <p:cNvPr id="7" name="Text Box 29"/>
            <p:cNvSpPr txBox="1">
              <a:spLocks noChangeArrowheads="1"/>
            </p:cNvSpPr>
            <p:nvPr/>
          </p:nvSpPr>
          <p:spPr bwMode="auto">
            <a:xfrm>
              <a:off x="662" y="1449"/>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dirty="0">
                  <a:latin typeface="Times New Roman" pitchFamily="18" charset="0"/>
                </a:rPr>
                <a:t>2,5,8</a:t>
              </a:r>
            </a:p>
          </p:txBody>
        </p:sp>
        <p:sp>
          <p:nvSpPr>
            <p:cNvPr id="8" name="Line 30"/>
            <p:cNvSpPr>
              <a:spLocks noChangeShapeType="1"/>
            </p:cNvSpPr>
            <p:nvPr/>
          </p:nvSpPr>
          <p:spPr bwMode="auto">
            <a:xfrm>
              <a:off x="864" y="1200"/>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Text Box 31"/>
            <p:cNvSpPr txBox="1">
              <a:spLocks noChangeArrowheads="1"/>
            </p:cNvSpPr>
            <p:nvPr/>
          </p:nvSpPr>
          <p:spPr bwMode="auto">
            <a:xfrm>
              <a:off x="998" y="1113"/>
              <a:ext cx="3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dirty="0">
                  <a:latin typeface="Times New Roman" pitchFamily="18" charset="0"/>
                </a:rPr>
                <a:t>36,9</a:t>
              </a:r>
            </a:p>
          </p:txBody>
        </p:sp>
        <p:sp>
          <p:nvSpPr>
            <p:cNvPr id="10" name="Text Box 32"/>
            <p:cNvSpPr txBox="1">
              <a:spLocks noChangeArrowheads="1"/>
            </p:cNvSpPr>
            <p:nvPr/>
          </p:nvSpPr>
          <p:spPr bwMode="auto">
            <a:xfrm>
              <a:off x="336" y="912"/>
              <a:ext cx="10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dirty="0">
                  <a:solidFill>
                    <a:schemeClr val="hlink"/>
                  </a:solidFill>
                  <a:latin typeface="Times New Roman" pitchFamily="18" charset="0"/>
                </a:rPr>
                <a:t>Hash function</a:t>
              </a:r>
            </a:p>
          </p:txBody>
        </p:sp>
        <p:sp>
          <p:nvSpPr>
            <p:cNvPr id="11" name="Rectangle 33"/>
            <p:cNvSpPr>
              <a:spLocks noChangeArrowheads="1"/>
            </p:cNvSpPr>
            <p:nvPr/>
          </p:nvSpPr>
          <p:spPr bwMode="auto">
            <a:xfrm>
              <a:off x="144" y="912"/>
              <a:ext cx="1440" cy="76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grpSp>
    </p:spTree>
    <p:extLst>
      <p:ext uri="{BB962C8B-B14F-4D97-AF65-F5344CB8AC3E}">
        <p14:creationId xmlns:p14="http://schemas.microsoft.com/office/powerpoint/2010/main" val="788879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tretch>
            <a:fillRect/>
          </a:stretch>
        </p:blipFill>
        <p:spPr bwMode="auto">
          <a:xfrm>
            <a:off x="500034" y="228600"/>
            <a:ext cx="7715304" cy="6343672"/>
          </a:xfrm>
          <a:prstGeom prst="rect">
            <a:avLst/>
          </a:prstGeom>
          <a:noFill/>
          <a:ln>
            <a:noFill/>
          </a:ln>
        </p:spPr>
      </p:pic>
    </p:spTree>
    <p:extLst>
      <p:ext uri="{BB962C8B-B14F-4D97-AF65-F5344CB8AC3E}">
        <p14:creationId xmlns:p14="http://schemas.microsoft.com/office/powerpoint/2010/main" val="11166687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tretch>
            <a:fillRect/>
          </a:stretch>
        </p:blipFill>
        <p:spPr bwMode="auto">
          <a:xfrm>
            <a:off x="-80010" y="63532"/>
            <a:ext cx="8286776" cy="6508740"/>
          </a:xfrm>
          <a:prstGeom prst="rect">
            <a:avLst/>
          </a:prstGeom>
          <a:noFill/>
          <a:ln>
            <a:noFill/>
          </a:ln>
        </p:spPr>
      </p:pic>
    </p:spTree>
    <p:extLst>
      <p:ext uri="{BB962C8B-B14F-4D97-AF65-F5344CB8AC3E}">
        <p14:creationId xmlns:p14="http://schemas.microsoft.com/office/powerpoint/2010/main" val="2384971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04800"/>
            <a:ext cx="8458199" cy="954107"/>
          </a:xfrm>
          <a:prstGeom prst="rect">
            <a:avLst/>
          </a:prstGeom>
        </p:spPr>
        <p:txBody>
          <a:bodyPr wrap="square">
            <a:spAutoFit/>
          </a:bodyPr>
          <a:lstStyle/>
          <a:p>
            <a:r>
              <a:rPr lang="en-IN" sz="2800" dirty="0">
                <a:solidFill>
                  <a:srgbClr val="00B050"/>
                </a:solidFill>
                <a:latin typeface="Times New Roman" pitchFamily="18" charset="0"/>
                <a:cs typeface="Times New Roman" pitchFamily="18" charset="0"/>
              </a:rPr>
              <a:t>Rule Generation:</a:t>
            </a:r>
          </a:p>
          <a:p>
            <a:endParaRPr lang="en-IN" sz="2800" dirty="0">
              <a:solidFill>
                <a:srgbClr val="00B050"/>
              </a:solidFill>
              <a:latin typeface="Times New Roman" pitchFamily="18" charset="0"/>
              <a:cs typeface="Times New Roman" pitchFamily="18" charset="0"/>
            </a:endParaRPr>
          </a:p>
        </p:txBody>
      </p:sp>
      <p:sp>
        <p:nvSpPr>
          <p:cNvPr id="3" name="Content Placeholder 2"/>
          <p:cNvSpPr txBox="1">
            <a:spLocks/>
          </p:cNvSpPr>
          <p:nvPr/>
        </p:nvSpPr>
        <p:spPr>
          <a:xfrm>
            <a:off x="533400" y="781854"/>
            <a:ext cx="8153400" cy="3104346"/>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IN" sz="2400" dirty="0">
                <a:latin typeface="Times New Roman" pitchFamily="18" charset="0"/>
                <a:cs typeface="Times New Roman" pitchFamily="18" charset="0"/>
              </a:rPr>
              <a:t>Each frequent k-item set Y  can produce up to 2</a:t>
            </a:r>
            <a:r>
              <a:rPr lang="en-IN" sz="2400" baseline="30000" dirty="0">
                <a:latin typeface="Times New Roman" pitchFamily="18" charset="0"/>
                <a:cs typeface="Times New Roman" pitchFamily="18" charset="0"/>
              </a:rPr>
              <a:t>k</a:t>
            </a:r>
            <a:r>
              <a:rPr lang="en-IN" sz="2400" dirty="0">
                <a:latin typeface="Times New Roman" pitchFamily="18" charset="0"/>
                <a:cs typeface="Times New Roman" pitchFamily="18" charset="0"/>
              </a:rPr>
              <a:t> - 2 association rules</a:t>
            </a:r>
          </a:p>
          <a:p>
            <a:pPr algn="just"/>
            <a:r>
              <a:rPr lang="en-IN" sz="2400" dirty="0">
                <a:latin typeface="Times New Roman" pitchFamily="18" charset="0"/>
                <a:cs typeface="Times New Roman" pitchFamily="18" charset="0"/>
              </a:rPr>
              <a:t> An association rule can be extracted by partitioning the item set Y into two non-empty subsets ,X and Y -X, such that</a:t>
            </a:r>
          </a:p>
          <a:p>
            <a:pPr algn="just">
              <a:buFont typeface="Arial" pitchFamily="34" charset="0"/>
              <a:buNone/>
            </a:pPr>
            <a:r>
              <a:rPr lang="en-IN" sz="2400" dirty="0">
                <a:latin typeface="Times New Roman" pitchFamily="18" charset="0"/>
                <a:cs typeface="Times New Roman" pitchFamily="18" charset="0"/>
              </a:rPr>
              <a:t>    X </a:t>
            </a:r>
            <a:r>
              <a:rPr lang="en-IN" sz="2400" dirty="0">
                <a:latin typeface="Times New Roman" pitchFamily="18" charset="0"/>
                <a:cs typeface="Times New Roman" pitchFamily="18" charset="0"/>
                <a:sym typeface="Wingdings" pitchFamily="2" charset="2"/>
              </a:rPr>
              <a:t></a:t>
            </a:r>
            <a:r>
              <a:rPr lang="en-IN" sz="2400" dirty="0">
                <a:latin typeface="Times New Roman" pitchFamily="18" charset="0"/>
                <a:cs typeface="Times New Roman" pitchFamily="18" charset="0"/>
              </a:rPr>
              <a:t>Y-X satisfies the confidence threshold.</a:t>
            </a:r>
          </a:p>
        </p:txBody>
      </p:sp>
    </p:spTree>
    <p:extLst>
      <p:ext uri="{BB962C8B-B14F-4D97-AF65-F5344CB8AC3E}">
        <p14:creationId xmlns:p14="http://schemas.microsoft.com/office/powerpoint/2010/main" val="38074809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142844" y="285728"/>
            <a:ext cx="8643998" cy="1285884"/>
          </a:xfrm>
          <a:prstGeom prst="rect">
            <a:avLst/>
          </a:prstGeom>
          <a:noFill/>
          <a:ln w="9525">
            <a:noFill/>
            <a:miter lim="800000"/>
            <a:headEnd/>
            <a:tailEnd/>
          </a:ln>
          <a:effectLst/>
        </p:spPr>
      </p:pic>
      <p:sp>
        <p:nvSpPr>
          <p:cNvPr id="3" name="Rectangle 2"/>
          <p:cNvSpPr/>
          <p:nvPr/>
        </p:nvSpPr>
        <p:spPr>
          <a:xfrm>
            <a:off x="285720" y="1928802"/>
            <a:ext cx="8358246" cy="2795958"/>
          </a:xfrm>
          <a:prstGeom prst="rect">
            <a:avLst/>
          </a:prstGeom>
        </p:spPr>
        <p:txBody>
          <a:bodyPr wrap="square">
            <a:spAutoFit/>
          </a:bodyPr>
          <a:lstStyle/>
          <a:p>
            <a:pPr algn="just">
              <a:lnSpc>
                <a:spcPct val="150000"/>
              </a:lnSpc>
              <a:buFont typeface="Wingdings" pitchFamily="2" charset="2"/>
              <a:buChar char="Ø"/>
            </a:pPr>
            <a:r>
              <a:rPr lang="en-IN" sz="2400" dirty="0">
                <a:latin typeface="Times New Roman" pitchFamily="18" charset="0"/>
                <a:cs typeface="Times New Roman" pitchFamily="18" charset="0"/>
              </a:rPr>
              <a:t>Each of their support is identical to the support for X, the rules must satisfy the support threshold. </a:t>
            </a:r>
          </a:p>
          <a:p>
            <a:pPr algn="just">
              <a:lnSpc>
                <a:spcPct val="150000"/>
              </a:lnSpc>
              <a:buFont typeface="Wingdings" pitchFamily="2" charset="2"/>
              <a:buChar char="Ø"/>
            </a:pPr>
            <a:endParaRPr lang="en-IN" sz="2400" dirty="0">
              <a:latin typeface="Times New Roman" pitchFamily="18" charset="0"/>
              <a:cs typeface="Times New Roman" pitchFamily="18" charset="0"/>
            </a:endParaRPr>
          </a:p>
          <a:p>
            <a:pPr algn="just">
              <a:lnSpc>
                <a:spcPct val="150000"/>
              </a:lnSpc>
              <a:buFont typeface="Wingdings" pitchFamily="2" charset="2"/>
              <a:buChar char="Ø"/>
            </a:pPr>
            <a:r>
              <a:rPr lang="en-IN" sz="2400" dirty="0">
                <a:latin typeface="Times New Roman" pitchFamily="18" charset="0"/>
                <a:cs typeface="Times New Roman" pitchFamily="18" charset="0"/>
              </a:rPr>
              <a:t>Computing the confidence of an association rule does not require additional scans of the transaction data set.</a:t>
            </a:r>
          </a:p>
        </p:txBody>
      </p:sp>
    </p:spTree>
    <p:extLst>
      <p:ext uri="{BB962C8B-B14F-4D97-AF65-F5344CB8AC3E}">
        <p14:creationId xmlns:p14="http://schemas.microsoft.com/office/powerpoint/2010/main" val="25070302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0"/>
            <a:ext cx="8610600" cy="1785104"/>
          </a:xfrm>
          <a:prstGeom prst="rect">
            <a:avLst/>
          </a:prstGeom>
        </p:spPr>
        <p:txBody>
          <a:bodyPr wrap="square">
            <a:spAutoFit/>
          </a:bodyPr>
          <a:lstStyle/>
          <a:p>
            <a:r>
              <a:rPr lang="en-IN" sz="2800" dirty="0">
                <a:solidFill>
                  <a:srgbClr val="FF0000"/>
                </a:solidFill>
              </a:rPr>
              <a:t>Confidence-Based Pruning:</a:t>
            </a:r>
          </a:p>
          <a:p>
            <a:r>
              <a:rPr lang="en-US" sz="2800" dirty="0">
                <a:solidFill>
                  <a:srgbClr val="FF0000"/>
                </a:solidFill>
              </a:rPr>
              <a:t>	</a:t>
            </a:r>
            <a:r>
              <a:rPr lang="en-IN" dirty="0">
                <a:latin typeface="Times New Roman" pitchFamily="18" charset="0"/>
                <a:cs typeface="Times New Roman" pitchFamily="18" charset="0"/>
              </a:rPr>
              <a:t>To compare rules generated from the same frequent item set Y, the following theorem holds for the confidence measure.</a:t>
            </a:r>
          </a:p>
          <a:p>
            <a:endParaRPr lang="en-US" dirty="0"/>
          </a:p>
          <a:p>
            <a:endParaRPr lang="en-IN" dirty="0"/>
          </a:p>
        </p:txBody>
      </p:sp>
      <p:pic>
        <p:nvPicPr>
          <p:cNvPr id="3" name="Picture 2"/>
          <p:cNvPicPr>
            <a:picLocks noChangeAspect="1" noChangeArrowheads="1"/>
          </p:cNvPicPr>
          <p:nvPr/>
        </p:nvPicPr>
        <p:blipFill>
          <a:blip r:embed="rId2"/>
          <a:srcRect/>
          <a:stretch>
            <a:fillRect/>
          </a:stretch>
        </p:blipFill>
        <p:spPr bwMode="auto">
          <a:xfrm>
            <a:off x="276225" y="1905000"/>
            <a:ext cx="8820150" cy="1428760"/>
          </a:xfrm>
          <a:prstGeom prst="rect">
            <a:avLst/>
          </a:prstGeom>
          <a:noFill/>
          <a:ln w="9525">
            <a:noFill/>
            <a:miter lim="800000"/>
            <a:headEnd/>
            <a:tailEnd/>
          </a:ln>
          <a:effectLst/>
        </p:spPr>
      </p:pic>
      <p:pic>
        <p:nvPicPr>
          <p:cNvPr id="4" name="Picture 6"/>
          <p:cNvPicPr>
            <a:picLocks noChangeAspect="1" noChangeArrowheads="1"/>
          </p:cNvPicPr>
          <p:nvPr/>
        </p:nvPicPr>
        <p:blipFill>
          <a:blip r:embed="rId3"/>
          <a:srcRect/>
          <a:stretch>
            <a:fillRect/>
          </a:stretch>
        </p:blipFill>
        <p:spPr bwMode="auto">
          <a:xfrm>
            <a:off x="533400" y="3562359"/>
            <a:ext cx="8077200" cy="2743201"/>
          </a:xfrm>
          <a:prstGeom prst="rect">
            <a:avLst/>
          </a:prstGeom>
          <a:noFill/>
          <a:ln w="9525">
            <a:noFill/>
            <a:miter lim="800000"/>
            <a:headEnd/>
            <a:tailEnd/>
          </a:ln>
          <a:effectLst/>
        </p:spPr>
      </p:pic>
    </p:spTree>
    <p:extLst>
      <p:ext uri="{BB962C8B-B14F-4D97-AF65-F5344CB8AC3E}">
        <p14:creationId xmlns:p14="http://schemas.microsoft.com/office/powerpoint/2010/main" val="5596544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610600" cy="523220"/>
          </a:xfrm>
          <a:prstGeom prst="rect">
            <a:avLst/>
          </a:prstGeom>
        </p:spPr>
        <p:txBody>
          <a:bodyPr wrap="square">
            <a:spAutoFit/>
          </a:bodyPr>
          <a:lstStyle/>
          <a:p>
            <a:r>
              <a:rPr lang="en-IN" sz="2800" dirty="0">
                <a:solidFill>
                  <a:srgbClr val="FF0000"/>
                </a:solidFill>
              </a:rPr>
              <a:t>Rule Generation in </a:t>
            </a:r>
            <a:r>
              <a:rPr lang="en-IN" sz="2800" dirty="0" err="1">
                <a:solidFill>
                  <a:srgbClr val="FF0000"/>
                </a:solidFill>
              </a:rPr>
              <a:t>Apriori</a:t>
            </a:r>
            <a:r>
              <a:rPr lang="en-IN" sz="2800" dirty="0">
                <a:solidFill>
                  <a:srgbClr val="FF0000"/>
                </a:solidFill>
              </a:rPr>
              <a:t> Algorithm</a:t>
            </a:r>
          </a:p>
        </p:txBody>
      </p:sp>
      <p:sp>
        <p:nvSpPr>
          <p:cNvPr id="3" name="Content Placeholder 2"/>
          <p:cNvSpPr txBox="1">
            <a:spLocks/>
          </p:cNvSpPr>
          <p:nvPr/>
        </p:nvSpPr>
        <p:spPr>
          <a:xfrm>
            <a:off x="304800" y="675620"/>
            <a:ext cx="8553480" cy="545054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IN" sz="2400" dirty="0">
                <a:latin typeface="Times New Roman" pitchFamily="18" charset="0"/>
                <a:cs typeface="Times New Roman" pitchFamily="18" charset="0"/>
              </a:rPr>
              <a:t>The </a:t>
            </a:r>
            <a:r>
              <a:rPr lang="en-IN" sz="2400" dirty="0" err="1">
                <a:latin typeface="Times New Roman" pitchFamily="18" charset="0"/>
                <a:cs typeface="Times New Roman" pitchFamily="18" charset="0"/>
              </a:rPr>
              <a:t>Apriori</a:t>
            </a:r>
            <a:r>
              <a:rPr lang="en-IN" sz="2400" dirty="0">
                <a:latin typeface="Times New Roman" pitchFamily="18" charset="0"/>
                <a:cs typeface="Times New Roman" pitchFamily="18" charset="0"/>
              </a:rPr>
              <a:t> algorithm uses a level-wise  approach for generating association rules, where each level corresponds to the number of items that belong to the rule consequent.</a:t>
            </a:r>
          </a:p>
          <a:p>
            <a:pPr algn="just"/>
            <a:r>
              <a:rPr lang="en-IN" sz="2400" dirty="0">
                <a:latin typeface="Times New Roman" pitchFamily="18" charset="0"/>
                <a:cs typeface="Times New Roman" pitchFamily="18" charset="0"/>
              </a:rPr>
              <a:t>Initially, all the high-confidence rules that have only one item in the rule consequent are extracted.</a:t>
            </a:r>
          </a:p>
          <a:p>
            <a:pPr algn="just"/>
            <a:endParaRPr lang="en-IN" sz="2400" dirty="0">
              <a:latin typeface="Bookman Old Style" pitchFamily="18" charset="0"/>
            </a:endParaRPr>
          </a:p>
        </p:txBody>
      </p:sp>
      <p:pic>
        <p:nvPicPr>
          <p:cNvPr id="4" name="Picture 2"/>
          <p:cNvPicPr>
            <a:picLocks noChangeAspect="1" noChangeArrowheads="1"/>
          </p:cNvPicPr>
          <p:nvPr/>
        </p:nvPicPr>
        <p:blipFill>
          <a:blip r:embed="rId2"/>
          <a:srcRect/>
          <a:stretch>
            <a:fillRect/>
          </a:stretch>
        </p:blipFill>
        <p:spPr bwMode="auto">
          <a:xfrm>
            <a:off x="642910" y="2743200"/>
            <a:ext cx="8072494" cy="1295400"/>
          </a:xfrm>
          <a:prstGeom prst="rect">
            <a:avLst/>
          </a:prstGeom>
          <a:noFill/>
          <a:ln w="9525">
            <a:noFill/>
            <a:miter lim="800000"/>
            <a:headEnd/>
            <a:tailEnd/>
          </a:ln>
          <a:effectLst/>
        </p:spPr>
      </p:pic>
      <p:sp>
        <p:nvSpPr>
          <p:cNvPr id="5" name="Rectangle 4"/>
          <p:cNvSpPr/>
          <p:nvPr/>
        </p:nvSpPr>
        <p:spPr>
          <a:xfrm>
            <a:off x="642910" y="4267200"/>
            <a:ext cx="8215370" cy="1446550"/>
          </a:xfrm>
          <a:prstGeom prst="rect">
            <a:avLst/>
          </a:prstGeom>
        </p:spPr>
        <p:txBody>
          <a:bodyPr wrap="square">
            <a:spAutoFit/>
          </a:bodyPr>
          <a:lstStyle/>
          <a:p>
            <a:pPr algn="just"/>
            <a:r>
              <a:rPr lang="en-IN" dirty="0">
                <a:latin typeface="Times New Roman" pitchFamily="18" charset="0"/>
                <a:cs typeface="Times New Roman" pitchFamily="18" charset="0"/>
              </a:rPr>
              <a:t>	</a:t>
            </a:r>
            <a:r>
              <a:rPr lang="en-IN" sz="2200" dirty="0">
                <a:latin typeface="Times New Roman" pitchFamily="18" charset="0"/>
                <a:cs typeface="Times New Roman" pitchFamily="18" charset="0"/>
              </a:rPr>
              <a:t>A lattice structure for the association rules generated from the frequent item set  {</a:t>
            </a:r>
            <a:r>
              <a:rPr lang="en-IN" sz="2200" dirty="0" err="1">
                <a:latin typeface="Times New Roman" pitchFamily="18" charset="0"/>
                <a:cs typeface="Times New Roman" pitchFamily="18" charset="0"/>
              </a:rPr>
              <a:t>a,b,c,d</a:t>
            </a:r>
            <a:r>
              <a:rPr lang="en-IN" sz="2200" dirty="0">
                <a:latin typeface="Times New Roman" pitchFamily="18" charset="0"/>
                <a:cs typeface="Times New Roman" pitchFamily="18" charset="0"/>
              </a:rPr>
              <a:t>}. If any node in the lattice has low confidence entire sub graph spanned by the node can be pruned immediately.</a:t>
            </a:r>
          </a:p>
        </p:txBody>
      </p:sp>
    </p:spTree>
    <p:extLst>
      <p:ext uri="{BB962C8B-B14F-4D97-AF65-F5344CB8AC3E}">
        <p14:creationId xmlns:p14="http://schemas.microsoft.com/office/powerpoint/2010/main" val="581631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0" y="361928"/>
            <a:ext cx="9143999" cy="6572272"/>
          </a:xfrm>
          <a:prstGeom prst="rect">
            <a:avLst/>
          </a:prstGeom>
          <a:noFill/>
          <a:ln w="9525">
            <a:noFill/>
            <a:miter lim="800000"/>
            <a:headEnd/>
            <a:tailEnd/>
          </a:ln>
          <a:effectLst/>
        </p:spPr>
      </p:pic>
    </p:spTree>
    <p:extLst>
      <p:ext uri="{BB962C8B-B14F-4D97-AF65-F5344CB8AC3E}">
        <p14:creationId xmlns:p14="http://schemas.microsoft.com/office/powerpoint/2010/main" val="13633119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srcRect/>
          <a:stretch>
            <a:fillRect/>
          </a:stretch>
        </p:blipFill>
        <p:spPr bwMode="auto">
          <a:xfrm>
            <a:off x="-80010" y="1928802"/>
            <a:ext cx="8858280" cy="4714908"/>
          </a:xfrm>
          <a:prstGeom prst="rect">
            <a:avLst/>
          </a:prstGeom>
          <a:noFill/>
          <a:ln w="9525">
            <a:noFill/>
            <a:miter lim="800000"/>
            <a:headEnd/>
            <a:tailEnd/>
          </a:ln>
          <a:effectLst/>
        </p:spPr>
      </p:pic>
      <p:pic>
        <p:nvPicPr>
          <p:cNvPr id="3" name="Picture 2"/>
          <p:cNvPicPr>
            <a:picLocks noChangeAspect="1" noChangeArrowheads="1"/>
          </p:cNvPicPr>
          <p:nvPr/>
        </p:nvPicPr>
        <p:blipFill>
          <a:blip r:embed="rId3"/>
          <a:srcRect/>
          <a:stretch>
            <a:fillRect/>
          </a:stretch>
        </p:blipFill>
        <p:spPr bwMode="auto">
          <a:xfrm>
            <a:off x="331440" y="214290"/>
            <a:ext cx="8572560" cy="1857388"/>
          </a:xfrm>
          <a:prstGeom prst="rect">
            <a:avLst/>
          </a:prstGeom>
          <a:noFill/>
          <a:ln w="9525">
            <a:noFill/>
            <a:miter lim="800000"/>
            <a:headEnd/>
            <a:tailEnd/>
          </a:ln>
          <a:effectLst/>
        </p:spPr>
      </p:pic>
    </p:spTree>
    <p:extLst>
      <p:ext uri="{BB962C8B-B14F-4D97-AF65-F5344CB8AC3E}">
        <p14:creationId xmlns:p14="http://schemas.microsoft.com/office/powerpoint/2010/main" val="31056391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EBECA1-6F8F-43FE-A729-3A9460AAB1CE}"/>
              </a:ext>
            </a:extLst>
          </p:cNvPr>
          <p:cNvSpPr>
            <a:spLocks noChangeArrowheads="1"/>
          </p:cNvSpPr>
          <p:nvPr/>
        </p:nvSpPr>
        <p:spPr bwMode="auto">
          <a:xfrm>
            <a:off x="1371600" y="232404"/>
            <a:ext cx="7162800" cy="6488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Frequent itemset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Generate H1(1-item consequents)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Calculate confidence</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Keep high-confidence rules</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Generate H2(2-item consequents)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Calculate confidence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Prune low-confidence candidates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Generate H3(3-item consequents)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Calculate confidence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Continue until no larger consequent can be generated</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14601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8458200" cy="4401205"/>
          </a:xfrm>
          <a:prstGeom prst="rect">
            <a:avLst/>
          </a:prstGeom>
        </p:spPr>
        <p:txBody>
          <a:bodyPr wrap="square">
            <a:spAutoFit/>
          </a:bodyPr>
          <a:lstStyle/>
          <a:p>
            <a:r>
              <a:rPr lang="en-US" sz="2800" dirty="0">
                <a:solidFill>
                  <a:srgbClr val="FF0000"/>
                </a:solidFill>
                <a:latin typeface="Bookman Old Style" pitchFamily="18" charset="0"/>
              </a:rPr>
              <a:t>Limitations of </a:t>
            </a:r>
            <a:r>
              <a:rPr lang="en-US" sz="2800" dirty="0" err="1">
                <a:solidFill>
                  <a:srgbClr val="FF0000"/>
                </a:solidFill>
                <a:latin typeface="Bookman Old Style" pitchFamily="18" charset="0"/>
              </a:rPr>
              <a:t>Apriori</a:t>
            </a:r>
            <a:r>
              <a:rPr lang="en-US" sz="2800" dirty="0">
                <a:solidFill>
                  <a:srgbClr val="FF0000"/>
                </a:solidFill>
                <a:latin typeface="Bookman Old Style" pitchFamily="18" charset="0"/>
              </a:rPr>
              <a:t> Algorithm:</a:t>
            </a:r>
          </a:p>
          <a:p>
            <a:pPr algn="just">
              <a:lnSpc>
                <a:spcPct val="150000"/>
              </a:lnSpc>
            </a:pPr>
            <a:r>
              <a:rPr lang="en-IN" sz="2400" dirty="0">
                <a:latin typeface="Times New Roman" pitchFamily="18" charset="0"/>
                <a:cs typeface="Times New Roman" pitchFamily="18" charset="0"/>
              </a:rPr>
              <a:t>	It may need to generate a huge number of candidate sets. For example, if there are 10</a:t>
            </a:r>
            <a:r>
              <a:rPr lang="en-IN" sz="2400" baseline="30000" dirty="0">
                <a:latin typeface="Times New Roman" pitchFamily="18" charset="0"/>
                <a:cs typeface="Times New Roman" pitchFamily="18" charset="0"/>
              </a:rPr>
              <a:t>4</a:t>
            </a:r>
            <a:r>
              <a:rPr lang="en-IN" sz="2400" dirty="0">
                <a:latin typeface="Times New Roman" pitchFamily="18" charset="0"/>
                <a:cs typeface="Times New Roman" pitchFamily="18" charset="0"/>
              </a:rPr>
              <a:t> frequent 1-itemsets, the </a:t>
            </a:r>
            <a:r>
              <a:rPr lang="en-IN" sz="2400" dirty="0" err="1">
                <a:latin typeface="Times New Roman" pitchFamily="18" charset="0"/>
                <a:cs typeface="Times New Roman" pitchFamily="18" charset="0"/>
              </a:rPr>
              <a:t>Apriori</a:t>
            </a:r>
            <a:r>
              <a:rPr lang="en-IN" sz="2400" dirty="0">
                <a:latin typeface="Times New Roman" pitchFamily="18" charset="0"/>
                <a:cs typeface="Times New Roman" pitchFamily="18" charset="0"/>
              </a:rPr>
              <a:t> algorithm will need to generate more than 10</a:t>
            </a:r>
            <a:r>
              <a:rPr lang="en-IN" sz="2400" baseline="30000" dirty="0">
                <a:latin typeface="Times New Roman" pitchFamily="18" charset="0"/>
                <a:cs typeface="Times New Roman" pitchFamily="18" charset="0"/>
              </a:rPr>
              <a:t>7 </a:t>
            </a:r>
            <a:r>
              <a:rPr lang="en-IN" sz="2400" dirty="0">
                <a:latin typeface="Times New Roman" pitchFamily="18" charset="0"/>
                <a:cs typeface="Times New Roman" pitchFamily="18" charset="0"/>
              </a:rPr>
              <a:t>candidate 2-itemsets.</a:t>
            </a:r>
          </a:p>
          <a:p>
            <a:pPr algn="just">
              <a:lnSpc>
                <a:spcPct val="150000"/>
              </a:lnSpc>
            </a:pPr>
            <a:endParaRPr lang="en-IN" sz="2400" dirty="0">
              <a:latin typeface="Times New Roman" pitchFamily="18" charset="0"/>
              <a:cs typeface="Times New Roman" pitchFamily="18" charset="0"/>
            </a:endParaRPr>
          </a:p>
          <a:p>
            <a:pPr algn="just">
              <a:lnSpc>
                <a:spcPct val="150000"/>
              </a:lnSpc>
            </a:pPr>
            <a:r>
              <a:rPr lang="en-IN" sz="2400" dirty="0">
                <a:latin typeface="Times New Roman" pitchFamily="18" charset="0"/>
                <a:cs typeface="Times New Roman" pitchFamily="18" charset="0"/>
              </a:rPr>
              <a:t>	The Algorithm incurs considerable I/O overhead since It may need to repeatedly scan the database and check a large set of candidates by pattern matching.</a:t>
            </a:r>
          </a:p>
        </p:txBody>
      </p:sp>
    </p:spTree>
    <p:extLst>
      <p:ext uri="{BB962C8B-B14F-4D97-AF65-F5344CB8AC3E}">
        <p14:creationId xmlns:p14="http://schemas.microsoft.com/office/powerpoint/2010/main" val="27695340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228600"/>
            <a:ext cx="8305800" cy="523220"/>
          </a:xfrm>
          <a:prstGeom prst="rect">
            <a:avLst/>
          </a:prstGeom>
        </p:spPr>
        <p:txBody>
          <a:bodyPr wrap="square">
            <a:spAutoFit/>
          </a:bodyPr>
          <a:lstStyle/>
          <a:p>
            <a:r>
              <a:rPr lang="en-US" sz="2800" dirty="0">
                <a:solidFill>
                  <a:srgbClr val="FF0000"/>
                </a:solidFill>
                <a:latin typeface="Times New Roman" pitchFamily="18" charset="0"/>
                <a:cs typeface="Times New Roman" pitchFamily="18" charset="0"/>
              </a:rPr>
              <a:t>Frequent Item Sets</a:t>
            </a:r>
            <a:endParaRPr lang="en-IN" sz="2800" dirty="0">
              <a:solidFill>
                <a:srgbClr val="FF0000"/>
              </a:solidFill>
              <a:latin typeface="Times New Roman" pitchFamily="18" charset="0"/>
              <a:cs typeface="Times New Roman" pitchFamily="18" charset="0"/>
            </a:endParaRPr>
          </a:p>
        </p:txBody>
      </p:sp>
      <p:pic>
        <p:nvPicPr>
          <p:cNvPr id="3" name="Picture 2"/>
          <p:cNvPicPr>
            <a:picLocks noChangeAspect="1" noChangeArrowheads="1"/>
          </p:cNvPicPr>
          <p:nvPr/>
        </p:nvPicPr>
        <p:blipFill>
          <a:blip r:embed="rId2"/>
          <a:srcRect/>
          <a:stretch>
            <a:fillRect/>
          </a:stretch>
        </p:blipFill>
        <p:spPr bwMode="auto">
          <a:xfrm>
            <a:off x="533400" y="1066800"/>
            <a:ext cx="7924800" cy="1828800"/>
          </a:xfrm>
          <a:prstGeom prst="rect">
            <a:avLst/>
          </a:prstGeom>
          <a:noFill/>
          <a:ln w="9525">
            <a:noFill/>
            <a:miter lim="800000"/>
            <a:headEnd/>
            <a:tailEnd/>
          </a:ln>
          <a:effectLst/>
        </p:spPr>
      </p:pic>
      <p:pic>
        <p:nvPicPr>
          <p:cNvPr id="4" name="Picture 3"/>
          <p:cNvPicPr>
            <a:picLocks noChangeAspect="1" noChangeArrowheads="1"/>
          </p:cNvPicPr>
          <p:nvPr/>
        </p:nvPicPr>
        <p:blipFill>
          <a:blip r:embed="rId3"/>
          <a:srcRect/>
          <a:stretch>
            <a:fillRect/>
          </a:stretch>
        </p:blipFill>
        <p:spPr bwMode="auto">
          <a:xfrm>
            <a:off x="285720" y="3071810"/>
            <a:ext cx="8501122" cy="2714644"/>
          </a:xfrm>
          <a:prstGeom prst="rect">
            <a:avLst/>
          </a:prstGeom>
          <a:noFill/>
          <a:ln w="9525">
            <a:noFill/>
            <a:miter lim="800000"/>
            <a:headEnd/>
            <a:tailEnd/>
          </a:ln>
          <a:effectLst/>
        </p:spPr>
      </p:pic>
    </p:spTree>
    <p:extLst>
      <p:ext uri="{BB962C8B-B14F-4D97-AF65-F5344CB8AC3E}">
        <p14:creationId xmlns:p14="http://schemas.microsoft.com/office/powerpoint/2010/main" val="36588872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1"/>
            <a:ext cx="8610600" cy="6370975"/>
          </a:xfrm>
          <a:prstGeom prst="rect">
            <a:avLst/>
          </a:prstGeom>
        </p:spPr>
        <p:txBody>
          <a:bodyPr wrap="square">
            <a:spAutoFit/>
          </a:bodyPr>
          <a:lstStyle/>
          <a:p>
            <a:pPr marL="342900" indent="-342900">
              <a:buFont typeface="Wingdings" pitchFamily="2" charset="2"/>
              <a:buChar char="Ø"/>
            </a:pPr>
            <a:r>
              <a:rPr lang="en-US" sz="2400" dirty="0">
                <a:latin typeface="Times New Roman" pitchFamily="18" charset="0"/>
                <a:cs typeface="Times New Roman" pitchFamily="18" charset="0"/>
              </a:rPr>
              <a:t>In real-world datasets (like supermarket transactions), the number of frequent </a:t>
            </a:r>
            <a:r>
              <a:rPr lang="en-US" sz="2400" dirty="0" err="1">
                <a:latin typeface="Times New Roman" pitchFamily="18" charset="0"/>
                <a:cs typeface="Times New Roman" pitchFamily="18" charset="0"/>
              </a:rPr>
              <a:t>itemsets</a:t>
            </a:r>
            <a:r>
              <a:rPr lang="en-US" sz="2400" dirty="0">
                <a:latin typeface="Times New Roman" pitchFamily="18" charset="0"/>
                <a:cs typeface="Times New Roman" pitchFamily="18" charset="0"/>
              </a:rPr>
              <a:t> can be huge — even millions.</a:t>
            </a:r>
          </a:p>
          <a:p>
            <a:pPr marL="342900" indent="-342900">
              <a:buFont typeface="Wingdings" pitchFamily="2" charset="2"/>
              <a:buChar char="Ø"/>
            </a:pPr>
            <a:endParaRPr lang="en-US" sz="2400" dirty="0">
              <a:latin typeface="Times New Roman" pitchFamily="18" charset="0"/>
              <a:cs typeface="Times New Roman" pitchFamily="18" charset="0"/>
            </a:endParaRPr>
          </a:p>
          <a:p>
            <a:pPr marL="342900" indent="-342900">
              <a:buFont typeface="Wingdings" pitchFamily="2" charset="2"/>
              <a:buChar char="Ø"/>
            </a:pPr>
            <a:r>
              <a:rPr lang="en-US" sz="2400" dirty="0">
                <a:latin typeface="Times New Roman" pitchFamily="18" charset="0"/>
                <a:cs typeface="Times New Roman" pitchFamily="18" charset="0"/>
              </a:rPr>
              <a:t>Storing and processing them all individually becomes inefficient.</a:t>
            </a:r>
          </a:p>
          <a:p>
            <a:endParaRPr lang="en-US" sz="2400" dirty="0">
              <a:latin typeface="Times New Roman" pitchFamily="18" charset="0"/>
              <a:cs typeface="Times New Roman" pitchFamily="18" charset="0"/>
            </a:endParaRPr>
          </a:p>
          <a:p>
            <a:pPr marL="342900" indent="-342900">
              <a:buFont typeface="Wingdings" pitchFamily="2" charset="2"/>
              <a:buChar char="Ø"/>
            </a:pPr>
            <a:r>
              <a:rPr lang="en-US" sz="2400" dirty="0">
                <a:latin typeface="Times New Roman" pitchFamily="18" charset="0"/>
                <a:cs typeface="Times New Roman" pitchFamily="18" charset="0"/>
              </a:rPr>
              <a:t>Hence, compact representations are introduced. </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 Note: They summarize the frequent </a:t>
            </a:r>
            <a:r>
              <a:rPr lang="en-US" sz="2400" dirty="0" err="1">
                <a:latin typeface="Times New Roman" pitchFamily="18" charset="0"/>
                <a:cs typeface="Times New Roman" pitchFamily="18" charset="0"/>
              </a:rPr>
              <a:t>itemsets</a:t>
            </a:r>
            <a:r>
              <a:rPr lang="en-US" sz="2400" dirty="0">
                <a:latin typeface="Times New Roman" pitchFamily="18" charset="0"/>
                <a:cs typeface="Times New Roman" pitchFamily="18" charset="0"/>
              </a:rPr>
              <a:t> without losing important information.</a:t>
            </a:r>
          </a:p>
          <a:p>
            <a:endParaRPr lang="en-US" sz="2400" dirty="0">
              <a:latin typeface="Times New Roman" pitchFamily="18" charset="0"/>
              <a:cs typeface="Times New Roman" pitchFamily="18" charset="0"/>
            </a:endParaRPr>
          </a:p>
          <a:p>
            <a:pPr algn="just"/>
            <a:r>
              <a:rPr lang="en-US" sz="2400" b="1" dirty="0">
                <a:solidFill>
                  <a:srgbClr val="FF0000"/>
                </a:solidFill>
                <a:latin typeface="Times New Roman" pitchFamily="18" charset="0"/>
                <a:cs typeface="Times New Roman" pitchFamily="18" charset="0"/>
              </a:rPr>
              <a:t>Compact Representation:</a:t>
            </a:r>
          </a:p>
          <a:p>
            <a:pPr algn="just"/>
            <a:r>
              <a:rPr lang="en-US" sz="2400" dirty="0">
                <a:latin typeface="Times New Roman" pitchFamily="18" charset="0"/>
                <a:cs typeface="Times New Roman" pitchFamily="18" charset="0"/>
              </a:rPr>
              <a:t>	Instead of storing every frequent </a:t>
            </a:r>
            <a:r>
              <a:rPr lang="en-US" sz="2400" dirty="0" err="1">
                <a:latin typeface="Times New Roman" pitchFamily="18" charset="0"/>
                <a:cs typeface="Times New Roman" pitchFamily="18" charset="0"/>
              </a:rPr>
              <a:t>itemset</a:t>
            </a:r>
            <a:r>
              <a:rPr lang="en-US" sz="2400" dirty="0">
                <a:latin typeface="Times New Roman" pitchFamily="18" charset="0"/>
                <a:cs typeface="Times New Roman" pitchFamily="18" charset="0"/>
              </a:rPr>
              <a:t>, we store only a subset of them from which all other frequent </a:t>
            </a:r>
            <a:r>
              <a:rPr lang="en-US" sz="2400" dirty="0" err="1">
                <a:latin typeface="Times New Roman" pitchFamily="18" charset="0"/>
                <a:cs typeface="Times New Roman" pitchFamily="18" charset="0"/>
              </a:rPr>
              <a:t>itemsets</a:t>
            </a:r>
            <a:r>
              <a:rPr lang="en-US" sz="2400" dirty="0">
                <a:latin typeface="Times New Roman" pitchFamily="18" charset="0"/>
                <a:cs typeface="Times New Roman" pitchFamily="18" charset="0"/>
              </a:rPr>
              <a:t> can be derived.    These subsets include:</a:t>
            </a:r>
          </a:p>
          <a:p>
            <a:pPr algn="just"/>
            <a:endParaRPr lang="en-US" sz="2400" dirty="0">
              <a:latin typeface="Times New Roman" pitchFamily="18" charset="0"/>
              <a:cs typeface="Times New Roman" pitchFamily="18" charset="0"/>
            </a:endParaRPr>
          </a:p>
          <a:p>
            <a:pPr algn="just"/>
            <a:r>
              <a:rPr lang="en-US" sz="2400" b="1" dirty="0">
                <a:solidFill>
                  <a:srgbClr val="00B050"/>
                </a:solidFill>
                <a:latin typeface="Times New Roman" pitchFamily="18" charset="0"/>
                <a:cs typeface="Times New Roman" pitchFamily="18" charset="0"/>
              </a:rPr>
              <a:t>Maximal Frequent </a:t>
            </a:r>
            <a:r>
              <a:rPr lang="en-US" sz="2400" b="1" dirty="0" err="1">
                <a:solidFill>
                  <a:srgbClr val="00B050"/>
                </a:solidFill>
                <a:latin typeface="Times New Roman" pitchFamily="18" charset="0"/>
                <a:cs typeface="Times New Roman" pitchFamily="18" charset="0"/>
              </a:rPr>
              <a:t>Itemsets</a:t>
            </a:r>
            <a:r>
              <a:rPr lang="en-US" sz="2400" b="1" dirty="0">
                <a:solidFill>
                  <a:srgbClr val="00B050"/>
                </a:solidFill>
                <a:latin typeface="Times New Roman" pitchFamily="18" charset="0"/>
                <a:cs typeface="Times New Roman" pitchFamily="18" charset="0"/>
              </a:rPr>
              <a:t> (MFI)</a:t>
            </a:r>
            <a:endParaRPr lang="en-US" sz="2400" dirty="0">
              <a:solidFill>
                <a:srgbClr val="00B050"/>
              </a:solidFill>
              <a:latin typeface="Times New Roman" pitchFamily="18" charset="0"/>
              <a:cs typeface="Times New Roman" pitchFamily="18" charset="0"/>
            </a:endParaRPr>
          </a:p>
          <a:p>
            <a:pPr algn="just"/>
            <a:r>
              <a:rPr lang="en-US" sz="2400" b="1" dirty="0">
                <a:solidFill>
                  <a:srgbClr val="00B050"/>
                </a:solidFill>
                <a:latin typeface="Times New Roman" pitchFamily="18" charset="0"/>
                <a:cs typeface="Times New Roman" pitchFamily="18" charset="0"/>
              </a:rPr>
              <a:t>Closed Frequent </a:t>
            </a:r>
            <a:r>
              <a:rPr lang="en-US" sz="2400" b="1" dirty="0" err="1">
                <a:solidFill>
                  <a:srgbClr val="00B050"/>
                </a:solidFill>
                <a:latin typeface="Times New Roman" pitchFamily="18" charset="0"/>
                <a:cs typeface="Times New Roman" pitchFamily="18" charset="0"/>
              </a:rPr>
              <a:t>Itemsets</a:t>
            </a:r>
            <a:r>
              <a:rPr lang="en-US" sz="2400" b="1" dirty="0">
                <a:solidFill>
                  <a:srgbClr val="00B050"/>
                </a:solidFill>
                <a:latin typeface="Times New Roman" pitchFamily="18" charset="0"/>
                <a:cs typeface="Times New Roman" pitchFamily="18" charset="0"/>
              </a:rPr>
              <a:t> (CFI)</a:t>
            </a:r>
            <a:endParaRPr lang="en-US" sz="2400"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23238080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81000"/>
            <a:ext cx="8382000" cy="954107"/>
          </a:xfrm>
          <a:prstGeom prst="rect">
            <a:avLst/>
          </a:prstGeom>
        </p:spPr>
        <p:txBody>
          <a:bodyPr wrap="square">
            <a:spAutoFit/>
          </a:bodyPr>
          <a:lstStyle/>
          <a:p>
            <a:endParaRPr lang="en-US" sz="2800" dirty="0">
              <a:solidFill>
                <a:srgbClr val="00B050"/>
              </a:solidFill>
              <a:latin typeface="Times New Roman" pitchFamily="18" charset="0"/>
              <a:cs typeface="Times New Roman" pitchFamily="18" charset="0"/>
            </a:endParaRPr>
          </a:p>
          <a:p>
            <a:r>
              <a:rPr lang="en-US" sz="2800" dirty="0">
                <a:solidFill>
                  <a:srgbClr val="00B050"/>
                </a:solidFill>
                <a:latin typeface="Times New Roman" pitchFamily="18" charset="0"/>
                <a:cs typeface="Times New Roman" pitchFamily="18" charset="0"/>
              </a:rPr>
              <a:t>Closed Frequent </a:t>
            </a:r>
            <a:r>
              <a:rPr lang="en-US" sz="2800" dirty="0" err="1">
                <a:solidFill>
                  <a:srgbClr val="00B050"/>
                </a:solidFill>
                <a:latin typeface="Times New Roman" pitchFamily="18" charset="0"/>
                <a:cs typeface="Times New Roman" pitchFamily="18" charset="0"/>
              </a:rPr>
              <a:t>Itemsets</a:t>
            </a:r>
            <a:r>
              <a:rPr lang="en-US" sz="2800" dirty="0">
                <a:solidFill>
                  <a:srgbClr val="00B050"/>
                </a:solidFill>
                <a:latin typeface="Times New Roman" pitchFamily="18" charset="0"/>
                <a:cs typeface="Times New Roman" pitchFamily="18" charset="0"/>
              </a:rPr>
              <a:t>(CFI)</a:t>
            </a:r>
            <a:endParaRPr lang="en-IN" sz="2800" dirty="0">
              <a:solidFill>
                <a:srgbClr val="00B050"/>
              </a:solidFill>
              <a:latin typeface="Times New Roman" pitchFamily="18" charset="0"/>
              <a:cs typeface="Times New Roman" pitchFamily="18" charset="0"/>
            </a:endParaRPr>
          </a:p>
        </p:txBody>
      </p:sp>
      <p:pic>
        <p:nvPicPr>
          <p:cNvPr id="3" name="Picture 2"/>
          <p:cNvPicPr>
            <a:picLocks noChangeAspect="1" noChangeArrowheads="1"/>
          </p:cNvPicPr>
          <p:nvPr/>
        </p:nvPicPr>
        <p:blipFill>
          <a:blip r:embed="rId2"/>
          <a:srcRect/>
          <a:stretch>
            <a:fillRect/>
          </a:stretch>
        </p:blipFill>
        <p:spPr bwMode="auto">
          <a:xfrm>
            <a:off x="500033" y="1447800"/>
            <a:ext cx="7958165" cy="1752600"/>
          </a:xfrm>
          <a:prstGeom prst="rect">
            <a:avLst/>
          </a:prstGeom>
          <a:noFill/>
          <a:ln w="9525">
            <a:noFill/>
            <a:miter lim="800000"/>
            <a:headEnd/>
            <a:tailEnd/>
          </a:ln>
          <a:effectLst/>
        </p:spPr>
      </p:pic>
      <p:sp>
        <p:nvSpPr>
          <p:cNvPr id="4" name="Rectangle 3"/>
          <p:cNvSpPr/>
          <p:nvPr/>
        </p:nvSpPr>
        <p:spPr>
          <a:xfrm>
            <a:off x="500034" y="3613666"/>
            <a:ext cx="8339165" cy="523220"/>
          </a:xfrm>
          <a:prstGeom prst="rect">
            <a:avLst/>
          </a:prstGeom>
        </p:spPr>
        <p:txBody>
          <a:bodyPr wrap="square">
            <a:spAutoFit/>
          </a:bodyPr>
          <a:lstStyle/>
          <a:p>
            <a:r>
              <a:rPr lang="en-US" sz="2800" dirty="0">
                <a:solidFill>
                  <a:srgbClr val="00B050"/>
                </a:solidFill>
                <a:latin typeface="Times New Roman" pitchFamily="18" charset="0"/>
                <a:cs typeface="Times New Roman" pitchFamily="18" charset="0"/>
              </a:rPr>
              <a:t>Maximal Frequent </a:t>
            </a:r>
            <a:r>
              <a:rPr lang="en-US" sz="2800" dirty="0" err="1">
                <a:solidFill>
                  <a:srgbClr val="00B050"/>
                </a:solidFill>
                <a:latin typeface="Times New Roman" pitchFamily="18" charset="0"/>
                <a:cs typeface="Times New Roman" pitchFamily="18" charset="0"/>
              </a:rPr>
              <a:t>Itemsets</a:t>
            </a:r>
            <a:r>
              <a:rPr lang="en-US" sz="2800" dirty="0">
                <a:solidFill>
                  <a:srgbClr val="00B050"/>
                </a:solidFill>
                <a:latin typeface="Times New Roman" pitchFamily="18" charset="0"/>
                <a:cs typeface="Times New Roman" pitchFamily="18" charset="0"/>
              </a:rPr>
              <a:t>(MFI)</a:t>
            </a:r>
            <a:endParaRPr lang="en-IN" sz="2800" dirty="0">
              <a:solidFill>
                <a:srgbClr val="00B050"/>
              </a:solidFill>
              <a:latin typeface="Times New Roman" pitchFamily="18" charset="0"/>
              <a:cs typeface="Times New Roman" pitchFamily="18" charset="0"/>
            </a:endParaRPr>
          </a:p>
        </p:txBody>
      </p:sp>
      <p:pic>
        <p:nvPicPr>
          <p:cNvPr id="5" name="Picture 2"/>
          <p:cNvPicPr>
            <a:picLocks noChangeAspect="1" noChangeArrowheads="1"/>
          </p:cNvPicPr>
          <p:nvPr/>
        </p:nvPicPr>
        <p:blipFill>
          <a:blip r:embed="rId3"/>
          <a:srcRect/>
          <a:stretch>
            <a:fillRect/>
          </a:stretch>
        </p:blipFill>
        <p:spPr bwMode="auto">
          <a:xfrm>
            <a:off x="750066" y="4136886"/>
            <a:ext cx="7708133" cy="1654314"/>
          </a:xfrm>
          <a:prstGeom prst="rect">
            <a:avLst/>
          </a:prstGeom>
          <a:noFill/>
          <a:ln w="9525">
            <a:noFill/>
            <a:miter lim="800000"/>
            <a:headEnd/>
            <a:tailEnd/>
          </a:ln>
          <a:effectLst/>
        </p:spPr>
      </p:pic>
    </p:spTree>
    <p:extLst>
      <p:ext uri="{BB962C8B-B14F-4D97-AF65-F5344CB8AC3E}">
        <p14:creationId xmlns:p14="http://schemas.microsoft.com/office/powerpoint/2010/main" val="37020546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228601"/>
            <a:ext cx="8534400" cy="5970865"/>
          </a:xfrm>
          <a:prstGeom prst="rect">
            <a:avLst/>
          </a:prstGeom>
        </p:spPr>
        <p:txBody>
          <a:bodyPr wrap="square">
            <a:spAutoFit/>
          </a:bodyPr>
          <a:lstStyle/>
          <a:p>
            <a:pPr algn="just"/>
            <a:r>
              <a:rPr lang="en-US" sz="2400" dirty="0">
                <a:solidFill>
                  <a:srgbClr val="00B050"/>
                </a:solidFill>
                <a:latin typeface="Times New Roman" pitchFamily="18" charset="0"/>
                <a:cs typeface="Times New Roman" pitchFamily="18" charset="0"/>
              </a:rPr>
              <a:t>Maximal Frequent </a:t>
            </a:r>
            <a:r>
              <a:rPr lang="en-US" sz="2400" dirty="0" err="1">
                <a:solidFill>
                  <a:srgbClr val="00B050"/>
                </a:solidFill>
                <a:latin typeface="Times New Roman" pitchFamily="18" charset="0"/>
                <a:cs typeface="Times New Roman" pitchFamily="18" charset="0"/>
              </a:rPr>
              <a:t>Itemsets</a:t>
            </a:r>
            <a:r>
              <a:rPr lang="en-US" sz="2400" dirty="0">
                <a:solidFill>
                  <a:srgbClr val="00B050"/>
                </a:solidFill>
                <a:latin typeface="Times New Roman" pitchFamily="18" charset="0"/>
                <a:cs typeface="Times New Roman" pitchFamily="18" charset="0"/>
              </a:rPr>
              <a:t> (MFI):</a:t>
            </a:r>
          </a:p>
          <a:p>
            <a:pPr algn="just"/>
            <a:endParaRPr lang="en-US" sz="2400" dirty="0">
              <a:solidFill>
                <a:srgbClr val="00B05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 maximal frequent </a:t>
            </a:r>
            <a:r>
              <a:rPr lang="en-US" sz="2200" dirty="0" err="1">
                <a:latin typeface="Times New Roman" pitchFamily="18" charset="0"/>
                <a:cs typeface="Times New Roman" pitchFamily="18" charset="0"/>
              </a:rPr>
              <a:t>itemset</a:t>
            </a:r>
            <a:r>
              <a:rPr lang="en-US" sz="2200" dirty="0">
                <a:latin typeface="Times New Roman" pitchFamily="18" charset="0"/>
                <a:cs typeface="Times New Roman" pitchFamily="18" charset="0"/>
              </a:rPr>
              <a:t> is a frequent </a:t>
            </a:r>
            <a:r>
              <a:rPr lang="en-US" sz="2200" dirty="0" err="1">
                <a:latin typeface="Times New Roman" pitchFamily="18" charset="0"/>
                <a:cs typeface="Times New Roman" pitchFamily="18" charset="0"/>
              </a:rPr>
              <a:t>itemset</a:t>
            </a:r>
            <a:r>
              <a:rPr lang="en-US" sz="2200" dirty="0">
                <a:latin typeface="Times New Roman" pitchFamily="18" charset="0"/>
                <a:cs typeface="Times New Roman" pitchFamily="18" charset="0"/>
              </a:rPr>
              <a:t> that is not a subset of any other frequent </a:t>
            </a:r>
            <a:r>
              <a:rPr lang="en-US" sz="2200" dirty="0" err="1">
                <a:latin typeface="Times New Roman" pitchFamily="18" charset="0"/>
                <a:cs typeface="Times New Roman" pitchFamily="18" charset="0"/>
              </a:rPr>
              <a:t>itemset</a:t>
            </a:r>
            <a:r>
              <a:rPr lang="en-US" sz="2200" dirty="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In other words, it is “frequent,” but if you add any more items to it, it becomes infrequent.</a:t>
            </a:r>
          </a:p>
          <a:p>
            <a:pPr algn="just"/>
            <a:endParaRPr lang="en-US" sz="2200" dirty="0">
              <a:latin typeface="Times New Roman" pitchFamily="18" charset="0"/>
              <a:cs typeface="Times New Roman" pitchFamily="18" charset="0"/>
            </a:endParaRPr>
          </a:p>
          <a:p>
            <a:pPr algn="just"/>
            <a:r>
              <a:rPr lang="en-US" sz="2200" dirty="0">
                <a:solidFill>
                  <a:srgbClr val="00B050"/>
                </a:solidFill>
                <a:latin typeface="Times New Roman" pitchFamily="18" charset="0"/>
                <a:cs typeface="Times New Roman" pitchFamily="18" charset="0"/>
              </a:rPr>
              <a:t>Example:</a:t>
            </a:r>
          </a:p>
          <a:p>
            <a:pPr algn="just"/>
            <a:r>
              <a:rPr lang="en-US" sz="2200" dirty="0">
                <a:latin typeface="Times New Roman" pitchFamily="18" charset="0"/>
                <a:cs typeface="Times New Roman" pitchFamily="18" charset="0"/>
              </a:rPr>
              <a:t>          </a:t>
            </a:r>
            <a:r>
              <a:rPr lang="en-US" sz="2200" dirty="0">
                <a:solidFill>
                  <a:srgbClr val="002060"/>
                </a:solidFill>
                <a:latin typeface="Times New Roman" pitchFamily="18" charset="0"/>
                <a:cs typeface="Times New Roman" pitchFamily="18" charset="0"/>
              </a:rPr>
              <a:t>Frequent </a:t>
            </a:r>
            <a:r>
              <a:rPr lang="en-US" sz="2200" dirty="0" err="1">
                <a:solidFill>
                  <a:srgbClr val="002060"/>
                </a:solidFill>
                <a:latin typeface="Times New Roman" pitchFamily="18" charset="0"/>
                <a:cs typeface="Times New Roman" pitchFamily="18" charset="0"/>
              </a:rPr>
              <a:t>Itemsets</a:t>
            </a:r>
            <a:r>
              <a:rPr lang="en-US" sz="2200" dirty="0">
                <a:solidFill>
                  <a:srgbClr val="002060"/>
                </a:solidFill>
                <a:latin typeface="Times New Roman" pitchFamily="18" charset="0"/>
                <a:cs typeface="Times New Roman" pitchFamily="18" charset="0"/>
              </a:rPr>
              <a:t>: {A}, {B}, {C}, {A,B}, {A,C}, {A,B,C}</a:t>
            </a:r>
          </a:p>
          <a:p>
            <a:pPr algn="just"/>
            <a:r>
              <a:rPr lang="en-US" sz="2200" dirty="0">
                <a:latin typeface="Times New Roman" pitchFamily="18" charset="0"/>
                <a:cs typeface="Times New Roman" pitchFamily="18" charset="0"/>
              </a:rPr>
              <a:t>                  If {A,B,C} is frequent, it’s Maximal, because:</a:t>
            </a:r>
          </a:p>
          <a:p>
            <a:pPr algn="just"/>
            <a:r>
              <a:rPr lang="en-US" sz="2200" dirty="0">
                <a:latin typeface="Times New Roman" pitchFamily="18" charset="0"/>
                <a:cs typeface="Times New Roman" pitchFamily="18" charset="0"/>
              </a:rPr>
              <a:t>    We can’t add more items to make it larger and still be frequent.</a:t>
            </a:r>
          </a:p>
          <a:p>
            <a:pPr algn="just"/>
            <a:endParaRPr lang="en-US" sz="2200" dirty="0">
              <a:latin typeface="Times New Roman" pitchFamily="18" charset="0"/>
              <a:cs typeface="Times New Roman" pitchFamily="18" charset="0"/>
            </a:endParaRPr>
          </a:p>
          <a:p>
            <a:pPr algn="just"/>
            <a:r>
              <a:rPr lang="en-US" sz="2200" dirty="0">
                <a:solidFill>
                  <a:srgbClr val="002060"/>
                </a:solidFill>
                <a:latin typeface="Times New Roman" pitchFamily="18" charset="0"/>
                <a:cs typeface="Times New Roman" pitchFamily="18" charset="0"/>
              </a:rPr>
              <a:t>   MFI = {A,B,C} </a:t>
            </a:r>
          </a:p>
          <a:p>
            <a:pPr algn="just"/>
            <a:r>
              <a:rPr lang="en-US" sz="2200" dirty="0">
                <a:latin typeface="Times New Roman" pitchFamily="18" charset="0"/>
                <a:cs typeface="Times New Roman" pitchFamily="18" charset="0"/>
              </a:rPr>
              <a:t>All its subsets are also frequent, but we don’t need to store them separately.</a:t>
            </a:r>
          </a:p>
          <a:p>
            <a:pPr algn="just"/>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26522186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8458200" cy="5909310"/>
          </a:xfrm>
          <a:prstGeom prst="rect">
            <a:avLst/>
          </a:prstGeom>
        </p:spPr>
        <p:txBody>
          <a:bodyPr wrap="square">
            <a:spAutoFit/>
          </a:bodyPr>
          <a:lstStyle/>
          <a:p>
            <a:r>
              <a:rPr lang="en-US" sz="2400" b="1" dirty="0">
                <a:solidFill>
                  <a:srgbClr val="00B050"/>
                </a:solidFill>
                <a:latin typeface="Times New Roman" pitchFamily="18" charset="0"/>
                <a:cs typeface="Times New Roman" pitchFamily="18" charset="0"/>
              </a:rPr>
              <a:t>Closed Frequent </a:t>
            </a:r>
            <a:r>
              <a:rPr lang="en-US" sz="2400" b="1" dirty="0" err="1">
                <a:solidFill>
                  <a:srgbClr val="00B050"/>
                </a:solidFill>
                <a:latin typeface="Times New Roman" pitchFamily="18" charset="0"/>
                <a:cs typeface="Times New Roman" pitchFamily="18" charset="0"/>
              </a:rPr>
              <a:t>Itemsets</a:t>
            </a:r>
            <a:r>
              <a:rPr lang="en-US" sz="2400" b="1" dirty="0">
                <a:solidFill>
                  <a:srgbClr val="00B050"/>
                </a:solidFill>
                <a:latin typeface="Times New Roman" pitchFamily="18" charset="0"/>
                <a:cs typeface="Times New Roman" pitchFamily="18" charset="0"/>
              </a:rPr>
              <a:t> (CFI):</a:t>
            </a:r>
          </a:p>
          <a:p>
            <a:endParaRPr lang="en-US" sz="2400" b="1" dirty="0">
              <a:solidFill>
                <a:srgbClr val="00B05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 closed frequent </a:t>
            </a:r>
            <a:r>
              <a:rPr lang="en-US" sz="2200" dirty="0" err="1">
                <a:latin typeface="Times New Roman" pitchFamily="18" charset="0"/>
                <a:cs typeface="Times New Roman" pitchFamily="18" charset="0"/>
              </a:rPr>
              <a:t>itemset</a:t>
            </a:r>
            <a:r>
              <a:rPr lang="en-US" sz="2200" dirty="0">
                <a:latin typeface="Times New Roman" pitchFamily="18" charset="0"/>
                <a:cs typeface="Times New Roman" pitchFamily="18" charset="0"/>
              </a:rPr>
              <a:t> is a frequent </a:t>
            </a:r>
            <a:r>
              <a:rPr lang="en-US" sz="2200" dirty="0" err="1">
                <a:latin typeface="Times New Roman" pitchFamily="18" charset="0"/>
                <a:cs typeface="Times New Roman" pitchFamily="18" charset="0"/>
              </a:rPr>
              <a:t>itemset</a:t>
            </a:r>
            <a:r>
              <a:rPr lang="en-US" sz="2200" dirty="0">
                <a:latin typeface="Times New Roman" pitchFamily="18" charset="0"/>
                <a:cs typeface="Times New Roman" pitchFamily="18" charset="0"/>
              </a:rPr>
              <a:t> for which no proper superset has the same support count.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That means — if a superset has the same frequency, then we can drop the smaller set.</a:t>
            </a:r>
          </a:p>
          <a:p>
            <a:pPr algn="just"/>
            <a:r>
              <a:rPr lang="en-US" sz="2200" dirty="0">
                <a:solidFill>
                  <a:srgbClr val="00B050"/>
                </a:solidFill>
                <a:latin typeface="Times New Roman" pitchFamily="18" charset="0"/>
                <a:cs typeface="Times New Roman" pitchFamily="18" charset="0"/>
              </a:rPr>
              <a:t>Example:</a:t>
            </a:r>
          </a:p>
          <a:p>
            <a:pPr algn="just"/>
            <a:endParaRPr lang="en-US" sz="2200" dirty="0">
              <a:solidFill>
                <a:srgbClr val="00B050"/>
              </a:solidFill>
              <a:latin typeface="Times New Roman" pitchFamily="18" charset="0"/>
              <a:cs typeface="Times New Roman" pitchFamily="18" charset="0"/>
            </a:endParaRPr>
          </a:p>
          <a:p>
            <a:pPr algn="just"/>
            <a:endParaRPr lang="en-US" sz="2200" dirty="0">
              <a:solidFill>
                <a:srgbClr val="00B050"/>
              </a:solidFill>
              <a:latin typeface="Times New Roman" pitchFamily="18" charset="0"/>
              <a:cs typeface="Times New Roman" pitchFamily="18" charset="0"/>
            </a:endParaRPr>
          </a:p>
          <a:p>
            <a:pPr algn="just"/>
            <a:endParaRPr lang="en-US" sz="2200" dirty="0">
              <a:solidFill>
                <a:srgbClr val="00B050"/>
              </a:solidFill>
              <a:latin typeface="Times New Roman" pitchFamily="18" charset="0"/>
              <a:cs typeface="Times New Roman" pitchFamily="18" charset="0"/>
            </a:endParaRPr>
          </a:p>
          <a:p>
            <a:pPr algn="just"/>
            <a:endParaRPr lang="en-US" sz="2200" dirty="0">
              <a:solidFill>
                <a:srgbClr val="00B05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Here (A,B} and {A,B,C} have the same support</a:t>
            </a:r>
          </a:p>
          <a:p>
            <a:pPr algn="just"/>
            <a:r>
              <a:rPr lang="en-US" sz="2200" dirty="0">
                <a:latin typeface="Times New Roman" pitchFamily="18" charset="0"/>
                <a:cs typeface="Times New Roman" pitchFamily="18" charset="0"/>
              </a:rPr>
              <a:t>So {A,B} is not closed because it’s superset {A,B,C} has the same frequency</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There fore: Closed </a:t>
            </a:r>
            <a:r>
              <a:rPr lang="en-US" sz="2200" dirty="0" err="1">
                <a:latin typeface="Times New Roman" pitchFamily="18" charset="0"/>
                <a:cs typeface="Times New Roman" pitchFamily="18" charset="0"/>
              </a:rPr>
              <a:t>itemset</a:t>
            </a:r>
            <a:r>
              <a:rPr lang="en-US" sz="2200" dirty="0">
                <a:latin typeface="Times New Roman" pitchFamily="18" charset="0"/>
                <a:cs typeface="Times New Roman" pitchFamily="18" charset="0"/>
              </a:rPr>
              <a:t> = {A,B,C}</a:t>
            </a:r>
          </a:p>
        </p:txBody>
      </p:sp>
      <p:graphicFrame>
        <p:nvGraphicFramePr>
          <p:cNvPr id="3" name="Table 2"/>
          <p:cNvGraphicFramePr>
            <a:graphicFrameLocks noGrp="1"/>
          </p:cNvGraphicFramePr>
          <p:nvPr>
            <p:extLst>
              <p:ext uri="{D42A27DB-BD31-4B8C-83A1-F6EECF244321}">
                <p14:modId xmlns:p14="http://schemas.microsoft.com/office/powerpoint/2010/main" val="1900855329"/>
              </p:ext>
            </p:extLst>
          </p:nvPr>
        </p:nvGraphicFramePr>
        <p:xfrm>
          <a:off x="1752600" y="3314541"/>
          <a:ext cx="4267200" cy="1097280"/>
        </p:xfrm>
        <a:graphic>
          <a:graphicData uri="http://schemas.openxmlformats.org/drawingml/2006/table">
            <a:tbl>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276807">
                <a:tc>
                  <a:txBody>
                    <a:bodyPr/>
                    <a:lstStyle/>
                    <a:p>
                      <a:r>
                        <a:rPr lang="en-IN" dirty="0" err="1"/>
                        <a:t>Itemset</a:t>
                      </a:r>
                      <a:endParaRPr lang="en-IN" dirty="0"/>
                    </a:p>
                  </a:txBody>
                  <a:tcPr anchor="ctr">
                    <a:lnL>
                      <a:noFill/>
                    </a:lnL>
                    <a:lnR>
                      <a:noFill/>
                    </a:lnR>
                    <a:lnT>
                      <a:noFill/>
                    </a:lnT>
                    <a:lnB>
                      <a:noFill/>
                    </a:lnB>
                  </a:tcPr>
                </a:tc>
                <a:tc>
                  <a:txBody>
                    <a:bodyPr/>
                    <a:lstStyle/>
                    <a:p>
                      <a:r>
                        <a:rPr lang="en-IN"/>
                        <a:t>Support Count</a:t>
                      </a:r>
                    </a:p>
                  </a:txBody>
                  <a:tcPr anchor="ctr">
                    <a:lnL>
                      <a:noFill/>
                    </a:lnL>
                    <a:lnR>
                      <a:noFill/>
                    </a:lnR>
                    <a:lnT>
                      <a:noFill/>
                    </a:lnT>
                    <a:lnB>
                      <a:noFill/>
                    </a:lnB>
                  </a:tcPr>
                </a:tc>
                <a:extLst>
                  <a:ext uri="{0D108BD9-81ED-4DB2-BD59-A6C34878D82A}">
                    <a16:rowId xmlns:a16="http://schemas.microsoft.com/office/drawing/2014/main" val="10000"/>
                  </a:ext>
                </a:extLst>
              </a:tr>
              <a:tr h="276807">
                <a:tc>
                  <a:txBody>
                    <a:bodyPr/>
                    <a:lstStyle/>
                    <a:p>
                      <a:r>
                        <a:rPr lang="en-IN" dirty="0"/>
                        <a:t>{A, B}</a:t>
                      </a:r>
                    </a:p>
                  </a:txBody>
                  <a:tcPr anchor="ctr">
                    <a:lnL>
                      <a:noFill/>
                    </a:lnL>
                    <a:lnR>
                      <a:noFill/>
                    </a:lnR>
                    <a:lnT>
                      <a:noFill/>
                    </a:lnT>
                    <a:lnB>
                      <a:noFill/>
                    </a:lnB>
                  </a:tcPr>
                </a:tc>
                <a:tc>
                  <a:txBody>
                    <a:bodyPr/>
                    <a:lstStyle/>
                    <a:p>
                      <a:r>
                        <a:rPr lang="en-IN" dirty="0"/>
                        <a:t>3</a:t>
                      </a:r>
                    </a:p>
                  </a:txBody>
                  <a:tcPr anchor="ctr">
                    <a:lnL>
                      <a:noFill/>
                    </a:lnL>
                    <a:lnR>
                      <a:noFill/>
                    </a:lnR>
                    <a:lnT>
                      <a:noFill/>
                    </a:lnT>
                    <a:lnB>
                      <a:noFill/>
                    </a:lnB>
                  </a:tcPr>
                </a:tc>
                <a:extLst>
                  <a:ext uri="{0D108BD9-81ED-4DB2-BD59-A6C34878D82A}">
                    <a16:rowId xmlns:a16="http://schemas.microsoft.com/office/drawing/2014/main" val="10001"/>
                  </a:ext>
                </a:extLst>
              </a:tr>
              <a:tr h="276807">
                <a:tc>
                  <a:txBody>
                    <a:bodyPr/>
                    <a:lstStyle/>
                    <a:p>
                      <a:r>
                        <a:rPr lang="en-IN"/>
                        <a:t>{A, B, C}</a:t>
                      </a:r>
                    </a:p>
                  </a:txBody>
                  <a:tcPr anchor="ctr">
                    <a:lnL>
                      <a:noFill/>
                    </a:lnL>
                    <a:lnR>
                      <a:noFill/>
                    </a:lnR>
                    <a:lnT>
                      <a:noFill/>
                    </a:lnT>
                    <a:lnB>
                      <a:noFill/>
                    </a:lnB>
                  </a:tcPr>
                </a:tc>
                <a:tc>
                  <a:txBody>
                    <a:bodyPr/>
                    <a:lstStyle/>
                    <a:p>
                      <a:r>
                        <a:rPr lang="en-IN" dirty="0"/>
                        <a:t>3</a:t>
                      </a:r>
                    </a:p>
                  </a:txBody>
                  <a:tcPr anchor="ctr">
                    <a:lnL>
                      <a:noFill/>
                    </a:lnL>
                    <a:lnR>
                      <a:noFill/>
                    </a:lnR>
                    <a:lnT>
                      <a:noFill/>
                    </a:lnT>
                    <a:lnB>
                      <a:noFill/>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9468045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1" y="228600"/>
            <a:ext cx="85344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36065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8686799"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43659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56223" y="214290"/>
            <a:ext cx="8730619" cy="6143668"/>
          </a:xfrm>
          <a:prstGeom prst="rect">
            <a:avLst/>
          </a:prstGeom>
          <a:noFill/>
          <a:ln w="9525">
            <a:noFill/>
            <a:miter lim="800000"/>
            <a:headEnd/>
            <a:tailEnd/>
          </a:ln>
          <a:effectLst/>
        </p:spPr>
      </p:pic>
    </p:spTree>
    <p:extLst>
      <p:ext uri="{BB962C8B-B14F-4D97-AF65-F5344CB8AC3E}">
        <p14:creationId xmlns:p14="http://schemas.microsoft.com/office/powerpoint/2010/main" val="32258761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534400" cy="3170099"/>
          </a:xfrm>
          <a:prstGeom prst="rect">
            <a:avLst/>
          </a:prstGeom>
        </p:spPr>
        <p:txBody>
          <a:bodyPr wrap="square">
            <a:spAutoFit/>
          </a:bodyPr>
          <a:lstStyle/>
          <a:p>
            <a:r>
              <a:rPr lang="en-IN" sz="2800" b="1" dirty="0" err="1">
                <a:solidFill>
                  <a:srgbClr val="FF0000"/>
                </a:solidFill>
              </a:rPr>
              <a:t>Apriori</a:t>
            </a:r>
            <a:r>
              <a:rPr lang="en-IN" sz="2800" b="1" dirty="0">
                <a:solidFill>
                  <a:srgbClr val="FF0000"/>
                </a:solidFill>
              </a:rPr>
              <a:t> Algorithm Disadvantages</a:t>
            </a:r>
          </a:p>
          <a:p>
            <a:endParaRPr lang="en-IN" sz="2400" b="1" dirty="0">
              <a:solidFill>
                <a:srgbClr val="FF0000"/>
              </a:solidFill>
              <a:latin typeface="Times New Roman" pitchFamily="18" charset="0"/>
              <a:cs typeface="Times New Roman" pitchFamily="18" charset="0"/>
            </a:endParaRPr>
          </a:p>
          <a:p>
            <a:pPr algn="just">
              <a:buFont typeface="Wingdings" pitchFamily="2" charset="2"/>
              <a:buChar char="Ø"/>
            </a:pPr>
            <a:r>
              <a:rPr lang="en-IN" sz="2400" dirty="0" err="1">
                <a:latin typeface="Times New Roman" pitchFamily="18" charset="0"/>
                <a:cs typeface="Times New Roman" pitchFamily="18" charset="0"/>
              </a:rPr>
              <a:t>Apriori</a:t>
            </a:r>
            <a:r>
              <a:rPr lang="en-IN" sz="2400" dirty="0">
                <a:latin typeface="Times New Roman" pitchFamily="18" charset="0"/>
                <a:cs typeface="Times New Roman" pitchFamily="18" charset="0"/>
              </a:rPr>
              <a:t> needs a generation of candidate item sets. These item sets may be large in number if the item set in the database is huge.</a:t>
            </a:r>
          </a:p>
          <a:p>
            <a:pPr algn="just">
              <a:buFont typeface="Wingdings" pitchFamily="2" charset="2"/>
              <a:buChar char="Ø"/>
            </a:pPr>
            <a:endParaRPr lang="en-IN" sz="2400" dirty="0">
              <a:latin typeface="Times New Roman" pitchFamily="18" charset="0"/>
              <a:cs typeface="Times New Roman" pitchFamily="18" charset="0"/>
            </a:endParaRPr>
          </a:p>
          <a:p>
            <a:pPr algn="just">
              <a:buFont typeface="Wingdings" pitchFamily="2" charset="2"/>
              <a:buChar char="Ø"/>
            </a:pPr>
            <a:r>
              <a:rPr lang="en-IN" sz="2400" dirty="0" err="1">
                <a:latin typeface="Times New Roman" pitchFamily="18" charset="0"/>
                <a:cs typeface="Times New Roman" pitchFamily="18" charset="0"/>
              </a:rPr>
              <a:t>Apriori</a:t>
            </a:r>
            <a:r>
              <a:rPr lang="en-IN" sz="2400" dirty="0">
                <a:latin typeface="Times New Roman" pitchFamily="18" charset="0"/>
                <a:cs typeface="Times New Roman" pitchFamily="18" charset="0"/>
              </a:rPr>
              <a:t> needs multiple scans of the database to check the support of each item set generated and this leads to high costs.</a:t>
            </a:r>
          </a:p>
          <a:p>
            <a:endParaRPr lang="en-IN" sz="2800" dirty="0">
              <a:solidFill>
                <a:srgbClr val="FF0000"/>
              </a:solidFill>
            </a:endParaRPr>
          </a:p>
        </p:txBody>
      </p:sp>
    </p:spTree>
    <p:extLst>
      <p:ext uri="{BB962C8B-B14F-4D97-AF65-F5344CB8AC3E}">
        <p14:creationId xmlns:p14="http://schemas.microsoft.com/office/powerpoint/2010/main" val="23919526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5940088"/>
          </a:xfrm>
          <a:prstGeom prst="rect">
            <a:avLst/>
          </a:prstGeom>
        </p:spPr>
        <p:txBody>
          <a:bodyPr wrap="square">
            <a:spAutoFit/>
          </a:bodyPr>
          <a:lstStyle/>
          <a:p>
            <a:r>
              <a:rPr lang="en-IN" sz="2400" b="1" dirty="0">
                <a:solidFill>
                  <a:srgbClr val="FF0000"/>
                </a:solidFill>
                <a:latin typeface="Times New Roman" pitchFamily="18" charset="0"/>
                <a:cs typeface="Times New Roman" pitchFamily="18" charset="0"/>
              </a:rPr>
              <a:t>Frequent Pattern Growth Algorithm(FP-Growth Algorithm):</a:t>
            </a:r>
          </a:p>
          <a:p>
            <a:pPr algn="just"/>
            <a:r>
              <a:rPr lang="en-IN" sz="2400" b="1" dirty="0">
                <a:solidFill>
                  <a:srgbClr val="FF0000"/>
                </a:solidFill>
                <a:latin typeface="Times New Roman" pitchFamily="18" charset="0"/>
                <a:cs typeface="Times New Roman" pitchFamily="18" charset="0"/>
              </a:rPr>
              <a:t>	</a:t>
            </a:r>
            <a:r>
              <a:rPr lang="en-IN" sz="2200" dirty="0">
                <a:latin typeface="Times New Roman" pitchFamily="18" charset="0"/>
                <a:cs typeface="Times New Roman" pitchFamily="18" charset="0"/>
              </a:rPr>
              <a:t>A frequent pattern is generated without the need for candidate generation. FP growth algorithm represents the database in the form of a tree called a frequent pattern tree or FP tree.</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IN" sz="2400" b="1" dirty="0">
                <a:solidFill>
                  <a:srgbClr val="FF0000"/>
                </a:solidFill>
                <a:latin typeface="Times New Roman" pitchFamily="18" charset="0"/>
                <a:cs typeface="Times New Roman" pitchFamily="18" charset="0"/>
              </a:rPr>
              <a:t>F</a:t>
            </a:r>
            <a:r>
              <a:rPr lang="en-IN" sz="2200" b="1" dirty="0">
                <a:solidFill>
                  <a:srgbClr val="FF0000"/>
                </a:solidFill>
                <a:latin typeface="Times New Roman" pitchFamily="18" charset="0"/>
                <a:cs typeface="Times New Roman" pitchFamily="18" charset="0"/>
              </a:rPr>
              <a:t>P Tree:</a:t>
            </a:r>
            <a:endParaRPr lang="en-US" sz="2200" b="1" dirty="0">
              <a:solidFill>
                <a:srgbClr val="FF0000"/>
              </a:solidFill>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Frequent Pattern Tree is a tree-like structure that is made with the initial item sets of the database. </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The purpose of the FP tree is to mine the most frequent pattern. </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Each node of the FP tree represents an item of the item set.</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The root node represents null while the lower nodes represent the item sets. </a:t>
            </a:r>
          </a:p>
          <a:p>
            <a:pPr algn="just"/>
            <a:endParaRPr lang="en-IN" sz="2200" dirty="0">
              <a:latin typeface="Times New Roman" pitchFamily="18" charset="0"/>
              <a:cs typeface="Times New Roman" pitchFamily="18" charset="0"/>
            </a:endParaRPr>
          </a:p>
          <a:p>
            <a:pPr algn="just"/>
            <a:endParaRPr lang="en-IN" sz="22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8333483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0"/>
            <a:ext cx="8610600" cy="1538883"/>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FP-Tree Representation: </a:t>
            </a:r>
          </a:p>
          <a:p>
            <a:pPr algn="just"/>
            <a:r>
              <a:rPr lang="en-US" sz="2200" dirty="0">
                <a:latin typeface="Times New Roman" pitchFamily="18" charset="0"/>
                <a:cs typeface="Times New Roman" pitchFamily="18" charset="0"/>
              </a:rPr>
              <a:t>	An FP-tree is a compressed representation of the input data. It is constructed by reading the data set one transaction at a time and mapping each transaction onto a path in the FP-tree.</a:t>
            </a:r>
            <a:endParaRPr lang="en-IN" sz="2200"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91283"/>
            <a:ext cx="8610599" cy="4938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95503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1" y="381000"/>
            <a:ext cx="75438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49794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458200" cy="6524863"/>
          </a:xfrm>
          <a:prstGeom prst="rect">
            <a:avLst/>
          </a:prstGeom>
        </p:spPr>
        <p:txBody>
          <a:bodyPr wrap="square">
            <a:spAutoFit/>
          </a:bodyPr>
          <a:lstStyle/>
          <a:p>
            <a:pPr algn="just"/>
            <a:r>
              <a:rPr lang="en-US" sz="2200" dirty="0">
                <a:latin typeface="Times New Roman" pitchFamily="18" charset="0"/>
                <a:cs typeface="Times New Roman" pitchFamily="18" charset="0"/>
              </a:rPr>
              <a:t>	The size of an FP-tree also depends on how the items are ordered. If the ordering scheme in the preceding example is reversed, the resulting FP-tree is shown as follows:</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An FP-tree also contains a list of pointers connecting between nodes that have the same items. These pointers, represented as dashed lines in above Figures, help to facilitate the rapid access of individual items in the tree.</a:t>
            </a:r>
            <a:endParaRPr lang="en-IN" sz="2200" dirty="0">
              <a:latin typeface="Times New Roman" pitchFamily="18" charset="0"/>
              <a:cs typeface="Times New Roman"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60397"/>
            <a:ext cx="8382000" cy="3845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58293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458200" cy="4924425"/>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Frequent </a:t>
            </a:r>
            <a:r>
              <a:rPr lang="en-US" sz="2800" dirty="0" err="1">
                <a:solidFill>
                  <a:srgbClr val="FF0000"/>
                </a:solidFill>
                <a:latin typeface="Times New Roman" pitchFamily="18" charset="0"/>
                <a:cs typeface="Times New Roman" pitchFamily="18" charset="0"/>
              </a:rPr>
              <a:t>Itemset</a:t>
            </a:r>
            <a:r>
              <a:rPr lang="en-US" sz="2800" dirty="0">
                <a:solidFill>
                  <a:srgbClr val="FF0000"/>
                </a:solidFill>
                <a:latin typeface="Times New Roman" pitchFamily="18" charset="0"/>
                <a:cs typeface="Times New Roman" pitchFamily="18" charset="0"/>
              </a:rPr>
              <a:t> Generation in FP-Growth Algorithm:</a:t>
            </a:r>
            <a:r>
              <a:rPr lang="en-US" sz="2200" dirty="0">
                <a:latin typeface="Times New Roman" pitchFamily="18" charset="0"/>
                <a:cs typeface="Times New Roman" pitchFamily="18" charset="0"/>
              </a:rPr>
              <a:t>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FP-growth is an algorithm that generates frequent </a:t>
            </a:r>
            <a:r>
              <a:rPr lang="en-US" sz="2200" dirty="0" err="1">
                <a:latin typeface="Times New Roman" pitchFamily="18" charset="0"/>
                <a:cs typeface="Times New Roman" pitchFamily="18" charset="0"/>
              </a:rPr>
              <a:t>itemsets</a:t>
            </a:r>
            <a:r>
              <a:rPr lang="en-US" sz="2200" dirty="0">
                <a:latin typeface="Times New Roman" pitchFamily="18" charset="0"/>
                <a:cs typeface="Times New Roman" pitchFamily="18" charset="0"/>
              </a:rPr>
              <a:t> from an FP-tree by exploring the tree in a bottom-up fashion. Given the example tree shown in previous(First) Figure, the algorithm looks for frequent </a:t>
            </a:r>
            <a:r>
              <a:rPr lang="en-US" sz="2200" dirty="0" err="1">
                <a:latin typeface="Times New Roman" pitchFamily="18" charset="0"/>
                <a:cs typeface="Times New Roman" pitchFamily="18" charset="0"/>
              </a:rPr>
              <a:t>itemsets</a:t>
            </a:r>
            <a:r>
              <a:rPr lang="en-US" sz="2200" dirty="0">
                <a:latin typeface="Times New Roman" pitchFamily="18" charset="0"/>
                <a:cs typeface="Times New Roman" pitchFamily="18" charset="0"/>
              </a:rPr>
              <a:t> ending in e first, followed by d, c, b, and finally, a. This bottom-up strategy for finding frequent item sets ending with a particular item is equivalent to the suffix-based approach.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Since every transaction is mapped onto a path in the FP-tree, we can derive the frequent </a:t>
            </a:r>
            <a:r>
              <a:rPr lang="en-US" sz="2200" dirty="0" err="1">
                <a:latin typeface="Times New Roman" pitchFamily="18" charset="0"/>
                <a:cs typeface="Times New Roman" pitchFamily="18" charset="0"/>
              </a:rPr>
              <a:t>itemsets</a:t>
            </a:r>
            <a:r>
              <a:rPr lang="en-US" sz="2200" dirty="0">
                <a:latin typeface="Times New Roman" pitchFamily="18" charset="0"/>
                <a:cs typeface="Times New Roman" pitchFamily="18" charset="0"/>
              </a:rPr>
              <a:t> ending with a particular item, say, e, by examining only the paths containing node e. These paths can be accessed rapidly using the pointers associated with node e. The extracted paths are shown in following Figure.</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3029807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85344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44640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534400" cy="954107"/>
          </a:xfrm>
          <a:prstGeom prst="rect">
            <a:avLst/>
          </a:prstGeom>
        </p:spPr>
        <p:txBody>
          <a:bodyPr wrap="square">
            <a:spAutoFit/>
          </a:bodyPr>
          <a:lstStyle/>
          <a:p>
            <a:r>
              <a:rPr lang="en-IN" sz="2800" b="1" dirty="0">
                <a:solidFill>
                  <a:srgbClr val="FF0000"/>
                </a:solidFill>
                <a:latin typeface="Times New Roman" pitchFamily="18" charset="0"/>
                <a:cs typeface="Times New Roman" pitchFamily="18" charset="0"/>
              </a:rPr>
              <a:t>Example of FP-Growth Algorithm:</a:t>
            </a:r>
          </a:p>
          <a:p>
            <a:endParaRPr lang="en-IN" sz="2800" dirty="0">
              <a:solidFill>
                <a:srgbClr val="FF0000"/>
              </a:solidFill>
              <a:latin typeface="Times New Roman" pitchFamily="18" charset="0"/>
              <a:cs typeface="Times New Roman" pitchFamily="18" charset="0"/>
            </a:endParaRPr>
          </a:p>
        </p:txBody>
      </p:sp>
      <p:pic>
        <p:nvPicPr>
          <p:cNvPr id="3" name="Picture 2"/>
          <p:cNvPicPr>
            <a:picLocks noChangeAspect="1" noChangeArrowheads="1"/>
          </p:cNvPicPr>
          <p:nvPr/>
        </p:nvPicPr>
        <p:blipFill>
          <a:blip r:embed="rId2"/>
          <a:srcRect/>
          <a:stretch>
            <a:fillRect/>
          </a:stretch>
        </p:blipFill>
        <p:spPr bwMode="auto">
          <a:xfrm>
            <a:off x="1571604" y="993644"/>
            <a:ext cx="5643601" cy="4792810"/>
          </a:xfrm>
          <a:prstGeom prst="rect">
            <a:avLst/>
          </a:prstGeom>
          <a:noFill/>
          <a:ln w="9525">
            <a:noFill/>
            <a:miter lim="800000"/>
            <a:headEnd/>
            <a:tailEnd/>
          </a:ln>
          <a:effectLst/>
        </p:spPr>
      </p:pic>
    </p:spTree>
    <p:extLst>
      <p:ext uri="{BB962C8B-B14F-4D97-AF65-F5344CB8AC3E}">
        <p14:creationId xmlns:p14="http://schemas.microsoft.com/office/powerpoint/2010/main" val="41415770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500034" y="208808"/>
            <a:ext cx="8034366" cy="6006274"/>
          </a:xfrm>
          <a:prstGeom prst="rect">
            <a:avLst/>
          </a:prstGeom>
          <a:noFill/>
          <a:ln w="9525">
            <a:noFill/>
            <a:miter lim="800000"/>
            <a:headEnd/>
            <a:tailEnd/>
          </a:ln>
          <a:effectLst/>
        </p:spPr>
      </p:pic>
    </p:spTree>
    <p:extLst>
      <p:ext uri="{BB962C8B-B14F-4D97-AF65-F5344CB8AC3E}">
        <p14:creationId xmlns:p14="http://schemas.microsoft.com/office/powerpoint/2010/main" val="39375829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1000100" y="571480"/>
            <a:ext cx="1928826" cy="1285884"/>
          </a:xfrm>
          <a:prstGeom prst="rect">
            <a:avLst/>
          </a:prstGeom>
          <a:noFill/>
          <a:ln w="9525">
            <a:noFill/>
            <a:miter lim="800000"/>
            <a:headEnd/>
            <a:tailEnd/>
          </a:ln>
          <a:effectLst/>
        </p:spPr>
      </p:pic>
      <p:pic>
        <p:nvPicPr>
          <p:cNvPr id="3" name="Picture 3"/>
          <p:cNvPicPr>
            <a:picLocks noChangeAspect="1" noChangeArrowheads="1"/>
          </p:cNvPicPr>
          <p:nvPr/>
        </p:nvPicPr>
        <p:blipFill>
          <a:blip r:embed="rId3"/>
          <a:srcRect/>
          <a:stretch>
            <a:fillRect/>
          </a:stretch>
        </p:blipFill>
        <p:spPr bwMode="auto">
          <a:xfrm>
            <a:off x="3500430" y="571480"/>
            <a:ext cx="4286280" cy="2786082"/>
          </a:xfrm>
          <a:prstGeom prst="rect">
            <a:avLst/>
          </a:prstGeom>
          <a:noFill/>
          <a:ln w="9525">
            <a:noFill/>
            <a:miter lim="800000"/>
            <a:headEnd/>
            <a:tailEnd/>
          </a:ln>
          <a:effectLst/>
        </p:spPr>
      </p:pic>
      <p:pic>
        <p:nvPicPr>
          <p:cNvPr id="4" name="Picture 4"/>
          <p:cNvPicPr>
            <a:picLocks noChangeAspect="1" noChangeArrowheads="1"/>
          </p:cNvPicPr>
          <p:nvPr/>
        </p:nvPicPr>
        <p:blipFill>
          <a:blip r:embed="rId4"/>
          <a:srcRect/>
          <a:stretch>
            <a:fillRect/>
          </a:stretch>
        </p:blipFill>
        <p:spPr bwMode="auto">
          <a:xfrm>
            <a:off x="928662" y="3500438"/>
            <a:ext cx="4071966" cy="3000396"/>
          </a:xfrm>
          <a:prstGeom prst="rect">
            <a:avLst/>
          </a:prstGeom>
          <a:noFill/>
          <a:ln w="9525">
            <a:noFill/>
            <a:miter lim="800000"/>
            <a:headEnd/>
            <a:tailEnd/>
          </a:ln>
          <a:effectLst/>
        </p:spPr>
      </p:pic>
    </p:spTree>
    <p:extLst>
      <p:ext uri="{BB962C8B-B14F-4D97-AF65-F5344CB8AC3E}">
        <p14:creationId xmlns:p14="http://schemas.microsoft.com/office/powerpoint/2010/main" val="4307740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685800" y="285728"/>
            <a:ext cx="7958165" cy="6072230"/>
          </a:xfrm>
          <a:prstGeom prst="rect">
            <a:avLst/>
          </a:prstGeom>
          <a:noFill/>
          <a:ln w="9525">
            <a:noFill/>
            <a:miter lim="800000"/>
            <a:headEnd/>
            <a:tailEnd/>
          </a:ln>
          <a:effectLst/>
        </p:spPr>
      </p:pic>
    </p:spTree>
    <p:extLst>
      <p:ext uri="{BB962C8B-B14F-4D97-AF65-F5344CB8AC3E}">
        <p14:creationId xmlns:p14="http://schemas.microsoft.com/office/powerpoint/2010/main" val="21971289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214282" y="685776"/>
            <a:ext cx="8929718" cy="3429024"/>
          </a:xfrm>
          <a:prstGeom prst="rect">
            <a:avLst/>
          </a:prstGeom>
          <a:noFill/>
          <a:ln w="9525">
            <a:noFill/>
            <a:miter lim="800000"/>
            <a:headEnd/>
            <a:tailEnd/>
          </a:ln>
          <a:effectLst/>
        </p:spPr>
      </p:pic>
    </p:spTree>
    <p:extLst>
      <p:ext uri="{BB962C8B-B14F-4D97-AF65-F5344CB8AC3E}">
        <p14:creationId xmlns:p14="http://schemas.microsoft.com/office/powerpoint/2010/main" val="35946640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219" y="1295400"/>
            <a:ext cx="8151215" cy="3367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47918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3" y="1800225"/>
            <a:ext cx="7381875"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18140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932" y="228600"/>
            <a:ext cx="7918449"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4038600"/>
            <a:ext cx="34290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51309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04800"/>
            <a:ext cx="8382000" cy="453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87193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28600"/>
            <a:ext cx="82296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886200"/>
            <a:ext cx="6019800" cy="2804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35974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1000"/>
            <a:ext cx="8153400" cy="482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89599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09601"/>
            <a:ext cx="7162799" cy="401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21599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8686800" cy="498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8998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81000"/>
            <a:ext cx="5410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29298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04800"/>
            <a:ext cx="8305799" cy="954107"/>
          </a:xfrm>
          <a:prstGeom prst="rect">
            <a:avLst/>
          </a:prstGeom>
        </p:spPr>
        <p:txBody>
          <a:bodyPr wrap="square">
            <a:spAutoFit/>
          </a:bodyPr>
          <a:lstStyle/>
          <a:p>
            <a:r>
              <a:rPr lang="en-IN" sz="2800" b="1" dirty="0">
                <a:solidFill>
                  <a:srgbClr val="FF0000"/>
                </a:solidFill>
                <a:latin typeface="Times New Roman" pitchFamily="18" charset="0"/>
                <a:cs typeface="Times New Roman" pitchFamily="18" charset="0"/>
              </a:rPr>
              <a:t>Advantages -FP Growth Algorithm:</a:t>
            </a:r>
          </a:p>
          <a:p>
            <a:endParaRPr lang="en-IN" sz="2800" dirty="0">
              <a:latin typeface="Times New Roman" pitchFamily="18" charset="0"/>
              <a:cs typeface="Times New Roman" pitchFamily="18" charset="0"/>
            </a:endParaRPr>
          </a:p>
        </p:txBody>
      </p:sp>
      <p:sp>
        <p:nvSpPr>
          <p:cNvPr id="3" name="Content Placeholder 2"/>
          <p:cNvSpPr txBox="1">
            <a:spLocks/>
          </p:cNvSpPr>
          <p:nvPr/>
        </p:nvSpPr>
        <p:spPr>
          <a:xfrm>
            <a:off x="457200" y="990600"/>
            <a:ext cx="8329642" cy="5367358"/>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IN" dirty="0"/>
              <a:t>This algorithm needs to scan the database only twice.</a:t>
            </a:r>
          </a:p>
          <a:p>
            <a:pPr algn="just"/>
            <a:r>
              <a:rPr lang="en-IN" dirty="0"/>
              <a:t>The pairing of items is not done in this algorithm and this makes it faster.</a:t>
            </a:r>
          </a:p>
          <a:p>
            <a:pPr algn="just"/>
            <a:r>
              <a:rPr lang="en-IN" dirty="0"/>
              <a:t>The database is stored in a compact version in memory.</a:t>
            </a:r>
          </a:p>
          <a:p>
            <a:pPr algn="just"/>
            <a:r>
              <a:rPr lang="en-IN" dirty="0"/>
              <a:t>It is efficient and scalable for mining both long and short frequent patterns.</a:t>
            </a:r>
          </a:p>
        </p:txBody>
      </p:sp>
    </p:spTree>
    <p:extLst>
      <p:ext uri="{BB962C8B-B14F-4D97-AF65-F5344CB8AC3E}">
        <p14:creationId xmlns:p14="http://schemas.microsoft.com/office/powerpoint/2010/main" val="26043533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57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1622</TotalTime>
  <Words>2671</Words>
  <Application>Microsoft Office PowerPoint</Application>
  <PresentationFormat>On-screen Show (4:3)</PresentationFormat>
  <Paragraphs>320</Paragraphs>
  <Slides>77</Slides>
  <Notes>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3</vt:i4>
      </vt:variant>
      <vt:variant>
        <vt:lpstr>Slide Titles</vt:lpstr>
      </vt:variant>
      <vt:variant>
        <vt:i4>77</vt:i4>
      </vt:variant>
    </vt:vector>
  </HeadingPairs>
  <TitlesOfParts>
    <vt:vector size="92" baseType="lpstr">
      <vt:lpstr>Arial</vt:lpstr>
      <vt:lpstr>Arial Unicode MS</vt:lpstr>
      <vt:lpstr>Bookman Old Style</vt:lpstr>
      <vt:lpstr>Calibri</vt:lpstr>
      <vt:lpstr>Calibri Light</vt:lpstr>
      <vt:lpstr>Courier New</vt:lpstr>
      <vt:lpstr>Monotype Sorts</vt:lpstr>
      <vt:lpstr>Segoe UI Emoji</vt:lpstr>
      <vt:lpstr>Symbol</vt:lpstr>
      <vt:lpstr>Times New Roman</vt:lpstr>
      <vt:lpstr>Wingdings</vt:lpstr>
      <vt:lpstr>Office Theme</vt:lpstr>
      <vt:lpstr>Document</vt:lpstr>
      <vt:lpstr>Equation</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india</dc:creator>
  <cp:lastModifiedBy>Lenovo</cp:lastModifiedBy>
  <cp:revision>62</cp:revision>
  <dcterms:created xsi:type="dcterms:W3CDTF">2006-08-16T00:00:00Z</dcterms:created>
  <dcterms:modified xsi:type="dcterms:W3CDTF">2026-09-24T13:25:19Z</dcterms:modified>
</cp:coreProperties>
</file>