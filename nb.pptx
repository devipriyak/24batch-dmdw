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72" r:id="rId7"/>
    <p:sldId id="273" r:id="rId8"/>
    <p:sldId id="257" r:id="rId9"/>
    <p:sldId id="258" r:id="rId10"/>
    <p:sldId id="260" r:id="rId11"/>
    <p:sldId id="259" r:id="rId12"/>
    <p:sldId id="261" r:id="rId13"/>
    <p:sldId id="262" r:id="rId14"/>
    <p:sldId id="263" r:id="rId15"/>
    <p:sldId id="264" r:id="rId16"/>
    <p:sldId id="265"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9173F-F518-89AB-3475-56DAB8D4EC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043D4A-7B99-3EA2-DB2E-B1DB222991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445032-5E55-2654-A9CC-6205F36CB516}"/>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763D8423-DF16-8C02-AC96-DF29EB817F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635718-BD56-A659-04C4-3FC63DEE8CB3}"/>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2176719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77758-2924-68F8-2DBF-89F3658E38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985A6-F475-908C-B0BF-08A20ACAB6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0131A1-17C0-15FD-25FF-EBD198F5583D}"/>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BF1CCB97-1E37-2749-1370-78D247A4F6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7F12FD-47DD-93C2-B80D-50055915A9AF}"/>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285716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BCA1-FBB4-9216-2565-72C901F901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BDBB7C-A2EC-A97C-3AB5-24F1519689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4B0133-EF97-5C97-6B87-08A8D9553F05}"/>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EDBC0B8F-8821-C353-237C-4B8F3EBE3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5864FD-2299-9E3C-D845-46B378BE9881}"/>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302407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4299-F3E0-DA1E-6DA4-6D01099296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390755-B0E5-7EF2-6F94-74A4F3A8D3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6428C0-2F52-9AD7-000A-522B54B822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3FA340-3DAC-953C-2801-FB76B1966AD5}"/>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6" name="Footer Placeholder 5">
            <a:extLst>
              <a:ext uri="{FF2B5EF4-FFF2-40B4-BE49-F238E27FC236}">
                <a16:creationId xmlns:a16="http://schemas.microsoft.com/office/drawing/2014/main" id="{AF6DD1BF-91BE-46C4-F077-A1D686788D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530CDF-0A7E-5E10-B63A-500AEDB0106B}"/>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2772368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CE7-EB18-676D-12FC-1BA2A27A106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2D2C6C-B74F-07E9-D27F-FDCB987926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EFF967-61B8-9253-90AE-741D92F2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ED682C-2873-1971-95DA-1B4C9F9A9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0C65AE-4669-2036-868D-9B330B3089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3426A7-3B13-035C-11D3-5239F09AB8A4}"/>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8" name="Footer Placeholder 7">
            <a:extLst>
              <a:ext uri="{FF2B5EF4-FFF2-40B4-BE49-F238E27FC236}">
                <a16:creationId xmlns:a16="http://schemas.microsoft.com/office/drawing/2014/main" id="{860343D1-7D7B-D9FB-7C76-661FFCEB6C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53E1BB-751C-330E-7732-E4ED6AF276A3}"/>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3550188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09FC-8631-4B9E-D108-B786EEC2EF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ACAD8B-9255-7BB7-69BF-0E76138387FD}"/>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4" name="Footer Placeholder 3">
            <a:extLst>
              <a:ext uri="{FF2B5EF4-FFF2-40B4-BE49-F238E27FC236}">
                <a16:creationId xmlns:a16="http://schemas.microsoft.com/office/drawing/2014/main" id="{828FF096-56C7-12E4-2291-423531046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731B91-FC55-0C91-E963-3FE508FFEFA8}"/>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3629864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12EA2A-4605-D067-ADFC-CBEEEC05F4EA}"/>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3" name="Footer Placeholder 2">
            <a:extLst>
              <a:ext uri="{FF2B5EF4-FFF2-40B4-BE49-F238E27FC236}">
                <a16:creationId xmlns:a16="http://schemas.microsoft.com/office/drawing/2014/main" id="{289AFD0A-6634-3668-D5C8-F66CADBB51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E089B0-F14B-B8DD-BD00-DC7DBFC8824C}"/>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2660786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21906-D3B0-5643-6D6D-CC7AFCF88A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414063-3044-D2A6-B9A2-D289E4C7A0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FCAAFB-2CBF-7907-AA6E-E197BA6F77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A0DBA-F6D5-DEA3-A9D3-4F80665DEC73}"/>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6" name="Footer Placeholder 5">
            <a:extLst>
              <a:ext uri="{FF2B5EF4-FFF2-40B4-BE49-F238E27FC236}">
                <a16:creationId xmlns:a16="http://schemas.microsoft.com/office/drawing/2014/main" id="{F99FED7A-579E-C5EE-236D-46DD962417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8171D9-4AC4-F53D-4C6A-5BF92BDEC8B6}"/>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2173229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A6DD-89E8-FE14-5D8A-0195746DD7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0CB70F-E6FC-A337-A12D-294EEDA967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E93A75-4BF9-7F7B-CD31-407A561773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DA80DB-0E09-C1DB-E9FE-C351C88BCA1C}"/>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6" name="Footer Placeholder 5">
            <a:extLst>
              <a:ext uri="{FF2B5EF4-FFF2-40B4-BE49-F238E27FC236}">
                <a16:creationId xmlns:a16="http://schemas.microsoft.com/office/drawing/2014/main" id="{CBF16F35-1138-9259-D0DA-169456C29E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6C0ED0-7FE4-4832-72C7-6E9C5B1835E6}"/>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1472240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D48A-E415-3F8D-74AE-10A94E6E3C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47EBFB-EC5F-FE83-D2EF-8DE2F3B481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7C904-98A7-0AC8-4698-E5C13902BE79}"/>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7AFDC586-5632-526F-F1CF-D8D134A51E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7701AB-790D-A848-CB7F-275C450689A0}"/>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66836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6B3512-BE86-D55E-9D02-A7A7F5C904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B78581-A13D-6FED-C7D9-893C493ECF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C69AE4-4DA5-B13F-21DD-2FBC73E31414}"/>
              </a:ext>
            </a:extLst>
          </p:cNvPr>
          <p:cNvSpPr>
            <a:spLocks noGrp="1"/>
          </p:cNvSpPr>
          <p:nvPr>
            <p:ph type="dt" sz="half" idx="10"/>
          </p:nvPr>
        </p:nvSpPr>
        <p:spPr/>
        <p:txBody>
          <a:body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738F1465-6BB6-6639-40E9-ED33057255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488971-6408-027B-5913-BB3F99F4A5AB}"/>
              </a:ext>
            </a:extLst>
          </p:cNvPr>
          <p:cNvSpPr>
            <a:spLocks noGrp="1"/>
          </p:cNvSpPr>
          <p:nvPr>
            <p:ph type="sldNum" sz="quarter" idx="12"/>
          </p:nvPr>
        </p:nvSpPr>
        <p:spPr/>
        <p:txBody>
          <a:bodyPr/>
          <a:lstStyle/>
          <a:p>
            <a:fld id="{04954E81-E5FE-4E87-9D7A-484791C6F8AD}" type="slidenum">
              <a:rPr lang="en-IN" smtClean="0"/>
              <a:t>‹#›</a:t>
            </a:fld>
            <a:endParaRPr lang="en-IN"/>
          </a:p>
        </p:txBody>
      </p:sp>
    </p:spTree>
    <p:extLst>
      <p:ext uri="{BB962C8B-B14F-4D97-AF65-F5344CB8AC3E}">
        <p14:creationId xmlns:p14="http://schemas.microsoft.com/office/powerpoint/2010/main" val="103732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B193CB-B095-9F5B-F1A0-7934D0FDC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0B5929-CFF2-0C08-A7CB-44AC2757A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F8ED60-8F35-D11A-A7DA-5AB245B75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0CC3DC-34E8-46DD-ACA2-6067DF6A6971}" type="datetimeFigureOut">
              <a:rPr lang="en-IN" smtClean="0"/>
              <a:t>21-09-2026</a:t>
            </a:fld>
            <a:endParaRPr lang="en-IN"/>
          </a:p>
        </p:txBody>
      </p:sp>
      <p:sp>
        <p:nvSpPr>
          <p:cNvPr id="5" name="Footer Placeholder 4">
            <a:extLst>
              <a:ext uri="{FF2B5EF4-FFF2-40B4-BE49-F238E27FC236}">
                <a16:creationId xmlns:a16="http://schemas.microsoft.com/office/drawing/2014/main" id="{25BC5AED-BC30-A656-4121-7E80C66728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8FF34DD-3CCA-5801-856C-633D586F1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54E81-E5FE-4E87-9D7A-484791C6F8AD}" type="slidenum">
              <a:rPr lang="en-IN" smtClean="0"/>
              <a:t>‹#›</a:t>
            </a:fld>
            <a:endParaRPr lang="en-IN"/>
          </a:p>
        </p:txBody>
      </p:sp>
    </p:spTree>
    <p:extLst>
      <p:ext uri="{BB962C8B-B14F-4D97-AF65-F5344CB8AC3E}">
        <p14:creationId xmlns:p14="http://schemas.microsoft.com/office/powerpoint/2010/main" val="2449719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CF42-BBF7-2C7B-1880-A514384D6948}"/>
              </a:ext>
            </a:extLst>
          </p:cNvPr>
          <p:cNvSpPr>
            <a:spLocks noGrp="1"/>
          </p:cNvSpPr>
          <p:nvPr>
            <p:ph type="ctrTitle"/>
          </p:nvPr>
        </p:nvSpPr>
        <p:spPr/>
        <p:txBody>
          <a:bodyPr/>
          <a:lstStyle/>
          <a:p>
            <a:r>
              <a:rPr lang="en-IN" dirty="0"/>
              <a:t>Bayes' Theorem- Naive Bayesian </a:t>
            </a:r>
          </a:p>
        </p:txBody>
      </p:sp>
      <p:sp>
        <p:nvSpPr>
          <p:cNvPr id="3" name="Subtitle 2">
            <a:extLst>
              <a:ext uri="{FF2B5EF4-FFF2-40B4-BE49-F238E27FC236}">
                <a16:creationId xmlns:a16="http://schemas.microsoft.com/office/drawing/2014/main" id="{63CECFF4-AB35-0BF2-25B2-A97BB96E932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15822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1A40C-2CD8-7539-F1BC-8B1E65A82992}"/>
              </a:ext>
            </a:extLst>
          </p:cNvPr>
          <p:cNvSpPr>
            <a:spLocks noGrp="1"/>
          </p:cNvSpPr>
          <p:nvPr>
            <p:ph type="title"/>
          </p:nvPr>
        </p:nvSpPr>
        <p:spPr/>
        <p:txBody>
          <a:bodyPr/>
          <a:lstStyle/>
          <a:p>
            <a:r>
              <a:rPr lang="en-IN" dirty="0"/>
              <a:t>Naive Bayesian Classification</a:t>
            </a:r>
          </a:p>
        </p:txBody>
      </p:sp>
      <p:sp>
        <p:nvSpPr>
          <p:cNvPr id="3" name="Content Placeholder 2">
            <a:extLst>
              <a:ext uri="{FF2B5EF4-FFF2-40B4-BE49-F238E27FC236}">
                <a16:creationId xmlns:a16="http://schemas.microsoft.com/office/drawing/2014/main" id="{33099768-0646-23D2-1C28-593FABD336E0}"/>
              </a:ext>
            </a:extLst>
          </p:cNvPr>
          <p:cNvSpPr>
            <a:spLocks noGrp="1"/>
          </p:cNvSpPr>
          <p:nvPr>
            <p:ph idx="1"/>
          </p:nvPr>
        </p:nvSpPr>
        <p:spPr/>
        <p:txBody>
          <a:bodyPr/>
          <a:lstStyle/>
          <a:p>
            <a:r>
              <a:rPr lang="en-IN" dirty="0"/>
              <a:t> supervised machine learning and data mining algorithm used to predict the category or class of a data point using probability. It is built directly on </a:t>
            </a:r>
            <a:r>
              <a:rPr lang="en-IN" b="1" dirty="0"/>
              <a:t>Bayes' Theorem</a:t>
            </a:r>
            <a:r>
              <a:rPr lang="en-IN" dirty="0"/>
              <a:t> but introduces a simplifying ("naive") assumption that all features in a dataset are completely independent of one another given the class label. </a:t>
            </a:r>
          </a:p>
        </p:txBody>
      </p:sp>
    </p:spTree>
    <p:extLst>
      <p:ext uri="{BB962C8B-B14F-4D97-AF65-F5344CB8AC3E}">
        <p14:creationId xmlns:p14="http://schemas.microsoft.com/office/powerpoint/2010/main" val="528688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03ED-BD44-09ED-6D1A-D1A70345F8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A42B43-E730-E9F2-5F28-861330820011}"/>
              </a:ext>
            </a:extLst>
          </p:cNvPr>
          <p:cNvSpPr>
            <a:spLocks noGrp="1"/>
          </p:cNvSpPr>
          <p:nvPr>
            <p:ph idx="1"/>
          </p:nvPr>
        </p:nvSpPr>
        <p:spPr/>
        <p:txBody>
          <a:bodyPr/>
          <a:lstStyle/>
          <a:p>
            <a:pPr lvl="0" fontAlgn="base"/>
            <a:r>
              <a:rPr lang="en-IN" dirty="0"/>
              <a:t>The Naive Bayes Classifier is a simple probabilistic classifier and it has very few number of parameters which are used to build the ML models that can predict at a faster speed than other classification algorithms.</a:t>
            </a:r>
          </a:p>
          <a:p>
            <a:pPr lvl="0" fontAlgn="base"/>
            <a:r>
              <a:rPr lang="en-IN" dirty="0"/>
              <a:t>It is a probabilistic classifier because it assumes that one feature in the model is independent of existence of another feature. In other words, each feature contributes to the predictions with no relation between each other.</a:t>
            </a:r>
          </a:p>
          <a:p>
            <a:endParaRPr lang="en-IN" dirty="0"/>
          </a:p>
        </p:txBody>
      </p:sp>
    </p:spTree>
    <p:extLst>
      <p:ext uri="{BB962C8B-B14F-4D97-AF65-F5344CB8AC3E}">
        <p14:creationId xmlns:p14="http://schemas.microsoft.com/office/powerpoint/2010/main" val="988078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1151-CA07-7D58-EC97-D719FC77040B}"/>
              </a:ext>
            </a:extLst>
          </p:cNvPr>
          <p:cNvSpPr>
            <a:spLocks noGrp="1"/>
          </p:cNvSpPr>
          <p:nvPr>
            <p:ph type="title"/>
          </p:nvPr>
        </p:nvSpPr>
        <p:spPr/>
        <p:txBody>
          <a:bodyPr/>
          <a:lstStyle/>
          <a:p>
            <a:r>
              <a:rPr lang="en-US" dirty="0"/>
              <a:t>Applications </a:t>
            </a:r>
            <a:endParaRPr lang="en-IN" dirty="0"/>
          </a:p>
        </p:txBody>
      </p:sp>
      <p:sp>
        <p:nvSpPr>
          <p:cNvPr id="3" name="Content Placeholder 2">
            <a:extLst>
              <a:ext uri="{FF2B5EF4-FFF2-40B4-BE49-F238E27FC236}">
                <a16:creationId xmlns:a16="http://schemas.microsoft.com/office/drawing/2014/main" id="{79334D3B-D4AC-AB9E-CD54-8D20E09B201F}"/>
              </a:ext>
            </a:extLst>
          </p:cNvPr>
          <p:cNvSpPr>
            <a:spLocks noGrp="1"/>
          </p:cNvSpPr>
          <p:nvPr>
            <p:ph idx="1"/>
          </p:nvPr>
        </p:nvSpPr>
        <p:spPr/>
        <p:txBody>
          <a:bodyPr/>
          <a:lstStyle/>
          <a:p>
            <a:r>
              <a:rPr lang="en-IN" dirty="0"/>
              <a:t>Naive Bayes Algorithm is used in </a:t>
            </a:r>
          </a:p>
          <a:p>
            <a:r>
              <a:rPr lang="en-IN" dirty="0"/>
              <a:t>spam filtration, </a:t>
            </a:r>
          </a:p>
          <a:p>
            <a:r>
              <a:rPr lang="en-IN" dirty="0"/>
              <a:t>Sentimental analysis, </a:t>
            </a:r>
          </a:p>
          <a:p>
            <a:r>
              <a:rPr lang="en-IN" dirty="0"/>
              <a:t>classifying articles and many more.</a:t>
            </a:r>
          </a:p>
          <a:p>
            <a:endParaRPr lang="en-IN" dirty="0"/>
          </a:p>
        </p:txBody>
      </p:sp>
    </p:spTree>
    <p:extLst>
      <p:ext uri="{BB962C8B-B14F-4D97-AF65-F5344CB8AC3E}">
        <p14:creationId xmlns:p14="http://schemas.microsoft.com/office/powerpoint/2010/main" val="4279040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BE26-BD70-EBCE-B2F0-DC88DA0C2067}"/>
              </a:ext>
            </a:extLst>
          </p:cNvPr>
          <p:cNvSpPr>
            <a:spLocks noGrp="1"/>
          </p:cNvSpPr>
          <p:nvPr>
            <p:ph type="title"/>
          </p:nvPr>
        </p:nvSpPr>
        <p:spPr/>
        <p:txBody>
          <a:bodyPr/>
          <a:lstStyle/>
          <a:p>
            <a:r>
              <a:rPr lang="en-IN" b="1" dirty="0"/>
              <a:t>Assumption of Naive Bayes</a:t>
            </a:r>
            <a:br>
              <a:rPr lang="en-IN" b="1" dirty="0"/>
            </a:br>
            <a:endParaRPr lang="en-IN" dirty="0"/>
          </a:p>
        </p:txBody>
      </p:sp>
      <p:sp>
        <p:nvSpPr>
          <p:cNvPr id="3" name="Content Placeholder 2">
            <a:extLst>
              <a:ext uri="{FF2B5EF4-FFF2-40B4-BE49-F238E27FC236}">
                <a16:creationId xmlns:a16="http://schemas.microsoft.com/office/drawing/2014/main" id="{A7A1C724-3894-E78C-BFB2-2A20C6A0072B}"/>
              </a:ext>
            </a:extLst>
          </p:cNvPr>
          <p:cNvSpPr>
            <a:spLocks noGrp="1"/>
          </p:cNvSpPr>
          <p:nvPr>
            <p:ph idx="1"/>
          </p:nvPr>
        </p:nvSpPr>
        <p:spPr/>
        <p:txBody>
          <a:bodyPr>
            <a:normAutofit fontScale="92500" lnSpcReduction="10000"/>
          </a:bodyPr>
          <a:lstStyle/>
          <a:p>
            <a:pPr fontAlgn="base"/>
            <a:r>
              <a:rPr lang="en-IN" dirty="0"/>
              <a:t>The fundamental Naive Bayes assumption is that each feature makes an:</a:t>
            </a:r>
          </a:p>
          <a:p>
            <a:pPr lvl="0" fontAlgn="base"/>
            <a:r>
              <a:rPr lang="en-IN" b="1" dirty="0"/>
              <a:t>Feature independence:</a:t>
            </a:r>
            <a:r>
              <a:rPr lang="en-IN" dirty="0"/>
              <a:t> This means that when we are trying to classify something, we assume that each feature (or piece of information) in the data does not affect any other feature.</a:t>
            </a:r>
          </a:p>
          <a:p>
            <a:pPr lvl="0" fontAlgn="base"/>
            <a:r>
              <a:rPr lang="en-IN" b="1" dirty="0"/>
              <a:t>Continuous features are normally distributed:</a:t>
            </a:r>
            <a:r>
              <a:rPr lang="en-IN" dirty="0"/>
              <a:t> If a feature is continuous, then it is assumed to be normally distributed within each class.</a:t>
            </a:r>
          </a:p>
          <a:p>
            <a:pPr lvl="0" fontAlgn="base"/>
            <a:r>
              <a:rPr lang="en-IN" b="1" dirty="0"/>
              <a:t>Discrete features have multinomial distributions:</a:t>
            </a:r>
            <a:r>
              <a:rPr lang="en-IN" dirty="0"/>
              <a:t> If a feature is discrete, then it is assumed to have a multinomial distribution within each class.</a:t>
            </a:r>
          </a:p>
          <a:p>
            <a:pPr lvl="0" fontAlgn="base"/>
            <a:r>
              <a:rPr lang="en-IN" b="1" dirty="0"/>
              <a:t>Features are equally important:</a:t>
            </a:r>
            <a:r>
              <a:rPr lang="en-IN" dirty="0"/>
              <a:t> All features are assumed to contribute equally to the prediction of the class label.</a:t>
            </a:r>
          </a:p>
          <a:p>
            <a:pPr lvl="0" fontAlgn="base"/>
            <a:r>
              <a:rPr lang="en-IN" b="1" dirty="0"/>
              <a:t>No missing data:</a:t>
            </a:r>
            <a:r>
              <a:rPr lang="en-IN" dirty="0"/>
              <a:t> The data should not contain any missing values.</a:t>
            </a:r>
          </a:p>
          <a:p>
            <a:endParaRPr lang="en-IN" dirty="0"/>
          </a:p>
        </p:txBody>
      </p:sp>
    </p:spTree>
    <p:extLst>
      <p:ext uri="{BB962C8B-B14F-4D97-AF65-F5344CB8AC3E}">
        <p14:creationId xmlns:p14="http://schemas.microsoft.com/office/powerpoint/2010/main" val="3783377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1BBFB-F0DD-180C-27D9-FCA848DAFF80}"/>
              </a:ext>
            </a:extLst>
          </p:cNvPr>
          <p:cNvSpPr>
            <a:spLocks noGrp="1"/>
          </p:cNvSpPr>
          <p:nvPr>
            <p:ph type="title"/>
          </p:nvPr>
        </p:nvSpPr>
        <p:spPr/>
        <p:txBody>
          <a:bodyPr/>
          <a:lstStyle/>
          <a:p>
            <a:r>
              <a:rPr lang="en-IN" b="1" dirty="0"/>
              <a:t>Bayes’ Theorem</a:t>
            </a:r>
            <a:endParaRPr lang="en-IN" dirty="0"/>
          </a:p>
        </p:txBody>
      </p:sp>
      <p:sp>
        <p:nvSpPr>
          <p:cNvPr id="3" name="Content Placeholder 2">
            <a:extLst>
              <a:ext uri="{FF2B5EF4-FFF2-40B4-BE49-F238E27FC236}">
                <a16:creationId xmlns:a16="http://schemas.microsoft.com/office/drawing/2014/main" id="{29272E1D-677A-1A54-1F7B-E2B473C9F22D}"/>
              </a:ext>
            </a:extLst>
          </p:cNvPr>
          <p:cNvSpPr>
            <a:spLocks noGrp="1"/>
          </p:cNvSpPr>
          <p:nvPr>
            <p:ph idx="1"/>
          </p:nvPr>
        </p:nvSpPr>
        <p:spPr/>
        <p:txBody>
          <a:bodyPr/>
          <a:lstStyle/>
          <a:p>
            <a:r>
              <a:rPr lang="en-IN" b="1" dirty="0"/>
              <a:t>Bayes’ Theorem</a:t>
            </a:r>
            <a:r>
              <a:rPr lang="en-IN" dirty="0"/>
              <a:t> provides a principled way to reverse conditional probabilities. It is defined as:</a:t>
            </a:r>
          </a:p>
          <a:p>
            <a:endParaRPr lang="en-IN" dirty="0"/>
          </a:p>
        </p:txBody>
      </p:sp>
      <p:pic>
        <p:nvPicPr>
          <p:cNvPr id="5" name="Picture 4">
            <a:extLst>
              <a:ext uri="{FF2B5EF4-FFF2-40B4-BE49-F238E27FC236}">
                <a16:creationId xmlns:a16="http://schemas.microsoft.com/office/drawing/2014/main" id="{6684B510-76D9-C7D4-5827-9AE5EA8C1940}"/>
              </a:ext>
            </a:extLst>
          </p:cNvPr>
          <p:cNvPicPr>
            <a:picLocks noChangeAspect="1"/>
          </p:cNvPicPr>
          <p:nvPr/>
        </p:nvPicPr>
        <p:blipFill>
          <a:blip r:embed="rId2"/>
          <a:stretch>
            <a:fillRect/>
          </a:stretch>
        </p:blipFill>
        <p:spPr>
          <a:xfrm>
            <a:off x="2787445" y="2933700"/>
            <a:ext cx="7049729" cy="2183990"/>
          </a:xfrm>
          <a:prstGeom prst="rect">
            <a:avLst/>
          </a:prstGeom>
        </p:spPr>
      </p:pic>
    </p:spTree>
    <p:extLst>
      <p:ext uri="{BB962C8B-B14F-4D97-AF65-F5344CB8AC3E}">
        <p14:creationId xmlns:p14="http://schemas.microsoft.com/office/powerpoint/2010/main" val="33419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9BBC-B189-AB2D-CCD4-524614D81CB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55B879B-EBF3-FAFC-FBCD-126010920657}"/>
              </a:ext>
            </a:extLst>
          </p:cNvPr>
          <p:cNvPicPr>
            <a:picLocks noGrp="1" noChangeAspect="1"/>
          </p:cNvPicPr>
          <p:nvPr>
            <p:ph idx="1"/>
          </p:nvPr>
        </p:nvPicPr>
        <p:blipFill>
          <a:blip r:embed="rId2"/>
          <a:stretch>
            <a:fillRect/>
          </a:stretch>
        </p:blipFill>
        <p:spPr>
          <a:xfrm>
            <a:off x="2986087" y="2458244"/>
            <a:ext cx="6219825" cy="3086100"/>
          </a:xfrm>
          <a:prstGeom prst="rect">
            <a:avLst/>
          </a:prstGeom>
        </p:spPr>
      </p:pic>
    </p:spTree>
    <p:extLst>
      <p:ext uri="{BB962C8B-B14F-4D97-AF65-F5344CB8AC3E}">
        <p14:creationId xmlns:p14="http://schemas.microsoft.com/office/powerpoint/2010/main" val="4599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17FFC-2D35-FDC9-28A4-230961983799}"/>
              </a:ext>
            </a:extLst>
          </p:cNvPr>
          <p:cNvSpPr>
            <a:spLocks noGrp="1"/>
          </p:cNvSpPr>
          <p:nvPr>
            <p:ph type="title"/>
          </p:nvPr>
        </p:nvSpPr>
        <p:spPr/>
        <p:txBody>
          <a:bodyPr/>
          <a:lstStyle/>
          <a:p>
            <a:r>
              <a:rPr lang="en-IN" dirty="0"/>
              <a:t>Bayes' Theorem</a:t>
            </a:r>
          </a:p>
        </p:txBody>
      </p:sp>
      <p:sp>
        <p:nvSpPr>
          <p:cNvPr id="3" name="Content Placeholder 2">
            <a:extLst>
              <a:ext uri="{FF2B5EF4-FFF2-40B4-BE49-F238E27FC236}">
                <a16:creationId xmlns:a16="http://schemas.microsoft.com/office/drawing/2014/main" id="{9AAFE6AE-04DC-AB98-C892-48199F6A004D}"/>
              </a:ext>
            </a:extLst>
          </p:cNvPr>
          <p:cNvSpPr>
            <a:spLocks noGrp="1"/>
          </p:cNvSpPr>
          <p:nvPr>
            <p:ph idx="1"/>
          </p:nvPr>
        </p:nvSpPr>
        <p:spPr/>
        <p:txBody>
          <a:bodyPr/>
          <a:lstStyle/>
          <a:p>
            <a:r>
              <a:rPr lang="en-IN" dirty="0"/>
              <a:t>Bayes' Theorem is a mathematical formula used to </a:t>
            </a:r>
            <a:r>
              <a:rPr lang="en-IN" dirty="0">
                <a:solidFill>
                  <a:srgbClr val="FF0000"/>
                </a:solidFill>
              </a:rPr>
              <a:t>determine the conditional probability of an event based on prior knowledge and new evidence.</a:t>
            </a:r>
          </a:p>
          <a:p>
            <a:r>
              <a:rPr lang="en-IN" dirty="0"/>
              <a:t>It adjusts probabilities when new information comes in and helps make better decisions in uncertain situations.</a:t>
            </a:r>
          </a:p>
        </p:txBody>
      </p:sp>
    </p:spTree>
    <p:extLst>
      <p:ext uri="{BB962C8B-B14F-4D97-AF65-F5344CB8AC3E}">
        <p14:creationId xmlns:p14="http://schemas.microsoft.com/office/powerpoint/2010/main" val="1711417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C1D8-8970-F463-3724-FB960BD1ADDB}"/>
              </a:ext>
            </a:extLst>
          </p:cNvPr>
          <p:cNvSpPr>
            <a:spLocks noGrp="1"/>
          </p:cNvSpPr>
          <p:nvPr>
            <p:ph type="title"/>
          </p:nvPr>
        </p:nvSpPr>
        <p:spPr/>
        <p:txBody>
          <a:bodyPr/>
          <a:lstStyle/>
          <a:p>
            <a:r>
              <a:rPr lang="en-IN" b="1" dirty="0"/>
              <a:t>Why Do We Need Bayes' Theorem?</a:t>
            </a:r>
            <a:br>
              <a:rPr lang="en-IN" b="1" dirty="0"/>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3961B7-711B-949B-A71C-DF7EEC6DDF20}"/>
                  </a:ext>
                </a:extLst>
              </p:cNvPr>
              <p:cNvSpPr>
                <a:spLocks noGrp="1"/>
              </p:cNvSpPr>
              <p:nvPr>
                <p:ph idx="1"/>
              </p:nvPr>
            </p:nvSpPr>
            <p:spPr/>
            <p:txBody>
              <a:bodyPr>
                <a:normAutofit/>
              </a:bodyPr>
              <a:lstStyle/>
              <a:p>
                <a:pPr marL="0" indent="0">
                  <a:buNone/>
                </a:pPr>
                <a:endParaRPr lang="en-IN" dirty="0"/>
              </a:p>
              <a:p>
                <a:r>
                  <a:rPr lang="en-IN" dirty="0"/>
                  <a:t>A student is absent today. What is the probability that the student is sick?</a:t>
                </a:r>
              </a:p>
              <a:p>
                <a:r>
                  <a:rPr lang="en-IN" b="1" dirty="0"/>
                  <a:t>Student is absent –ALREADY KNOW</a:t>
                </a:r>
                <a:endParaRPr lang="en-IN" dirty="0"/>
              </a:p>
              <a:p>
                <a:r>
                  <a:rPr lang="en-IN" dirty="0"/>
                  <a:t>We want to find:</a:t>
                </a:r>
              </a:p>
              <a:p>
                <a:r>
                  <a:rPr lang="en-IN" b="1" dirty="0"/>
                  <a:t>Probability of being sick given that the student is </a:t>
                </a:r>
                <a:r>
                  <a:rPr lang="en-IN" b="1" dirty="0" err="1"/>
                  <a:t>absent.</a:t>
                </a:r>
                <a:r>
                  <a:rPr lang="en-IN" dirty="0" err="1"/>
                  <a:t>This</a:t>
                </a:r>
                <a:r>
                  <a:rPr lang="en-IN" dirty="0"/>
                  <a:t> is called </a:t>
                </a:r>
                <a:r>
                  <a:rPr lang="en-IN" b="1" dirty="0">
                    <a:solidFill>
                      <a:srgbClr val="FF0000"/>
                    </a:solidFill>
                  </a:rPr>
                  <a:t>conditional probability</a:t>
                </a:r>
                <a:r>
                  <a:rPr lang="en-IN" dirty="0">
                    <a:solidFill>
                      <a:srgbClr val="FF0000"/>
                    </a:solidFill>
                  </a:rPr>
                  <a:t>.</a:t>
                </a:r>
              </a:p>
              <a:p>
                <a14:m>
                  <m:oMath xmlns:m="http://schemas.openxmlformats.org/officeDocument/2006/math">
                    <m:r>
                      <a:rPr lang="en-IN" i="1"/>
                      <m:t>𝑃</m:t>
                    </m:r>
                    <m:d>
                      <m:dPr>
                        <m:ctrlPr>
                          <a:rPr lang="en-IN" i="1"/>
                        </m:ctrlPr>
                      </m:dPr>
                      <m:e>
                        <m:r>
                          <a:rPr lang="en-IN" i="1"/>
                          <m:t>𝑆𝑖𝑐𝑘</m:t>
                        </m:r>
                        <m:r>
                          <a:rPr lang="en-IN"/>
                          <m:t>∣</m:t>
                        </m:r>
                        <m:r>
                          <a:rPr lang="en-IN" i="1"/>
                          <m:t>𝐴𝑏𝑠𝑒𝑛𝑡</m:t>
                        </m:r>
                      </m:e>
                    </m:d>
                  </m:oMath>
                </a14:m>
                <a:endParaRPr lang="en-IN" dirty="0"/>
              </a:p>
              <a:p>
                <a:r>
                  <a:rPr lang="en-IN" dirty="0"/>
                  <a:t>Probability of Sick </a:t>
                </a:r>
                <a:r>
                  <a:rPr lang="en-IN" b="1" dirty="0"/>
                  <a:t>given</a:t>
                </a:r>
                <a:r>
                  <a:rPr lang="en-IN" dirty="0"/>
                  <a:t> Absent.</a:t>
                </a:r>
              </a:p>
              <a:p>
                <a:endParaRPr lang="en-IN" dirty="0"/>
              </a:p>
            </p:txBody>
          </p:sp>
        </mc:Choice>
        <mc:Fallback>
          <p:sp>
            <p:nvSpPr>
              <p:cNvPr id="3" name="Content Placeholder 2">
                <a:extLst>
                  <a:ext uri="{FF2B5EF4-FFF2-40B4-BE49-F238E27FC236}">
                    <a16:creationId xmlns:a16="http://schemas.microsoft.com/office/drawing/2014/main" id="{523961B7-711B-949B-A71C-DF7EEC6DDF20}"/>
                  </a:ext>
                </a:extLst>
              </p:cNvPr>
              <p:cNvSpPr>
                <a:spLocks noGrp="1" noRot="1" noChangeAspect="1" noMove="1" noResize="1" noEditPoints="1" noAdjustHandles="1" noChangeArrowheads="1" noChangeShapeType="1" noTextEdit="1"/>
              </p:cNvSpPr>
              <p:nvPr>
                <p:ph idx="1"/>
              </p:nvPr>
            </p:nvSpPr>
            <p:spPr>
              <a:blipFill>
                <a:blip r:embed="rId2"/>
                <a:stretch>
                  <a:fillRect l="-1043" b="-3081"/>
                </a:stretch>
              </a:blipFill>
            </p:spPr>
            <p:txBody>
              <a:bodyPr/>
              <a:lstStyle/>
              <a:p>
                <a:r>
                  <a:rPr lang="en-IN">
                    <a:noFill/>
                  </a:rPr>
                  <a:t> </a:t>
                </a:r>
              </a:p>
            </p:txBody>
          </p:sp>
        </mc:Fallback>
      </mc:AlternateContent>
    </p:spTree>
    <p:extLst>
      <p:ext uri="{BB962C8B-B14F-4D97-AF65-F5344CB8AC3E}">
        <p14:creationId xmlns:p14="http://schemas.microsoft.com/office/powerpoint/2010/main" val="2233056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B328D-F47E-A0BC-70A5-0D3515705C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B60F8F-DFAB-A50C-7036-381FB6EE93BD}"/>
              </a:ext>
            </a:extLst>
          </p:cNvPr>
          <p:cNvSpPr>
            <a:spLocks noGrp="1"/>
          </p:cNvSpPr>
          <p:nvPr>
            <p:ph idx="1"/>
          </p:nvPr>
        </p:nvSpPr>
        <p:spPr/>
        <p:txBody>
          <a:bodyPr/>
          <a:lstStyle/>
          <a:p>
            <a:r>
              <a:rPr lang="en-IN" dirty="0"/>
              <a:t>We start with what we already know, then we get new information, and that new information changes our probability.</a:t>
            </a:r>
          </a:p>
          <a:p>
            <a:r>
              <a:rPr lang="en-IN" b="1" dirty="0"/>
              <a:t>Example: Rain and Dark Clouds </a:t>
            </a:r>
          </a:p>
          <a:p>
            <a:r>
              <a:rPr lang="en-IN" dirty="0"/>
              <a:t>Suppose you are going to college in the morning.</a:t>
            </a:r>
          </a:p>
          <a:p>
            <a:r>
              <a:rPr lang="en-IN" b="1" dirty="0"/>
              <a:t>Before looking outside</a:t>
            </a:r>
            <a:r>
              <a:rPr lang="en-IN" dirty="0"/>
              <a:t>, based on the weather forecast, you believe:</a:t>
            </a:r>
          </a:p>
          <a:p>
            <a:r>
              <a:rPr lang="en-IN" dirty="0"/>
              <a:t>There is a </a:t>
            </a:r>
            <a:r>
              <a:rPr lang="en-IN" b="1" dirty="0"/>
              <a:t>30% chance of rain</a:t>
            </a:r>
            <a:r>
              <a:rPr lang="en-IN" dirty="0"/>
              <a:t> today.</a:t>
            </a:r>
          </a:p>
          <a:p>
            <a:r>
              <a:rPr lang="en-IN" dirty="0"/>
              <a:t>This is your </a:t>
            </a:r>
            <a:r>
              <a:rPr lang="en-IN" b="1" dirty="0"/>
              <a:t>prior knowledge</a:t>
            </a:r>
            <a:r>
              <a:rPr lang="en-IN" dirty="0"/>
              <a:t>:</a:t>
            </a:r>
          </a:p>
          <a:p>
            <a:r>
              <a:rPr lang="en-IN" dirty="0"/>
              <a:t>P(Rain)=0.30</a:t>
            </a:r>
          </a:p>
        </p:txBody>
      </p:sp>
    </p:spTree>
    <p:extLst>
      <p:ext uri="{BB962C8B-B14F-4D97-AF65-F5344CB8AC3E}">
        <p14:creationId xmlns:p14="http://schemas.microsoft.com/office/powerpoint/2010/main" val="3154544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B0ED-F125-2626-652A-C6641373F3D0}"/>
              </a:ext>
            </a:extLst>
          </p:cNvPr>
          <p:cNvSpPr>
            <a:spLocks noGrp="1"/>
          </p:cNvSpPr>
          <p:nvPr>
            <p:ph type="title"/>
          </p:nvPr>
        </p:nvSpPr>
        <p:spPr/>
        <p:txBody>
          <a:bodyPr/>
          <a:lstStyle/>
          <a:p>
            <a:r>
              <a:rPr lang="en-IN" b="1" dirty="0"/>
              <a:t>Bayes Theorem and Conditional Probability</a:t>
            </a:r>
            <a:br>
              <a:rPr lang="en-IN" b="1" dirty="0"/>
            </a:br>
            <a:endParaRPr lang="en-IN" dirty="0"/>
          </a:p>
        </p:txBody>
      </p:sp>
      <p:sp>
        <p:nvSpPr>
          <p:cNvPr id="3" name="Content Placeholder 2">
            <a:extLst>
              <a:ext uri="{FF2B5EF4-FFF2-40B4-BE49-F238E27FC236}">
                <a16:creationId xmlns:a16="http://schemas.microsoft.com/office/drawing/2014/main" id="{F14FFBC8-9602-9BA4-3286-BDE791F03DB6}"/>
              </a:ext>
            </a:extLst>
          </p:cNvPr>
          <p:cNvSpPr>
            <a:spLocks noGrp="1"/>
          </p:cNvSpPr>
          <p:nvPr>
            <p:ph idx="1"/>
          </p:nvPr>
        </p:nvSpPr>
        <p:spPr/>
        <p:txBody>
          <a:bodyPr/>
          <a:lstStyle/>
          <a:p>
            <a:pPr fontAlgn="base"/>
            <a:r>
              <a:rPr lang="en-IN" dirty="0"/>
              <a:t>Bayes' theorem (also known as the Bayes Rule or Bayes Law) is used to determine the conditional probability of event A when event B has already occurred.</a:t>
            </a:r>
          </a:p>
          <a:p>
            <a:endParaRPr lang="en-IN" dirty="0"/>
          </a:p>
        </p:txBody>
      </p:sp>
    </p:spTree>
    <p:extLst>
      <p:ext uri="{BB962C8B-B14F-4D97-AF65-F5344CB8AC3E}">
        <p14:creationId xmlns:p14="http://schemas.microsoft.com/office/powerpoint/2010/main" val="1793193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571D0-987C-18BF-5D88-BB3C377D7BFB}"/>
              </a:ext>
            </a:extLst>
          </p:cNvPr>
          <p:cNvSpPr>
            <a:spLocks noGrp="1"/>
          </p:cNvSpPr>
          <p:nvPr>
            <p:ph type="title"/>
          </p:nvPr>
        </p:nvSpPr>
        <p:spPr/>
        <p:txBody>
          <a:bodyPr/>
          <a:lstStyle/>
          <a:p>
            <a:r>
              <a:rPr lang="en-IN" dirty="0"/>
              <a:t>10 Days of Weather-A=Rain B=Dark Clouds</a:t>
            </a:r>
          </a:p>
        </p:txBody>
      </p:sp>
      <p:graphicFrame>
        <p:nvGraphicFramePr>
          <p:cNvPr id="4" name="Content Placeholder 3">
            <a:extLst>
              <a:ext uri="{FF2B5EF4-FFF2-40B4-BE49-F238E27FC236}">
                <a16:creationId xmlns:a16="http://schemas.microsoft.com/office/drawing/2014/main" id="{3CDDDF34-823F-5E29-0CE6-52A06117C78D}"/>
              </a:ext>
            </a:extLst>
          </p:cNvPr>
          <p:cNvGraphicFramePr>
            <a:graphicFrameLocks noGrp="1"/>
          </p:cNvGraphicFramePr>
          <p:nvPr>
            <p:ph idx="1"/>
          </p:nvPr>
        </p:nvGraphicFramePr>
        <p:xfrm>
          <a:off x="838200" y="1989614"/>
          <a:ext cx="10515600" cy="40233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674473287"/>
                    </a:ext>
                  </a:extLst>
                </a:gridCol>
                <a:gridCol w="3505200">
                  <a:extLst>
                    <a:ext uri="{9D8B030D-6E8A-4147-A177-3AD203B41FA5}">
                      <a16:colId xmlns:a16="http://schemas.microsoft.com/office/drawing/2014/main" val="2254270041"/>
                    </a:ext>
                  </a:extLst>
                </a:gridCol>
                <a:gridCol w="3505200">
                  <a:extLst>
                    <a:ext uri="{9D8B030D-6E8A-4147-A177-3AD203B41FA5}">
                      <a16:colId xmlns:a16="http://schemas.microsoft.com/office/drawing/2014/main" val="2868439415"/>
                    </a:ext>
                  </a:extLst>
                </a:gridCol>
              </a:tblGrid>
              <a:tr h="0">
                <a:tc>
                  <a:txBody>
                    <a:bodyPr/>
                    <a:lstStyle/>
                    <a:p>
                      <a:pPr>
                        <a:buNone/>
                      </a:pPr>
                      <a:r>
                        <a:rPr lang="en-IN"/>
                        <a:t>Day</a:t>
                      </a:r>
                    </a:p>
                  </a:txBody>
                  <a:tcPr anchor="ctr"/>
                </a:tc>
                <a:tc>
                  <a:txBody>
                    <a:bodyPr/>
                    <a:lstStyle/>
                    <a:p>
                      <a:pPr>
                        <a:buNone/>
                      </a:pPr>
                      <a:r>
                        <a:rPr lang="en-IN"/>
                        <a:t>Rain (A)</a:t>
                      </a:r>
                    </a:p>
                  </a:txBody>
                  <a:tcPr anchor="ctr"/>
                </a:tc>
                <a:tc>
                  <a:txBody>
                    <a:bodyPr/>
                    <a:lstStyle/>
                    <a:p>
                      <a:pPr>
                        <a:buNone/>
                      </a:pPr>
                      <a:r>
                        <a:rPr lang="en-IN"/>
                        <a:t>Dark Clouds (B)</a:t>
                      </a:r>
                    </a:p>
                  </a:txBody>
                  <a:tcPr anchor="ctr"/>
                </a:tc>
                <a:extLst>
                  <a:ext uri="{0D108BD9-81ED-4DB2-BD59-A6C34878D82A}">
                    <a16:rowId xmlns:a16="http://schemas.microsoft.com/office/drawing/2014/main" val="1153575062"/>
                  </a:ext>
                </a:extLst>
              </a:tr>
              <a:tr h="0">
                <a:tc>
                  <a:txBody>
                    <a:bodyPr/>
                    <a:lstStyle/>
                    <a:p>
                      <a:pPr>
                        <a:buNone/>
                      </a:pPr>
                      <a:r>
                        <a:rPr lang="en-IN"/>
                        <a:t>1</a:t>
                      </a:r>
                    </a:p>
                  </a:txBody>
                  <a:tcPr anchor="ctr"/>
                </a:tc>
                <a:tc>
                  <a:txBody>
                    <a:bodyPr/>
                    <a:lstStyle/>
                    <a:p>
                      <a:pPr>
                        <a:buNone/>
                      </a:pPr>
                      <a:r>
                        <a:rPr lang="en-IN"/>
                        <a:t>Yes</a:t>
                      </a:r>
                    </a:p>
                  </a:txBody>
                  <a:tcPr anchor="ctr"/>
                </a:tc>
                <a:tc>
                  <a:txBody>
                    <a:bodyPr/>
                    <a:lstStyle/>
                    <a:p>
                      <a:pPr>
                        <a:buNone/>
                      </a:pPr>
                      <a:r>
                        <a:rPr lang="en-IN"/>
                        <a:t>Yes</a:t>
                      </a:r>
                    </a:p>
                  </a:txBody>
                  <a:tcPr anchor="ctr"/>
                </a:tc>
                <a:extLst>
                  <a:ext uri="{0D108BD9-81ED-4DB2-BD59-A6C34878D82A}">
                    <a16:rowId xmlns:a16="http://schemas.microsoft.com/office/drawing/2014/main" val="1008532181"/>
                  </a:ext>
                </a:extLst>
              </a:tr>
              <a:tr h="0">
                <a:tc>
                  <a:txBody>
                    <a:bodyPr/>
                    <a:lstStyle/>
                    <a:p>
                      <a:pPr>
                        <a:buNone/>
                      </a:pPr>
                      <a:r>
                        <a:rPr lang="en-IN"/>
                        <a:t>2</a:t>
                      </a:r>
                    </a:p>
                  </a:txBody>
                  <a:tcPr anchor="ctr"/>
                </a:tc>
                <a:tc>
                  <a:txBody>
                    <a:bodyPr/>
                    <a:lstStyle/>
                    <a:p>
                      <a:pPr>
                        <a:buNone/>
                      </a:pPr>
                      <a:r>
                        <a:rPr lang="en-IN"/>
                        <a:t>Yes</a:t>
                      </a:r>
                    </a:p>
                  </a:txBody>
                  <a:tcPr anchor="ctr"/>
                </a:tc>
                <a:tc>
                  <a:txBody>
                    <a:bodyPr/>
                    <a:lstStyle/>
                    <a:p>
                      <a:pPr>
                        <a:buNone/>
                      </a:pPr>
                      <a:r>
                        <a:rPr lang="en-IN"/>
                        <a:t>Yes</a:t>
                      </a:r>
                    </a:p>
                  </a:txBody>
                  <a:tcPr anchor="ctr"/>
                </a:tc>
                <a:extLst>
                  <a:ext uri="{0D108BD9-81ED-4DB2-BD59-A6C34878D82A}">
                    <a16:rowId xmlns:a16="http://schemas.microsoft.com/office/drawing/2014/main" val="1774441442"/>
                  </a:ext>
                </a:extLst>
              </a:tr>
              <a:tr h="0">
                <a:tc>
                  <a:txBody>
                    <a:bodyPr/>
                    <a:lstStyle/>
                    <a:p>
                      <a:pPr>
                        <a:buNone/>
                      </a:pPr>
                      <a:r>
                        <a:rPr lang="en-IN"/>
                        <a:t>3</a:t>
                      </a:r>
                    </a:p>
                  </a:txBody>
                  <a:tcPr anchor="ctr"/>
                </a:tc>
                <a:tc>
                  <a:txBody>
                    <a:bodyPr/>
                    <a:lstStyle/>
                    <a:p>
                      <a:pPr>
                        <a:buNone/>
                      </a:pPr>
                      <a:r>
                        <a:rPr lang="en-IN"/>
                        <a:t>Yes</a:t>
                      </a:r>
                    </a:p>
                  </a:txBody>
                  <a:tcPr anchor="ctr"/>
                </a:tc>
                <a:tc>
                  <a:txBody>
                    <a:bodyPr/>
                    <a:lstStyle/>
                    <a:p>
                      <a:pPr>
                        <a:buNone/>
                      </a:pPr>
                      <a:r>
                        <a:rPr lang="en-IN"/>
                        <a:t>No</a:t>
                      </a:r>
                    </a:p>
                  </a:txBody>
                  <a:tcPr anchor="ctr"/>
                </a:tc>
                <a:extLst>
                  <a:ext uri="{0D108BD9-81ED-4DB2-BD59-A6C34878D82A}">
                    <a16:rowId xmlns:a16="http://schemas.microsoft.com/office/drawing/2014/main" val="3363047443"/>
                  </a:ext>
                </a:extLst>
              </a:tr>
              <a:tr h="0">
                <a:tc>
                  <a:txBody>
                    <a:bodyPr/>
                    <a:lstStyle/>
                    <a:p>
                      <a:pPr>
                        <a:buNone/>
                      </a:pPr>
                      <a:r>
                        <a:rPr lang="en-IN"/>
                        <a:t>4</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413488874"/>
                  </a:ext>
                </a:extLst>
              </a:tr>
              <a:tr h="0">
                <a:tc>
                  <a:txBody>
                    <a:bodyPr/>
                    <a:lstStyle/>
                    <a:p>
                      <a:pPr>
                        <a:buNone/>
                      </a:pPr>
                      <a:r>
                        <a:rPr lang="en-IN"/>
                        <a:t>5</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3638222913"/>
                  </a:ext>
                </a:extLst>
              </a:tr>
              <a:tr h="0">
                <a:tc>
                  <a:txBody>
                    <a:bodyPr/>
                    <a:lstStyle/>
                    <a:p>
                      <a:pPr>
                        <a:buNone/>
                      </a:pPr>
                      <a:r>
                        <a:rPr lang="en-IN"/>
                        <a:t>6</a:t>
                      </a:r>
                    </a:p>
                  </a:txBody>
                  <a:tcPr anchor="ctr"/>
                </a:tc>
                <a:tc>
                  <a:txBody>
                    <a:bodyPr/>
                    <a:lstStyle/>
                    <a:p>
                      <a:pPr>
                        <a:buNone/>
                      </a:pPr>
                      <a:r>
                        <a:rPr lang="en-IN"/>
                        <a:t>No</a:t>
                      </a:r>
                    </a:p>
                  </a:txBody>
                  <a:tcPr anchor="ctr"/>
                </a:tc>
                <a:tc>
                  <a:txBody>
                    <a:bodyPr/>
                    <a:lstStyle/>
                    <a:p>
                      <a:pPr>
                        <a:buNone/>
                      </a:pPr>
                      <a:r>
                        <a:rPr lang="en-IN"/>
                        <a:t>No</a:t>
                      </a:r>
                    </a:p>
                  </a:txBody>
                  <a:tcPr anchor="ctr"/>
                </a:tc>
                <a:extLst>
                  <a:ext uri="{0D108BD9-81ED-4DB2-BD59-A6C34878D82A}">
                    <a16:rowId xmlns:a16="http://schemas.microsoft.com/office/drawing/2014/main" val="2171633858"/>
                  </a:ext>
                </a:extLst>
              </a:tr>
              <a:tr h="0">
                <a:tc>
                  <a:txBody>
                    <a:bodyPr/>
                    <a:lstStyle/>
                    <a:p>
                      <a:pPr>
                        <a:buNone/>
                      </a:pPr>
                      <a:r>
                        <a:rPr lang="en-IN"/>
                        <a:t>7</a:t>
                      </a:r>
                    </a:p>
                  </a:txBody>
                  <a:tcPr anchor="ctr"/>
                </a:tc>
                <a:tc>
                  <a:txBody>
                    <a:bodyPr/>
                    <a:lstStyle/>
                    <a:p>
                      <a:pPr>
                        <a:buNone/>
                      </a:pPr>
                      <a:r>
                        <a:rPr lang="en-IN"/>
                        <a:t>Yes</a:t>
                      </a:r>
                    </a:p>
                  </a:txBody>
                  <a:tcPr anchor="ctr"/>
                </a:tc>
                <a:tc>
                  <a:txBody>
                    <a:bodyPr/>
                    <a:lstStyle/>
                    <a:p>
                      <a:pPr>
                        <a:buNone/>
                      </a:pPr>
                      <a:r>
                        <a:rPr lang="en-IN"/>
                        <a:t>Yes</a:t>
                      </a:r>
                    </a:p>
                  </a:txBody>
                  <a:tcPr anchor="ctr"/>
                </a:tc>
                <a:extLst>
                  <a:ext uri="{0D108BD9-81ED-4DB2-BD59-A6C34878D82A}">
                    <a16:rowId xmlns:a16="http://schemas.microsoft.com/office/drawing/2014/main" val="2972924391"/>
                  </a:ext>
                </a:extLst>
              </a:tr>
              <a:tr h="0">
                <a:tc>
                  <a:txBody>
                    <a:bodyPr/>
                    <a:lstStyle/>
                    <a:p>
                      <a:pPr>
                        <a:buNone/>
                      </a:pPr>
                      <a:r>
                        <a:rPr lang="en-IN"/>
                        <a:t>8</a:t>
                      </a:r>
                    </a:p>
                  </a:txBody>
                  <a:tcPr anchor="ctr"/>
                </a:tc>
                <a:tc>
                  <a:txBody>
                    <a:bodyPr/>
                    <a:lstStyle/>
                    <a:p>
                      <a:pPr>
                        <a:buNone/>
                      </a:pPr>
                      <a:r>
                        <a:rPr lang="en-IN"/>
                        <a:t>No</a:t>
                      </a:r>
                    </a:p>
                  </a:txBody>
                  <a:tcPr anchor="ctr"/>
                </a:tc>
                <a:tc>
                  <a:txBody>
                    <a:bodyPr/>
                    <a:lstStyle/>
                    <a:p>
                      <a:pPr>
                        <a:buNone/>
                      </a:pPr>
                      <a:r>
                        <a:rPr lang="en-IN"/>
                        <a:t>No</a:t>
                      </a:r>
                    </a:p>
                  </a:txBody>
                  <a:tcPr anchor="ctr"/>
                </a:tc>
                <a:extLst>
                  <a:ext uri="{0D108BD9-81ED-4DB2-BD59-A6C34878D82A}">
                    <a16:rowId xmlns:a16="http://schemas.microsoft.com/office/drawing/2014/main" val="427973330"/>
                  </a:ext>
                </a:extLst>
              </a:tr>
              <a:tr h="0">
                <a:tc>
                  <a:txBody>
                    <a:bodyPr/>
                    <a:lstStyle/>
                    <a:p>
                      <a:pPr>
                        <a:buNone/>
                      </a:pPr>
                      <a:r>
                        <a:rPr lang="en-IN"/>
                        <a:t>9</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1442831526"/>
                  </a:ext>
                </a:extLst>
              </a:tr>
              <a:tr h="0">
                <a:tc>
                  <a:txBody>
                    <a:bodyPr/>
                    <a:lstStyle/>
                    <a:p>
                      <a:pPr>
                        <a:buNone/>
                      </a:pPr>
                      <a:r>
                        <a:rPr lang="en-IN"/>
                        <a:t>10</a:t>
                      </a:r>
                    </a:p>
                  </a:txBody>
                  <a:tcPr anchor="ctr"/>
                </a:tc>
                <a:tc>
                  <a:txBody>
                    <a:bodyPr/>
                    <a:lstStyle/>
                    <a:p>
                      <a:pPr>
                        <a:buNone/>
                      </a:pPr>
                      <a:r>
                        <a:rPr lang="en-IN"/>
                        <a:t>No</a:t>
                      </a:r>
                    </a:p>
                  </a:txBody>
                  <a:tcPr anchor="ctr"/>
                </a:tc>
                <a:tc>
                  <a:txBody>
                    <a:bodyPr/>
                    <a:lstStyle/>
                    <a:p>
                      <a:pPr>
                        <a:buNone/>
                      </a:pPr>
                      <a:r>
                        <a:rPr lang="en-IN" dirty="0"/>
                        <a:t>No</a:t>
                      </a:r>
                    </a:p>
                  </a:txBody>
                  <a:tcPr anchor="ctr"/>
                </a:tc>
                <a:extLst>
                  <a:ext uri="{0D108BD9-81ED-4DB2-BD59-A6C34878D82A}">
                    <a16:rowId xmlns:a16="http://schemas.microsoft.com/office/drawing/2014/main" val="3310962344"/>
                  </a:ext>
                </a:extLst>
              </a:tr>
            </a:tbl>
          </a:graphicData>
        </a:graphic>
      </p:graphicFrame>
    </p:spTree>
    <p:extLst>
      <p:ext uri="{BB962C8B-B14F-4D97-AF65-F5344CB8AC3E}">
        <p14:creationId xmlns:p14="http://schemas.microsoft.com/office/powerpoint/2010/main" val="1598326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CAD24-3828-BC1F-BD5A-41E7AE9B56DF}"/>
              </a:ext>
            </a:extLst>
          </p:cNvPr>
          <p:cNvSpPr>
            <a:spLocks noGrp="1"/>
          </p:cNvSpPr>
          <p:nvPr>
            <p:ph type="title"/>
          </p:nvPr>
        </p:nvSpPr>
        <p:spPr/>
        <p:txBody>
          <a:bodyPr/>
          <a:lstStyle/>
          <a:p>
            <a:r>
              <a:rPr lang="en-IN" dirty="0"/>
              <a:t>1. Finding P(A)</a:t>
            </a:r>
          </a:p>
        </p:txBody>
      </p:sp>
      <p:sp>
        <p:nvSpPr>
          <p:cNvPr id="3" name="Content Placeholder 2">
            <a:extLst>
              <a:ext uri="{FF2B5EF4-FFF2-40B4-BE49-F238E27FC236}">
                <a16:creationId xmlns:a16="http://schemas.microsoft.com/office/drawing/2014/main" id="{3AA3784F-43D1-6C2F-5F74-1B3920391F13}"/>
              </a:ext>
            </a:extLst>
          </p:cNvPr>
          <p:cNvSpPr>
            <a:spLocks noGrp="1"/>
          </p:cNvSpPr>
          <p:nvPr>
            <p:ph idx="1"/>
          </p:nvPr>
        </p:nvSpPr>
        <p:spPr/>
        <p:txBody>
          <a:bodyPr/>
          <a:lstStyle/>
          <a:p>
            <a:r>
              <a:rPr lang="en-IN" dirty="0"/>
              <a:t>Count how many days had </a:t>
            </a:r>
            <a:r>
              <a:rPr lang="en-IN" b="1" dirty="0"/>
              <a:t>Rain</a:t>
            </a:r>
            <a:r>
              <a:rPr lang="en-IN" dirty="0"/>
              <a:t>.</a:t>
            </a:r>
          </a:p>
          <a:p>
            <a:r>
              <a:rPr lang="en-IN" dirty="0"/>
              <a:t>Rain occurred on:</a:t>
            </a:r>
          </a:p>
          <a:p>
            <a:r>
              <a:rPr lang="en-IN" b="1" dirty="0"/>
              <a:t>Day 1, 2, 3, 7 = 4 days</a:t>
            </a:r>
            <a:endParaRPr lang="en-IN" dirty="0"/>
          </a:p>
          <a:p>
            <a:r>
              <a:rPr lang="en-IN" dirty="0"/>
              <a:t>Total days = 10</a:t>
            </a:r>
          </a:p>
          <a:p>
            <a:endParaRPr lang="en-IN" dirty="0"/>
          </a:p>
        </p:txBody>
      </p:sp>
      <p:pic>
        <p:nvPicPr>
          <p:cNvPr id="5" name="Picture 4">
            <a:extLst>
              <a:ext uri="{FF2B5EF4-FFF2-40B4-BE49-F238E27FC236}">
                <a16:creationId xmlns:a16="http://schemas.microsoft.com/office/drawing/2014/main" id="{1B65C7BD-BD19-8EC0-8C02-B2D3FAD9467B}"/>
              </a:ext>
            </a:extLst>
          </p:cNvPr>
          <p:cNvPicPr>
            <a:picLocks noChangeAspect="1"/>
          </p:cNvPicPr>
          <p:nvPr/>
        </p:nvPicPr>
        <p:blipFill>
          <a:blip r:embed="rId2"/>
          <a:stretch>
            <a:fillRect/>
          </a:stretch>
        </p:blipFill>
        <p:spPr>
          <a:xfrm>
            <a:off x="4700587" y="4001294"/>
            <a:ext cx="3720742" cy="1912809"/>
          </a:xfrm>
          <a:prstGeom prst="rect">
            <a:avLst/>
          </a:prstGeom>
        </p:spPr>
      </p:pic>
      <p:sp>
        <p:nvSpPr>
          <p:cNvPr id="7" name="TextBox 6">
            <a:extLst>
              <a:ext uri="{FF2B5EF4-FFF2-40B4-BE49-F238E27FC236}">
                <a16:creationId xmlns:a16="http://schemas.microsoft.com/office/drawing/2014/main" id="{C69022BC-8193-44D5-1272-91C8B67646EA}"/>
              </a:ext>
            </a:extLst>
          </p:cNvPr>
          <p:cNvSpPr txBox="1"/>
          <p:nvPr/>
        </p:nvSpPr>
        <p:spPr>
          <a:xfrm>
            <a:off x="2651022" y="5807631"/>
            <a:ext cx="6098458" cy="369332"/>
          </a:xfrm>
          <a:prstGeom prst="rect">
            <a:avLst/>
          </a:prstGeom>
          <a:noFill/>
        </p:spPr>
        <p:txBody>
          <a:bodyPr wrap="square">
            <a:spAutoFit/>
          </a:bodyPr>
          <a:lstStyle/>
          <a:p>
            <a:r>
              <a:rPr lang="en-IN" dirty="0"/>
              <a:t>Probability of rain = 40%</a:t>
            </a:r>
          </a:p>
        </p:txBody>
      </p:sp>
    </p:spTree>
    <p:extLst>
      <p:ext uri="{BB962C8B-B14F-4D97-AF65-F5344CB8AC3E}">
        <p14:creationId xmlns:p14="http://schemas.microsoft.com/office/powerpoint/2010/main" val="2602507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D31E572-04C9-A588-1B92-F39F1F96CBE5}"/>
                  </a:ext>
                </a:extLst>
              </p:cNvPr>
              <p:cNvSpPr>
                <a:spLocks noGrp="1"/>
              </p:cNvSpPr>
              <p:nvPr>
                <p:ph type="title"/>
              </p:nvPr>
            </p:nvSpPr>
            <p:spPr/>
            <p:txBody>
              <a:bodyPr/>
              <a:lstStyle/>
              <a:p>
                <a:r>
                  <a:rPr lang="en-IN" b="1" dirty="0"/>
                  <a:t>2. Finding </a:t>
                </a:r>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𝐵</m:t>
                        </m:r>
                      </m:e>
                    </m:d>
                  </m:oMath>
                </a14:m>
                <a:endParaRPr lang="en-IN" dirty="0"/>
              </a:p>
            </p:txBody>
          </p:sp>
        </mc:Choice>
        <mc:Fallback>
          <p:sp>
            <p:nvSpPr>
              <p:cNvPr id="2" name="Title 1">
                <a:extLst>
                  <a:ext uri="{FF2B5EF4-FFF2-40B4-BE49-F238E27FC236}">
                    <a16:creationId xmlns:a16="http://schemas.microsoft.com/office/drawing/2014/main" id="{5D31E572-04C9-A588-1B92-F39F1F96CBE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6018639C-FFEC-E737-1C63-82BC3BCF4C8D}"/>
              </a:ext>
            </a:extLst>
          </p:cNvPr>
          <p:cNvSpPr>
            <a:spLocks noGrp="1"/>
          </p:cNvSpPr>
          <p:nvPr>
            <p:ph idx="1"/>
          </p:nvPr>
        </p:nvSpPr>
        <p:spPr/>
        <p:txBody>
          <a:bodyPr/>
          <a:lstStyle/>
          <a:p>
            <a:endParaRPr lang="en-IN" b="1" dirty="0"/>
          </a:p>
          <a:p>
            <a:r>
              <a:rPr lang="en-IN" dirty="0"/>
              <a:t>Now count how many days had </a:t>
            </a:r>
            <a:r>
              <a:rPr lang="en-IN" b="1" dirty="0"/>
              <a:t>Dark Clouds</a:t>
            </a:r>
            <a:r>
              <a:rPr lang="en-IN" dirty="0"/>
              <a:t>.</a:t>
            </a:r>
          </a:p>
          <a:p>
            <a:r>
              <a:rPr lang="en-IN" dirty="0"/>
              <a:t>Dark clouds occurred on:</a:t>
            </a:r>
          </a:p>
          <a:p>
            <a:r>
              <a:rPr lang="en-IN" b="1" dirty="0"/>
              <a:t>Day 1, 2, 4, 5, 7, 9 = 6 days</a:t>
            </a:r>
            <a:endParaRPr lang="en-IN" dirty="0"/>
          </a:p>
          <a:p>
            <a:r>
              <a:rPr lang="en-IN" dirty="0"/>
              <a:t>Therefore:</a:t>
            </a:r>
          </a:p>
          <a:p>
            <a:endParaRPr lang="en-IN" dirty="0"/>
          </a:p>
        </p:txBody>
      </p:sp>
      <p:pic>
        <p:nvPicPr>
          <p:cNvPr id="5" name="Picture 4">
            <a:extLst>
              <a:ext uri="{FF2B5EF4-FFF2-40B4-BE49-F238E27FC236}">
                <a16:creationId xmlns:a16="http://schemas.microsoft.com/office/drawing/2014/main" id="{32739CD3-6E24-4DFB-F833-E8B015E7F378}"/>
              </a:ext>
            </a:extLst>
          </p:cNvPr>
          <p:cNvPicPr>
            <a:picLocks noChangeAspect="1"/>
          </p:cNvPicPr>
          <p:nvPr/>
        </p:nvPicPr>
        <p:blipFill>
          <a:blip r:embed="rId3"/>
          <a:stretch>
            <a:fillRect/>
          </a:stretch>
        </p:blipFill>
        <p:spPr>
          <a:xfrm>
            <a:off x="4184701" y="4001293"/>
            <a:ext cx="4797067" cy="1824319"/>
          </a:xfrm>
          <a:prstGeom prst="rect">
            <a:avLst/>
          </a:prstGeom>
        </p:spPr>
      </p:pic>
      <p:pic>
        <p:nvPicPr>
          <p:cNvPr id="7" name="Picture 6">
            <a:extLst>
              <a:ext uri="{FF2B5EF4-FFF2-40B4-BE49-F238E27FC236}">
                <a16:creationId xmlns:a16="http://schemas.microsoft.com/office/drawing/2014/main" id="{04BA0B71-9BAD-BA89-6D5A-423DA6CA95AF}"/>
              </a:ext>
            </a:extLst>
          </p:cNvPr>
          <p:cNvPicPr>
            <a:picLocks noChangeAspect="1"/>
          </p:cNvPicPr>
          <p:nvPr/>
        </p:nvPicPr>
        <p:blipFill>
          <a:blip r:embed="rId4"/>
          <a:stretch>
            <a:fillRect/>
          </a:stretch>
        </p:blipFill>
        <p:spPr>
          <a:xfrm>
            <a:off x="2028671" y="5594401"/>
            <a:ext cx="2943225" cy="447675"/>
          </a:xfrm>
          <a:prstGeom prst="rect">
            <a:avLst/>
          </a:prstGeom>
        </p:spPr>
      </p:pic>
    </p:spTree>
    <p:extLst>
      <p:ext uri="{BB962C8B-B14F-4D97-AF65-F5344CB8AC3E}">
        <p14:creationId xmlns:p14="http://schemas.microsoft.com/office/powerpoint/2010/main" val="67087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73BFF-202F-793E-0463-6C0BC8A4F6A1}"/>
              </a:ext>
            </a:extLst>
          </p:cNvPr>
          <p:cNvSpPr>
            <a:spLocks noGrp="1"/>
          </p:cNvSpPr>
          <p:nvPr>
            <p:ph type="title"/>
          </p:nvPr>
        </p:nvSpPr>
        <p:spPr/>
        <p:txBody>
          <a:bodyPr/>
          <a:lstStyle/>
          <a:p>
            <a:r>
              <a:rPr lang="en-IN" dirty="0"/>
              <a:t>3. Finding P(A∩B)</a:t>
            </a:r>
            <a:br>
              <a:rPr lang="en-IN" dirty="0"/>
            </a:br>
            <a:endParaRPr lang="en-IN" dirty="0"/>
          </a:p>
        </p:txBody>
      </p:sp>
      <p:sp>
        <p:nvSpPr>
          <p:cNvPr id="3" name="Content Placeholder 2">
            <a:extLst>
              <a:ext uri="{FF2B5EF4-FFF2-40B4-BE49-F238E27FC236}">
                <a16:creationId xmlns:a16="http://schemas.microsoft.com/office/drawing/2014/main" id="{C46E3C26-34B3-A7CC-BAFC-D11119D29AD1}"/>
              </a:ext>
            </a:extLst>
          </p:cNvPr>
          <p:cNvSpPr>
            <a:spLocks noGrp="1"/>
          </p:cNvSpPr>
          <p:nvPr>
            <p:ph idx="1"/>
          </p:nvPr>
        </p:nvSpPr>
        <p:spPr/>
        <p:txBody>
          <a:bodyPr/>
          <a:lstStyle/>
          <a:p>
            <a:r>
              <a:rPr lang="en-IN" dirty="0"/>
              <a:t>A∩B=Rain AND Dark Clouds </a:t>
            </a:r>
          </a:p>
          <a:p>
            <a:r>
              <a:rPr lang="en-IN" dirty="0"/>
              <a:t>Look for days where </a:t>
            </a:r>
            <a:r>
              <a:rPr lang="en-IN" b="1" dirty="0"/>
              <a:t>both are Yes</a:t>
            </a:r>
            <a:r>
              <a:rPr lang="en-IN" dirty="0"/>
              <a:t>:</a:t>
            </a:r>
          </a:p>
          <a:p>
            <a:r>
              <a:rPr lang="en-IN" b="1" dirty="0"/>
              <a:t>Day 1, Day 2, Day 7 = 3 days</a:t>
            </a:r>
            <a:endParaRPr lang="en-IN" dirty="0"/>
          </a:p>
          <a:p>
            <a:endParaRPr lang="en-IN" dirty="0"/>
          </a:p>
        </p:txBody>
      </p:sp>
      <p:pic>
        <p:nvPicPr>
          <p:cNvPr id="5" name="Picture 4">
            <a:extLst>
              <a:ext uri="{FF2B5EF4-FFF2-40B4-BE49-F238E27FC236}">
                <a16:creationId xmlns:a16="http://schemas.microsoft.com/office/drawing/2014/main" id="{CEF7FA7D-55B9-1A61-6996-6DE9D9232375}"/>
              </a:ext>
            </a:extLst>
          </p:cNvPr>
          <p:cNvPicPr>
            <a:picLocks noChangeAspect="1"/>
          </p:cNvPicPr>
          <p:nvPr/>
        </p:nvPicPr>
        <p:blipFill>
          <a:blip r:embed="rId2"/>
          <a:stretch>
            <a:fillRect/>
          </a:stretch>
        </p:blipFill>
        <p:spPr>
          <a:xfrm>
            <a:off x="3753925" y="4001293"/>
            <a:ext cx="3472785" cy="1308125"/>
          </a:xfrm>
          <a:prstGeom prst="rect">
            <a:avLst/>
          </a:prstGeom>
        </p:spPr>
      </p:pic>
      <p:sp>
        <p:nvSpPr>
          <p:cNvPr id="7" name="TextBox 6">
            <a:extLst>
              <a:ext uri="{FF2B5EF4-FFF2-40B4-BE49-F238E27FC236}">
                <a16:creationId xmlns:a16="http://schemas.microsoft.com/office/drawing/2014/main" id="{8A1E76B5-D5DB-1330-C05F-314399D4C069}"/>
              </a:ext>
            </a:extLst>
          </p:cNvPr>
          <p:cNvSpPr txBox="1"/>
          <p:nvPr/>
        </p:nvSpPr>
        <p:spPr>
          <a:xfrm>
            <a:off x="1825113" y="5558524"/>
            <a:ext cx="6098458" cy="369332"/>
          </a:xfrm>
          <a:prstGeom prst="rect">
            <a:avLst/>
          </a:prstGeom>
          <a:noFill/>
        </p:spPr>
        <p:txBody>
          <a:bodyPr wrap="square">
            <a:spAutoFit/>
          </a:bodyPr>
          <a:lstStyle/>
          <a:p>
            <a:r>
              <a:rPr lang="en-IN" dirty="0"/>
              <a:t>Probability of both rain and dark clouds = 30%</a:t>
            </a:r>
          </a:p>
        </p:txBody>
      </p:sp>
    </p:spTree>
    <p:extLst>
      <p:ext uri="{BB962C8B-B14F-4D97-AF65-F5344CB8AC3E}">
        <p14:creationId xmlns:p14="http://schemas.microsoft.com/office/powerpoint/2010/main" val="1316894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87DA-CC68-C69C-2980-CA3B24BE1CF8}"/>
              </a:ext>
            </a:extLst>
          </p:cNvPr>
          <p:cNvSpPr>
            <a:spLocks noGrp="1"/>
          </p:cNvSpPr>
          <p:nvPr>
            <p:ph type="title"/>
          </p:nvPr>
        </p:nvSpPr>
        <p:spPr/>
        <p:txBody>
          <a:bodyPr/>
          <a:lstStyle/>
          <a:p>
            <a:r>
              <a:rPr lang="en-IN" dirty="0"/>
              <a:t>calculate conditional probability</a:t>
            </a:r>
          </a:p>
        </p:txBody>
      </p:sp>
      <p:sp>
        <p:nvSpPr>
          <p:cNvPr id="3" name="Content Placeholder 2">
            <a:extLst>
              <a:ext uri="{FF2B5EF4-FFF2-40B4-BE49-F238E27FC236}">
                <a16:creationId xmlns:a16="http://schemas.microsoft.com/office/drawing/2014/main" id="{DD4340F7-8798-C8AC-29A8-AEB41C517C26}"/>
              </a:ext>
            </a:extLst>
          </p:cNvPr>
          <p:cNvSpPr>
            <a:spLocks noGrp="1"/>
          </p:cNvSpPr>
          <p:nvPr>
            <p:ph idx="1"/>
          </p:nvPr>
        </p:nvSpPr>
        <p:spPr/>
        <p:txBody>
          <a:bodyPr/>
          <a:lstStyle/>
          <a:p>
            <a:r>
              <a:rPr lang="en-IN" dirty="0"/>
              <a:t>What is the probability of rain when we know that there are dark clouds?</a:t>
            </a:r>
          </a:p>
        </p:txBody>
      </p:sp>
      <p:pic>
        <p:nvPicPr>
          <p:cNvPr id="5" name="Picture 4">
            <a:extLst>
              <a:ext uri="{FF2B5EF4-FFF2-40B4-BE49-F238E27FC236}">
                <a16:creationId xmlns:a16="http://schemas.microsoft.com/office/drawing/2014/main" id="{983C57AC-9492-1C11-27EE-82EAE4A78598}"/>
              </a:ext>
            </a:extLst>
          </p:cNvPr>
          <p:cNvPicPr>
            <a:picLocks noChangeAspect="1"/>
          </p:cNvPicPr>
          <p:nvPr/>
        </p:nvPicPr>
        <p:blipFill>
          <a:blip r:embed="rId2"/>
          <a:stretch>
            <a:fillRect/>
          </a:stretch>
        </p:blipFill>
        <p:spPr>
          <a:xfrm>
            <a:off x="4813812" y="2947372"/>
            <a:ext cx="5008614" cy="3057525"/>
          </a:xfrm>
          <a:prstGeom prst="rect">
            <a:avLst/>
          </a:prstGeom>
        </p:spPr>
      </p:pic>
      <p:sp>
        <p:nvSpPr>
          <p:cNvPr id="7" name="TextBox 6">
            <a:extLst>
              <a:ext uri="{FF2B5EF4-FFF2-40B4-BE49-F238E27FC236}">
                <a16:creationId xmlns:a16="http://schemas.microsoft.com/office/drawing/2014/main" id="{6F48A5D8-87FE-D6B2-91FF-2EEE0B7DA5C5}"/>
              </a:ext>
            </a:extLst>
          </p:cNvPr>
          <p:cNvSpPr txBox="1"/>
          <p:nvPr/>
        </p:nvSpPr>
        <p:spPr>
          <a:xfrm>
            <a:off x="1219661" y="5939831"/>
            <a:ext cx="6098458" cy="646331"/>
          </a:xfrm>
          <a:prstGeom prst="rect">
            <a:avLst/>
          </a:prstGeom>
          <a:noFill/>
        </p:spPr>
        <p:txBody>
          <a:bodyPr wrap="square">
            <a:spAutoFit/>
          </a:bodyPr>
          <a:lstStyle/>
          <a:p>
            <a:pPr>
              <a:buNone/>
            </a:pPr>
            <a:r>
              <a:rPr lang="en-IN" b="1" dirty="0"/>
              <a:t>If we know that there are dark clouds, the probability of rain is 50%.</a:t>
            </a:r>
          </a:p>
        </p:txBody>
      </p:sp>
    </p:spTree>
    <p:extLst>
      <p:ext uri="{BB962C8B-B14F-4D97-AF65-F5344CB8AC3E}">
        <p14:creationId xmlns:p14="http://schemas.microsoft.com/office/powerpoint/2010/main" val="2168836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35A3E-58C4-73CB-E1C4-046D41A9C15C}"/>
              </a:ext>
            </a:extLst>
          </p:cNvPr>
          <p:cNvSpPr>
            <a:spLocks noGrp="1"/>
          </p:cNvSpPr>
          <p:nvPr>
            <p:ph type="title"/>
          </p:nvPr>
        </p:nvSpPr>
        <p:spPr/>
        <p:txBody>
          <a:bodyPr/>
          <a:lstStyle/>
          <a:p>
            <a:r>
              <a:rPr lang="en-IN" dirty="0"/>
              <a:t>Bayes' Theorem</a:t>
            </a:r>
          </a:p>
        </p:txBody>
      </p:sp>
      <p:pic>
        <p:nvPicPr>
          <p:cNvPr id="5" name="Content Placeholder 4">
            <a:extLst>
              <a:ext uri="{FF2B5EF4-FFF2-40B4-BE49-F238E27FC236}">
                <a16:creationId xmlns:a16="http://schemas.microsoft.com/office/drawing/2014/main" id="{9DA7157D-8621-41D9-88EE-8953B86CA004}"/>
              </a:ext>
            </a:extLst>
          </p:cNvPr>
          <p:cNvPicPr>
            <a:picLocks noGrp="1" noChangeAspect="1"/>
          </p:cNvPicPr>
          <p:nvPr>
            <p:ph idx="1"/>
          </p:nvPr>
        </p:nvPicPr>
        <p:blipFill>
          <a:blip r:embed="rId2"/>
          <a:stretch>
            <a:fillRect/>
          </a:stretch>
        </p:blipFill>
        <p:spPr>
          <a:xfrm>
            <a:off x="2990850" y="2310606"/>
            <a:ext cx="6210300" cy="3381375"/>
          </a:xfrm>
          <a:prstGeom prst="rect">
            <a:avLst/>
          </a:prstGeom>
        </p:spPr>
      </p:pic>
    </p:spTree>
    <p:extLst>
      <p:ext uri="{BB962C8B-B14F-4D97-AF65-F5344CB8AC3E}">
        <p14:creationId xmlns:p14="http://schemas.microsoft.com/office/powerpoint/2010/main" val="409057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735</Words>
  <Application>Microsoft Office PowerPoint</Application>
  <PresentationFormat>Widescreen</PresentationFormat>
  <Paragraphs>94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 Math</vt:lpstr>
      <vt:lpstr>Office Theme</vt:lpstr>
      <vt:lpstr>Bayes' Theorem- Naive Bayesian </vt:lpstr>
      <vt:lpstr>Naive Bayesian Classification</vt:lpstr>
      <vt:lpstr>PowerPoint Presentation</vt:lpstr>
      <vt:lpstr>Applications </vt:lpstr>
      <vt:lpstr>Assumption of Naive Bayes </vt:lpstr>
      <vt:lpstr>Bayes’ Theorem</vt:lpstr>
      <vt:lpstr>PowerPoint Presentation</vt:lpstr>
      <vt:lpstr>Bayes' Theorem</vt:lpstr>
      <vt:lpstr>Why Do We Need Bayes' Theorem? </vt:lpstr>
      <vt:lpstr>PowerPoint Presentation</vt:lpstr>
      <vt:lpstr>Bayes Theorem and Conditional Probability </vt:lpstr>
      <vt:lpstr>10 Days of Weather-A=Rain B=Dark Clouds</vt:lpstr>
      <vt:lpstr>1. Finding P(A)</vt:lpstr>
      <vt:lpstr>2. Finding P(B)</vt:lpstr>
      <vt:lpstr>3. Finding P(A∩B) </vt:lpstr>
      <vt:lpstr>calculate conditional probability</vt:lpstr>
      <vt:lpstr>Bayes' Theorem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3</cp:revision>
  <dcterms:created xsi:type="dcterms:W3CDTF">2026-09-21T05:21:15Z</dcterms:created>
  <dcterms:modified xsi:type="dcterms:W3CDTF">2026-09-21T05:33:09Z</dcterms:modified>
</cp:coreProperties>
</file>