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7" r:id="rId3"/>
    <p:sldId id="319" r:id="rId4"/>
    <p:sldId id="257" r:id="rId5"/>
    <p:sldId id="258" r:id="rId6"/>
    <p:sldId id="259" r:id="rId7"/>
    <p:sldId id="260" r:id="rId8"/>
    <p:sldId id="320" r:id="rId9"/>
    <p:sldId id="261" r:id="rId10"/>
    <p:sldId id="262" r:id="rId11"/>
    <p:sldId id="263" r:id="rId12"/>
    <p:sldId id="264" r:id="rId13"/>
    <p:sldId id="265" r:id="rId14"/>
    <p:sldId id="266" r:id="rId15"/>
    <p:sldId id="267" r:id="rId16"/>
    <p:sldId id="276" r:id="rId17"/>
    <p:sldId id="277" r:id="rId18"/>
    <p:sldId id="278" r:id="rId19"/>
    <p:sldId id="279" r:id="rId20"/>
    <p:sldId id="280" r:id="rId21"/>
    <p:sldId id="281" r:id="rId22"/>
    <p:sldId id="272" r:id="rId23"/>
    <p:sldId id="322" r:id="rId24"/>
    <p:sldId id="273" r:id="rId25"/>
    <p:sldId id="282" r:id="rId26"/>
    <p:sldId id="283" r:id="rId27"/>
    <p:sldId id="274" r:id="rId28"/>
    <p:sldId id="275" r:id="rId29"/>
    <p:sldId id="284" r:id="rId30"/>
    <p:sldId id="323" r:id="rId31"/>
    <p:sldId id="285" r:id="rId32"/>
    <p:sldId id="325" r:id="rId33"/>
    <p:sldId id="328" r:id="rId34"/>
    <p:sldId id="329" r:id="rId35"/>
    <p:sldId id="327" r:id="rId36"/>
    <p:sldId id="331" r:id="rId37"/>
    <p:sldId id="332" r:id="rId38"/>
    <p:sldId id="330" r:id="rId39"/>
    <p:sldId id="333" r:id="rId40"/>
    <p:sldId id="334" r:id="rId41"/>
    <p:sldId id="335" r:id="rId42"/>
    <p:sldId id="336" r:id="rId43"/>
    <p:sldId id="337" r:id="rId44"/>
    <p:sldId id="338" r:id="rId45"/>
    <p:sldId id="339" r:id="rId46"/>
    <p:sldId id="340" r:id="rId47"/>
    <p:sldId id="341" r:id="rId48"/>
    <p:sldId id="342" r:id="rId49"/>
    <p:sldId id="343" r:id="rId50"/>
    <p:sldId id="344" r:id="rId51"/>
    <p:sldId id="345" r:id="rId52"/>
    <p:sldId id="286" r:id="rId53"/>
    <p:sldId id="324" r:id="rId54"/>
    <p:sldId id="287" r:id="rId55"/>
    <p:sldId id="289" r:id="rId56"/>
    <p:sldId id="290" r:id="rId57"/>
    <p:sldId id="291" r:id="rId58"/>
    <p:sldId id="292" r:id="rId59"/>
    <p:sldId id="293" r:id="rId60"/>
    <p:sldId id="294" r:id="rId61"/>
    <p:sldId id="295" r:id="rId62"/>
    <p:sldId id="296" r:id="rId63"/>
    <p:sldId id="297" r:id="rId64"/>
    <p:sldId id="288" r:id="rId65"/>
    <p:sldId id="298" r:id="rId66"/>
    <p:sldId id="299" r:id="rId67"/>
    <p:sldId id="316" r:id="rId68"/>
    <p:sldId id="315" r:id="rId69"/>
    <p:sldId id="300" r:id="rId70"/>
    <p:sldId id="301" r:id="rId71"/>
    <p:sldId id="304" r:id="rId72"/>
    <p:sldId id="302" r:id="rId73"/>
    <p:sldId id="303" r:id="rId74"/>
    <p:sldId id="305" r:id="rId75"/>
    <p:sldId id="306" r:id="rId76"/>
    <p:sldId id="307" r:id="rId77"/>
    <p:sldId id="308" r:id="rId78"/>
    <p:sldId id="309" r:id="rId79"/>
    <p:sldId id="310" r:id="rId80"/>
    <p:sldId id="311" r:id="rId81"/>
    <p:sldId id="312" r:id="rId82"/>
    <p:sldId id="313" r:id="rId83"/>
    <p:sldId id="314"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604" autoAdjust="0"/>
    <p:restoredTop sz="94660"/>
  </p:normalViewPr>
  <p:slideViewPr>
    <p:cSldViewPr>
      <p:cViewPr varScale="1">
        <p:scale>
          <a:sx n="83" d="100"/>
          <a:sy n="83" d="100"/>
        </p:scale>
        <p:origin x="-1565"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4" Type="http://schemas.openxmlformats.org/officeDocument/2006/relationships/image" Target="../media/image60.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10600" cy="5262979"/>
          </a:xfrm>
          <a:prstGeom prst="rect">
            <a:avLst/>
          </a:prstGeom>
        </p:spPr>
        <p:txBody>
          <a:bodyPr wrap="square">
            <a:spAutoFit/>
          </a:bodyPr>
          <a:lstStyle/>
          <a:p>
            <a:pPr algn="ctr"/>
            <a:r>
              <a:rPr lang="en-US" sz="2800" b="1" u="sng" dirty="0">
                <a:solidFill>
                  <a:srgbClr val="FF0000"/>
                </a:solidFill>
                <a:latin typeface="Times New Roman" pitchFamily="18" charset="0"/>
                <a:cs typeface="Times New Roman" pitchFamily="18" charset="0"/>
              </a:rPr>
              <a:t>UNIT–III</a:t>
            </a:r>
            <a:r>
              <a:rPr lang="en-US" dirty="0"/>
              <a:t> </a:t>
            </a:r>
          </a:p>
          <a:p>
            <a:endParaRPr lang="en-US" sz="2800" dirty="0">
              <a:latin typeface="Times New Roman" pitchFamily="18" charset="0"/>
              <a:cs typeface="Times New Roman" pitchFamily="18" charset="0"/>
            </a:endParaRPr>
          </a:p>
          <a:p>
            <a:pPr algn="just"/>
            <a:r>
              <a:rPr lang="en-US" sz="2800" b="1" dirty="0">
                <a:solidFill>
                  <a:srgbClr val="00B050"/>
                </a:solidFill>
                <a:latin typeface="Times New Roman" pitchFamily="18" charset="0"/>
                <a:cs typeface="Times New Roman" pitchFamily="18" charset="0"/>
              </a:rPr>
              <a:t>Classification:</a:t>
            </a:r>
            <a:r>
              <a:rPr lang="en-US" sz="2800" dirty="0">
                <a:solidFill>
                  <a:srgbClr val="00B050"/>
                </a:solidFill>
                <a:latin typeface="Times New Roman" pitchFamily="18" charset="0"/>
                <a:cs typeface="Times New Roman" pitchFamily="18" charset="0"/>
              </a:rPr>
              <a:t> </a:t>
            </a:r>
            <a:r>
              <a:rPr lang="en-US" sz="2800" dirty="0">
                <a:latin typeface="Times New Roman" pitchFamily="18" charset="0"/>
                <a:cs typeface="Times New Roman" pitchFamily="18" charset="0"/>
              </a:rPr>
              <a:t>Basic Concepts, General Approach to solving a classification problem, </a:t>
            </a:r>
          </a:p>
          <a:p>
            <a:pPr algn="just"/>
            <a:endParaRPr lang="en-US" sz="2800" dirty="0">
              <a:latin typeface="Times New Roman" pitchFamily="18" charset="0"/>
              <a:cs typeface="Times New Roman" pitchFamily="18" charset="0"/>
            </a:endParaRPr>
          </a:p>
          <a:p>
            <a:pPr algn="just"/>
            <a:r>
              <a:rPr lang="en-US" sz="2800" b="1" dirty="0">
                <a:solidFill>
                  <a:srgbClr val="00B050"/>
                </a:solidFill>
                <a:latin typeface="Times New Roman" pitchFamily="18" charset="0"/>
                <a:cs typeface="Times New Roman" pitchFamily="18" charset="0"/>
              </a:rPr>
              <a:t>Decision Tree Induction: </a:t>
            </a:r>
            <a:r>
              <a:rPr lang="en-US" sz="2800" dirty="0">
                <a:latin typeface="Times New Roman" pitchFamily="18" charset="0"/>
                <a:cs typeface="Times New Roman" pitchFamily="18" charset="0"/>
              </a:rPr>
              <a:t>Attribute Selection Measures, Tree Pruning, Scalability and Decision Tree Induction, Visual Mining for Decision Tree Induction, </a:t>
            </a:r>
          </a:p>
          <a:p>
            <a:pPr algn="just"/>
            <a:endParaRPr lang="en-US" sz="2800" dirty="0">
              <a:latin typeface="Times New Roman" pitchFamily="18" charset="0"/>
              <a:cs typeface="Times New Roman" pitchFamily="18" charset="0"/>
            </a:endParaRPr>
          </a:p>
          <a:p>
            <a:pPr algn="just"/>
            <a:r>
              <a:rPr lang="en-US" sz="2800" b="1" dirty="0">
                <a:solidFill>
                  <a:srgbClr val="00B050"/>
                </a:solidFill>
                <a:latin typeface="Times New Roman" pitchFamily="18" charset="0"/>
                <a:cs typeface="Times New Roman" pitchFamily="18" charset="0"/>
              </a:rPr>
              <a:t>Bayesian Classification Methods: </a:t>
            </a:r>
            <a:r>
              <a:rPr lang="en-US" sz="2800" dirty="0">
                <a:latin typeface="Times New Roman" pitchFamily="18" charset="0"/>
                <a:cs typeface="Times New Roman" pitchFamily="18" charset="0"/>
              </a:rPr>
              <a:t>Bayes Theorem, Naïve Bayes Classification, Rule-Based Classification, Model Evaluation and Selection.</a:t>
            </a:r>
            <a:endParaRPr lang="en-IN"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781428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DC667B-4788-4068-9C75-F17595D02EAE}"/>
              </a:ext>
            </a:extLst>
          </p:cNvPr>
          <p:cNvSpPr>
            <a:spLocks noGrp="1"/>
          </p:cNvSpPr>
          <p:nvPr>
            <p:ph type="ctrTitle"/>
          </p:nvPr>
        </p:nvSpPr>
        <p:spPr>
          <a:xfrm>
            <a:off x="609600" y="228601"/>
            <a:ext cx="6400800" cy="1066799"/>
          </a:xfrm>
        </p:spPr>
        <p:txBody>
          <a:bodyPr/>
          <a:lstStyle/>
          <a:p>
            <a:r>
              <a:rPr lang="en-US" dirty="0">
                <a:solidFill>
                  <a:schemeClr val="accent5"/>
                </a:solidFill>
              </a:rPr>
              <a:t>BASIC CONCPETS</a:t>
            </a:r>
            <a:endParaRPr lang="en-IN" dirty="0"/>
          </a:p>
        </p:txBody>
      </p:sp>
      <p:sp>
        <p:nvSpPr>
          <p:cNvPr id="3" name="Subtitle 2">
            <a:extLst>
              <a:ext uri="{FF2B5EF4-FFF2-40B4-BE49-F238E27FC236}">
                <a16:creationId xmlns:a16="http://schemas.microsoft.com/office/drawing/2014/main" xmlns="" id="{B1B61BD9-A31A-439F-A371-4BA24825CC1F}"/>
              </a:ext>
            </a:extLst>
          </p:cNvPr>
          <p:cNvSpPr>
            <a:spLocks noGrp="1"/>
          </p:cNvSpPr>
          <p:nvPr>
            <p:ph type="subTitle" idx="1"/>
          </p:nvPr>
        </p:nvSpPr>
        <p:spPr>
          <a:xfrm>
            <a:off x="762000" y="1295400"/>
            <a:ext cx="8001000" cy="5105400"/>
          </a:xfrm>
        </p:spPr>
        <p:txBody>
          <a:bodyPr>
            <a:noAutofit/>
          </a:bodyPr>
          <a:lstStyle/>
          <a:p>
            <a:pPr algn="just">
              <a:lnSpc>
                <a:spcPct val="150000"/>
              </a:lnSpc>
            </a:pPr>
            <a:r>
              <a:rPr lang="en-IN" sz="1600" dirty="0">
                <a:solidFill>
                  <a:srgbClr val="FF0000"/>
                </a:solidFill>
                <a:latin typeface="Times New Roman" panose="02020603050405020304" pitchFamily="18" charset="0"/>
                <a:cs typeface="Times New Roman" panose="02020603050405020304" pitchFamily="18" charset="0"/>
              </a:rPr>
              <a:t>What Is Classification?</a:t>
            </a:r>
          </a:p>
          <a:p>
            <a:pPr algn="just">
              <a:lnSpc>
                <a:spcPct val="150000"/>
              </a:lnSpc>
            </a:pP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cs typeface="Times New Roman" panose="02020603050405020304" pitchFamily="18" charset="0"/>
              </a:rPr>
              <a:t>A bank loans officer needs analysis of his/her data to learn which loan applicants are “safe” and which are “risky” for the bank.</a:t>
            </a:r>
          </a:p>
          <a:p>
            <a:pPr algn="just">
              <a:lnSpc>
                <a:spcPct val="150000"/>
              </a:lnSpc>
            </a:pP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cs typeface="Times New Roman" panose="02020603050405020304" pitchFamily="18" charset="0"/>
              </a:rPr>
              <a:t>A marketing manager at All Electronics needs data analysis to help guess whether a customer with a given profile will buy a new computer.</a:t>
            </a:r>
          </a:p>
          <a:p>
            <a:pPr algn="just">
              <a:lnSpc>
                <a:spcPct val="150000"/>
              </a:lnSpc>
            </a:pPr>
            <a:r>
              <a:rPr lang="en-US" sz="1600" dirty="0">
                <a:latin typeface="Times New Roman" panose="02020603050405020304" pitchFamily="18" charset="0"/>
                <a:cs typeface="Times New Roman" panose="02020603050405020304" pitchFamily="18" charset="0"/>
                <a:sym typeface="Wingdings" panose="05000000000000000000" pitchFamily="2" charset="2"/>
              </a:rPr>
              <a:t> </a:t>
            </a:r>
            <a:r>
              <a:rPr lang="en-US" sz="1600" dirty="0">
                <a:latin typeface="Times New Roman" panose="02020603050405020304" pitchFamily="18" charset="0"/>
                <a:cs typeface="Times New Roman" panose="02020603050405020304" pitchFamily="18" charset="0"/>
              </a:rPr>
              <a:t>A medical researcher wants to analyze breast cancer data to predict which one of three specific treatments a patient should receive.</a:t>
            </a:r>
          </a:p>
          <a:p>
            <a:pPr algn="just">
              <a:lnSpc>
                <a:spcPct val="150000"/>
              </a:lnSpc>
              <a:buFont typeface="Wingdings" panose="05000000000000000000" pitchFamily="2" charset="2"/>
              <a:buChar char="q"/>
            </a:pPr>
            <a:r>
              <a:rPr lang="en-US" sz="1600" dirty="0">
                <a:latin typeface="Times New Roman" panose="02020603050405020304" pitchFamily="18" charset="0"/>
                <a:cs typeface="Times New Roman" panose="02020603050405020304" pitchFamily="18" charset="0"/>
              </a:rPr>
              <a:t> In each of these examples, the data analysis task is classification, where a model or classifier is constructed to predict class (categorical) labels, such as “safe” or “risky” for the loan application data; “yes” or “no” for the marketing data; or “treatment A,” “treatment B,” or “treatment C” for the medical data. These categories can be represented by discrete values, where the ordering among values has no meaning</a:t>
            </a:r>
            <a:endParaRPr lang="en-IN" sz="1600" dirty="0"/>
          </a:p>
        </p:txBody>
      </p:sp>
    </p:spTree>
    <p:extLst>
      <p:ext uri="{BB962C8B-B14F-4D97-AF65-F5344CB8AC3E}">
        <p14:creationId xmlns:p14="http://schemas.microsoft.com/office/powerpoint/2010/main" xmlns="" val="565025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AA3B2F82-2128-427C-A529-CFB548D45E96}"/>
              </a:ext>
            </a:extLst>
          </p:cNvPr>
          <p:cNvSpPr/>
          <p:nvPr/>
        </p:nvSpPr>
        <p:spPr>
          <a:xfrm>
            <a:off x="762000" y="1143000"/>
            <a:ext cx="8001000" cy="3046988"/>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Suppose that the marketing manager wants to predict how much a given customer will spend during a sale at All Electronics. This data analysis task is an example of numeric prediction, where the model constructed predicts a continuous-valued function, or ordered value, as opposed to a class label. This model is a predictor. Regression analysis is a statistical methodology that is most often used for numeric prediction</a:t>
            </a:r>
            <a:endParaRPr lang="en-IN" sz="2400" dirty="0">
              <a:latin typeface="Times New Roman" panose="02020603050405020304" pitchFamily="18" charset="0"/>
              <a:cs typeface="Times New Roman" panose="02020603050405020304" pitchFamily="18" charset="0"/>
            </a:endParaRPr>
          </a:p>
          <a:p>
            <a:pPr algn="just"/>
            <a:endParaRPr lang="en-IN" sz="2400" dirty="0"/>
          </a:p>
        </p:txBody>
      </p:sp>
    </p:spTree>
    <p:extLst>
      <p:ext uri="{BB962C8B-B14F-4D97-AF65-F5344CB8AC3E}">
        <p14:creationId xmlns:p14="http://schemas.microsoft.com/office/powerpoint/2010/main" xmlns="" val="2779156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763000" cy="3662541"/>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Introduction:</a:t>
            </a:r>
          </a:p>
          <a:p>
            <a:pPr algn="just"/>
            <a:endParaRPr lang="en-US" sz="2800" dirty="0">
              <a:solidFill>
                <a:srgbClr val="FF0000"/>
              </a:solidFill>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Classification is a form of data analysis that extracts models describing important data classes. Such models called classifiers, predict categorical class labels.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For example, we can build a classification model to categorize bank loan applications as either safe or risky. Such analysis can help provide us with a better understanding of the data at large.</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2794880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228600" y="152399"/>
            <a:ext cx="8763000" cy="6600391"/>
          </a:xfrm>
          <a:prstGeom prst="rect">
            <a:avLst/>
          </a:prstGeom>
        </p:spPr>
      </p:pic>
    </p:spTree>
    <p:extLst>
      <p:ext uri="{BB962C8B-B14F-4D97-AF65-F5344CB8AC3E}">
        <p14:creationId xmlns:p14="http://schemas.microsoft.com/office/powerpoint/2010/main" xmlns="" val="3983789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483816" y="27384"/>
            <a:ext cx="9520238" cy="6858000"/>
          </a:xfrm>
          <a:prstGeom prst="rect">
            <a:avLst/>
          </a:prstGeom>
        </p:spPr>
      </p:pic>
    </p:spTree>
    <p:extLst>
      <p:ext uri="{BB962C8B-B14F-4D97-AF65-F5344CB8AC3E}">
        <p14:creationId xmlns:p14="http://schemas.microsoft.com/office/powerpoint/2010/main" xmlns="" val="1423242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298598" y="87213"/>
            <a:ext cx="9386888" cy="6858000"/>
          </a:xfrm>
          <a:prstGeom prst="rect">
            <a:avLst/>
          </a:prstGeom>
        </p:spPr>
      </p:pic>
    </p:spTree>
    <p:extLst>
      <p:ext uri="{BB962C8B-B14F-4D97-AF65-F5344CB8AC3E}">
        <p14:creationId xmlns:p14="http://schemas.microsoft.com/office/powerpoint/2010/main" xmlns="" val="2331122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134EA621-BC60-43FD-B8C2-E5778B70A69E}"/>
              </a:ext>
            </a:extLst>
          </p:cNvPr>
          <p:cNvGraphicFramePr>
            <a:graphicFrameLocks noGrp="1"/>
          </p:cNvGraphicFramePr>
          <p:nvPr>
            <p:extLst>
              <p:ext uri="{D42A27DB-BD31-4B8C-83A1-F6EECF244321}">
                <p14:modId xmlns:p14="http://schemas.microsoft.com/office/powerpoint/2010/main" xmlns="" val="1822201324"/>
              </p:ext>
            </p:extLst>
          </p:nvPr>
        </p:nvGraphicFramePr>
        <p:xfrm>
          <a:off x="685800" y="1447800"/>
          <a:ext cx="8001000" cy="3115055"/>
        </p:xfrm>
        <a:graphic>
          <a:graphicData uri="http://schemas.openxmlformats.org/drawingml/2006/table">
            <a:tbl>
              <a:tblPr firstRow="1" firstCol="1" bandRow="1">
                <a:tableStyleId>{5C22544A-7EE6-4342-B048-85BDC9FD1C3A}</a:tableStyleId>
              </a:tblPr>
              <a:tblGrid>
                <a:gridCol w="1600200">
                  <a:extLst>
                    <a:ext uri="{9D8B030D-6E8A-4147-A177-3AD203B41FA5}">
                      <a16:colId xmlns:a16="http://schemas.microsoft.com/office/drawing/2014/main" xmlns="" val="3839361430"/>
                    </a:ext>
                  </a:extLst>
                </a:gridCol>
                <a:gridCol w="1600200">
                  <a:extLst>
                    <a:ext uri="{9D8B030D-6E8A-4147-A177-3AD203B41FA5}">
                      <a16:colId xmlns:a16="http://schemas.microsoft.com/office/drawing/2014/main" xmlns="" val="2389971441"/>
                    </a:ext>
                  </a:extLst>
                </a:gridCol>
                <a:gridCol w="1600200">
                  <a:extLst>
                    <a:ext uri="{9D8B030D-6E8A-4147-A177-3AD203B41FA5}">
                      <a16:colId xmlns:a16="http://schemas.microsoft.com/office/drawing/2014/main" xmlns="" val="1986812909"/>
                    </a:ext>
                  </a:extLst>
                </a:gridCol>
                <a:gridCol w="1600200">
                  <a:extLst>
                    <a:ext uri="{9D8B030D-6E8A-4147-A177-3AD203B41FA5}">
                      <a16:colId xmlns:a16="http://schemas.microsoft.com/office/drawing/2014/main" xmlns="" val="3032226391"/>
                    </a:ext>
                  </a:extLst>
                </a:gridCol>
                <a:gridCol w="1600200">
                  <a:extLst>
                    <a:ext uri="{9D8B030D-6E8A-4147-A177-3AD203B41FA5}">
                      <a16:colId xmlns:a16="http://schemas.microsoft.com/office/drawing/2014/main" xmlns="" val="2547750297"/>
                    </a:ext>
                  </a:extLst>
                </a:gridCol>
              </a:tblGrid>
              <a:tr h="578326">
                <a:tc>
                  <a:txBody>
                    <a:bodyPr/>
                    <a:lstStyle/>
                    <a:p>
                      <a:pPr algn="ctr">
                        <a:lnSpc>
                          <a:spcPct val="107000"/>
                        </a:lnSpc>
                        <a:spcAft>
                          <a:spcPts val="800"/>
                        </a:spcAft>
                      </a:pPr>
                      <a:r>
                        <a:rPr lang="en-IN" sz="2400" dirty="0">
                          <a:effectLst/>
                        </a:rPr>
                        <a:t>Animal</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400">
                          <a:effectLst/>
                        </a:rPr>
                        <a:t>Has fur</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400">
                          <a:effectLst/>
                        </a:rPr>
                        <a:t>Lays eggs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400">
                          <a:effectLst/>
                        </a:rPr>
                        <a:t>Lives in water</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pPr>
                      <a:r>
                        <a:rPr lang="en-IN" sz="2400">
                          <a:effectLst/>
                        </a:rPr>
                        <a:t>Class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xmlns="" val="2364267867"/>
                  </a:ext>
                </a:extLst>
              </a:tr>
              <a:tr h="578326">
                <a:tc>
                  <a:txBody>
                    <a:bodyPr/>
                    <a:lstStyle/>
                    <a:p>
                      <a:pPr>
                        <a:lnSpc>
                          <a:spcPct val="107000"/>
                        </a:lnSpc>
                        <a:spcAft>
                          <a:spcPts val="800"/>
                        </a:spcAft>
                      </a:pPr>
                      <a:r>
                        <a:rPr lang="en-IN" sz="2400">
                          <a:effectLst/>
                        </a:rPr>
                        <a:t>Dog</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Yes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Mammal</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xmlns="" val="4080298489"/>
                  </a:ext>
                </a:extLst>
              </a:tr>
              <a:tr h="578326">
                <a:tc>
                  <a:txBody>
                    <a:bodyPr/>
                    <a:lstStyle/>
                    <a:p>
                      <a:pPr>
                        <a:lnSpc>
                          <a:spcPct val="107000"/>
                        </a:lnSpc>
                        <a:spcAft>
                          <a:spcPts val="800"/>
                        </a:spcAft>
                      </a:pPr>
                      <a:r>
                        <a:rPr lang="en-IN" sz="2400">
                          <a:effectLst/>
                        </a:rPr>
                        <a:t>Snake</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Yes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Reptile</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xmlns="" val="658894334"/>
                  </a:ext>
                </a:extLst>
              </a:tr>
              <a:tr h="578326">
                <a:tc>
                  <a:txBody>
                    <a:bodyPr/>
                    <a:lstStyle/>
                    <a:p>
                      <a:pPr>
                        <a:lnSpc>
                          <a:spcPct val="107000"/>
                        </a:lnSpc>
                        <a:spcAft>
                          <a:spcPts val="800"/>
                        </a:spcAft>
                      </a:pPr>
                      <a:r>
                        <a:rPr lang="en-IN" sz="2400">
                          <a:effectLst/>
                        </a:rPr>
                        <a:t>Fish</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Yes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Yes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Fish</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xmlns="" val="2184579347"/>
                  </a:ext>
                </a:extLst>
              </a:tr>
              <a:tr h="578326">
                <a:tc>
                  <a:txBody>
                    <a:bodyPr/>
                    <a:lstStyle/>
                    <a:p>
                      <a:pPr>
                        <a:lnSpc>
                          <a:spcPct val="107000"/>
                        </a:lnSpc>
                        <a:spcAft>
                          <a:spcPts val="800"/>
                        </a:spcAft>
                      </a:pPr>
                      <a:r>
                        <a:rPr lang="en-IN" sz="2400">
                          <a:effectLst/>
                        </a:rPr>
                        <a:t>Eagle</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Yes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a:effectLst/>
                        </a:rPr>
                        <a:t>No</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pPr>
                      <a:r>
                        <a:rPr lang="en-IN" sz="2400" dirty="0">
                          <a:effectLst/>
                        </a:rPr>
                        <a:t>Bird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xmlns="" val="1897182385"/>
                  </a:ext>
                </a:extLst>
              </a:tr>
            </a:tbl>
          </a:graphicData>
        </a:graphic>
      </p:graphicFrame>
      <p:sp>
        <p:nvSpPr>
          <p:cNvPr id="4" name="Rectangle 3">
            <a:extLst>
              <a:ext uri="{FF2B5EF4-FFF2-40B4-BE49-F238E27FC236}">
                <a16:creationId xmlns:a16="http://schemas.microsoft.com/office/drawing/2014/main" xmlns="" id="{08CC0465-E0D4-45ED-9AF1-6CD15D357876}"/>
              </a:ext>
            </a:extLst>
          </p:cNvPr>
          <p:cNvSpPr/>
          <p:nvPr/>
        </p:nvSpPr>
        <p:spPr>
          <a:xfrm>
            <a:off x="1371600" y="5105400"/>
            <a:ext cx="6248400" cy="532903"/>
          </a:xfrm>
          <a:prstGeom prst="rect">
            <a:avLst/>
          </a:prstGeom>
        </p:spPr>
        <p:txBody>
          <a:bodyPr wrap="square">
            <a:spAutoFit/>
          </a:bodyPr>
          <a:lstStyle/>
          <a:p>
            <a:pPr>
              <a:lnSpc>
                <a:spcPct val="107000"/>
              </a:lnSpc>
              <a:spcAft>
                <a:spcPts val="800"/>
              </a:spcAft>
            </a:pPr>
            <a:r>
              <a:rPr lang="en-IN" sz="2800" dirty="0">
                <a:latin typeface="Calibri" panose="020F0502020204030204" pitchFamily="34" charset="0"/>
                <a:ea typeface="Calibri" panose="020F0502020204030204" pitchFamily="34" charset="0"/>
                <a:cs typeface="Times New Roman" panose="02020603050405020304" pitchFamily="18" charset="0"/>
              </a:rPr>
              <a:t>X=(fur = Yes, eggs = No, water = No) </a:t>
            </a:r>
          </a:p>
        </p:txBody>
      </p:sp>
    </p:spTree>
    <p:extLst>
      <p:ext uri="{BB962C8B-B14F-4D97-AF65-F5344CB8AC3E}">
        <p14:creationId xmlns:p14="http://schemas.microsoft.com/office/powerpoint/2010/main" xmlns="" val="266632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466725" y="0"/>
            <a:ext cx="9863138" cy="7029450"/>
          </a:xfrm>
          <a:prstGeom prst="rect">
            <a:avLst/>
          </a:prstGeom>
        </p:spPr>
      </p:pic>
    </p:spTree>
    <p:extLst>
      <p:ext uri="{BB962C8B-B14F-4D97-AF65-F5344CB8AC3E}">
        <p14:creationId xmlns:p14="http://schemas.microsoft.com/office/powerpoint/2010/main" xmlns="" val="1159272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523875" y="0"/>
            <a:ext cx="9667875" cy="7029450"/>
          </a:xfrm>
          <a:prstGeom prst="rect">
            <a:avLst/>
          </a:prstGeom>
        </p:spPr>
      </p:pic>
    </p:spTree>
    <p:extLst>
      <p:ext uri="{BB962C8B-B14F-4D97-AF65-F5344CB8AC3E}">
        <p14:creationId xmlns:p14="http://schemas.microsoft.com/office/powerpoint/2010/main" xmlns="" val="1480635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0" y="0"/>
            <a:ext cx="9144000" cy="6858000"/>
          </a:xfrm>
          <a:prstGeom prst="rect">
            <a:avLst/>
          </a:prstGeom>
        </p:spPr>
      </p:pic>
    </p:spTree>
    <p:extLst>
      <p:ext uri="{BB962C8B-B14F-4D97-AF65-F5344CB8AC3E}">
        <p14:creationId xmlns:p14="http://schemas.microsoft.com/office/powerpoint/2010/main" xmlns="" val="3583048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0" y="0"/>
            <a:ext cx="9144000" cy="6858000"/>
          </a:xfrm>
          <a:prstGeom prst="rect">
            <a:avLst/>
          </a:prstGeom>
        </p:spPr>
      </p:pic>
      <p:sp>
        <p:nvSpPr>
          <p:cNvPr id="3" name="Rectangle 2">
            <a:extLst>
              <a:ext uri="{FF2B5EF4-FFF2-40B4-BE49-F238E27FC236}">
                <a16:creationId xmlns:a16="http://schemas.microsoft.com/office/drawing/2014/main" xmlns="" id="{9349931A-E1BF-4B76-B5AC-67BA4DD7EFC3}"/>
              </a:ext>
            </a:extLst>
          </p:cNvPr>
          <p:cNvSpPr/>
          <p:nvPr/>
        </p:nvSpPr>
        <p:spPr>
          <a:xfrm>
            <a:off x="5791200" y="6172200"/>
            <a:ext cx="16764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4151305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542925" y="0"/>
            <a:ext cx="9867900" cy="6858000"/>
          </a:xfrm>
          <a:prstGeom prst="rect">
            <a:avLst/>
          </a:prstGeom>
        </p:spPr>
      </p:pic>
    </p:spTree>
    <p:extLst>
      <p:ext uri="{BB962C8B-B14F-4D97-AF65-F5344CB8AC3E}">
        <p14:creationId xmlns:p14="http://schemas.microsoft.com/office/powerpoint/2010/main" xmlns="" val="356116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0" y="0"/>
            <a:ext cx="9144000" cy="4652963"/>
          </a:xfrm>
          <a:prstGeom prst="rect">
            <a:avLst/>
          </a:prstGeom>
        </p:spPr>
      </p:pic>
    </p:spTree>
    <p:extLst>
      <p:ext uri="{BB962C8B-B14F-4D97-AF65-F5344CB8AC3E}">
        <p14:creationId xmlns:p14="http://schemas.microsoft.com/office/powerpoint/2010/main" xmlns="" val="3924311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228600" y="228600"/>
            <a:ext cx="8763000" cy="5792788"/>
          </a:xfrm>
          <a:prstGeom prst="rect">
            <a:avLst/>
          </a:prstGeom>
        </p:spPr>
      </p:pic>
    </p:spTree>
    <p:extLst>
      <p:ext uri="{BB962C8B-B14F-4D97-AF65-F5344CB8AC3E}">
        <p14:creationId xmlns:p14="http://schemas.microsoft.com/office/powerpoint/2010/main" xmlns="" val="378700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srcRect/>
          <a:stretch>
            <a:fillRect/>
          </a:stretch>
        </p:blipFill>
        <p:spPr bwMode="auto">
          <a:xfrm>
            <a:off x="228601" y="228600"/>
            <a:ext cx="8686800" cy="6248400"/>
          </a:xfrm>
          <a:prstGeom prst="rect">
            <a:avLst/>
          </a:prstGeom>
          <a:noFill/>
          <a:ln w="9525">
            <a:noFill/>
            <a:miter lim="800000"/>
            <a:headEnd/>
            <a:tailEnd/>
          </a:ln>
          <a:effectLst/>
        </p:spPr>
      </p:pic>
    </p:spTree>
    <p:extLst>
      <p:ext uri="{BB962C8B-B14F-4D97-AF65-F5344CB8AC3E}">
        <p14:creationId xmlns:p14="http://schemas.microsoft.com/office/powerpoint/2010/main" xmlns="" val="131136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152400" y="228601"/>
            <a:ext cx="8763000" cy="2438399"/>
          </a:xfrm>
          <a:prstGeom prst="rect">
            <a:avLst/>
          </a:prstGeom>
          <a:noFill/>
          <a:ln w="9525">
            <a:noFill/>
            <a:miter lim="800000"/>
            <a:headEnd/>
            <a:tailEnd/>
          </a:ln>
          <a:effectLst/>
        </p:spPr>
      </p:pic>
      <p:pic>
        <p:nvPicPr>
          <p:cNvPr id="3" name="Picture 3"/>
          <p:cNvPicPr>
            <a:picLocks noChangeAspect="1" noChangeArrowheads="1"/>
          </p:cNvPicPr>
          <p:nvPr/>
        </p:nvPicPr>
        <p:blipFill>
          <a:blip r:embed="rId3"/>
          <a:srcRect/>
          <a:stretch>
            <a:fillRect/>
          </a:stretch>
        </p:blipFill>
        <p:spPr bwMode="auto">
          <a:xfrm>
            <a:off x="1066800" y="2667001"/>
            <a:ext cx="7010401" cy="3352799"/>
          </a:xfrm>
          <a:prstGeom prst="rect">
            <a:avLst/>
          </a:prstGeom>
          <a:noFill/>
          <a:ln w="9525">
            <a:noFill/>
            <a:miter lim="800000"/>
            <a:headEnd/>
            <a:tailEnd/>
          </a:ln>
          <a:effectLst/>
        </p:spPr>
      </p:pic>
      <p:pic>
        <p:nvPicPr>
          <p:cNvPr id="4" name="Picture 4"/>
          <p:cNvPicPr>
            <a:picLocks noChangeAspect="1" noChangeArrowheads="1"/>
          </p:cNvPicPr>
          <p:nvPr/>
        </p:nvPicPr>
        <p:blipFill>
          <a:blip r:embed="rId4"/>
          <a:srcRect/>
          <a:stretch>
            <a:fillRect/>
          </a:stretch>
        </p:blipFill>
        <p:spPr bwMode="auto">
          <a:xfrm>
            <a:off x="1524000" y="6019800"/>
            <a:ext cx="6629400" cy="838200"/>
          </a:xfrm>
          <a:prstGeom prst="rect">
            <a:avLst/>
          </a:prstGeom>
          <a:noFill/>
          <a:ln w="9525">
            <a:noFill/>
            <a:miter lim="800000"/>
            <a:headEnd/>
            <a:tailEnd/>
          </a:ln>
          <a:effectLst/>
        </p:spPr>
      </p:pic>
    </p:spTree>
    <p:extLst>
      <p:ext uri="{BB962C8B-B14F-4D97-AF65-F5344CB8AC3E}">
        <p14:creationId xmlns:p14="http://schemas.microsoft.com/office/powerpoint/2010/main" xmlns="" val="3860941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 y="228600"/>
            <a:ext cx="8839200" cy="6477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276021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 y="152400"/>
            <a:ext cx="8763000" cy="6400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12874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228600"/>
            <a:ext cx="8686800" cy="6324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33338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228600"/>
            <a:ext cx="8763000" cy="6400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08093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304800" y="1828800"/>
            <a:ext cx="8610600" cy="4892675"/>
          </a:xfrm>
          <a:prstGeom prst="rect">
            <a:avLst/>
          </a:prstGeom>
        </p:spPr>
      </p:pic>
      <p:sp>
        <p:nvSpPr>
          <p:cNvPr id="3" name="Rectangle 2"/>
          <p:cNvSpPr/>
          <p:nvPr/>
        </p:nvSpPr>
        <p:spPr>
          <a:xfrm>
            <a:off x="533400" y="228600"/>
            <a:ext cx="8382000" cy="1754326"/>
          </a:xfrm>
          <a:prstGeom prst="rect">
            <a:avLst/>
          </a:prstGeom>
        </p:spPr>
        <p:txBody>
          <a:bodyPr wrap="square">
            <a:spAutoFit/>
          </a:bodyPr>
          <a:lstStyle/>
          <a:p>
            <a:r>
              <a:rPr lang="en-IN" sz="2800" dirty="0">
                <a:solidFill>
                  <a:srgbClr val="FF0000"/>
                </a:solidFill>
                <a:latin typeface="Times New Roman" pitchFamily="18" charset="0"/>
                <a:cs typeface="Times New Roman" pitchFamily="18" charset="0"/>
              </a:rPr>
              <a:t>Decision Tree - Buys Computer:</a:t>
            </a:r>
          </a:p>
          <a:p>
            <a:pPr algn="just"/>
            <a:r>
              <a:rPr lang="en-US" sz="2000" dirty="0">
                <a:latin typeface="Times New Roman" pitchFamily="18" charset="0"/>
                <a:cs typeface="Times New Roman" pitchFamily="18" charset="0"/>
              </a:rPr>
              <a:t>	A decision tree for the concept buys computer, indicating whether an </a:t>
            </a:r>
            <a:r>
              <a:rPr lang="en-US" sz="2000" dirty="0" err="1">
                <a:latin typeface="Times New Roman" pitchFamily="18" charset="0"/>
                <a:cs typeface="Times New Roman" pitchFamily="18" charset="0"/>
              </a:rPr>
              <a:t>AllElectronics</a:t>
            </a:r>
            <a:r>
              <a:rPr lang="en-US" sz="2000" dirty="0">
                <a:latin typeface="Times New Roman" pitchFamily="18" charset="0"/>
                <a:cs typeface="Times New Roman" pitchFamily="18" charset="0"/>
              </a:rPr>
              <a:t> customer is likely to purchase a computer. Each internal (non-leaf) node represents a test on an attribute. Each leaf node represents a class (either buys computer yes or buys computer no).</a:t>
            </a:r>
            <a:endParaRPr lang="en-IN" sz="20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759259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D1D2257F-565A-4A9F-AC3F-3EE60BDE280E}"/>
              </a:ext>
            </a:extLst>
          </p:cNvPr>
          <p:cNvSpPr/>
          <p:nvPr/>
        </p:nvSpPr>
        <p:spPr>
          <a:xfrm>
            <a:off x="1066800" y="1066800"/>
            <a:ext cx="6934200" cy="4304320"/>
          </a:xfrm>
          <a:prstGeom prst="rect">
            <a:avLst/>
          </a:prstGeom>
        </p:spPr>
        <p:txBody>
          <a:bodyPr wrap="square">
            <a:spAutoFit/>
          </a:bodyPr>
          <a:lstStyle/>
          <a:p>
            <a:pPr>
              <a:lnSpc>
                <a:spcPct val="107000"/>
              </a:lnSpc>
              <a:spcBef>
                <a:spcPts val="1200"/>
              </a:spcBef>
              <a:spcAft>
                <a:spcPts val="0"/>
              </a:spcAft>
            </a:pPr>
            <a:r>
              <a:rPr lang="en-IN" sz="2400" b="1" kern="0"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Why are decision tree classifiers so popular?</a:t>
            </a:r>
          </a:p>
          <a:p>
            <a:pPr marL="342900" indent="-342900">
              <a:lnSpc>
                <a:spcPct val="107000"/>
              </a:lnSpc>
              <a:spcBef>
                <a:spcPts val="1200"/>
              </a:spcBef>
              <a:buAutoNum type="arabicPeriod"/>
            </a:pPr>
            <a:r>
              <a:rPr lang="en-IN" sz="2400" b="1" dirty="0">
                <a:latin typeface="Times New Roman" panose="02020603050405020304" pitchFamily="18" charset="0"/>
                <a:cs typeface="Times New Roman" panose="02020603050405020304" pitchFamily="18" charset="0"/>
              </a:rPr>
              <a:t>No domain knowledge is required</a:t>
            </a:r>
          </a:p>
          <a:p>
            <a:pPr marL="342900" indent="-342900">
              <a:lnSpc>
                <a:spcPct val="107000"/>
              </a:lnSpc>
              <a:spcBef>
                <a:spcPts val="1200"/>
              </a:spcBef>
              <a:buFontTx/>
              <a:buAutoNum type="arabicPeriod"/>
            </a:pPr>
            <a:r>
              <a:rPr lang="en-IN" sz="2400" b="1" dirty="0">
                <a:latin typeface="Times New Roman" panose="02020603050405020304" pitchFamily="18" charset="0"/>
                <a:cs typeface="Times New Roman" panose="02020603050405020304" pitchFamily="18" charset="0"/>
              </a:rPr>
              <a:t>No complicated parameter settings</a:t>
            </a:r>
          </a:p>
          <a:p>
            <a:pPr marL="342900" indent="-342900">
              <a:lnSpc>
                <a:spcPct val="107000"/>
              </a:lnSpc>
              <a:spcBef>
                <a:spcPts val="1200"/>
              </a:spcBef>
              <a:buFontTx/>
              <a:buAutoNum type="arabicPeriod"/>
            </a:pPr>
            <a:r>
              <a:rPr lang="en-IN" sz="2400" b="1" dirty="0">
                <a:latin typeface="Times New Roman" panose="02020603050405020304" pitchFamily="18" charset="0"/>
                <a:cs typeface="Times New Roman" panose="02020603050405020304" pitchFamily="18" charset="0"/>
              </a:rPr>
              <a:t>They can handle multidimensional data</a:t>
            </a:r>
          </a:p>
          <a:p>
            <a:pPr marL="342900" indent="-342900">
              <a:lnSpc>
                <a:spcPct val="107000"/>
              </a:lnSpc>
              <a:spcBef>
                <a:spcPts val="1200"/>
              </a:spcBef>
              <a:buFontTx/>
              <a:buAutoNum type="arabicPeriod"/>
            </a:pPr>
            <a:r>
              <a:rPr lang="en-IN" sz="2400" b="1" dirty="0">
                <a:latin typeface="Times New Roman" panose="02020603050405020304" pitchFamily="18" charset="0"/>
                <a:cs typeface="Times New Roman" panose="02020603050405020304" pitchFamily="18" charset="0"/>
              </a:rPr>
              <a:t>Easy for humans to understand</a:t>
            </a:r>
          </a:p>
          <a:p>
            <a:pPr marL="342900" indent="-342900">
              <a:lnSpc>
                <a:spcPct val="107000"/>
              </a:lnSpc>
              <a:spcBef>
                <a:spcPts val="1200"/>
              </a:spcBef>
              <a:buFontTx/>
              <a:buAutoNum type="arabicPeriod"/>
            </a:pPr>
            <a:r>
              <a:rPr lang="en-IN" sz="2400" b="1" dirty="0">
                <a:latin typeface="Times New Roman" panose="02020603050405020304" pitchFamily="18" charset="0"/>
                <a:cs typeface="Times New Roman" panose="02020603050405020304" pitchFamily="18" charset="0"/>
              </a:rPr>
              <a:t>Learning is simple and fast</a:t>
            </a:r>
          </a:p>
          <a:p>
            <a:pPr>
              <a:lnSpc>
                <a:spcPct val="107000"/>
              </a:lnSpc>
              <a:spcBef>
                <a:spcPts val="1200"/>
              </a:spcBef>
            </a:pPr>
            <a:endParaRPr lang="en-IN" sz="2400" b="1" dirty="0">
              <a:latin typeface="Times New Roman" panose="02020603050405020304" pitchFamily="18" charset="0"/>
              <a:cs typeface="Times New Roman" panose="02020603050405020304" pitchFamily="18" charset="0"/>
            </a:endParaRPr>
          </a:p>
          <a:p>
            <a:pPr>
              <a:lnSpc>
                <a:spcPct val="107000"/>
              </a:lnSpc>
              <a:spcBef>
                <a:spcPts val="1200"/>
              </a:spcBef>
              <a:spcAft>
                <a:spcPts val="0"/>
              </a:spcAft>
            </a:pPr>
            <a:endParaRPr lang="en-IN" sz="2400" b="1" kern="0"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523005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152400"/>
            <a:ext cx="8763000" cy="7017306"/>
          </a:xfrm>
          <a:prstGeom prst="rect">
            <a:avLst/>
          </a:prstGeom>
        </p:spPr>
        <p:txBody>
          <a:bodyPr wrap="square">
            <a:spAutoFit/>
          </a:bodyPr>
          <a:lstStyle/>
          <a:p>
            <a:r>
              <a:rPr lang="en-IN" sz="2800" dirty="0">
                <a:solidFill>
                  <a:srgbClr val="FF0000"/>
                </a:solidFill>
                <a:latin typeface="Times New Roman" pitchFamily="18" charset="0"/>
                <a:cs typeface="Times New Roman" pitchFamily="18" charset="0"/>
              </a:rPr>
              <a:t>Decision Tree Induction:</a:t>
            </a:r>
          </a:p>
          <a:p>
            <a:pPr algn="just"/>
            <a:r>
              <a:rPr lang="en-US" sz="2200" dirty="0">
                <a:latin typeface="Times New Roman" pitchFamily="18" charset="0"/>
                <a:cs typeface="Times New Roman" pitchFamily="18" charset="0"/>
              </a:rPr>
              <a:t>	ID3</a:t>
            </a:r>
            <a:r>
              <a:rPr lang="en-IN" sz="2200" dirty="0">
                <a:latin typeface="Times New Roman" pitchFamily="18" charset="0"/>
                <a:cs typeface="Times New Roman" pitchFamily="18" charset="0"/>
              </a:rPr>
              <a:t>(Iterative </a:t>
            </a:r>
            <a:r>
              <a:rPr lang="en-IN" sz="2200" dirty="0" err="1">
                <a:latin typeface="Times New Roman" pitchFamily="18" charset="0"/>
                <a:cs typeface="Times New Roman" pitchFamily="18" charset="0"/>
              </a:rPr>
              <a:t>Dichotomiser</a:t>
            </a:r>
            <a:r>
              <a:rPr lang="en-IN" sz="2200" dirty="0">
                <a:latin typeface="Times New Roman" pitchFamily="18" charset="0"/>
                <a:cs typeface="Times New Roman" pitchFamily="18" charset="0"/>
              </a:rPr>
              <a:t>)</a:t>
            </a:r>
            <a:r>
              <a:rPr lang="en-US" sz="2200" dirty="0">
                <a:latin typeface="Times New Roman" pitchFamily="18" charset="0"/>
                <a:cs typeface="Times New Roman" pitchFamily="18" charset="0"/>
              </a:rPr>
              <a:t>, C4.5, and CART adopt a greedy (i.e., </a:t>
            </a:r>
            <a:r>
              <a:rPr lang="en-US" sz="2200" dirty="0" err="1">
                <a:latin typeface="Times New Roman" pitchFamily="18" charset="0"/>
                <a:cs typeface="Times New Roman" pitchFamily="18" charset="0"/>
              </a:rPr>
              <a:t>nonbacktracking</a:t>
            </a:r>
            <a:r>
              <a:rPr lang="en-US" sz="2200" dirty="0">
                <a:latin typeface="Times New Roman" pitchFamily="18" charset="0"/>
                <a:cs typeface="Times New Roman" pitchFamily="18" charset="0"/>
              </a:rPr>
              <a:t>) approach in which decision trees are constructed in a top-down recursive divide-and-conquer manner. Most algorithms for decision tree induction also follow a top-down approach, which starts with a training set of tuples and their associated class labels. The training set is recursively partitioned into smaller subsets as the tree is being built. </a:t>
            </a: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The algorithm is called with three parameters: </a:t>
            </a:r>
          </a:p>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 D</a:t>
            </a:r>
            <a:r>
              <a:rPr lang="en-US" sz="2200" dirty="0">
                <a:latin typeface="Times New Roman" pitchFamily="18" charset="0"/>
                <a:cs typeface="Times New Roman" pitchFamily="18" charset="0"/>
              </a:rPr>
              <a:t> as a data partition, it is the complete set of training tuples and their associated class labels.  </a:t>
            </a:r>
          </a:p>
          <a:p>
            <a:pPr algn="just"/>
            <a:r>
              <a:rPr lang="en-US" sz="2200" dirty="0">
                <a:solidFill>
                  <a:srgbClr val="00B050"/>
                </a:solidFill>
                <a:latin typeface="Times New Roman" pitchFamily="18" charset="0"/>
                <a:cs typeface="Times New Roman" pitchFamily="18" charset="0"/>
              </a:rPr>
              <a:t>--Attribute list </a:t>
            </a:r>
            <a:r>
              <a:rPr lang="en-US" sz="2200" dirty="0">
                <a:latin typeface="Times New Roman" pitchFamily="18" charset="0"/>
                <a:cs typeface="Times New Roman" pitchFamily="18" charset="0"/>
              </a:rPr>
              <a:t>is a list of attributes describing the tuples. and </a:t>
            </a:r>
          </a:p>
          <a:p>
            <a:pPr algn="just"/>
            <a:r>
              <a:rPr lang="en-US" sz="2200" dirty="0">
                <a:solidFill>
                  <a:srgbClr val="00B050"/>
                </a:solidFill>
                <a:latin typeface="Times New Roman" pitchFamily="18" charset="0"/>
                <a:cs typeface="Times New Roman" pitchFamily="18" charset="0"/>
              </a:rPr>
              <a:t>--Attribute selection method</a:t>
            </a:r>
            <a:r>
              <a:rPr lang="en-US" sz="2200" dirty="0">
                <a:latin typeface="Times New Roman" pitchFamily="18" charset="0"/>
                <a:cs typeface="Times New Roman" pitchFamily="18" charset="0"/>
              </a:rPr>
              <a:t>, specifies a heuristic procedure for selecting the attribute that “best” discriminates the given tuples according to class.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This procedure employs an attribute selection measure such as information gain or the Gini index.</a:t>
            </a:r>
          </a:p>
          <a:p>
            <a:pPr algn="just"/>
            <a:endParaRPr lang="en-US" sz="2200" dirty="0">
              <a:solidFill>
                <a:srgbClr val="FF0000"/>
              </a:solidFill>
              <a:latin typeface="Times New Roman" pitchFamily="18" charset="0"/>
              <a:cs typeface="Times New Roman" pitchFamily="18" charset="0"/>
            </a:endParaRPr>
          </a:p>
          <a:p>
            <a:pPr algn="just"/>
            <a:r>
              <a:rPr lang="en-GB" sz="2400" dirty="0">
                <a:solidFill>
                  <a:srgbClr val="0070C0"/>
                </a:solidFill>
              </a:rPr>
              <a:t>The tree starts as a single node, N, representing the training tuples in D (step 1)</a:t>
            </a:r>
            <a:endParaRPr lang="en-IN" sz="2200"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636880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
            <a:ext cx="8534400" cy="5632311"/>
          </a:xfrm>
          <a:prstGeom prst="rect">
            <a:avLst/>
          </a:prstGeom>
        </p:spPr>
        <p:txBody>
          <a:bodyPr wrap="square">
            <a:spAutoFit/>
          </a:bodyPr>
          <a:lstStyle/>
          <a:p>
            <a:pPr algn="just"/>
            <a:r>
              <a:rPr lang="en-US" sz="2400" dirty="0">
                <a:solidFill>
                  <a:srgbClr val="00B050"/>
                </a:solidFill>
                <a:latin typeface="Times New Roman" pitchFamily="18" charset="0"/>
                <a:cs typeface="Times New Roman" pitchFamily="18" charset="0"/>
              </a:rPr>
              <a:t>Algorithm: Generate decision tree. </a:t>
            </a:r>
          </a:p>
          <a:p>
            <a:pPr algn="just"/>
            <a:r>
              <a:rPr lang="en-US" sz="2400" dirty="0">
                <a:latin typeface="Times New Roman" pitchFamily="18" charset="0"/>
                <a:cs typeface="Times New Roman" pitchFamily="18" charset="0"/>
              </a:rPr>
              <a:t>Generate a decision tree from the training tuples of data partition, D.</a:t>
            </a:r>
          </a:p>
          <a:p>
            <a:pPr algn="just"/>
            <a:endParaRPr lang="en-US" sz="2400" dirty="0">
              <a:latin typeface="Times New Roman" pitchFamily="18" charset="0"/>
              <a:cs typeface="Times New Roman" pitchFamily="18" charset="0"/>
            </a:endParaRPr>
          </a:p>
          <a:p>
            <a:pPr algn="just"/>
            <a:r>
              <a:rPr lang="en-US" sz="2400" dirty="0">
                <a:solidFill>
                  <a:srgbClr val="00B050"/>
                </a:solidFill>
                <a:latin typeface="Times New Roman" pitchFamily="18" charset="0"/>
                <a:cs typeface="Times New Roman" pitchFamily="18" charset="0"/>
              </a:rPr>
              <a:t>Input: </a:t>
            </a:r>
          </a:p>
          <a:p>
            <a:pPr algn="just"/>
            <a:r>
              <a:rPr lang="en-US" sz="2400" dirty="0">
                <a:solidFill>
                  <a:srgbClr val="002060"/>
                </a:solidFill>
                <a:latin typeface="Times New Roman" pitchFamily="18" charset="0"/>
                <a:cs typeface="Times New Roman" pitchFamily="18" charset="0"/>
              </a:rPr>
              <a:t>Data partition,</a:t>
            </a:r>
            <a:r>
              <a:rPr lang="en-US" sz="2400" dirty="0">
                <a:latin typeface="Times New Roman" pitchFamily="18" charset="0"/>
                <a:cs typeface="Times New Roman" pitchFamily="18" charset="0"/>
              </a:rPr>
              <a:t> D, which is a set of training tuples and their associated class labels; </a:t>
            </a:r>
          </a:p>
          <a:p>
            <a:pPr algn="just"/>
            <a:endParaRPr lang="en-US" sz="2400" dirty="0">
              <a:latin typeface="Times New Roman" pitchFamily="18" charset="0"/>
              <a:cs typeface="Times New Roman" pitchFamily="18" charset="0"/>
            </a:endParaRPr>
          </a:p>
          <a:p>
            <a:pPr algn="just"/>
            <a:r>
              <a:rPr lang="en-US" sz="2400" dirty="0">
                <a:solidFill>
                  <a:srgbClr val="002060"/>
                </a:solidFill>
                <a:latin typeface="Times New Roman" pitchFamily="18" charset="0"/>
                <a:cs typeface="Times New Roman" pitchFamily="18" charset="0"/>
              </a:rPr>
              <a:t>Attribute list,</a:t>
            </a:r>
            <a:r>
              <a:rPr lang="en-US" sz="2400" dirty="0">
                <a:latin typeface="Times New Roman" pitchFamily="18" charset="0"/>
                <a:cs typeface="Times New Roman" pitchFamily="18" charset="0"/>
              </a:rPr>
              <a:t> the set of candidate attributes; </a:t>
            </a:r>
          </a:p>
          <a:p>
            <a:pPr algn="just"/>
            <a:endParaRPr lang="en-US" sz="2400" dirty="0">
              <a:latin typeface="Times New Roman" pitchFamily="18" charset="0"/>
              <a:cs typeface="Times New Roman" pitchFamily="18" charset="0"/>
            </a:endParaRPr>
          </a:p>
          <a:p>
            <a:pPr algn="just"/>
            <a:r>
              <a:rPr lang="en-US" sz="2400" dirty="0">
                <a:solidFill>
                  <a:srgbClr val="002060"/>
                </a:solidFill>
                <a:latin typeface="Times New Roman" pitchFamily="18" charset="0"/>
                <a:cs typeface="Times New Roman" pitchFamily="18" charset="0"/>
              </a:rPr>
              <a:t>Attribute selection method, </a:t>
            </a:r>
            <a:r>
              <a:rPr lang="en-US" sz="2400" dirty="0">
                <a:latin typeface="Times New Roman" pitchFamily="18" charset="0"/>
                <a:cs typeface="Times New Roman" pitchFamily="18" charset="0"/>
              </a:rPr>
              <a:t>a procedure to determine the splitting criterion that “best” partitions the data tuples into individual classes. This criterion consists of a splitting attribute and, possibly, either a split-point or splitting subset. </a:t>
            </a:r>
          </a:p>
          <a:p>
            <a:pPr algn="just"/>
            <a:endParaRPr lang="en-US" sz="2400" dirty="0">
              <a:latin typeface="Times New Roman" pitchFamily="18" charset="0"/>
              <a:cs typeface="Times New Roman" pitchFamily="18" charset="0"/>
            </a:endParaRPr>
          </a:p>
          <a:p>
            <a:pPr algn="just"/>
            <a:r>
              <a:rPr lang="en-US" sz="2400" dirty="0">
                <a:solidFill>
                  <a:srgbClr val="002060"/>
                </a:solidFill>
                <a:latin typeface="Times New Roman" pitchFamily="18" charset="0"/>
                <a:cs typeface="Times New Roman" pitchFamily="18" charset="0"/>
              </a:rPr>
              <a:t>Output: </a:t>
            </a:r>
            <a:r>
              <a:rPr lang="en-US" sz="2400" dirty="0">
                <a:latin typeface="Times New Roman" pitchFamily="18" charset="0"/>
                <a:cs typeface="Times New Roman" pitchFamily="18" charset="0"/>
              </a:rPr>
              <a:t>A decision tree.</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xmlns="" val="1055256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66225C45-202E-4F3C-AD53-2FFC3DFC0FA3}"/>
              </a:ext>
            </a:extLst>
          </p:cNvPr>
          <p:cNvPicPr>
            <a:picLocks noChangeAspect="1"/>
          </p:cNvPicPr>
          <p:nvPr/>
        </p:nvPicPr>
        <p:blipFill>
          <a:blip r:embed="rId2"/>
          <a:stretch>
            <a:fillRect/>
          </a:stretch>
        </p:blipFill>
        <p:spPr>
          <a:xfrm>
            <a:off x="0" y="751114"/>
            <a:ext cx="9148509" cy="5410200"/>
          </a:xfrm>
          <a:prstGeom prst="rect">
            <a:avLst/>
          </a:prstGeom>
        </p:spPr>
      </p:pic>
    </p:spTree>
    <p:extLst>
      <p:ext uri="{BB962C8B-B14F-4D97-AF65-F5344CB8AC3E}">
        <p14:creationId xmlns:p14="http://schemas.microsoft.com/office/powerpoint/2010/main" xmlns="" val="3652726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358608"/>
          </a:xfrm>
          <a:prstGeom prst="rect">
            <a:avLst/>
          </a:prstGeom>
        </p:spPr>
        <p:txBody>
          <a:bodyPr wrap="square">
            <a:spAutoFit/>
          </a:bodyPr>
          <a:lstStyle/>
          <a:p>
            <a:pPr algn="just"/>
            <a:r>
              <a:rPr lang="en-US" sz="2200" dirty="0">
                <a:latin typeface="Times New Roman" pitchFamily="18" charset="0"/>
                <a:cs typeface="Times New Roman" pitchFamily="18" charset="0"/>
              </a:rPr>
              <a:t>The tree starts as a single node, N, representing the training tuples in D (step 1)</a:t>
            </a:r>
          </a:p>
          <a:p>
            <a:pPr algn="just"/>
            <a:r>
              <a:rPr lang="en-US" sz="2200" dirty="0">
                <a:latin typeface="Times New Roman" pitchFamily="18" charset="0"/>
                <a:cs typeface="Times New Roman" pitchFamily="18" charset="0"/>
              </a:rPr>
              <a:t>	If the tuples in D are all of the same class, then node N becomes a leaf and is labeled with that class (steps 2 and 3). Note that steps 4 and 5 are terminating conditions.</a:t>
            </a:r>
          </a:p>
          <a:p>
            <a:pPr algn="just"/>
            <a:r>
              <a:rPr lang="en-US" sz="2200" dirty="0">
                <a:latin typeface="Times New Roman" pitchFamily="18" charset="0"/>
                <a:cs typeface="Times New Roman" pitchFamily="18" charset="0"/>
              </a:rPr>
              <a:t>	Otherwise, the algorithm calls Attribute selection method to determine the splitting criterion. The splitting criterion tells us which attribute to test at node N by determining the “best” way to separate or partition the tuples in D into individual classes (step 6). </a:t>
            </a:r>
          </a:p>
          <a:p>
            <a:pPr algn="just"/>
            <a:r>
              <a:rPr lang="en-US" sz="2200" dirty="0">
                <a:latin typeface="Times New Roman" pitchFamily="18" charset="0"/>
                <a:cs typeface="Times New Roman" pitchFamily="18" charset="0"/>
              </a:rPr>
              <a:t>	The splitting criterion is determined so that, ideally, the resulting partitions at each branch are as “pure” as possible. A partition is pure if all the tuples in it belong to the same class.</a:t>
            </a:r>
          </a:p>
          <a:p>
            <a:pPr algn="just"/>
            <a:r>
              <a:rPr lang="en-US" sz="2200" dirty="0">
                <a:latin typeface="Times New Roman" pitchFamily="18" charset="0"/>
                <a:cs typeface="Times New Roman" pitchFamily="18" charset="0"/>
              </a:rPr>
              <a:t>	The node N is labeled with the splitting criterion, which serves as a test at the node (step 7). A branch is grown from node N for each of the outcomes of the splitting criterion. </a:t>
            </a:r>
          </a:p>
          <a:p>
            <a:pPr algn="just"/>
            <a:r>
              <a:rPr lang="en-US" sz="2200" dirty="0">
                <a:latin typeface="Times New Roman" pitchFamily="18" charset="0"/>
                <a:cs typeface="Times New Roman" pitchFamily="18" charset="0"/>
              </a:rPr>
              <a:t>	The tuples in D are partitioned accordingly (steps 10 to 11). There are three possible scenarios, as illustrated in Figure 8.4. Let A be the splitting attribute. A has v distinct values {a</a:t>
            </a:r>
            <a:r>
              <a:rPr lang="en-US" sz="2200" baseline="-25000" dirty="0">
                <a:latin typeface="Times New Roman" pitchFamily="18" charset="0"/>
                <a:cs typeface="Times New Roman" pitchFamily="18" charset="0"/>
              </a:rPr>
              <a:t>1</a:t>
            </a:r>
            <a:r>
              <a:rPr lang="en-US" sz="2200" dirty="0">
                <a:latin typeface="Times New Roman" pitchFamily="18" charset="0"/>
                <a:cs typeface="Times New Roman" pitchFamily="18" charset="0"/>
              </a:rPr>
              <a:t>, a</a:t>
            </a:r>
            <a:r>
              <a:rPr lang="en-US" sz="2200" baseline="-25000" dirty="0">
                <a:latin typeface="Times New Roman" pitchFamily="18" charset="0"/>
                <a:cs typeface="Times New Roman" pitchFamily="18" charset="0"/>
              </a:rPr>
              <a:t>2</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a</a:t>
            </a:r>
            <a:r>
              <a:rPr lang="en-US" sz="2200" baseline="-25000" dirty="0" err="1">
                <a:latin typeface="Times New Roman" pitchFamily="18" charset="0"/>
                <a:cs typeface="Times New Roman" pitchFamily="18" charset="0"/>
              </a:rPr>
              <a:t>v</a:t>
            </a:r>
            <a:r>
              <a:rPr lang="en-US" sz="2200" dirty="0">
                <a:latin typeface="Times New Roman" pitchFamily="18" charset="0"/>
                <a:cs typeface="Times New Roman" pitchFamily="18" charset="0"/>
              </a:rPr>
              <a:t>} based on the training data.</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8990562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0" y="-130629"/>
            <a:ext cx="8458200" cy="5105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57201" y="5170714"/>
            <a:ext cx="8229600" cy="1581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01071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5847755"/>
          </a:xfrm>
          <a:prstGeom prst="rect">
            <a:avLst/>
          </a:prstGeom>
        </p:spPr>
        <p:txBody>
          <a:bodyPr wrap="square">
            <a:spAutoFit/>
          </a:bodyPr>
          <a:lstStyle/>
          <a:p>
            <a:pPr algn="just"/>
            <a:r>
              <a:rPr lang="en-US" sz="2200" dirty="0">
                <a:latin typeface="Times New Roman" pitchFamily="18" charset="0"/>
                <a:cs typeface="Times New Roman" pitchFamily="18" charset="0"/>
              </a:rPr>
              <a:t>	The algorithm uses the same process recursively to form a decision tree for the tuples at each resulting partition, </a:t>
            </a:r>
            <a:r>
              <a:rPr lang="en-US" sz="2200" dirty="0" err="1">
                <a:latin typeface="Times New Roman" pitchFamily="18" charset="0"/>
                <a:cs typeface="Times New Roman" pitchFamily="18" charset="0"/>
              </a:rPr>
              <a:t>Dj</a:t>
            </a:r>
            <a:r>
              <a:rPr lang="en-US" sz="2200" dirty="0">
                <a:latin typeface="Times New Roman" pitchFamily="18" charset="0"/>
                <a:cs typeface="Times New Roman" pitchFamily="18" charset="0"/>
              </a:rPr>
              <a:t>, of D (step 14).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 recursive partitioning stops only when any one of the following terminating conditions is true: </a:t>
            </a:r>
          </a:p>
          <a:p>
            <a:pPr algn="just"/>
            <a:endParaRPr lang="en-US" sz="2200" dirty="0">
              <a:latin typeface="Times New Roman" pitchFamily="18" charset="0"/>
              <a:cs typeface="Times New Roman" pitchFamily="18" charset="0"/>
            </a:endParaRPr>
          </a:p>
          <a:p>
            <a:pPr marL="342900" indent="-342900" algn="just">
              <a:buAutoNum type="arabicPeriod"/>
            </a:pPr>
            <a:r>
              <a:rPr lang="en-US" sz="2200" dirty="0">
                <a:latin typeface="Times New Roman" pitchFamily="18" charset="0"/>
                <a:cs typeface="Times New Roman" pitchFamily="18" charset="0"/>
              </a:rPr>
              <a:t>All the tuples in partition D (represented at node N) belong to the same class (steps 2 and 3). </a:t>
            </a:r>
          </a:p>
          <a:p>
            <a:pPr marL="342900" indent="-342900" algn="just">
              <a:buAutoNum type="arabicPeriod"/>
            </a:pPr>
            <a:endParaRPr lang="en-US" sz="2200" dirty="0">
              <a:latin typeface="Times New Roman" pitchFamily="18" charset="0"/>
              <a:cs typeface="Times New Roman" pitchFamily="18" charset="0"/>
            </a:endParaRPr>
          </a:p>
          <a:p>
            <a:pPr marL="342900" indent="-342900" algn="just">
              <a:buAutoNum type="arabicPeriod"/>
            </a:pPr>
            <a:r>
              <a:rPr lang="en-US" sz="2200" dirty="0">
                <a:latin typeface="Times New Roman" pitchFamily="18" charset="0"/>
                <a:cs typeface="Times New Roman" pitchFamily="18" charset="0"/>
              </a:rPr>
              <a:t>There are no remaining attributes on which the tuples may be further partitioned (step 4). In this case, majority voting is employed (step 5). </a:t>
            </a:r>
          </a:p>
          <a:p>
            <a:pPr marL="342900" indent="-342900" algn="just">
              <a:buAutoNum type="arabicPeriod"/>
            </a:pPr>
            <a:endParaRPr lang="en-US" sz="2200" dirty="0">
              <a:latin typeface="Times New Roman" pitchFamily="18" charset="0"/>
              <a:cs typeface="Times New Roman" pitchFamily="18" charset="0"/>
            </a:endParaRPr>
          </a:p>
          <a:p>
            <a:pPr marL="342900" indent="-342900" algn="just">
              <a:buAutoNum type="arabicPeriod"/>
            </a:pPr>
            <a:r>
              <a:rPr lang="en-US" sz="2200" dirty="0">
                <a:latin typeface="Times New Roman" pitchFamily="18" charset="0"/>
                <a:cs typeface="Times New Roman" pitchFamily="18" charset="0"/>
              </a:rPr>
              <a:t>There are no tuples for a given branch, that is, a partition </a:t>
            </a:r>
            <a:r>
              <a:rPr lang="en-US" sz="2200" dirty="0" err="1">
                <a:latin typeface="Times New Roman" pitchFamily="18" charset="0"/>
                <a:cs typeface="Times New Roman" pitchFamily="18" charset="0"/>
              </a:rPr>
              <a:t>Dj</a:t>
            </a:r>
            <a:r>
              <a:rPr lang="en-US" sz="2200" dirty="0">
                <a:latin typeface="Times New Roman" pitchFamily="18" charset="0"/>
                <a:cs typeface="Times New Roman" pitchFamily="18" charset="0"/>
              </a:rPr>
              <a:t> is empty (step 12). In this case, a leaf is created with the majority class in D (step 13).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resulting decision tree is returned (step 15).</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063638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EDAB6EEB-6A3E-4E84-ACA5-4B659E4D9CE6}"/>
              </a:ext>
            </a:extLst>
          </p:cNvPr>
          <p:cNvSpPr/>
          <p:nvPr/>
        </p:nvSpPr>
        <p:spPr>
          <a:xfrm>
            <a:off x="533400" y="533400"/>
            <a:ext cx="7772400" cy="2308324"/>
          </a:xfrm>
          <a:prstGeom prst="rect">
            <a:avLst/>
          </a:prstGeom>
        </p:spPr>
        <p:txBody>
          <a:bodyPr wrap="square">
            <a:spAutoFit/>
          </a:bodyPr>
          <a:lstStyle/>
          <a:p>
            <a:pPr algn="just"/>
            <a:r>
              <a:rPr lang="en-GB" sz="2400" dirty="0">
                <a:latin typeface="Times New Roman" panose="02020603050405020304" pitchFamily="18" charset="0"/>
                <a:cs typeface="Times New Roman" panose="02020603050405020304" pitchFamily="18" charset="0"/>
              </a:rPr>
              <a:t>The computational complexity of the algorithm given training set D is O(n×|D|× log(|D|)), where n is the number of attributes describing the tuples in D and |D| is the number of training tuples in D. This means that the computational cost of growing a tree grows at most n×|D|×log(|D|) with |D| tuples.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86106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87086"/>
            <a:ext cx="8686800" cy="3847207"/>
          </a:xfrm>
          <a:prstGeom prst="rect">
            <a:avLst/>
          </a:prstGeom>
        </p:spPr>
        <p:txBody>
          <a:bodyPr wrap="square">
            <a:spAutoFit/>
          </a:bodyPr>
          <a:lstStyle/>
          <a:p>
            <a:pPr algn="just"/>
            <a:r>
              <a:rPr lang="en-US" sz="2200" dirty="0">
                <a:solidFill>
                  <a:srgbClr val="FF0000"/>
                </a:solidFill>
                <a:latin typeface="Times New Roman" pitchFamily="18" charset="0"/>
                <a:cs typeface="Times New Roman" pitchFamily="18" charset="0"/>
              </a:rPr>
              <a:t>Attribute Selection Measures:</a:t>
            </a:r>
            <a:r>
              <a:rPr lang="en-US" sz="2200" dirty="0">
                <a:latin typeface="Times New Roman" pitchFamily="18" charset="0"/>
                <a:cs typeface="Times New Roman" pitchFamily="18" charset="0"/>
              </a:rPr>
              <a:t> An attribute selection measure is a heuristic for selecting the splitting criterion that “best” separates a given data partition, D, of class-labeled training tuples into individual classes. If we were to split D into smaller partitions according to the outcomes of the splitting criterion, ideally each partition would be pure.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Attribute selection measures are also known as splitting rules because they determine how the tuples at a given node are to be split.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There are three popular attribute selection measures—information gain, gain ratio, and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a:t>
            </a:r>
            <a:r>
              <a:rPr lang="en-US" sz="2400" dirty="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4626428"/>
            <a:ext cx="8686799" cy="1600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6980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219200"/>
            <a:ext cx="8077200" cy="1200329"/>
          </a:xfrm>
          <a:prstGeom prst="rect">
            <a:avLst/>
          </a:prstGeom>
        </p:spPr>
        <p:txBody>
          <a:bodyPr wrap="square">
            <a:spAutoFit/>
          </a:bodyPr>
          <a:lstStyle/>
          <a:p>
            <a:r>
              <a:rPr lang="en-US" b="1" dirty="0" smtClean="0"/>
              <a:t>Information Gain (IG)</a:t>
            </a:r>
          </a:p>
          <a:p>
            <a:r>
              <a:rPr lang="en-US" b="1" dirty="0" smtClean="0"/>
              <a:t>Information Gain</a:t>
            </a:r>
            <a:r>
              <a:rPr lang="en-US" dirty="0" smtClean="0"/>
              <a:t> measures how much knowing a particular feature reduces the uncertainty about the target variable. It is commonly used in </a:t>
            </a:r>
            <a:r>
              <a:rPr lang="en-US" b="1" dirty="0" smtClean="0"/>
              <a:t>Decision Trees</a:t>
            </a:r>
            <a:r>
              <a:rPr lang="en-US" dirty="0" smtClean="0"/>
              <a:t> to decide which feature should be used for splitting the data</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2"/>
          <a:srcRect/>
          <a:stretch>
            <a:fillRect/>
          </a:stretch>
        </p:blipFill>
        <p:spPr bwMode="auto">
          <a:xfrm>
            <a:off x="80963" y="866775"/>
            <a:ext cx="8982075" cy="512445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noChangeArrowheads="1"/>
          </p:cNvPicPr>
          <p:nvPr/>
        </p:nvPicPr>
        <p:blipFill>
          <a:blip r:embed="rId2"/>
          <a:srcRect/>
          <a:stretch>
            <a:fillRect/>
          </a:stretch>
        </p:blipFill>
        <p:spPr bwMode="auto">
          <a:xfrm>
            <a:off x="300038" y="1824038"/>
            <a:ext cx="8543925" cy="3209925"/>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914400"/>
            <a:ext cx="4572000" cy="923330"/>
          </a:xfrm>
          <a:prstGeom prst="rect">
            <a:avLst/>
          </a:prstGeom>
        </p:spPr>
        <p:txBody>
          <a:bodyPr wrap="square">
            <a:spAutoFit/>
          </a:bodyPr>
          <a:lstStyle/>
          <a:p>
            <a:r>
              <a:rPr lang="en-US" b="1" dirty="0" smtClean="0"/>
              <a:t>Simple Example</a:t>
            </a:r>
          </a:p>
          <a:p>
            <a:r>
              <a:rPr lang="en-US" dirty="0" smtClean="0"/>
              <a:t>Suppose we have </a:t>
            </a:r>
            <a:r>
              <a:rPr lang="en-US" b="1" dirty="0" smtClean="0"/>
              <a:t>10 students</a:t>
            </a:r>
            <a:r>
              <a:rPr lang="en-US" dirty="0" smtClean="0"/>
              <a:t> and want to predict whether they will </a:t>
            </a:r>
            <a:r>
              <a:rPr lang="en-US" b="1" dirty="0" smtClean="0"/>
              <a:t>Pass or Fail</a:t>
            </a:r>
            <a:r>
              <a:rPr lang="en-US" dirty="0" smtClean="0"/>
              <a:t>.</a:t>
            </a:r>
            <a:endParaRPr lang="en-US" dirty="0"/>
          </a:p>
        </p:txBody>
      </p:sp>
      <p:graphicFrame>
        <p:nvGraphicFramePr>
          <p:cNvPr id="3" name="Table 2"/>
          <p:cNvGraphicFramePr>
            <a:graphicFrameLocks noGrp="1"/>
          </p:cNvGraphicFramePr>
          <p:nvPr/>
        </p:nvGraphicFramePr>
        <p:xfrm>
          <a:off x="1524000" y="2133600"/>
          <a:ext cx="6096000" cy="1005840"/>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132080">
                <a:tc>
                  <a:txBody>
                    <a:bodyPr/>
                    <a:lstStyle/>
                    <a:p>
                      <a:endParaRPr lang="en-US" dirty="0"/>
                    </a:p>
                  </a:txBody>
                  <a:tcPr/>
                </a:tc>
                <a:tc>
                  <a:txBody>
                    <a:bodyPr/>
                    <a:lstStyle/>
                    <a:p>
                      <a:endParaRPr lang="en-US" dirty="0"/>
                    </a:p>
                  </a:txBody>
                  <a:tcPr anchor="ctr"/>
                </a:tc>
                <a:tc>
                  <a:txBody>
                    <a:bodyPr/>
                    <a:lstStyle/>
                    <a:p>
                      <a:pPr algn="r"/>
                      <a:r>
                        <a:rPr lang="en-US"/>
                        <a:t>Pass</a:t>
                      </a:r>
                    </a:p>
                  </a:txBody>
                  <a:tcPr anchor="ctr"/>
                </a:tc>
                <a:tc>
                  <a:txBody>
                    <a:bodyPr/>
                    <a:lstStyle/>
                    <a:p>
                      <a:pPr algn="r"/>
                      <a:r>
                        <a:rPr lang="en-US"/>
                        <a:t>Fail</a:t>
                      </a:r>
                    </a:p>
                  </a:txBody>
                  <a:tcPr anchor="ctr"/>
                </a:tc>
                <a:tc>
                  <a:txBody>
                    <a:bodyPr/>
                    <a:lstStyle/>
                    <a:p>
                      <a:pPr algn="r"/>
                      <a:r>
                        <a:rPr lang="en-US"/>
                        <a:t>Total</a:t>
                      </a:r>
                    </a:p>
                  </a:txBody>
                  <a:tcPr anchor="ctr"/>
                </a:tc>
              </a:tr>
              <a:tr h="132080">
                <a:tc>
                  <a:txBody>
                    <a:bodyPr/>
                    <a:lstStyle/>
                    <a:p>
                      <a:endParaRPr lang="en-US" dirty="0"/>
                    </a:p>
                  </a:txBody>
                  <a:tcPr/>
                </a:tc>
                <a:tc>
                  <a:txBody>
                    <a:bodyPr/>
                    <a:lstStyle/>
                    <a:p>
                      <a:r>
                        <a:rPr lang="en-US" dirty="0"/>
                        <a:t>Entire dataset</a:t>
                      </a:r>
                    </a:p>
                  </a:txBody>
                  <a:tcPr anchor="ctr"/>
                </a:tc>
                <a:tc>
                  <a:txBody>
                    <a:bodyPr/>
                    <a:lstStyle/>
                    <a:p>
                      <a:pPr algn="r"/>
                      <a:r>
                        <a:rPr lang="en-US"/>
                        <a:t>6</a:t>
                      </a:r>
                    </a:p>
                  </a:txBody>
                  <a:tcPr anchor="ctr"/>
                </a:tc>
                <a:tc>
                  <a:txBody>
                    <a:bodyPr/>
                    <a:lstStyle/>
                    <a:p>
                      <a:pPr algn="r"/>
                      <a:r>
                        <a:rPr lang="en-US"/>
                        <a:t>4</a:t>
                      </a:r>
                    </a:p>
                  </a:txBody>
                  <a:tcPr anchor="ctr"/>
                </a:tc>
                <a:tc>
                  <a:txBody>
                    <a:bodyPr/>
                    <a:lstStyle/>
                    <a:p>
                      <a:pPr algn="r"/>
                      <a:r>
                        <a:rPr lang="en-US" dirty="0"/>
                        <a:t>10</a:t>
                      </a:r>
                    </a:p>
                  </a:txBody>
                  <a:tcPr anchor="ctr"/>
                </a:tc>
              </a:tr>
            </a:tbl>
          </a:graphicData>
        </a:graphic>
      </p:graphicFrame>
      <p:pic>
        <p:nvPicPr>
          <p:cNvPr id="63490" name="Picture 2"/>
          <p:cNvPicPr>
            <a:picLocks noChangeAspect="1" noChangeArrowheads="1"/>
          </p:cNvPicPr>
          <p:nvPr/>
        </p:nvPicPr>
        <p:blipFill>
          <a:blip r:embed="rId2"/>
          <a:srcRect/>
          <a:stretch>
            <a:fillRect/>
          </a:stretch>
        </p:blipFill>
        <p:spPr bwMode="auto">
          <a:xfrm>
            <a:off x="1371600" y="3886200"/>
            <a:ext cx="6858000" cy="1981200"/>
          </a:xfrm>
          <a:prstGeom prst="rect">
            <a:avLst/>
          </a:prstGeom>
          <a:noFill/>
          <a:ln w="9525">
            <a:noFill/>
            <a:miter lim="800000"/>
            <a:headEnd/>
            <a:tailEnd/>
          </a:ln>
          <a:effectLst/>
        </p:spPr>
      </p:pic>
      <p:pic>
        <p:nvPicPr>
          <p:cNvPr id="63491" name="Picture 3"/>
          <p:cNvPicPr>
            <a:picLocks noChangeAspect="1" noChangeArrowheads="1"/>
          </p:cNvPicPr>
          <p:nvPr/>
        </p:nvPicPr>
        <p:blipFill>
          <a:blip r:embed="rId3"/>
          <a:srcRect/>
          <a:stretch>
            <a:fillRect/>
          </a:stretch>
        </p:blipFill>
        <p:spPr bwMode="auto">
          <a:xfrm>
            <a:off x="1828800" y="5867400"/>
            <a:ext cx="5334000" cy="79057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685800"/>
            <a:ext cx="8077200" cy="2031325"/>
          </a:xfrm>
          <a:prstGeom prst="rect">
            <a:avLst/>
          </a:prstGeom>
        </p:spPr>
        <p:txBody>
          <a:bodyPr wrap="square">
            <a:spAutoFit/>
          </a:bodyPr>
          <a:lstStyle/>
          <a:p>
            <a:r>
              <a:rPr lang="en-US" dirty="0" smtClean="0"/>
              <a:t>Sure. The </a:t>
            </a:r>
            <a:r>
              <a:rPr lang="en-US" b="1" dirty="0" smtClean="0"/>
              <a:t>initial dataset entropy</a:t>
            </a:r>
            <a:r>
              <a:rPr lang="en-US" dirty="0" smtClean="0"/>
              <a:t> can be calculated exactly the same way.</a:t>
            </a:r>
          </a:p>
          <a:p>
            <a:r>
              <a:rPr lang="en-US" b="1" dirty="0" smtClean="0"/>
              <a:t>Initial Dataset</a:t>
            </a:r>
          </a:p>
          <a:p>
            <a:r>
              <a:rPr lang="en-US" dirty="0" smtClean="0"/>
              <a:t>Suppose the complete dataset contains:</a:t>
            </a:r>
          </a:p>
          <a:p>
            <a:r>
              <a:rPr lang="en-US" b="1" dirty="0" smtClean="0"/>
              <a:t>Pass = 6</a:t>
            </a:r>
            <a:r>
              <a:rPr lang="en-US" dirty="0" smtClean="0"/>
              <a:t> </a:t>
            </a:r>
          </a:p>
          <a:p>
            <a:r>
              <a:rPr lang="en-US" b="1" dirty="0" smtClean="0"/>
              <a:t>Fail = 4</a:t>
            </a:r>
            <a:r>
              <a:rPr lang="en-US" dirty="0" smtClean="0"/>
              <a:t> </a:t>
            </a:r>
          </a:p>
          <a:p>
            <a:r>
              <a:rPr lang="en-US" b="1" dirty="0" smtClean="0"/>
              <a:t>Total = 10</a:t>
            </a:r>
            <a:r>
              <a:rPr lang="en-US" dirty="0" smtClean="0"/>
              <a:t> </a:t>
            </a:r>
          </a:p>
          <a:p>
            <a:r>
              <a:rPr lang="en-US" dirty="0" smtClean="0"/>
              <a:t>​</a:t>
            </a:r>
            <a:endParaRPr lang="en-US" dirty="0"/>
          </a:p>
        </p:txBody>
      </p:sp>
      <p:pic>
        <p:nvPicPr>
          <p:cNvPr id="66562" name="Picture 2"/>
          <p:cNvPicPr>
            <a:picLocks noChangeAspect="1" noChangeArrowheads="1"/>
          </p:cNvPicPr>
          <p:nvPr/>
        </p:nvPicPr>
        <p:blipFill>
          <a:blip r:embed="rId2"/>
          <a:srcRect/>
          <a:stretch>
            <a:fillRect/>
          </a:stretch>
        </p:blipFill>
        <p:spPr bwMode="auto">
          <a:xfrm>
            <a:off x="914400" y="1752600"/>
            <a:ext cx="7696200" cy="45720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2"/>
          <a:srcRect/>
          <a:stretch>
            <a:fillRect/>
          </a:stretch>
        </p:blipFill>
        <p:spPr bwMode="auto">
          <a:xfrm>
            <a:off x="671513" y="2100263"/>
            <a:ext cx="7800975" cy="2657475"/>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0" y="609600"/>
            <a:ext cx="5867400" cy="923330"/>
          </a:xfrm>
          <a:prstGeom prst="rect">
            <a:avLst/>
          </a:prstGeom>
        </p:spPr>
        <p:txBody>
          <a:bodyPr wrap="square">
            <a:spAutoFit/>
          </a:bodyPr>
          <a:lstStyle/>
          <a:p>
            <a:r>
              <a:rPr lang="en-US" dirty="0" smtClean="0"/>
              <a:t>Now consider a feature </a:t>
            </a:r>
            <a:r>
              <a:rPr lang="en-US" b="1" dirty="0" smtClean="0"/>
              <a:t>"Study Hours"</a:t>
            </a:r>
            <a:r>
              <a:rPr lang="en-US" dirty="0" smtClean="0"/>
              <a:t>, divided into:</a:t>
            </a:r>
          </a:p>
          <a:p>
            <a:r>
              <a:rPr lang="en-US" dirty="0" smtClean="0"/>
              <a:t>High </a:t>
            </a:r>
          </a:p>
          <a:p>
            <a:r>
              <a:rPr lang="en-US" dirty="0" smtClean="0"/>
              <a:t>Low</a:t>
            </a:r>
            <a:endParaRPr lang="en-US" dirty="0"/>
          </a:p>
        </p:txBody>
      </p:sp>
      <p:graphicFrame>
        <p:nvGraphicFramePr>
          <p:cNvPr id="3" name="Table 2"/>
          <p:cNvGraphicFramePr>
            <a:graphicFrameLocks noGrp="1"/>
          </p:cNvGraphicFramePr>
          <p:nvPr/>
        </p:nvGraphicFramePr>
        <p:xfrm>
          <a:off x="1828800" y="2438400"/>
          <a:ext cx="6096000" cy="111252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en-US" dirty="0"/>
                        <a:t>Study Hours</a:t>
                      </a:r>
                    </a:p>
                  </a:txBody>
                  <a:tcPr anchor="ctr"/>
                </a:tc>
                <a:tc>
                  <a:txBody>
                    <a:bodyPr/>
                    <a:lstStyle/>
                    <a:p>
                      <a:pPr algn="r"/>
                      <a:r>
                        <a:rPr lang="en-US"/>
                        <a:t>Pass</a:t>
                      </a:r>
                    </a:p>
                  </a:txBody>
                  <a:tcPr anchor="ctr"/>
                </a:tc>
                <a:tc>
                  <a:txBody>
                    <a:bodyPr/>
                    <a:lstStyle/>
                    <a:p>
                      <a:pPr algn="r"/>
                      <a:r>
                        <a:rPr lang="en-US"/>
                        <a:t>Fail</a:t>
                      </a:r>
                    </a:p>
                  </a:txBody>
                  <a:tcPr anchor="ctr"/>
                </a:tc>
                <a:tc>
                  <a:txBody>
                    <a:bodyPr/>
                    <a:lstStyle/>
                    <a:p>
                      <a:pPr algn="r"/>
                      <a:r>
                        <a:rPr lang="en-US"/>
                        <a:t>Total</a:t>
                      </a:r>
                    </a:p>
                  </a:txBody>
                  <a:tcPr anchor="ctr"/>
                </a:tc>
              </a:tr>
              <a:tr h="370840">
                <a:tc>
                  <a:txBody>
                    <a:bodyPr/>
                    <a:lstStyle/>
                    <a:p>
                      <a:r>
                        <a:rPr lang="en-US"/>
                        <a:t>High</a:t>
                      </a:r>
                    </a:p>
                  </a:txBody>
                  <a:tcPr anchor="ctr"/>
                </a:tc>
                <a:tc>
                  <a:txBody>
                    <a:bodyPr/>
                    <a:lstStyle/>
                    <a:p>
                      <a:pPr algn="r"/>
                      <a:r>
                        <a:rPr lang="en-US"/>
                        <a:t>5</a:t>
                      </a:r>
                    </a:p>
                  </a:txBody>
                  <a:tcPr anchor="ctr"/>
                </a:tc>
                <a:tc>
                  <a:txBody>
                    <a:bodyPr/>
                    <a:lstStyle/>
                    <a:p>
                      <a:pPr algn="r"/>
                      <a:r>
                        <a:rPr lang="en-US"/>
                        <a:t>1</a:t>
                      </a:r>
                    </a:p>
                  </a:txBody>
                  <a:tcPr anchor="ctr"/>
                </a:tc>
                <a:tc>
                  <a:txBody>
                    <a:bodyPr/>
                    <a:lstStyle/>
                    <a:p>
                      <a:pPr algn="r"/>
                      <a:r>
                        <a:rPr lang="en-US"/>
                        <a:t>6</a:t>
                      </a:r>
                    </a:p>
                  </a:txBody>
                  <a:tcPr anchor="ctr"/>
                </a:tc>
              </a:tr>
              <a:tr h="370840">
                <a:tc>
                  <a:txBody>
                    <a:bodyPr/>
                    <a:lstStyle/>
                    <a:p>
                      <a:r>
                        <a:rPr lang="en-US"/>
                        <a:t>Low</a:t>
                      </a:r>
                    </a:p>
                  </a:txBody>
                  <a:tcPr anchor="ctr"/>
                </a:tc>
                <a:tc>
                  <a:txBody>
                    <a:bodyPr/>
                    <a:lstStyle/>
                    <a:p>
                      <a:pPr algn="r"/>
                      <a:r>
                        <a:rPr lang="en-US"/>
                        <a:t>1</a:t>
                      </a:r>
                    </a:p>
                  </a:txBody>
                  <a:tcPr anchor="ctr"/>
                </a:tc>
                <a:tc>
                  <a:txBody>
                    <a:bodyPr/>
                    <a:lstStyle/>
                    <a:p>
                      <a:pPr algn="r"/>
                      <a:r>
                        <a:rPr lang="en-US"/>
                        <a:t>3</a:t>
                      </a:r>
                    </a:p>
                  </a:txBody>
                  <a:tcPr anchor="ctr"/>
                </a:tc>
                <a:tc>
                  <a:txBody>
                    <a:bodyPr/>
                    <a:lstStyle/>
                    <a:p>
                      <a:pPr algn="r"/>
                      <a:r>
                        <a:rPr lang="en-US" dirty="0"/>
                        <a:t>4</a:t>
                      </a:r>
                    </a:p>
                  </a:txBody>
                  <a:tcPr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2"/>
          <a:srcRect/>
          <a:stretch>
            <a:fillRect/>
          </a:stretch>
        </p:blipFill>
        <p:spPr bwMode="auto">
          <a:xfrm>
            <a:off x="304800" y="1066800"/>
            <a:ext cx="8229600" cy="1952625"/>
          </a:xfrm>
          <a:prstGeom prst="rect">
            <a:avLst/>
          </a:prstGeom>
          <a:noFill/>
          <a:ln w="9525">
            <a:noFill/>
            <a:miter lim="800000"/>
            <a:headEnd/>
            <a:tailEnd/>
          </a:ln>
          <a:effectLst/>
        </p:spPr>
      </p:pic>
      <p:pic>
        <p:nvPicPr>
          <p:cNvPr id="68611" name="Picture 3"/>
          <p:cNvPicPr>
            <a:picLocks noChangeAspect="1" noChangeArrowheads="1"/>
          </p:cNvPicPr>
          <p:nvPr/>
        </p:nvPicPr>
        <p:blipFill>
          <a:blip r:embed="rId3"/>
          <a:srcRect/>
          <a:stretch>
            <a:fillRect/>
          </a:stretch>
        </p:blipFill>
        <p:spPr bwMode="auto">
          <a:xfrm>
            <a:off x="990600" y="3048000"/>
            <a:ext cx="7943850" cy="1847850"/>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2"/>
          <a:srcRect/>
          <a:stretch>
            <a:fillRect/>
          </a:stretch>
        </p:blipFill>
        <p:spPr bwMode="auto">
          <a:xfrm>
            <a:off x="366713" y="2043113"/>
            <a:ext cx="8410575" cy="2771775"/>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noChangeArrowheads="1"/>
          </p:cNvPicPr>
          <p:nvPr/>
        </p:nvPicPr>
        <p:blipFill>
          <a:blip r:embed="rId2"/>
          <a:srcRect/>
          <a:stretch>
            <a:fillRect/>
          </a:stretch>
        </p:blipFill>
        <p:spPr bwMode="auto">
          <a:xfrm>
            <a:off x="419100" y="2324100"/>
            <a:ext cx="8305800" cy="2209800"/>
          </a:xfrm>
          <a:prstGeom prst="rect">
            <a:avLst/>
          </a:prstGeom>
          <a:noFill/>
          <a:ln w="9525">
            <a:noFill/>
            <a:miter lim="800000"/>
            <a:headEnd/>
            <a:tailEnd/>
          </a:ln>
          <a:effectLst/>
        </p:spPr>
      </p:pic>
      <p:sp>
        <p:nvSpPr>
          <p:cNvPr id="3" name="Rectangle 2"/>
          <p:cNvSpPr/>
          <p:nvPr/>
        </p:nvSpPr>
        <p:spPr>
          <a:xfrm>
            <a:off x="2590800" y="4495800"/>
            <a:ext cx="4572000" cy="1477328"/>
          </a:xfrm>
          <a:prstGeom prst="rect">
            <a:avLst/>
          </a:prstGeom>
        </p:spPr>
        <p:txBody>
          <a:bodyPr>
            <a:spAutoFit/>
          </a:bodyPr>
          <a:lstStyle/>
          <a:p>
            <a:r>
              <a:rPr lang="en-US" dirty="0" smtClean="0"/>
              <a:t>The </a:t>
            </a:r>
            <a:r>
              <a:rPr lang="en-US" b="1" dirty="0" smtClean="0"/>
              <a:t>Information Gain of Study Hours = 0.257 bits</a:t>
            </a:r>
            <a:r>
              <a:rPr lang="en-US" dirty="0" smtClean="0"/>
              <a:t>.</a:t>
            </a:r>
          </a:p>
          <a:p>
            <a:r>
              <a:rPr lang="en-US" dirty="0" smtClean="0"/>
              <a:t>This means splitting the students based on </a:t>
            </a:r>
            <a:r>
              <a:rPr lang="en-US" b="1" dirty="0" smtClean="0"/>
              <a:t>Study Hours</a:t>
            </a:r>
            <a:r>
              <a:rPr lang="en-US" dirty="0" smtClean="0"/>
              <a:t> reduces the uncertainty about Pass/Fail by approximately </a:t>
            </a:r>
            <a:r>
              <a:rPr lang="en-US" b="1" dirty="0" smtClean="0"/>
              <a:t>0.257 bits</a:t>
            </a:r>
            <a:r>
              <a:rPr lang="en-US" dirty="0" smtClean="0"/>
              <a:t>.</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2"/>
          <a:srcRect/>
          <a:stretch>
            <a:fillRect/>
          </a:stretch>
        </p:blipFill>
        <p:spPr bwMode="auto">
          <a:xfrm>
            <a:off x="800100" y="2814638"/>
            <a:ext cx="7543800" cy="1228725"/>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6035370" cy="553998"/>
          </a:xfrm>
          <a:prstGeom prst="rect">
            <a:avLst/>
          </a:prstGeom>
          <a:noFill/>
        </p:spPr>
        <p:txBody>
          <a:bodyPr wrap="none">
            <a:spAutoFit/>
          </a:bodyPr>
          <a:lstStyle/>
          <a:p>
            <a:pPr>
              <a:defRPr sz="3000" b="1"/>
            </a:pPr>
            <a:r>
              <a:t>Information Gain – ID3 Decision Tree</a:t>
            </a:r>
          </a:p>
        </p:txBody>
      </p:sp>
      <p:sp>
        <p:nvSpPr>
          <p:cNvPr id="3" name="TextBox 2"/>
          <p:cNvSpPr txBox="1"/>
          <p:nvPr/>
        </p:nvSpPr>
        <p:spPr>
          <a:xfrm>
            <a:off x="548640" y="1371600"/>
            <a:ext cx="8092440" cy="2949525"/>
          </a:xfrm>
          <a:prstGeom prst="rect">
            <a:avLst/>
          </a:prstGeom>
          <a:noFill/>
        </p:spPr>
        <p:txBody>
          <a:bodyPr wrap="square">
            <a:spAutoFit/>
          </a:bodyPr>
          <a:lstStyle/>
          <a:p>
            <a:pPr>
              <a:spcAft>
                <a:spcPts val="1000"/>
              </a:spcAft>
              <a:defRPr sz="2400"/>
            </a:pPr>
            <a:r>
              <a:t>ID3 uses Information Gain as its attribute selection measure.</a:t>
            </a:r>
          </a:p>
          <a:p>
            <a:pPr>
              <a:spcAft>
                <a:spcPts val="1000"/>
              </a:spcAft>
              <a:defRPr sz="2400"/>
            </a:pPr>
            <a:endParaRPr/>
          </a:p>
          <a:p>
            <a:pPr>
              <a:spcAft>
                <a:spcPts val="1000"/>
              </a:spcAft>
              <a:defRPr sz="2400"/>
            </a:pPr>
            <a:r>
              <a:t>The basic idea:</a:t>
            </a:r>
          </a:p>
          <a:p>
            <a:pPr>
              <a:spcAft>
                <a:spcPts val="1000"/>
              </a:spcAft>
              <a:defRPr sz="2400"/>
            </a:pPr>
            <a:r>
              <a:t>• Calculate the entropy of the original dataset.</a:t>
            </a:r>
          </a:p>
          <a:p>
            <a:pPr>
              <a:spcAft>
                <a:spcPts val="1000"/>
              </a:spcAft>
              <a:defRPr sz="2400"/>
            </a:pPr>
            <a:r>
              <a:t>• Calculate the weighted entropy after splitting on an attribute.</a:t>
            </a:r>
          </a:p>
          <a:p>
            <a:pPr>
              <a:spcAft>
                <a:spcPts val="1000"/>
              </a:spcAft>
              <a:defRPr sz="2400"/>
            </a:pPr>
            <a:r>
              <a:t>• Information Gain is the reduction in entropy.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6117637" cy="553998"/>
          </a:xfrm>
          <a:prstGeom prst="rect">
            <a:avLst/>
          </a:prstGeom>
          <a:noFill/>
        </p:spPr>
        <p:txBody>
          <a:bodyPr wrap="none">
            <a:spAutoFit/>
          </a:bodyPr>
          <a:lstStyle/>
          <a:p>
            <a:pPr>
              <a:defRPr sz="3000" b="1"/>
            </a:pPr>
            <a:r>
              <a:t>1. Information / Entropy of Dataset D</a:t>
            </a:r>
          </a:p>
        </p:txBody>
      </p:sp>
      <p:sp>
        <p:nvSpPr>
          <p:cNvPr id="3" name="TextBox 2"/>
          <p:cNvSpPr txBox="1"/>
          <p:nvPr/>
        </p:nvSpPr>
        <p:spPr>
          <a:xfrm>
            <a:off x="617220" y="1645920"/>
            <a:ext cx="4168770" cy="615553"/>
          </a:xfrm>
          <a:prstGeom prst="rect">
            <a:avLst/>
          </a:prstGeom>
          <a:noFill/>
        </p:spPr>
        <p:txBody>
          <a:bodyPr wrap="none">
            <a:spAutoFit/>
          </a:bodyPr>
          <a:lstStyle/>
          <a:p>
            <a:pPr algn="ctr">
              <a:defRPr sz="3400" b="1"/>
            </a:pPr>
            <a:r>
              <a:t>Info(D) = − Σ pᵢ log₂(pᵢ)</a:t>
            </a:r>
          </a:p>
        </p:txBody>
      </p:sp>
      <p:sp>
        <p:nvSpPr>
          <p:cNvPr id="4" name="TextBox 3"/>
          <p:cNvSpPr txBox="1"/>
          <p:nvPr/>
        </p:nvSpPr>
        <p:spPr>
          <a:xfrm>
            <a:off x="548640" y="3017520"/>
            <a:ext cx="8092440" cy="928459"/>
          </a:xfrm>
          <a:prstGeom prst="rect">
            <a:avLst/>
          </a:prstGeom>
          <a:noFill/>
        </p:spPr>
        <p:txBody>
          <a:bodyPr wrap="square">
            <a:spAutoFit/>
          </a:bodyPr>
          <a:lstStyle/>
          <a:p>
            <a:pPr>
              <a:spcAft>
                <a:spcPts val="1000"/>
              </a:spcAft>
              <a:defRPr sz="2300"/>
            </a:pPr>
            <a:r>
              <a:t>where pᵢ is the probability that a tuple in D belongs to class Cᵢ.</a:t>
            </a:r>
          </a:p>
          <a:p>
            <a:pPr>
              <a:spcAft>
                <a:spcPts val="1000"/>
              </a:spcAft>
              <a:defRPr sz="2300"/>
            </a:pPr>
            <a:r>
              <a:t>For a class:  pᵢ = |Cᵢ,D| / |D|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5294334" cy="553998"/>
          </a:xfrm>
          <a:prstGeom prst="rect">
            <a:avLst/>
          </a:prstGeom>
          <a:noFill/>
        </p:spPr>
        <p:txBody>
          <a:bodyPr wrap="none">
            <a:spAutoFit/>
          </a:bodyPr>
          <a:lstStyle/>
          <a:p>
            <a:pPr>
              <a:defRPr sz="3000" b="1"/>
            </a:pPr>
            <a:r>
              <a:t>Example: Initial Dataset Entropy</a:t>
            </a:r>
          </a:p>
        </p:txBody>
      </p:sp>
      <p:sp>
        <p:nvSpPr>
          <p:cNvPr id="3" name="TextBox 2"/>
          <p:cNvSpPr txBox="1"/>
          <p:nvPr/>
        </p:nvSpPr>
        <p:spPr>
          <a:xfrm>
            <a:off x="548640" y="1097280"/>
            <a:ext cx="8092440" cy="3123932"/>
          </a:xfrm>
          <a:prstGeom prst="rect">
            <a:avLst/>
          </a:prstGeom>
          <a:noFill/>
        </p:spPr>
        <p:txBody>
          <a:bodyPr wrap="square">
            <a:spAutoFit/>
          </a:bodyPr>
          <a:lstStyle/>
          <a:p>
            <a:pPr>
              <a:spcAft>
                <a:spcPts val="1000"/>
              </a:spcAft>
              <a:defRPr sz="2100"/>
            </a:pPr>
            <a:r>
              <a:t>Dataset D:</a:t>
            </a:r>
          </a:p>
          <a:p>
            <a:pPr>
              <a:spcAft>
                <a:spcPts val="1000"/>
              </a:spcAft>
              <a:defRPr sz="2100"/>
            </a:pPr>
            <a:r>
              <a:t>• Pass = 6</a:t>
            </a:r>
          </a:p>
          <a:p>
            <a:pPr>
              <a:spcAft>
                <a:spcPts val="1000"/>
              </a:spcAft>
              <a:defRPr sz="2100"/>
            </a:pPr>
            <a:r>
              <a:t>• Fail = 4</a:t>
            </a:r>
          </a:p>
          <a:p>
            <a:pPr>
              <a:spcAft>
                <a:spcPts val="1000"/>
              </a:spcAft>
              <a:defRPr sz="2100"/>
            </a:pPr>
            <a:r>
              <a:t>• Total = 10</a:t>
            </a:r>
          </a:p>
          <a:p>
            <a:pPr>
              <a:spcAft>
                <a:spcPts val="1000"/>
              </a:spcAft>
              <a:defRPr sz="2100"/>
            </a:pPr>
            <a:endParaRPr/>
          </a:p>
          <a:p>
            <a:pPr>
              <a:spcAft>
                <a:spcPts val="1000"/>
              </a:spcAft>
              <a:defRPr sz="2100"/>
            </a:pPr>
            <a:r>
              <a:t>P(Pass) = 6/10 = 0.6</a:t>
            </a:r>
          </a:p>
          <a:p>
            <a:pPr>
              <a:spcAft>
                <a:spcPts val="1000"/>
              </a:spcAft>
              <a:defRPr sz="2100"/>
            </a:pPr>
            <a:r>
              <a:t>P(Fail) = 4/10 = 0.4</a:t>
            </a:r>
          </a:p>
        </p:txBody>
      </p:sp>
      <p:sp>
        <p:nvSpPr>
          <p:cNvPr id="4" name="TextBox 3"/>
          <p:cNvSpPr txBox="1"/>
          <p:nvPr/>
        </p:nvSpPr>
        <p:spPr>
          <a:xfrm>
            <a:off x="617220" y="4114800"/>
            <a:ext cx="5290038" cy="477054"/>
          </a:xfrm>
          <a:prstGeom prst="rect">
            <a:avLst/>
          </a:prstGeom>
          <a:noFill/>
        </p:spPr>
        <p:txBody>
          <a:bodyPr wrap="none">
            <a:spAutoFit/>
          </a:bodyPr>
          <a:lstStyle/>
          <a:p>
            <a:pPr algn="ctr">
              <a:defRPr sz="2500" b="1"/>
            </a:pPr>
            <a:r>
              <a:t>Info(D) = −[0.6 log₂(0.6) + 0.4 log₂(0.4)]</a:t>
            </a:r>
          </a:p>
        </p:txBody>
      </p:sp>
      <p:sp>
        <p:nvSpPr>
          <p:cNvPr id="5" name="TextBox 4"/>
          <p:cNvSpPr txBox="1"/>
          <p:nvPr/>
        </p:nvSpPr>
        <p:spPr>
          <a:xfrm>
            <a:off x="617220" y="5029200"/>
            <a:ext cx="3022622" cy="523220"/>
          </a:xfrm>
          <a:prstGeom prst="rect">
            <a:avLst/>
          </a:prstGeom>
          <a:noFill/>
        </p:spPr>
        <p:txBody>
          <a:bodyPr wrap="none">
            <a:spAutoFit/>
          </a:bodyPr>
          <a:lstStyle/>
          <a:p>
            <a:pPr algn="ctr">
              <a:defRPr sz="2800" b="1"/>
            </a:pPr>
            <a:r>
              <a:t>Info(D) ≈ 0.971 bits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6324488" cy="553998"/>
          </a:xfrm>
          <a:prstGeom prst="rect">
            <a:avLst/>
          </a:prstGeom>
          <a:noFill/>
        </p:spPr>
        <p:txBody>
          <a:bodyPr wrap="none">
            <a:spAutoFit/>
          </a:bodyPr>
          <a:lstStyle/>
          <a:p>
            <a:pPr>
              <a:defRPr sz="3000" b="1"/>
            </a:pPr>
            <a:r>
              <a:t>2. Expected Information After Splitting</a:t>
            </a:r>
          </a:p>
        </p:txBody>
      </p:sp>
      <p:sp>
        <p:nvSpPr>
          <p:cNvPr id="3" name="TextBox 2"/>
          <p:cNvSpPr txBox="1"/>
          <p:nvPr/>
        </p:nvSpPr>
        <p:spPr>
          <a:xfrm>
            <a:off x="617220" y="1645920"/>
            <a:ext cx="5771387" cy="553998"/>
          </a:xfrm>
          <a:prstGeom prst="rect">
            <a:avLst/>
          </a:prstGeom>
          <a:noFill/>
        </p:spPr>
        <p:txBody>
          <a:bodyPr wrap="none">
            <a:spAutoFit/>
          </a:bodyPr>
          <a:lstStyle/>
          <a:p>
            <a:pPr algn="ctr">
              <a:defRPr sz="3000" b="1"/>
            </a:pPr>
            <a:r>
              <a:t>Info_A(D) = Σ (|Dⱼ| / |D|) × Info(Dⱼ)</a:t>
            </a:r>
          </a:p>
        </p:txBody>
      </p:sp>
      <p:sp>
        <p:nvSpPr>
          <p:cNvPr id="4" name="TextBox 3"/>
          <p:cNvSpPr txBox="1"/>
          <p:nvPr/>
        </p:nvSpPr>
        <p:spPr>
          <a:xfrm>
            <a:off x="548640" y="2743200"/>
            <a:ext cx="8092440" cy="2672526"/>
          </a:xfrm>
          <a:prstGeom prst="rect">
            <a:avLst/>
          </a:prstGeom>
          <a:noFill/>
        </p:spPr>
        <p:txBody>
          <a:bodyPr wrap="square">
            <a:spAutoFit/>
          </a:bodyPr>
          <a:lstStyle/>
          <a:p>
            <a:pPr>
              <a:spcAft>
                <a:spcPts val="1000"/>
              </a:spcAft>
              <a:defRPr sz="2100"/>
            </a:pPr>
            <a:r>
              <a:t>For Study Hours:</a:t>
            </a:r>
          </a:p>
          <a:p>
            <a:pPr>
              <a:spcAft>
                <a:spcPts val="1000"/>
              </a:spcAft>
              <a:defRPr sz="2100"/>
            </a:pPr>
            <a:r>
              <a:t>High: 6 students → Entropy = 0.650</a:t>
            </a:r>
          </a:p>
          <a:p>
            <a:pPr>
              <a:spcAft>
                <a:spcPts val="1000"/>
              </a:spcAft>
              <a:defRPr sz="2100"/>
            </a:pPr>
            <a:r>
              <a:t>Low: 4 students → Entropy = 0.811</a:t>
            </a:r>
          </a:p>
          <a:p>
            <a:pPr>
              <a:spcAft>
                <a:spcPts val="1000"/>
              </a:spcAft>
              <a:defRPr sz="2100"/>
            </a:pPr>
            <a:endParaRPr/>
          </a:p>
          <a:p>
            <a:pPr>
              <a:spcAft>
                <a:spcPts val="1000"/>
              </a:spcAft>
              <a:defRPr sz="2100"/>
            </a:pPr>
            <a:r>
              <a:t>Info_StudyHours(D) = (6/10)(0.650) + (4/10)(0.811)</a:t>
            </a:r>
          </a:p>
          <a:p>
            <a:pPr>
              <a:spcAft>
                <a:spcPts val="1000"/>
              </a:spcAft>
              <a:defRPr sz="2100"/>
            </a:pPr>
            <a:r>
              <a:t>= 0.7144</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6350200" cy="553998"/>
          </a:xfrm>
          <a:prstGeom prst="rect">
            <a:avLst/>
          </a:prstGeom>
          <a:noFill/>
        </p:spPr>
        <p:txBody>
          <a:bodyPr wrap="none">
            <a:spAutoFit/>
          </a:bodyPr>
          <a:lstStyle/>
          <a:p>
            <a:pPr>
              <a:defRPr sz="3000" b="1"/>
            </a:pPr>
            <a:r>
              <a:t>Entropy of the Low Study-Hours Group</a:t>
            </a:r>
          </a:p>
        </p:txBody>
      </p:sp>
      <p:sp>
        <p:nvSpPr>
          <p:cNvPr id="3" name="TextBox 2"/>
          <p:cNvSpPr txBox="1"/>
          <p:nvPr/>
        </p:nvSpPr>
        <p:spPr>
          <a:xfrm>
            <a:off x="548640" y="1005840"/>
            <a:ext cx="8092440" cy="3123932"/>
          </a:xfrm>
          <a:prstGeom prst="rect">
            <a:avLst/>
          </a:prstGeom>
          <a:noFill/>
        </p:spPr>
        <p:txBody>
          <a:bodyPr wrap="square">
            <a:spAutoFit/>
          </a:bodyPr>
          <a:lstStyle/>
          <a:p>
            <a:pPr>
              <a:spcAft>
                <a:spcPts val="1000"/>
              </a:spcAft>
              <a:defRPr sz="2100"/>
            </a:pPr>
            <a:r>
              <a:t>Low group:</a:t>
            </a:r>
          </a:p>
          <a:p>
            <a:pPr>
              <a:spcAft>
                <a:spcPts val="1000"/>
              </a:spcAft>
              <a:defRPr sz="2100"/>
            </a:pPr>
            <a:r>
              <a:t>• Pass = 1</a:t>
            </a:r>
          </a:p>
          <a:p>
            <a:pPr>
              <a:spcAft>
                <a:spcPts val="1000"/>
              </a:spcAft>
              <a:defRPr sz="2100"/>
            </a:pPr>
            <a:r>
              <a:t>• Fail = 3</a:t>
            </a:r>
          </a:p>
          <a:p>
            <a:pPr>
              <a:spcAft>
                <a:spcPts val="1000"/>
              </a:spcAft>
              <a:defRPr sz="2100"/>
            </a:pPr>
            <a:r>
              <a:t>• Total = 4</a:t>
            </a:r>
          </a:p>
          <a:p>
            <a:pPr>
              <a:spcAft>
                <a:spcPts val="1000"/>
              </a:spcAft>
              <a:defRPr sz="2100"/>
            </a:pPr>
            <a:endParaRPr/>
          </a:p>
          <a:p>
            <a:pPr>
              <a:spcAft>
                <a:spcPts val="1000"/>
              </a:spcAft>
              <a:defRPr sz="2100"/>
            </a:pPr>
            <a:r>
              <a:t>P(Pass) = 1/4 = 0.25</a:t>
            </a:r>
          </a:p>
          <a:p>
            <a:pPr>
              <a:spcAft>
                <a:spcPts val="1000"/>
              </a:spcAft>
              <a:defRPr sz="2100"/>
            </a:pPr>
            <a:r>
              <a:t>P(Fail) = 3/4 = 0.75</a:t>
            </a:r>
          </a:p>
        </p:txBody>
      </p:sp>
      <p:sp>
        <p:nvSpPr>
          <p:cNvPr id="4" name="TextBox 3"/>
          <p:cNvSpPr txBox="1"/>
          <p:nvPr/>
        </p:nvSpPr>
        <p:spPr>
          <a:xfrm>
            <a:off x="617220" y="3749039"/>
            <a:ext cx="5799729" cy="446276"/>
          </a:xfrm>
          <a:prstGeom prst="rect">
            <a:avLst/>
          </a:prstGeom>
          <a:noFill/>
        </p:spPr>
        <p:txBody>
          <a:bodyPr wrap="none">
            <a:spAutoFit/>
          </a:bodyPr>
          <a:lstStyle/>
          <a:p>
            <a:pPr algn="ctr">
              <a:defRPr sz="2300" b="1"/>
            </a:pPr>
            <a:r>
              <a:t>Info(Low) = −[0.25 log₂(0.25) + 0.75 log₂(0.75)]</a:t>
            </a:r>
          </a:p>
        </p:txBody>
      </p:sp>
      <p:sp>
        <p:nvSpPr>
          <p:cNvPr id="5" name="TextBox 4"/>
          <p:cNvSpPr txBox="1"/>
          <p:nvPr/>
        </p:nvSpPr>
        <p:spPr>
          <a:xfrm>
            <a:off x="617220" y="4754880"/>
            <a:ext cx="3408241" cy="523220"/>
          </a:xfrm>
          <a:prstGeom prst="rect">
            <a:avLst/>
          </a:prstGeom>
          <a:noFill/>
        </p:spPr>
        <p:txBody>
          <a:bodyPr wrap="none">
            <a:spAutoFit/>
          </a:bodyPr>
          <a:lstStyle/>
          <a:p>
            <a:pPr algn="ctr">
              <a:defRPr sz="2800" b="1"/>
            </a:pPr>
            <a:r>
              <a:t>Info(Low) ≈ 0.811 bits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3297441" cy="553998"/>
          </a:xfrm>
          <a:prstGeom prst="rect">
            <a:avLst/>
          </a:prstGeom>
          <a:noFill/>
        </p:spPr>
        <p:txBody>
          <a:bodyPr wrap="none">
            <a:spAutoFit/>
          </a:bodyPr>
          <a:lstStyle/>
          <a:p>
            <a:pPr>
              <a:defRPr sz="3000" b="1"/>
            </a:pPr>
            <a:r>
              <a:t>3. Information Gain</a:t>
            </a:r>
          </a:p>
        </p:txBody>
      </p:sp>
      <p:sp>
        <p:nvSpPr>
          <p:cNvPr id="3" name="TextBox 2"/>
          <p:cNvSpPr txBox="1"/>
          <p:nvPr/>
        </p:nvSpPr>
        <p:spPr>
          <a:xfrm>
            <a:off x="617220" y="1645920"/>
            <a:ext cx="5381280" cy="615553"/>
          </a:xfrm>
          <a:prstGeom prst="rect">
            <a:avLst/>
          </a:prstGeom>
          <a:noFill/>
        </p:spPr>
        <p:txBody>
          <a:bodyPr wrap="none">
            <a:spAutoFit/>
          </a:bodyPr>
          <a:lstStyle/>
          <a:p>
            <a:pPr algn="ctr">
              <a:defRPr sz="3400" b="1"/>
            </a:pPr>
            <a:r>
              <a:t>Gain(A) = Info(D) − Info_A(D)</a:t>
            </a:r>
          </a:p>
        </p:txBody>
      </p:sp>
      <p:sp>
        <p:nvSpPr>
          <p:cNvPr id="4" name="TextBox 3"/>
          <p:cNvSpPr txBox="1"/>
          <p:nvPr/>
        </p:nvSpPr>
        <p:spPr>
          <a:xfrm>
            <a:off x="617220" y="2926080"/>
            <a:ext cx="5604675" cy="538609"/>
          </a:xfrm>
          <a:prstGeom prst="rect">
            <a:avLst/>
          </a:prstGeom>
          <a:noFill/>
        </p:spPr>
        <p:txBody>
          <a:bodyPr wrap="none">
            <a:spAutoFit/>
          </a:bodyPr>
          <a:lstStyle/>
          <a:p>
            <a:pPr algn="ctr">
              <a:defRPr sz="2900" b="1"/>
            </a:pPr>
            <a:r>
              <a:t>Gain(Study Hours) = 0.971 − 0.7144</a:t>
            </a:r>
          </a:p>
        </p:txBody>
      </p:sp>
      <p:sp>
        <p:nvSpPr>
          <p:cNvPr id="5" name="TextBox 4"/>
          <p:cNvSpPr txBox="1"/>
          <p:nvPr/>
        </p:nvSpPr>
        <p:spPr>
          <a:xfrm>
            <a:off x="617220" y="4023360"/>
            <a:ext cx="5795304" cy="553998"/>
          </a:xfrm>
          <a:prstGeom prst="rect">
            <a:avLst/>
          </a:prstGeom>
          <a:noFill/>
        </p:spPr>
        <p:txBody>
          <a:bodyPr wrap="none">
            <a:spAutoFit/>
          </a:bodyPr>
          <a:lstStyle/>
          <a:p>
            <a:pPr algn="ctr">
              <a:defRPr sz="3000" b="1"/>
            </a:pPr>
            <a:r>
              <a:t>Gain(Study Hours) = 0.2566 ≈ 0.257</a:t>
            </a:r>
          </a:p>
        </p:txBody>
      </p:sp>
      <p:sp>
        <p:nvSpPr>
          <p:cNvPr id="6" name="TextBox 5"/>
          <p:cNvSpPr txBox="1"/>
          <p:nvPr/>
        </p:nvSpPr>
        <p:spPr>
          <a:xfrm>
            <a:off x="548640" y="5029200"/>
            <a:ext cx="8092440" cy="677108"/>
          </a:xfrm>
          <a:prstGeom prst="rect">
            <a:avLst/>
          </a:prstGeom>
          <a:noFill/>
        </p:spPr>
        <p:txBody>
          <a:bodyPr wrap="square">
            <a:spAutoFit/>
          </a:bodyPr>
          <a:lstStyle/>
          <a:p>
            <a:pPr>
              <a:spcAft>
                <a:spcPts val="1000"/>
              </a:spcAft>
              <a:defRPr sz="1900"/>
            </a:pPr>
            <a:r>
              <a:t>Interpretation: Study Hours reduces the uncertainty in classifying Pass/Fail by approximately 0.257 bits.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4475584" cy="553998"/>
          </a:xfrm>
          <a:prstGeom prst="rect">
            <a:avLst/>
          </a:prstGeom>
          <a:noFill/>
        </p:spPr>
        <p:txBody>
          <a:bodyPr wrap="none">
            <a:spAutoFit/>
          </a:bodyPr>
          <a:lstStyle/>
          <a:p>
            <a:pPr>
              <a:defRPr sz="3000" b="1"/>
            </a:pPr>
            <a:r>
              <a:t>ID3 Calculation – Summary</a:t>
            </a:r>
          </a:p>
        </p:txBody>
      </p:sp>
      <p:sp>
        <p:nvSpPr>
          <p:cNvPr id="3" name="TextBox 2"/>
          <p:cNvSpPr txBox="1"/>
          <p:nvPr/>
        </p:nvSpPr>
        <p:spPr>
          <a:xfrm>
            <a:off x="548640" y="914400"/>
            <a:ext cx="8092440" cy="5380960"/>
          </a:xfrm>
          <a:prstGeom prst="rect">
            <a:avLst/>
          </a:prstGeom>
          <a:noFill/>
        </p:spPr>
        <p:txBody>
          <a:bodyPr wrap="square">
            <a:spAutoFit/>
          </a:bodyPr>
          <a:lstStyle/>
          <a:p>
            <a:pPr>
              <a:spcAft>
                <a:spcPts val="1000"/>
              </a:spcAft>
              <a:defRPr sz="2100"/>
            </a:pPr>
            <a:r>
              <a:t>Step 1: Calculate initial entropy</a:t>
            </a:r>
          </a:p>
          <a:p>
            <a:pPr>
              <a:spcAft>
                <a:spcPts val="1000"/>
              </a:spcAft>
              <a:defRPr sz="2100"/>
            </a:pPr>
            <a:r>
              <a:t>        Info(D) = 0.971</a:t>
            </a:r>
          </a:p>
          <a:p>
            <a:pPr>
              <a:spcAft>
                <a:spcPts val="1000"/>
              </a:spcAft>
              <a:defRPr sz="2100"/>
            </a:pPr>
            <a:endParaRPr/>
          </a:p>
          <a:p>
            <a:pPr>
              <a:spcAft>
                <a:spcPts val="1000"/>
              </a:spcAft>
              <a:defRPr sz="2100"/>
            </a:pPr>
            <a:r>
              <a:t>Step 2: Calculate entropy of each subset</a:t>
            </a:r>
          </a:p>
          <a:p>
            <a:pPr>
              <a:spcAft>
                <a:spcPts val="1000"/>
              </a:spcAft>
              <a:defRPr sz="2100"/>
            </a:pPr>
            <a:r>
              <a:t>        Info(High) = 0.650</a:t>
            </a:r>
          </a:p>
          <a:p>
            <a:pPr>
              <a:spcAft>
                <a:spcPts val="1000"/>
              </a:spcAft>
              <a:defRPr sz="2100"/>
            </a:pPr>
            <a:r>
              <a:t>        Info(Low)  = 0.811</a:t>
            </a:r>
          </a:p>
          <a:p>
            <a:pPr>
              <a:spcAft>
                <a:spcPts val="1000"/>
              </a:spcAft>
              <a:defRPr sz="2100"/>
            </a:pPr>
            <a:endParaRPr/>
          </a:p>
          <a:p>
            <a:pPr>
              <a:spcAft>
                <a:spcPts val="1000"/>
              </a:spcAft>
              <a:defRPr sz="2100"/>
            </a:pPr>
            <a:r>
              <a:t>Step 3: Calculate weighted entropy</a:t>
            </a:r>
          </a:p>
          <a:p>
            <a:pPr>
              <a:spcAft>
                <a:spcPts val="1000"/>
              </a:spcAft>
              <a:defRPr sz="2100"/>
            </a:pPr>
            <a:r>
              <a:t>        Info_A(D) = 0.7144</a:t>
            </a:r>
          </a:p>
          <a:p>
            <a:pPr>
              <a:spcAft>
                <a:spcPts val="1000"/>
              </a:spcAft>
              <a:defRPr sz="2100"/>
            </a:pPr>
            <a:endParaRPr/>
          </a:p>
          <a:p>
            <a:pPr>
              <a:spcAft>
                <a:spcPts val="1000"/>
              </a:spcAft>
              <a:defRPr sz="2100"/>
            </a:pPr>
            <a:r>
              <a:t>Step 4: Calculate Information Gain</a:t>
            </a:r>
          </a:p>
          <a:p>
            <a:pPr>
              <a:spcAft>
                <a:spcPts val="1000"/>
              </a:spcAft>
              <a:defRPr sz="2100"/>
            </a:pPr>
            <a:r>
              <a:t>        Gain(A) = 0.971 − 0.7144 = 0.257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20040"/>
            <a:ext cx="1683987" cy="553998"/>
          </a:xfrm>
          <a:prstGeom prst="rect">
            <a:avLst/>
          </a:prstGeom>
          <a:noFill/>
        </p:spPr>
        <p:txBody>
          <a:bodyPr wrap="none">
            <a:spAutoFit/>
          </a:bodyPr>
          <a:lstStyle/>
          <a:p>
            <a:pPr>
              <a:defRPr sz="3000" b="1"/>
            </a:pPr>
            <a:r>
              <a:t>Key Point</a:t>
            </a:r>
          </a:p>
        </p:txBody>
      </p:sp>
      <p:sp>
        <p:nvSpPr>
          <p:cNvPr id="3" name="TextBox 2"/>
          <p:cNvSpPr txBox="1"/>
          <p:nvPr/>
        </p:nvSpPr>
        <p:spPr>
          <a:xfrm>
            <a:off x="548640" y="1097280"/>
            <a:ext cx="8092440" cy="5478423"/>
          </a:xfrm>
          <a:prstGeom prst="rect">
            <a:avLst/>
          </a:prstGeom>
          <a:noFill/>
        </p:spPr>
        <p:txBody>
          <a:bodyPr wrap="square">
            <a:spAutoFit/>
          </a:bodyPr>
          <a:lstStyle/>
          <a:p>
            <a:pPr>
              <a:spcAft>
                <a:spcPts val="1000"/>
              </a:spcAft>
              <a:defRPr sz="2500"/>
            </a:pPr>
            <a:r>
              <a:t>Info(D)  → Entropy BEFORE the split</a:t>
            </a:r>
          </a:p>
          <a:p>
            <a:pPr>
              <a:spcAft>
                <a:spcPts val="1000"/>
              </a:spcAft>
              <a:defRPr sz="2500"/>
            </a:pPr>
            <a:endParaRPr/>
          </a:p>
          <a:p>
            <a:pPr>
              <a:spcAft>
                <a:spcPts val="1000"/>
              </a:spcAft>
              <a:defRPr sz="2500"/>
            </a:pPr>
            <a:r>
              <a:t>Info_A(D) → Weighted entropy AFTER the split</a:t>
            </a:r>
          </a:p>
          <a:p>
            <a:pPr>
              <a:spcAft>
                <a:spcPts val="1000"/>
              </a:spcAft>
              <a:defRPr sz="2500"/>
            </a:pPr>
            <a:endParaRPr/>
          </a:p>
          <a:p>
            <a:pPr>
              <a:spcAft>
                <a:spcPts val="1000"/>
              </a:spcAft>
              <a:defRPr sz="2500"/>
            </a:pPr>
            <a:r>
              <a:t>Gain(A) → Reduction in entropy</a:t>
            </a:r>
          </a:p>
          <a:p>
            <a:pPr>
              <a:spcAft>
                <a:spcPts val="1000"/>
              </a:spcAft>
              <a:defRPr sz="2500"/>
            </a:pPr>
            <a:endParaRPr/>
          </a:p>
          <a:p>
            <a:pPr>
              <a:spcAft>
                <a:spcPts val="1000"/>
              </a:spcAft>
              <a:defRPr sz="2500"/>
            </a:pPr>
            <a:r>
              <a:t>Therefore:</a:t>
            </a:r>
          </a:p>
          <a:p>
            <a:pPr>
              <a:spcAft>
                <a:spcPts val="1000"/>
              </a:spcAft>
              <a:defRPr sz="2500"/>
            </a:pPr>
            <a:r>
              <a:t>Gain(A) = Info(D) − Info_A(D)</a:t>
            </a:r>
          </a:p>
          <a:p>
            <a:pPr>
              <a:spcAft>
                <a:spcPts val="1000"/>
              </a:spcAft>
              <a:defRPr sz="2500"/>
            </a:pPr>
            <a:endParaRPr/>
          </a:p>
          <a:p>
            <a:pPr>
              <a:spcAft>
                <a:spcPts val="1000"/>
              </a:spcAft>
              <a:defRPr sz="2500"/>
            </a:pPr>
            <a:r>
              <a:t>In ID3, the attribute with the HIGHEST Information Gain is selected for splitting.</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6586418"/>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Information Gain: </a:t>
            </a:r>
            <a:r>
              <a:rPr lang="en-US" sz="2400" dirty="0">
                <a:solidFill>
                  <a:srgbClr val="00B050"/>
                </a:solidFill>
                <a:latin typeface="Times New Roman" pitchFamily="18" charset="0"/>
                <a:cs typeface="Times New Roman" pitchFamily="18" charset="0"/>
              </a:rPr>
              <a:t>Info(D)/ Entropy of D</a:t>
            </a:r>
          </a:p>
          <a:p>
            <a:pPr algn="just"/>
            <a:r>
              <a:rPr lang="en-US" sz="2400" dirty="0">
                <a:latin typeface="Times New Roman" pitchFamily="18" charset="0"/>
                <a:cs typeface="Times New Roman" pitchFamily="18" charset="0"/>
              </a:rPr>
              <a:t>	</a:t>
            </a:r>
            <a:r>
              <a:rPr lang="en-US" sz="2200" dirty="0">
                <a:latin typeface="Times New Roman" pitchFamily="18" charset="0"/>
                <a:cs typeface="Times New Roman" pitchFamily="18" charset="0"/>
              </a:rPr>
              <a:t>ID3 uses information gain as its attribute selection measure.</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 y="1055915"/>
            <a:ext cx="8534400" cy="2057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3200400"/>
            <a:ext cx="8534399" cy="175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52400" y="4953001"/>
            <a:ext cx="8534400" cy="17858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33719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8495FDC4-A878-4091-B4DB-E4DBB12B8685}"/>
              </a:ext>
            </a:extLst>
          </p:cNvPr>
          <p:cNvPicPr>
            <a:picLocks noChangeAspect="1"/>
          </p:cNvPicPr>
          <p:nvPr/>
        </p:nvPicPr>
        <p:blipFill>
          <a:blip r:embed="rId2"/>
          <a:stretch>
            <a:fillRect/>
          </a:stretch>
        </p:blipFill>
        <p:spPr>
          <a:xfrm>
            <a:off x="381000" y="194353"/>
            <a:ext cx="6781800" cy="3107941"/>
          </a:xfrm>
          <a:prstGeom prst="rect">
            <a:avLst/>
          </a:prstGeom>
        </p:spPr>
      </p:pic>
      <p:pic>
        <p:nvPicPr>
          <p:cNvPr id="5" name="Picture 4">
            <a:extLst>
              <a:ext uri="{FF2B5EF4-FFF2-40B4-BE49-F238E27FC236}">
                <a16:creationId xmlns:a16="http://schemas.microsoft.com/office/drawing/2014/main" xmlns="" id="{1E6FB90E-ECB1-4882-A41F-CA389609632B}"/>
              </a:ext>
            </a:extLst>
          </p:cNvPr>
          <p:cNvPicPr>
            <a:picLocks noChangeAspect="1"/>
          </p:cNvPicPr>
          <p:nvPr/>
        </p:nvPicPr>
        <p:blipFill>
          <a:blip r:embed="rId3"/>
          <a:stretch>
            <a:fillRect/>
          </a:stretch>
        </p:blipFill>
        <p:spPr>
          <a:xfrm>
            <a:off x="533401" y="3555706"/>
            <a:ext cx="3886200" cy="2768893"/>
          </a:xfrm>
          <a:prstGeom prst="rect">
            <a:avLst/>
          </a:prstGeom>
        </p:spPr>
      </p:pic>
      <p:pic>
        <p:nvPicPr>
          <p:cNvPr id="6" name="Picture 5">
            <a:extLst>
              <a:ext uri="{FF2B5EF4-FFF2-40B4-BE49-F238E27FC236}">
                <a16:creationId xmlns:a16="http://schemas.microsoft.com/office/drawing/2014/main" xmlns="" id="{051632D6-48CF-49A7-96ED-3318D6938233}"/>
              </a:ext>
            </a:extLst>
          </p:cNvPr>
          <p:cNvPicPr>
            <a:picLocks noChangeAspect="1"/>
          </p:cNvPicPr>
          <p:nvPr/>
        </p:nvPicPr>
        <p:blipFill>
          <a:blip r:embed="rId4"/>
          <a:stretch>
            <a:fillRect/>
          </a:stretch>
        </p:blipFill>
        <p:spPr>
          <a:xfrm>
            <a:off x="5791200" y="4648200"/>
            <a:ext cx="3124200" cy="1447800"/>
          </a:xfrm>
          <a:prstGeom prst="rect">
            <a:avLst/>
          </a:prstGeom>
        </p:spPr>
      </p:pic>
    </p:spTree>
    <p:extLst>
      <p:ext uri="{BB962C8B-B14F-4D97-AF65-F5344CB8AC3E}">
        <p14:creationId xmlns:p14="http://schemas.microsoft.com/office/powerpoint/2010/main" xmlns="" val="26479229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1" y="77659"/>
            <a:ext cx="8686800" cy="6477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040543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81000" y="304800"/>
            <a:ext cx="84582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52400" y="1295400"/>
            <a:ext cx="8686800" cy="525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54331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0" y="152400"/>
            <a:ext cx="8610600" cy="655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253057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81000" y="374072"/>
            <a:ext cx="8596745" cy="60959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644056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66700" y="114300"/>
            <a:ext cx="8610600" cy="6629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9537200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30592" y="152399"/>
            <a:ext cx="7551408" cy="83820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81000" y="1143000"/>
            <a:ext cx="8458200" cy="525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468115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0" y="142975"/>
            <a:ext cx="85344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624336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 y="66773"/>
            <a:ext cx="8763000" cy="4038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8518543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219173"/>
            <a:ext cx="8763000" cy="457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p:cNvSpPr/>
          <p:nvPr/>
        </p:nvSpPr>
        <p:spPr>
          <a:xfrm>
            <a:off x="457200" y="4800600"/>
            <a:ext cx="8458200" cy="1708160"/>
          </a:xfrm>
          <a:prstGeom prst="rect">
            <a:avLst/>
          </a:prstGeom>
        </p:spPr>
        <p:txBody>
          <a:bodyPr wrap="square">
            <a:spAutoFit/>
          </a:bodyPr>
          <a:lstStyle/>
          <a:p>
            <a:pPr algn="just"/>
            <a:r>
              <a:rPr lang="en-IN" sz="2100" dirty="0">
                <a:latin typeface="Times New Roman" pitchFamily="18" charset="0"/>
                <a:cs typeface="Times New Roman" pitchFamily="18" charset="0"/>
              </a:rPr>
              <a:t>The attribute that maximizes the reduction in impurity (or, equivalently, has the minimum </a:t>
            </a:r>
            <a:r>
              <a:rPr lang="en-IN" sz="2100" dirty="0" err="1">
                <a:latin typeface="Times New Roman" pitchFamily="18" charset="0"/>
                <a:cs typeface="Times New Roman" pitchFamily="18" charset="0"/>
              </a:rPr>
              <a:t>Gini</a:t>
            </a:r>
            <a:r>
              <a:rPr lang="en-IN" sz="2100" dirty="0">
                <a:latin typeface="Times New Roman" pitchFamily="18" charset="0"/>
                <a:cs typeface="Times New Roman" pitchFamily="18" charset="0"/>
              </a:rPr>
              <a:t> index) is selected as the splitting attribute. This attribute and either its splitting subset (for a discrete-valued splitting attribute) or split-point (for a continuous-valued splitting attribute)together form the splitting criterion</a:t>
            </a:r>
            <a:r>
              <a:rPr lang="en-IN" dirty="0"/>
              <a:t>.</a:t>
            </a:r>
          </a:p>
        </p:txBody>
      </p:sp>
    </p:spTree>
    <p:extLst>
      <p:ext uri="{BB962C8B-B14F-4D97-AF65-F5344CB8AC3E}">
        <p14:creationId xmlns:p14="http://schemas.microsoft.com/office/powerpoint/2010/main" xmlns="" val="6686321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133546"/>
            <a:ext cx="8686800" cy="63938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6748008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839200" cy="6555641"/>
          </a:xfrm>
          <a:prstGeom prst="rect">
            <a:avLst/>
          </a:prstGeom>
        </p:spPr>
        <p:txBody>
          <a:bodyPr wrap="square">
            <a:spAutoFit/>
          </a:bodyPr>
          <a:lstStyle/>
          <a:p>
            <a:r>
              <a:rPr lang="en-IN" sz="2400" dirty="0">
                <a:solidFill>
                  <a:srgbClr val="00B050"/>
                </a:solidFill>
                <a:latin typeface="Times New Roman" pitchFamily="18" charset="0"/>
                <a:cs typeface="Times New Roman" pitchFamily="18" charset="0"/>
              </a:rPr>
              <a:t>Information gain from above table:</a:t>
            </a:r>
          </a:p>
          <a:p>
            <a:pPr algn="just"/>
            <a:r>
              <a:rPr lang="en-IN" dirty="0"/>
              <a:t>	</a:t>
            </a:r>
            <a:r>
              <a:rPr lang="en-IN" sz="2200" dirty="0">
                <a:latin typeface="Times New Roman" pitchFamily="18" charset="0"/>
                <a:cs typeface="Times New Roman" pitchFamily="18" charset="0"/>
              </a:rPr>
              <a:t>The class label attribute, buys computer, has two distinct values(namely, yes, no); therefore, there are two distinct classes(</a:t>
            </a:r>
            <a:r>
              <a:rPr lang="en-IN" sz="2200" dirty="0" err="1">
                <a:latin typeface="Times New Roman" pitchFamily="18" charset="0"/>
                <a:cs typeface="Times New Roman" pitchFamily="18" charset="0"/>
              </a:rPr>
              <a:t>i.e.,m</a:t>
            </a:r>
            <a:r>
              <a:rPr lang="en-IN" sz="2200" dirty="0">
                <a:latin typeface="Times New Roman" pitchFamily="18" charset="0"/>
                <a:cs typeface="Times New Roman" pitchFamily="18" charset="0"/>
              </a:rPr>
              <a:t>=2). Let class C</a:t>
            </a:r>
            <a:r>
              <a:rPr lang="en-IN" sz="2200" baseline="-25000" dirty="0">
                <a:latin typeface="Times New Roman" pitchFamily="18" charset="0"/>
                <a:cs typeface="Times New Roman" pitchFamily="18" charset="0"/>
              </a:rPr>
              <a:t>1</a:t>
            </a:r>
            <a:r>
              <a:rPr lang="en-IN" sz="2200" dirty="0">
                <a:latin typeface="Times New Roman" pitchFamily="18" charset="0"/>
                <a:cs typeface="Times New Roman" pitchFamily="18" charset="0"/>
              </a:rPr>
              <a:t> correspond to yes and classC</a:t>
            </a:r>
            <a:r>
              <a:rPr lang="en-IN" sz="2200" baseline="-25000" dirty="0">
                <a:latin typeface="Times New Roman" pitchFamily="18" charset="0"/>
                <a:cs typeface="Times New Roman" pitchFamily="18" charset="0"/>
              </a:rPr>
              <a:t>2</a:t>
            </a:r>
            <a:r>
              <a:rPr lang="en-IN" sz="2200" dirty="0">
                <a:latin typeface="Times New Roman" pitchFamily="18" charset="0"/>
                <a:cs typeface="Times New Roman" pitchFamily="18" charset="0"/>
              </a:rPr>
              <a:t> correspond to no. There are nine tuples of class yes and five tuples of class no. A(root) node N is created for the tuples in D. To find the splitting criterion for these tuples, we must compute the information gain of each attribute.</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	Next, we need to compute the expected information requirement for each attribute. </a:t>
            </a:r>
          </a:p>
          <a:p>
            <a:pPr algn="just"/>
            <a:r>
              <a:rPr lang="en-IN" sz="2200" dirty="0">
                <a:solidFill>
                  <a:srgbClr val="00B050"/>
                </a:solidFill>
                <a:latin typeface="Times New Roman" pitchFamily="18" charset="0"/>
                <a:cs typeface="Times New Roman" pitchFamily="18" charset="0"/>
              </a:rPr>
              <a:t>Let’s start with the attribute age:</a:t>
            </a:r>
          </a:p>
          <a:p>
            <a:pPr algn="just"/>
            <a:r>
              <a:rPr lang="en-IN" sz="2200" dirty="0">
                <a:latin typeface="Times New Roman" pitchFamily="18" charset="0"/>
                <a:cs typeface="Times New Roman" pitchFamily="18" charset="0"/>
              </a:rPr>
              <a:t>	We need to look at the distribution of yes and no tuples for each category of age. </a:t>
            </a:r>
          </a:p>
          <a:p>
            <a:pPr algn="just"/>
            <a:r>
              <a:rPr lang="en-IN" sz="2200" dirty="0">
                <a:latin typeface="Times New Roman" pitchFamily="18" charset="0"/>
                <a:cs typeface="Times New Roman" pitchFamily="18" charset="0"/>
              </a:rPr>
              <a:t>For the age category “youth”: 2-yes tuples and 3-no tuples. </a:t>
            </a:r>
          </a:p>
          <a:p>
            <a:pPr algn="just"/>
            <a:r>
              <a:rPr lang="en-IN" sz="2200" dirty="0">
                <a:latin typeface="Times New Roman" pitchFamily="18" charset="0"/>
                <a:cs typeface="Times New Roman" pitchFamily="18" charset="0"/>
              </a:rPr>
              <a:t>For the category  “middle aged,” : 4-yes tuples and 0-no tuples. </a:t>
            </a:r>
          </a:p>
          <a:p>
            <a:pPr algn="just"/>
            <a:r>
              <a:rPr lang="en-IN" sz="2200" dirty="0">
                <a:latin typeface="Times New Roman" pitchFamily="18" charset="0"/>
                <a:cs typeface="Times New Roman" pitchFamily="18" charset="0"/>
              </a:rPr>
              <a:t>For the category “senior,” : 3-yes tuples and 2-no tuples.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0" y="2721590"/>
            <a:ext cx="8305800" cy="12408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158318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28600" y="152401"/>
            <a:ext cx="8610599" cy="312419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p:cNvSpPr/>
          <p:nvPr/>
        </p:nvSpPr>
        <p:spPr>
          <a:xfrm>
            <a:off x="76200" y="3352800"/>
            <a:ext cx="8839200" cy="2462213"/>
          </a:xfrm>
          <a:prstGeom prst="rect">
            <a:avLst/>
          </a:prstGeom>
        </p:spPr>
        <p:txBody>
          <a:bodyPr wrap="square">
            <a:spAutoFit/>
          </a:bodyPr>
          <a:lstStyle/>
          <a:p>
            <a:pPr algn="just"/>
            <a:r>
              <a:rPr lang="en-US" sz="2200" dirty="0">
                <a:latin typeface="Times New Roman" pitchFamily="18" charset="0"/>
                <a:cs typeface="Times New Roman" pitchFamily="18" charset="0"/>
              </a:rPr>
              <a:t>Similarly, the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values for splits on the remaining subsets are 0.458 (for the sub sets low, high and medium) and 0.450 (for the subsets medium, high and low). Therefore, the best binary split for attribute income is on low, medium (or high) because it minimizes the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Evaluating age, we obtain {youth, senior} (or {middle aged}) as the best split for age with a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of 0.357; the attributes student and credit rating are both binary, with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values of 0.367 and 0.429, respectively.</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40364974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686800" cy="2800767"/>
          </a:xfrm>
          <a:prstGeom prst="rect">
            <a:avLst/>
          </a:prstGeom>
        </p:spPr>
        <p:txBody>
          <a:bodyPr wrap="square">
            <a:spAutoFit/>
          </a:bodyPr>
          <a:lstStyle/>
          <a:p>
            <a:pPr algn="just"/>
            <a:r>
              <a:rPr lang="en-US" sz="2200" dirty="0">
                <a:latin typeface="Times New Roman" pitchFamily="18" charset="0"/>
                <a:cs typeface="Times New Roman" pitchFamily="18" charset="0"/>
              </a:rPr>
              <a:t>	The attribute age and splitting subset youth, senior therefore give the minimum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overall, with a reduction in impurity of: </a:t>
            </a:r>
          </a:p>
          <a:p>
            <a:pPr algn="just"/>
            <a:r>
              <a:rPr lang="en-US" sz="2200" dirty="0">
                <a:latin typeface="Times New Roman" pitchFamily="18" charset="0"/>
                <a:cs typeface="Times New Roman" pitchFamily="18" charset="0"/>
              </a:rPr>
              <a:t>                                        0.459 - 0.357 = 0.102. </a:t>
            </a:r>
          </a:p>
          <a:p>
            <a:pPr algn="just"/>
            <a:r>
              <a:rPr lang="en-US" sz="2200" dirty="0">
                <a:latin typeface="Times New Roman" pitchFamily="18" charset="0"/>
                <a:cs typeface="Times New Roman" pitchFamily="18" charset="0"/>
              </a:rPr>
              <a:t>	The binary split “age belongs to {youth, senior?}” results in the maximum reduction in impurity of the tuples in D and is returned as the splitting criterion. Node N is labeled with the criterion, two branches are grown from it, and the tuples are partitioned accordingly.</a:t>
            </a:r>
          </a:p>
          <a:p>
            <a:pPr algn="just"/>
            <a:endParaRPr lang="en-US" sz="2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66800" y="2590800"/>
            <a:ext cx="7162799" cy="2667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38200" y="5385088"/>
            <a:ext cx="6324600" cy="12443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308612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0"/>
            <a:ext cx="8839200" cy="954107"/>
          </a:xfrm>
          <a:prstGeom prst="rect">
            <a:avLst/>
          </a:prstGeom>
        </p:spPr>
        <p:txBody>
          <a:bodyPr wrap="square">
            <a:spAutoFit/>
          </a:bodyPr>
          <a:lstStyle/>
          <a:p>
            <a:r>
              <a:rPr lang="en-US" sz="2800" dirty="0">
                <a:solidFill>
                  <a:srgbClr val="FF0000"/>
                </a:solidFill>
                <a:latin typeface="Times New Roman" pitchFamily="18" charset="0"/>
                <a:cs typeface="Times New Roman" pitchFamily="18" charset="0"/>
              </a:rPr>
              <a:t>Computing </a:t>
            </a:r>
            <a:r>
              <a:rPr lang="en-US" sz="2800" dirty="0" err="1">
                <a:solidFill>
                  <a:srgbClr val="FF0000"/>
                </a:solidFill>
                <a:latin typeface="Times New Roman" pitchFamily="18" charset="0"/>
                <a:cs typeface="Times New Roman" pitchFamily="18" charset="0"/>
              </a:rPr>
              <a:t>Gini</a:t>
            </a:r>
            <a:r>
              <a:rPr lang="en-US" sz="2800" dirty="0">
                <a:solidFill>
                  <a:srgbClr val="FF0000"/>
                </a:solidFill>
                <a:latin typeface="Times New Roman" pitchFamily="18" charset="0"/>
                <a:cs typeface="Times New Roman" pitchFamily="18" charset="0"/>
              </a:rPr>
              <a:t> Index of a Single Node:</a:t>
            </a:r>
          </a:p>
          <a:p>
            <a:endParaRPr lang="en-IN" sz="2800" dirty="0">
              <a:latin typeface="Times New Roman" pitchFamily="18" charset="0"/>
              <a:cs typeface="Times New Roman" pitchFamily="18" charset="0"/>
            </a:endParaRPr>
          </a:p>
        </p:txBody>
      </p:sp>
      <p:sp>
        <p:nvSpPr>
          <p:cNvPr id="3" name="TextBox 2">
            <a:extLst/>
          </p:cNvPr>
          <p:cNvSpPr txBox="1">
            <a:spLocks noRot="1" noChangeAspect="1" noMove="1" noResize="1" noEditPoints="1" noAdjustHandles="1" noChangeArrowheads="1" noChangeShapeType="1" noTextEdit="1"/>
          </p:cNvSpPr>
          <p:nvPr/>
        </p:nvSpPr>
        <p:spPr>
          <a:xfrm>
            <a:off x="2209800" y="1031458"/>
            <a:ext cx="3848810" cy="1037848"/>
          </a:xfrm>
          <a:prstGeom prst="rect">
            <a:avLst/>
          </a:prstGeom>
          <a:blipFill>
            <a:blip r:embed="rId3"/>
            <a:stretch>
              <a:fillRect/>
            </a:stretch>
          </a:blipFill>
        </p:spPr>
        <p:txBody>
          <a:bodyPr/>
          <a:lstStyle/>
          <a:p>
            <a:pPr>
              <a:defRPr/>
            </a:pPr>
            <a:r>
              <a:rPr lang="en-US">
                <a:noFill/>
              </a:rPr>
              <a:t> </a:t>
            </a:r>
          </a:p>
        </p:txBody>
      </p:sp>
      <p:graphicFrame>
        <p:nvGraphicFramePr>
          <p:cNvPr id="4" name="Object 3"/>
          <p:cNvGraphicFramePr>
            <a:graphicFrameLocks noChangeAspect="1"/>
          </p:cNvGraphicFramePr>
          <p:nvPr>
            <p:extLst>
              <p:ext uri="{D42A27DB-BD31-4B8C-83A1-F6EECF244321}">
                <p14:modId xmlns:p14="http://schemas.microsoft.com/office/powerpoint/2010/main" xmlns="" val="1329130064"/>
              </p:ext>
            </p:extLst>
          </p:nvPr>
        </p:nvGraphicFramePr>
        <p:xfrm>
          <a:off x="457200" y="2339975"/>
          <a:ext cx="2362200" cy="936625"/>
        </p:xfrm>
        <a:graphic>
          <a:graphicData uri="http://schemas.openxmlformats.org/presentationml/2006/ole">
            <p:oleObj spid="_x0000_s1715" name="Document" r:id="rId4" imgW="3238500" imgH="1357884" progId="">
              <p:embed/>
            </p:oleObj>
          </a:graphicData>
        </a:graphic>
      </p:graphicFrame>
      <p:sp>
        <p:nvSpPr>
          <p:cNvPr id="5" name="Text Box 10"/>
          <p:cNvSpPr txBox="1">
            <a:spLocks noChangeArrowheads="1"/>
          </p:cNvSpPr>
          <p:nvPr/>
        </p:nvSpPr>
        <p:spPr bwMode="auto">
          <a:xfrm>
            <a:off x="3048000" y="2209801"/>
            <a:ext cx="5486400"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kumimoji="1" sz="3600" b="1">
                <a:solidFill>
                  <a:srgbClr val="FFFFFF"/>
                </a:solidFill>
                <a:latin typeface="Georgia" pitchFamily="18" charset="0"/>
                <a:ea typeface="굴림" pitchFamily="34" charset="-127"/>
              </a:defRPr>
            </a:lvl1pPr>
            <a:lvl2pPr marL="742950" indent="-285750">
              <a:defRPr kumimoji="1" sz="3600" b="1">
                <a:solidFill>
                  <a:srgbClr val="FFFFFF"/>
                </a:solidFill>
                <a:latin typeface="Georgia" pitchFamily="18" charset="0"/>
                <a:ea typeface="굴림" pitchFamily="34" charset="-127"/>
              </a:defRPr>
            </a:lvl2pPr>
            <a:lvl3pPr marL="1143000" indent="-228600">
              <a:defRPr kumimoji="1" sz="3600" b="1">
                <a:solidFill>
                  <a:srgbClr val="FFFFFF"/>
                </a:solidFill>
                <a:latin typeface="Georgia" pitchFamily="18" charset="0"/>
                <a:ea typeface="굴림" pitchFamily="34" charset="-127"/>
              </a:defRPr>
            </a:lvl3pPr>
            <a:lvl4pPr marL="1600200" indent="-228600">
              <a:defRPr kumimoji="1" sz="3600" b="1">
                <a:solidFill>
                  <a:srgbClr val="FFFFFF"/>
                </a:solidFill>
                <a:latin typeface="Georgia" pitchFamily="18" charset="0"/>
                <a:ea typeface="굴림" pitchFamily="34" charset="-127"/>
              </a:defRPr>
            </a:lvl4pPr>
            <a:lvl5pPr marL="2057400" indent="-228600">
              <a:defRPr kumimoji="1" sz="3600" b="1">
                <a:solidFill>
                  <a:srgbClr val="FFFFFF"/>
                </a:solidFill>
                <a:latin typeface="Georgia" pitchFamily="18" charset="0"/>
                <a:ea typeface="굴림" pitchFamily="34" charset="-127"/>
              </a:defRPr>
            </a:lvl5pPr>
            <a:lvl6pPr marL="25146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6pPr>
            <a:lvl7pPr marL="29718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7pPr>
            <a:lvl8pPr marL="34290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8pPr>
            <a:lvl9pPr marL="38862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9pPr>
          </a:lstStyle>
          <a:p>
            <a:pPr>
              <a:spcBef>
                <a:spcPct val="50000"/>
              </a:spcBef>
            </a:pPr>
            <a:r>
              <a:rPr lang="en-US" altLang="en-US" sz="2000" dirty="0">
                <a:solidFill>
                  <a:schemeClr val="tx1"/>
                </a:solidFill>
                <a:latin typeface="Arial" pitchFamily="34" charset="0"/>
                <a:ea typeface="MS PGothic" pitchFamily="34" charset="-128"/>
              </a:rPr>
              <a:t>P(C1) = 0/6 = 0     P(C2) = 6/6 = 1</a:t>
            </a:r>
          </a:p>
          <a:p>
            <a:pPr>
              <a:spcBef>
                <a:spcPct val="50000"/>
              </a:spcBef>
            </a:pPr>
            <a:r>
              <a:rPr lang="en-US" altLang="en-US" sz="2000" dirty="0" err="1">
                <a:solidFill>
                  <a:schemeClr val="tx1"/>
                </a:solidFill>
                <a:latin typeface="Arial" pitchFamily="34" charset="0"/>
                <a:ea typeface="MS PGothic" pitchFamily="34" charset="-128"/>
              </a:rPr>
              <a:t>Gini</a:t>
            </a:r>
            <a:r>
              <a:rPr lang="en-US" altLang="en-US" sz="2000" dirty="0">
                <a:solidFill>
                  <a:schemeClr val="tx1"/>
                </a:solidFill>
                <a:latin typeface="Arial" pitchFamily="34" charset="0"/>
                <a:ea typeface="MS PGothic" pitchFamily="34" charset="-128"/>
              </a:rPr>
              <a:t> = 1 – P(C1)</a:t>
            </a:r>
            <a:r>
              <a:rPr lang="en-US" altLang="en-US" sz="2000" baseline="30000" dirty="0">
                <a:solidFill>
                  <a:schemeClr val="tx1"/>
                </a:solidFill>
                <a:latin typeface="Arial" pitchFamily="34" charset="0"/>
                <a:ea typeface="MS PGothic" pitchFamily="34" charset="-128"/>
              </a:rPr>
              <a:t>2 </a:t>
            </a:r>
            <a:r>
              <a:rPr lang="en-US" altLang="en-US" sz="2000" dirty="0">
                <a:solidFill>
                  <a:schemeClr val="tx1"/>
                </a:solidFill>
                <a:latin typeface="Arial" pitchFamily="34" charset="0"/>
                <a:ea typeface="MS PGothic" pitchFamily="34" charset="-128"/>
              </a:rPr>
              <a:t>– P(C2)</a:t>
            </a:r>
            <a:r>
              <a:rPr lang="en-US" altLang="en-US" sz="2000" baseline="30000" dirty="0">
                <a:solidFill>
                  <a:schemeClr val="tx1"/>
                </a:solidFill>
                <a:latin typeface="Arial" pitchFamily="34" charset="0"/>
                <a:ea typeface="MS PGothic" pitchFamily="34" charset="-128"/>
              </a:rPr>
              <a:t>2</a:t>
            </a:r>
            <a:r>
              <a:rPr lang="en-US" altLang="en-US" sz="2000" dirty="0">
                <a:solidFill>
                  <a:schemeClr val="tx1"/>
                </a:solidFill>
                <a:latin typeface="Arial" pitchFamily="34" charset="0"/>
                <a:ea typeface="MS PGothic" pitchFamily="34" charset="-128"/>
              </a:rPr>
              <a:t> = 1 – 0 – 1 = 0 </a:t>
            </a:r>
          </a:p>
        </p:txBody>
      </p:sp>
      <p:graphicFrame>
        <p:nvGraphicFramePr>
          <p:cNvPr id="6" name="Object 5"/>
          <p:cNvGraphicFramePr>
            <a:graphicFrameLocks noChangeAspect="1"/>
          </p:cNvGraphicFramePr>
          <p:nvPr>
            <p:extLst>
              <p:ext uri="{D42A27DB-BD31-4B8C-83A1-F6EECF244321}">
                <p14:modId xmlns:p14="http://schemas.microsoft.com/office/powerpoint/2010/main" xmlns="" val="2160536109"/>
              </p:ext>
            </p:extLst>
          </p:nvPr>
        </p:nvGraphicFramePr>
        <p:xfrm>
          <a:off x="533400" y="3505200"/>
          <a:ext cx="2286000" cy="739775"/>
        </p:xfrm>
        <a:graphic>
          <a:graphicData uri="http://schemas.openxmlformats.org/presentationml/2006/ole">
            <p:oleObj spid="_x0000_s1716" name="Document" r:id="rId5" imgW="3238500" imgH="1357884" progId="">
              <p:embed/>
            </p:oleObj>
          </a:graphicData>
        </a:graphic>
      </p:graphicFrame>
      <p:sp>
        <p:nvSpPr>
          <p:cNvPr id="8" name="Text Box 12"/>
          <p:cNvSpPr txBox="1">
            <a:spLocks noChangeArrowheads="1"/>
          </p:cNvSpPr>
          <p:nvPr/>
        </p:nvSpPr>
        <p:spPr bwMode="auto">
          <a:xfrm>
            <a:off x="3124200" y="3276600"/>
            <a:ext cx="5410200"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kumimoji="1" sz="3600" b="1">
                <a:solidFill>
                  <a:srgbClr val="FFFFFF"/>
                </a:solidFill>
                <a:latin typeface="Georgia" pitchFamily="18" charset="0"/>
                <a:ea typeface="굴림" pitchFamily="34" charset="-127"/>
              </a:defRPr>
            </a:lvl1pPr>
            <a:lvl2pPr marL="742950" indent="-285750">
              <a:defRPr kumimoji="1" sz="3600" b="1">
                <a:solidFill>
                  <a:srgbClr val="FFFFFF"/>
                </a:solidFill>
                <a:latin typeface="Georgia" pitchFamily="18" charset="0"/>
                <a:ea typeface="굴림" pitchFamily="34" charset="-127"/>
              </a:defRPr>
            </a:lvl2pPr>
            <a:lvl3pPr marL="1143000" indent="-228600">
              <a:defRPr kumimoji="1" sz="3600" b="1">
                <a:solidFill>
                  <a:srgbClr val="FFFFFF"/>
                </a:solidFill>
                <a:latin typeface="Georgia" pitchFamily="18" charset="0"/>
                <a:ea typeface="굴림" pitchFamily="34" charset="-127"/>
              </a:defRPr>
            </a:lvl3pPr>
            <a:lvl4pPr marL="1600200" indent="-228600">
              <a:defRPr kumimoji="1" sz="3600" b="1">
                <a:solidFill>
                  <a:srgbClr val="FFFFFF"/>
                </a:solidFill>
                <a:latin typeface="Georgia" pitchFamily="18" charset="0"/>
                <a:ea typeface="굴림" pitchFamily="34" charset="-127"/>
              </a:defRPr>
            </a:lvl4pPr>
            <a:lvl5pPr marL="2057400" indent="-228600">
              <a:defRPr kumimoji="1" sz="3600" b="1">
                <a:solidFill>
                  <a:srgbClr val="FFFFFF"/>
                </a:solidFill>
                <a:latin typeface="Georgia" pitchFamily="18" charset="0"/>
                <a:ea typeface="굴림" pitchFamily="34" charset="-127"/>
              </a:defRPr>
            </a:lvl5pPr>
            <a:lvl6pPr marL="25146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6pPr>
            <a:lvl7pPr marL="29718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7pPr>
            <a:lvl8pPr marL="34290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8pPr>
            <a:lvl9pPr marL="38862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9pPr>
          </a:lstStyle>
          <a:p>
            <a:pPr>
              <a:spcBef>
                <a:spcPct val="50000"/>
              </a:spcBef>
            </a:pPr>
            <a:r>
              <a:rPr lang="en-US" altLang="en-US" sz="2000" dirty="0">
                <a:solidFill>
                  <a:schemeClr val="tx1"/>
                </a:solidFill>
                <a:latin typeface="Arial" pitchFamily="34" charset="0"/>
                <a:ea typeface="MS PGothic" pitchFamily="34" charset="-128"/>
              </a:rPr>
              <a:t>P(C1) = 1/6          P(C2) = 5/6</a:t>
            </a:r>
          </a:p>
          <a:p>
            <a:pPr>
              <a:spcBef>
                <a:spcPct val="50000"/>
              </a:spcBef>
            </a:pPr>
            <a:r>
              <a:rPr lang="en-US" altLang="en-US" sz="2000" dirty="0" err="1">
                <a:solidFill>
                  <a:schemeClr val="tx1"/>
                </a:solidFill>
                <a:latin typeface="Arial" pitchFamily="34" charset="0"/>
                <a:ea typeface="MS PGothic" pitchFamily="34" charset="-128"/>
              </a:rPr>
              <a:t>Gini</a:t>
            </a:r>
            <a:r>
              <a:rPr lang="en-US" altLang="en-US" sz="2000" dirty="0">
                <a:solidFill>
                  <a:schemeClr val="tx1"/>
                </a:solidFill>
                <a:latin typeface="Arial" pitchFamily="34" charset="0"/>
                <a:ea typeface="MS PGothic" pitchFamily="34" charset="-128"/>
              </a:rPr>
              <a:t> = 1 – (1/6)</a:t>
            </a:r>
            <a:r>
              <a:rPr lang="en-US" altLang="en-US" sz="2000" baseline="30000" dirty="0">
                <a:solidFill>
                  <a:schemeClr val="tx1"/>
                </a:solidFill>
                <a:latin typeface="Arial" pitchFamily="34" charset="0"/>
                <a:ea typeface="MS PGothic" pitchFamily="34" charset="-128"/>
              </a:rPr>
              <a:t>2 </a:t>
            </a:r>
            <a:r>
              <a:rPr lang="en-US" altLang="en-US" sz="2000" dirty="0">
                <a:solidFill>
                  <a:schemeClr val="tx1"/>
                </a:solidFill>
                <a:latin typeface="Arial" pitchFamily="34" charset="0"/>
                <a:ea typeface="MS PGothic" pitchFamily="34" charset="-128"/>
              </a:rPr>
              <a:t>– (5/6)</a:t>
            </a:r>
            <a:r>
              <a:rPr lang="en-US" altLang="en-US" sz="2000" baseline="30000" dirty="0">
                <a:solidFill>
                  <a:schemeClr val="tx1"/>
                </a:solidFill>
                <a:latin typeface="Arial" pitchFamily="34" charset="0"/>
                <a:ea typeface="MS PGothic" pitchFamily="34" charset="-128"/>
              </a:rPr>
              <a:t>2</a:t>
            </a:r>
            <a:r>
              <a:rPr lang="en-US" altLang="en-US" sz="2000" dirty="0">
                <a:solidFill>
                  <a:schemeClr val="tx1"/>
                </a:solidFill>
                <a:latin typeface="Arial" pitchFamily="34" charset="0"/>
                <a:ea typeface="MS PGothic" pitchFamily="34" charset="-128"/>
              </a:rPr>
              <a:t> = 0.278</a:t>
            </a:r>
          </a:p>
        </p:txBody>
      </p:sp>
      <p:graphicFrame>
        <p:nvGraphicFramePr>
          <p:cNvPr id="9" name="Object 8"/>
          <p:cNvGraphicFramePr>
            <a:graphicFrameLocks noChangeAspect="1"/>
          </p:cNvGraphicFramePr>
          <p:nvPr>
            <p:extLst>
              <p:ext uri="{D42A27DB-BD31-4B8C-83A1-F6EECF244321}">
                <p14:modId xmlns:p14="http://schemas.microsoft.com/office/powerpoint/2010/main" xmlns="" val="2448079482"/>
              </p:ext>
            </p:extLst>
          </p:nvPr>
        </p:nvGraphicFramePr>
        <p:xfrm>
          <a:off x="533400" y="4419600"/>
          <a:ext cx="2286000" cy="861773"/>
        </p:xfrm>
        <a:graphic>
          <a:graphicData uri="http://schemas.openxmlformats.org/presentationml/2006/ole">
            <p:oleObj spid="_x0000_s1717" name="Document" r:id="rId6" imgW="3238500" imgH="1382268" progId="">
              <p:embed/>
            </p:oleObj>
          </a:graphicData>
        </a:graphic>
      </p:graphicFrame>
      <p:sp>
        <p:nvSpPr>
          <p:cNvPr id="10" name="Text Box 13"/>
          <p:cNvSpPr txBox="1">
            <a:spLocks noChangeArrowheads="1"/>
          </p:cNvSpPr>
          <p:nvPr/>
        </p:nvSpPr>
        <p:spPr bwMode="auto">
          <a:xfrm>
            <a:off x="3352800" y="4419600"/>
            <a:ext cx="4953000"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kumimoji="1" sz="3600" b="1">
                <a:solidFill>
                  <a:srgbClr val="FFFFFF"/>
                </a:solidFill>
                <a:latin typeface="Georgia" pitchFamily="18" charset="0"/>
                <a:ea typeface="굴림" pitchFamily="34" charset="-127"/>
              </a:defRPr>
            </a:lvl1pPr>
            <a:lvl2pPr marL="742950" indent="-285750">
              <a:defRPr kumimoji="1" sz="3600" b="1">
                <a:solidFill>
                  <a:srgbClr val="FFFFFF"/>
                </a:solidFill>
                <a:latin typeface="Georgia" pitchFamily="18" charset="0"/>
                <a:ea typeface="굴림" pitchFamily="34" charset="-127"/>
              </a:defRPr>
            </a:lvl2pPr>
            <a:lvl3pPr marL="1143000" indent="-228600">
              <a:defRPr kumimoji="1" sz="3600" b="1">
                <a:solidFill>
                  <a:srgbClr val="FFFFFF"/>
                </a:solidFill>
                <a:latin typeface="Georgia" pitchFamily="18" charset="0"/>
                <a:ea typeface="굴림" pitchFamily="34" charset="-127"/>
              </a:defRPr>
            </a:lvl3pPr>
            <a:lvl4pPr marL="1600200" indent="-228600">
              <a:defRPr kumimoji="1" sz="3600" b="1">
                <a:solidFill>
                  <a:srgbClr val="FFFFFF"/>
                </a:solidFill>
                <a:latin typeface="Georgia" pitchFamily="18" charset="0"/>
                <a:ea typeface="굴림" pitchFamily="34" charset="-127"/>
              </a:defRPr>
            </a:lvl4pPr>
            <a:lvl5pPr marL="2057400" indent="-228600">
              <a:defRPr kumimoji="1" sz="3600" b="1">
                <a:solidFill>
                  <a:srgbClr val="FFFFFF"/>
                </a:solidFill>
                <a:latin typeface="Georgia" pitchFamily="18" charset="0"/>
                <a:ea typeface="굴림" pitchFamily="34" charset="-127"/>
              </a:defRPr>
            </a:lvl5pPr>
            <a:lvl6pPr marL="25146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6pPr>
            <a:lvl7pPr marL="29718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7pPr>
            <a:lvl8pPr marL="34290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8pPr>
            <a:lvl9pPr marL="38862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9pPr>
          </a:lstStyle>
          <a:p>
            <a:pPr>
              <a:spcBef>
                <a:spcPct val="50000"/>
              </a:spcBef>
            </a:pPr>
            <a:r>
              <a:rPr lang="en-US" altLang="en-US" sz="2000" dirty="0">
                <a:solidFill>
                  <a:schemeClr val="tx1"/>
                </a:solidFill>
                <a:latin typeface="Arial" pitchFamily="34" charset="0"/>
                <a:ea typeface="MS PGothic" pitchFamily="34" charset="-128"/>
              </a:rPr>
              <a:t>P(C1) = 2/6          P(C2) = 4/6</a:t>
            </a:r>
          </a:p>
          <a:p>
            <a:pPr>
              <a:spcBef>
                <a:spcPct val="50000"/>
              </a:spcBef>
            </a:pPr>
            <a:r>
              <a:rPr lang="en-US" altLang="en-US" sz="2000" dirty="0" err="1">
                <a:solidFill>
                  <a:schemeClr val="tx1"/>
                </a:solidFill>
                <a:latin typeface="Arial" pitchFamily="34" charset="0"/>
                <a:ea typeface="MS PGothic" pitchFamily="34" charset="-128"/>
              </a:rPr>
              <a:t>Gini</a:t>
            </a:r>
            <a:r>
              <a:rPr lang="en-US" altLang="en-US" sz="2000" dirty="0">
                <a:solidFill>
                  <a:schemeClr val="tx1"/>
                </a:solidFill>
                <a:latin typeface="Arial" pitchFamily="34" charset="0"/>
                <a:ea typeface="MS PGothic" pitchFamily="34" charset="-128"/>
              </a:rPr>
              <a:t> = 1 – (2/6)</a:t>
            </a:r>
            <a:r>
              <a:rPr lang="en-US" altLang="en-US" sz="2000" baseline="30000" dirty="0">
                <a:solidFill>
                  <a:schemeClr val="tx1"/>
                </a:solidFill>
                <a:latin typeface="Arial" pitchFamily="34" charset="0"/>
                <a:ea typeface="MS PGothic" pitchFamily="34" charset="-128"/>
              </a:rPr>
              <a:t>2 </a:t>
            </a:r>
            <a:r>
              <a:rPr lang="en-US" altLang="en-US" sz="2000" dirty="0">
                <a:solidFill>
                  <a:schemeClr val="tx1"/>
                </a:solidFill>
                <a:latin typeface="Arial" pitchFamily="34" charset="0"/>
                <a:ea typeface="MS PGothic" pitchFamily="34" charset="-128"/>
              </a:rPr>
              <a:t>– (4/6)</a:t>
            </a:r>
            <a:r>
              <a:rPr lang="en-US" altLang="en-US" sz="2000" baseline="30000" dirty="0">
                <a:solidFill>
                  <a:schemeClr val="tx1"/>
                </a:solidFill>
                <a:latin typeface="Arial" pitchFamily="34" charset="0"/>
                <a:ea typeface="MS PGothic" pitchFamily="34" charset="-128"/>
              </a:rPr>
              <a:t>2</a:t>
            </a:r>
            <a:r>
              <a:rPr lang="en-US" altLang="en-US" sz="2000" dirty="0">
                <a:solidFill>
                  <a:schemeClr val="tx1"/>
                </a:solidFill>
                <a:latin typeface="Arial" pitchFamily="34" charset="0"/>
                <a:ea typeface="MS PGothic" pitchFamily="34" charset="-128"/>
              </a:rPr>
              <a:t> = 0.444</a:t>
            </a:r>
          </a:p>
        </p:txBody>
      </p:sp>
      <p:graphicFrame>
        <p:nvGraphicFramePr>
          <p:cNvPr id="11" name="Object 10"/>
          <p:cNvGraphicFramePr>
            <a:graphicFrameLocks noChangeAspect="1"/>
          </p:cNvGraphicFramePr>
          <p:nvPr>
            <p:extLst>
              <p:ext uri="{D42A27DB-BD31-4B8C-83A1-F6EECF244321}">
                <p14:modId xmlns:p14="http://schemas.microsoft.com/office/powerpoint/2010/main" xmlns="" val="1500086573"/>
              </p:ext>
            </p:extLst>
          </p:nvPr>
        </p:nvGraphicFramePr>
        <p:xfrm>
          <a:off x="533400" y="5638800"/>
          <a:ext cx="2270125" cy="960438"/>
        </p:xfrm>
        <a:graphic>
          <a:graphicData uri="http://schemas.openxmlformats.org/presentationml/2006/ole">
            <p:oleObj spid="_x0000_s1718" name="Document" r:id="rId7" imgW="3237780" imgH="1384742" progId="">
              <p:embed/>
            </p:oleObj>
          </a:graphicData>
        </a:graphic>
      </p:graphicFrame>
      <p:sp>
        <p:nvSpPr>
          <p:cNvPr id="12" name="Text Box 13"/>
          <p:cNvSpPr txBox="1">
            <a:spLocks noChangeArrowheads="1"/>
          </p:cNvSpPr>
          <p:nvPr/>
        </p:nvSpPr>
        <p:spPr bwMode="auto">
          <a:xfrm>
            <a:off x="3352800" y="5532437"/>
            <a:ext cx="4953000"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kumimoji="1" sz="3600" b="1">
                <a:solidFill>
                  <a:srgbClr val="FFFFFF"/>
                </a:solidFill>
                <a:latin typeface="Georgia" pitchFamily="18" charset="0"/>
                <a:ea typeface="굴림" pitchFamily="34" charset="-127"/>
              </a:defRPr>
            </a:lvl1pPr>
            <a:lvl2pPr marL="742950" indent="-285750">
              <a:defRPr kumimoji="1" sz="3600" b="1">
                <a:solidFill>
                  <a:srgbClr val="FFFFFF"/>
                </a:solidFill>
                <a:latin typeface="Georgia" pitchFamily="18" charset="0"/>
                <a:ea typeface="굴림" pitchFamily="34" charset="-127"/>
              </a:defRPr>
            </a:lvl2pPr>
            <a:lvl3pPr marL="1143000" indent="-228600">
              <a:defRPr kumimoji="1" sz="3600" b="1">
                <a:solidFill>
                  <a:srgbClr val="FFFFFF"/>
                </a:solidFill>
                <a:latin typeface="Georgia" pitchFamily="18" charset="0"/>
                <a:ea typeface="굴림" pitchFamily="34" charset="-127"/>
              </a:defRPr>
            </a:lvl3pPr>
            <a:lvl4pPr marL="1600200" indent="-228600">
              <a:defRPr kumimoji="1" sz="3600" b="1">
                <a:solidFill>
                  <a:srgbClr val="FFFFFF"/>
                </a:solidFill>
                <a:latin typeface="Georgia" pitchFamily="18" charset="0"/>
                <a:ea typeface="굴림" pitchFamily="34" charset="-127"/>
              </a:defRPr>
            </a:lvl4pPr>
            <a:lvl5pPr marL="2057400" indent="-228600">
              <a:defRPr kumimoji="1" sz="3600" b="1">
                <a:solidFill>
                  <a:srgbClr val="FFFFFF"/>
                </a:solidFill>
                <a:latin typeface="Georgia" pitchFamily="18" charset="0"/>
                <a:ea typeface="굴림" pitchFamily="34" charset="-127"/>
              </a:defRPr>
            </a:lvl5pPr>
            <a:lvl6pPr marL="25146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6pPr>
            <a:lvl7pPr marL="29718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7pPr>
            <a:lvl8pPr marL="34290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8pPr>
            <a:lvl9pPr marL="3886200" indent="-228600" eaLnBrk="0" fontAlgn="base" hangingPunct="0">
              <a:spcBef>
                <a:spcPct val="0"/>
              </a:spcBef>
              <a:spcAft>
                <a:spcPct val="0"/>
              </a:spcAft>
              <a:defRPr kumimoji="1" sz="3600" b="1">
                <a:solidFill>
                  <a:srgbClr val="FFFFFF"/>
                </a:solidFill>
                <a:latin typeface="Georgia" pitchFamily="18" charset="0"/>
                <a:ea typeface="굴림" pitchFamily="34" charset="-127"/>
              </a:defRPr>
            </a:lvl9pPr>
          </a:lstStyle>
          <a:p>
            <a:pPr>
              <a:spcBef>
                <a:spcPct val="50000"/>
              </a:spcBef>
            </a:pPr>
            <a:r>
              <a:rPr lang="en-US" altLang="en-US" sz="2000" dirty="0">
                <a:solidFill>
                  <a:schemeClr val="tx1"/>
                </a:solidFill>
                <a:latin typeface="Arial" pitchFamily="34" charset="0"/>
                <a:ea typeface="MS PGothic" pitchFamily="34" charset="-128"/>
              </a:rPr>
              <a:t>P(C1) = 3/6          P(C2) = 3/6</a:t>
            </a:r>
          </a:p>
          <a:p>
            <a:pPr>
              <a:spcBef>
                <a:spcPct val="50000"/>
              </a:spcBef>
            </a:pPr>
            <a:r>
              <a:rPr lang="en-US" altLang="en-US" sz="2000" dirty="0" err="1">
                <a:solidFill>
                  <a:schemeClr val="tx1"/>
                </a:solidFill>
                <a:latin typeface="Arial" pitchFamily="34" charset="0"/>
                <a:ea typeface="MS PGothic" pitchFamily="34" charset="-128"/>
              </a:rPr>
              <a:t>Gini</a:t>
            </a:r>
            <a:r>
              <a:rPr lang="en-US" altLang="en-US" sz="2000" dirty="0">
                <a:solidFill>
                  <a:schemeClr val="tx1"/>
                </a:solidFill>
                <a:latin typeface="Arial" pitchFamily="34" charset="0"/>
                <a:ea typeface="MS PGothic" pitchFamily="34" charset="-128"/>
              </a:rPr>
              <a:t> = 1 – (3/6)</a:t>
            </a:r>
            <a:r>
              <a:rPr lang="en-US" altLang="en-US" sz="2000" baseline="30000" dirty="0">
                <a:solidFill>
                  <a:schemeClr val="tx1"/>
                </a:solidFill>
                <a:latin typeface="Arial" pitchFamily="34" charset="0"/>
                <a:ea typeface="MS PGothic" pitchFamily="34" charset="-128"/>
              </a:rPr>
              <a:t>2 </a:t>
            </a:r>
            <a:r>
              <a:rPr lang="en-US" altLang="en-US" sz="2000" dirty="0">
                <a:solidFill>
                  <a:schemeClr val="tx1"/>
                </a:solidFill>
                <a:latin typeface="Arial" pitchFamily="34" charset="0"/>
                <a:ea typeface="MS PGothic" pitchFamily="34" charset="-128"/>
              </a:rPr>
              <a:t>– (3/6)</a:t>
            </a:r>
            <a:r>
              <a:rPr lang="en-US" altLang="en-US" sz="2000" baseline="30000" dirty="0">
                <a:solidFill>
                  <a:schemeClr val="tx1"/>
                </a:solidFill>
                <a:latin typeface="Arial" pitchFamily="34" charset="0"/>
                <a:ea typeface="MS PGothic" pitchFamily="34" charset="-128"/>
              </a:rPr>
              <a:t>2</a:t>
            </a:r>
            <a:r>
              <a:rPr lang="en-US" altLang="en-US" sz="2000" dirty="0">
                <a:solidFill>
                  <a:schemeClr val="tx1"/>
                </a:solidFill>
                <a:latin typeface="Arial" pitchFamily="34" charset="0"/>
                <a:ea typeface="MS PGothic" pitchFamily="34" charset="-128"/>
              </a:rPr>
              <a:t> = 0.50</a:t>
            </a:r>
          </a:p>
        </p:txBody>
      </p:sp>
    </p:spTree>
    <p:extLst>
      <p:ext uri="{BB962C8B-B14F-4D97-AF65-F5344CB8AC3E}">
        <p14:creationId xmlns:p14="http://schemas.microsoft.com/office/powerpoint/2010/main" xmlns="" val="24977211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24863"/>
          </a:xfrm>
          <a:prstGeom prst="rect">
            <a:avLst/>
          </a:prstGeom>
        </p:spPr>
        <p:txBody>
          <a:bodyPr wrap="square">
            <a:spAutoFit/>
          </a:bodyPr>
          <a:lstStyle/>
          <a:p>
            <a:pPr algn="just"/>
            <a:r>
              <a:rPr lang="en-US" sz="2200" b="1" dirty="0">
                <a:solidFill>
                  <a:srgbClr val="FF0000"/>
                </a:solidFill>
                <a:latin typeface="Times New Roman" pitchFamily="18" charset="0"/>
                <a:cs typeface="Times New Roman" pitchFamily="18" charset="0"/>
              </a:rPr>
              <a:t>Information Gain (IG):    </a:t>
            </a:r>
            <a:r>
              <a:rPr lang="en-US" sz="2200" dirty="0">
                <a:latin typeface="Times New Roman" pitchFamily="18" charset="0"/>
                <a:cs typeface="Times New Roman" pitchFamily="18" charset="0"/>
              </a:rPr>
              <a:t>Used in </a:t>
            </a:r>
            <a:r>
              <a:rPr lang="en-US" sz="2200" b="1" dirty="0">
                <a:latin typeface="Times New Roman" pitchFamily="18" charset="0"/>
                <a:cs typeface="Times New Roman" pitchFamily="18" charset="0"/>
              </a:rPr>
              <a:t>ID3</a:t>
            </a:r>
            <a:r>
              <a:rPr lang="en-US" sz="2200" dirty="0">
                <a:latin typeface="Times New Roman" pitchFamily="18" charset="0"/>
                <a:cs typeface="Times New Roman" pitchFamily="18" charset="0"/>
              </a:rPr>
              <a:t> algorithm.</a:t>
            </a:r>
          </a:p>
          <a:p>
            <a:pPr algn="just"/>
            <a:r>
              <a:rPr lang="en-US" sz="2200" dirty="0">
                <a:latin typeface="Times New Roman" pitchFamily="18" charset="0"/>
                <a:cs typeface="Times New Roman" pitchFamily="18" charset="0"/>
              </a:rPr>
              <a:t>Works with </a:t>
            </a:r>
            <a:r>
              <a:rPr lang="en-US" sz="2200" b="1" dirty="0" err="1">
                <a:latin typeface="Times New Roman" pitchFamily="18" charset="0"/>
                <a:cs typeface="Times New Roman" pitchFamily="18" charset="0"/>
              </a:rPr>
              <a:t>multiway</a:t>
            </a:r>
            <a:r>
              <a:rPr lang="en-US" sz="2200" b="1" dirty="0">
                <a:latin typeface="Times New Roman" pitchFamily="18" charset="0"/>
                <a:cs typeface="Times New Roman" pitchFamily="18" charset="0"/>
              </a:rPr>
              <a:t> splits</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Not inherently binary. However, it can be adapted to binary splits if the algorithm enforces it (like C4.5 or CART can).</a:t>
            </a:r>
          </a:p>
          <a:p>
            <a:pPr algn="just"/>
            <a:endParaRPr lang="en-US" sz="2200" b="1" dirty="0">
              <a:latin typeface="Times New Roman" pitchFamily="18" charset="0"/>
              <a:cs typeface="Times New Roman" pitchFamily="18" charset="0"/>
            </a:endParaRPr>
          </a:p>
          <a:p>
            <a:pPr algn="just"/>
            <a:r>
              <a:rPr lang="en-US" sz="2200" b="1" dirty="0">
                <a:solidFill>
                  <a:srgbClr val="FF0000"/>
                </a:solidFill>
                <a:latin typeface="Times New Roman" pitchFamily="18" charset="0"/>
                <a:cs typeface="Times New Roman" pitchFamily="18" charset="0"/>
              </a:rPr>
              <a:t>Gain Ratio (GR):     </a:t>
            </a:r>
            <a:r>
              <a:rPr lang="en-US" sz="2200" dirty="0">
                <a:latin typeface="Times New Roman" pitchFamily="18" charset="0"/>
                <a:cs typeface="Times New Roman" pitchFamily="18" charset="0"/>
              </a:rPr>
              <a:t>Used in </a:t>
            </a:r>
            <a:r>
              <a:rPr lang="en-US" sz="2200" b="1" dirty="0">
                <a:latin typeface="Times New Roman" pitchFamily="18" charset="0"/>
                <a:cs typeface="Times New Roman" pitchFamily="18" charset="0"/>
              </a:rPr>
              <a:t>C4.5</a:t>
            </a:r>
            <a:r>
              <a:rPr lang="en-US" sz="2200" dirty="0">
                <a:latin typeface="Times New Roman" pitchFamily="18" charset="0"/>
                <a:cs typeface="Times New Roman" pitchFamily="18" charset="0"/>
              </a:rPr>
              <a:t> algorithm.</a:t>
            </a:r>
          </a:p>
          <a:p>
            <a:pPr algn="just"/>
            <a:r>
              <a:rPr lang="en-US" sz="2200" dirty="0">
                <a:latin typeface="Times New Roman" pitchFamily="18" charset="0"/>
                <a:cs typeface="Times New Roman" pitchFamily="18" charset="0"/>
              </a:rPr>
              <a:t>Works with </a:t>
            </a:r>
            <a:r>
              <a:rPr lang="en-US" sz="2200" b="1" dirty="0" err="1">
                <a:latin typeface="Times New Roman" pitchFamily="18" charset="0"/>
                <a:cs typeface="Times New Roman" pitchFamily="18" charset="0"/>
              </a:rPr>
              <a:t>multiway</a:t>
            </a:r>
            <a:r>
              <a:rPr lang="en-US" sz="2200" b="1" dirty="0">
                <a:latin typeface="Times New Roman" pitchFamily="18" charset="0"/>
                <a:cs typeface="Times New Roman" pitchFamily="18" charset="0"/>
              </a:rPr>
              <a:t> splits</a:t>
            </a:r>
            <a:r>
              <a:rPr lang="en-US" sz="2200" dirty="0">
                <a:latin typeface="Times New Roman" pitchFamily="18" charset="0"/>
                <a:cs typeface="Times New Roman" pitchFamily="18" charset="0"/>
              </a:rPr>
              <a:t> naturally.</a:t>
            </a:r>
          </a:p>
          <a:p>
            <a:pPr algn="just"/>
            <a:r>
              <a:rPr lang="en-US" sz="2200" dirty="0">
                <a:latin typeface="Times New Roman" pitchFamily="18" charset="0"/>
                <a:cs typeface="Times New Roman" pitchFamily="18" charset="0"/>
              </a:rPr>
              <a:t>Not inherently binary, though it can be constrained to binary splits if the implementation requires.</a:t>
            </a:r>
          </a:p>
          <a:p>
            <a:pPr algn="just"/>
            <a:endParaRPr lang="en-US" sz="2200" dirty="0">
              <a:latin typeface="Times New Roman" pitchFamily="18" charset="0"/>
              <a:cs typeface="Times New Roman" pitchFamily="18" charset="0"/>
            </a:endParaRPr>
          </a:p>
          <a:p>
            <a:pPr algn="just"/>
            <a:r>
              <a:rPr lang="en-US" sz="2200" b="1" dirty="0" err="1">
                <a:solidFill>
                  <a:srgbClr val="FF0000"/>
                </a:solidFill>
                <a:latin typeface="Times New Roman" pitchFamily="18" charset="0"/>
                <a:cs typeface="Times New Roman" pitchFamily="18" charset="0"/>
              </a:rPr>
              <a:t>Gini</a:t>
            </a:r>
            <a:r>
              <a:rPr lang="en-US" sz="2200" b="1" dirty="0">
                <a:solidFill>
                  <a:srgbClr val="FF0000"/>
                </a:solidFill>
                <a:latin typeface="Times New Roman" pitchFamily="18" charset="0"/>
                <a:cs typeface="Times New Roman" pitchFamily="18" charset="0"/>
              </a:rPr>
              <a:t> Index:    </a:t>
            </a:r>
            <a:r>
              <a:rPr lang="en-US" sz="2200" dirty="0">
                <a:latin typeface="Times New Roman" pitchFamily="18" charset="0"/>
                <a:cs typeface="Times New Roman" pitchFamily="18" charset="0"/>
              </a:rPr>
              <a:t>Used in </a:t>
            </a:r>
            <a:r>
              <a:rPr lang="en-US" sz="2200" b="1" dirty="0">
                <a:latin typeface="Times New Roman" pitchFamily="18" charset="0"/>
                <a:cs typeface="Times New Roman" pitchFamily="18" charset="0"/>
              </a:rPr>
              <a:t>CART (Classification and Regression Trees)</a:t>
            </a:r>
            <a:r>
              <a:rPr lang="en-US" sz="2200" dirty="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By design, CART uses </a:t>
            </a:r>
            <a:r>
              <a:rPr lang="en-US" sz="2200" b="1" dirty="0">
                <a:latin typeface="Times New Roman" pitchFamily="18" charset="0"/>
                <a:cs typeface="Times New Roman" pitchFamily="18" charset="0"/>
              </a:rPr>
              <a:t>binary splits only</a:t>
            </a:r>
            <a:r>
              <a:rPr lang="en-US" sz="2200" dirty="0">
                <a:latin typeface="Times New Roman" pitchFamily="18" charset="0"/>
                <a:cs typeface="Times New Roman" pitchFamily="18" charset="0"/>
              </a:rPr>
              <a:t> (i.e., every node splits into exactly 2 branches).</a:t>
            </a:r>
          </a:p>
          <a:p>
            <a:pPr algn="just"/>
            <a:r>
              <a:rPr lang="en-US" sz="2200" dirty="0">
                <a:latin typeface="Times New Roman" pitchFamily="18" charset="0"/>
                <a:cs typeface="Times New Roman" pitchFamily="18" charset="0"/>
              </a:rPr>
              <a:t>So, when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is used, the splitting is always </a:t>
            </a:r>
            <a:r>
              <a:rPr lang="en-US" sz="2200" b="1" dirty="0">
                <a:latin typeface="Times New Roman" pitchFamily="18" charset="0"/>
                <a:cs typeface="Times New Roman" pitchFamily="18" charset="0"/>
              </a:rPr>
              <a:t>binary</a:t>
            </a:r>
            <a:r>
              <a:rPr lang="en-US"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b="1" dirty="0">
                <a:solidFill>
                  <a:srgbClr val="FF0000"/>
                </a:solidFill>
                <a:latin typeface="Times New Roman" pitchFamily="18" charset="0"/>
                <a:cs typeface="Times New Roman" pitchFamily="18" charset="0"/>
              </a:rPr>
              <a:t>Note:  </a:t>
            </a:r>
          </a:p>
          <a:p>
            <a:pPr algn="just"/>
            <a:r>
              <a:rPr lang="en-US" sz="2200" b="1" dirty="0">
                <a:latin typeface="Times New Roman" pitchFamily="18" charset="0"/>
                <a:cs typeface="Times New Roman" pitchFamily="18" charset="0"/>
              </a:rPr>
              <a:t>Information Gain</a:t>
            </a:r>
            <a:r>
              <a:rPr lang="en-US" sz="2200" dirty="0">
                <a:latin typeface="Times New Roman" pitchFamily="18" charset="0"/>
                <a:cs typeface="Times New Roman" pitchFamily="18" charset="0"/>
              </a:rPr>
              <a:t> and </a:t>
            </a:r>
            <a:r>
              <a:rPr lang="en-US" sz="2200" b="1" dirty="0">
                <a:latin typeface="Times New Roman" pitchFamily="18" charset="0"/>
                <a:cs typeface="Times New Roman" pitchFamily="18" charset="0"/>
              </a:rPr>
              <a:t>Gain Ratio</a:t>
            </a:r>
            <a:r>
              <a:rPr lang="en-US" sz="2200" dirty="0">
                <a:latin typeface="Times New Roman" pitchFamily="18" charset="0"/>
                <a:cs typeface="Times New Roman" pitchFamily="18" charset="0"/>
              </a:rPr>
              <a:t> → Can handle </a:t>
            </a:r>
            <a:r>
              <a:rPr lang="en-US" sz="2200" b="1" dirty="0" err="1">
                <a:latin typeface="Times New Roman" pitchFamily="18" charset="0"/>
                <a:cs typeface="Times New Roman" pitchFamily="18" charset="0"/>
              </a:rPr>
              <a:t>multiway</a:t>
            </a:r>
            <a:r>
              <a:rPr lang="en-US" sz="2200" b="1" dirty="0">
                <a:latin typeface="Times New Roman" pitchFamily="18" charset="0"/>
                <a:cs typeface="Times New Roman" pitchFamily="18" charset="0"/>
              </a:rPr>
              <a:t> splits</a:t>
            </a:r>
            <a:r>
              <a:rPr lang="en-US" sz="2200" dirty="0">
                <a:latin typeface="Times New Roman" pitchFamily="18" charset="0"/>
                <a:cs typeface="Times New Roman" pitchFamily="18" charset="0"/>
              </a:rPr>
              <a:t> (not strictly binary).</a:t>
            </a:r>
          </a:p>
          <a:p>
            <a:pPr algn="just"/>
            <a:r>
              <a:rPr lang="en-US" sz="2200" b="1" dirty="0" err="1">
                <a:latin typeface="Times New Roman" pitchFamily="18" charset="0"/>
                <a:cs typeface="Times New Roman" pitchFamily="18" charset="0"/>
              </a:rPr>
              <a:t>Gini</a:t>
            </a:r>
            <a:r>
              <a:rPr lang="en-US" sz="2200" b="1" dirty="0">
                <a:latin typeface="Times New Roman" pitchFamily="18" charset="0"/>
                <a:cs typeface="Times New Roman" pitchFamily="18" charset="0"/>
              </a:rPr>
              <a:t> Index</a:t>
            </a:r>
            <a:r>
              <a:rPr lang="en-US" sz="2200" dirty="0">
                <a:latin typeface="Times New Roman" pitchFamily="18" charset="0"/>
                <a:cs typeface="Times New Roman" pitchFamily="18" charset="0"/>
              </a:rPr>
              <a:t> → Is </a:t>
            </a:r>
            <a:r>
              <a:rPr lang="en-US" sz="2200" b="1" dirty="0">
                <a:latin typeface="Times New Roman" pitchFamily="18" charset="0"/>
                <a:cs typeface="Times New Roman" pitchFamily="18" charset="0"/>
              </a:rPr>
              <a:t>binary by design</a:t>
            </a:r>
            <a:r>
              <a:rPr lang="en-US" sz="2200" dirty="0">
                <a:latin typeface="Times New Roman" pitchFamily="18" charset="0"/>
                <a:cs typeface="Times New Roman" pitchFamily="18" charset="0"/>
              </a:rPr>
              <a:t> (used in CART).</a:t>
            </a:r>
          </a:p>
        </p:txBody>
      </p:sp>
    </p:spTree>
    <p:extLst>
      <p:ext uri="{BB962C8B-B14F-4D97-AF65-F5344CB8AC3E}">
        <p14:creationId xmlns:p14="http://schemas.microsoft.com/office/powerpoint/2010/main" xmlns="" val="27913497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686800" cy="5878532"/>
          </a:xfrm>
          <a:prstGeom prst="rect">
            <a:avLst/>
          </a:prstGeom>
        </p:spPr>
        <p:txBody>
          <a:bodyPr wrap="square">
            <a:spAutoFit/>
          </a:bodyPr>
          <a:lstStyle/>
          <a:p>
            <a:pPr algn="just"/>
            <a:r>
              <a:rPr lang="en-US" sz="2800" u="sng" dirty="0">
                <a:solidFill>
                  <a:srgbClr val="FF0000"/>
                </a:solidFill>
                <a:latin typeface="Times New Roman" pitchFamily="18" charset="0"/>
                <a:cs typeface="Times New Roman" pitchFamily="18" charset="0"/>
              </a:rPr>
              <a:t>Tree Pruning:</a:t>
            </a:r>
          </a:p>
          <a:p>
            <a:pPr algn="just"/>
            <a:r>
              <a:rPr lang="en-US" sz="2200" dirty="0">
                <a:latin typeface="Times New Roman" pitchFamily="18" charset="0"/>
                <a:cs typeface="Times New Roman" pitchFamily="18" charset="0"/>
              </a:rPr>
              <a:t>	 When a decision tree is built, many of the branches will reflect anomalies in the training data due to noise or outliers. Tree pruning methods address this problem of </a:t>
            </a:r>
            <a:r>
              <a:rPr lang="en-US" sz="2200" dirty="0" err="1">
                <a:latin typeface="Times New Roman" pitchFamily="18" charset="0"/>
                <a:cs typeface="Times New Roman" pitchFamily="18" charset="0"/>
              </a:rPr>
              <a:t>overfitting</a:t>
            </a:r>
            <a:r>
              <a:rPr lang="en-US" sz="2200" dirty="0">
                <a:latin typeface="Times New Roman" pitchFamily="18" charset="0"/>
                <a:cs typeface="Times New Roman" pitchFamily="18" charset="0"/>
              </a:rPr>
              <a:t> the data.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An </a:t>
            </a:r>
            <a:r>
              <a:rPr lang="en-US" sz="2200" dirty="0" err="1">
                <a:latin typeface="Times New Roman" pitchFamily="18" charset="0"/>
                <a:cs typeface="Times New Roman" pitchFamily="18" charset="0"/>
              </a:rPr>
              <a:t>unpruned</a:t>
            </a:r>
            <a:r>
              <a:rPr lang="en-US" sz="2200" dirty="0">
                <a:latin typeface="Times New Roman" pitchFamily="18" charset="0"/>
                <a:cs typeface="Times New Roman" pitchFamily="18" charset="0"/>
              </a:rPr>
              <a:t> tree and a pruned version of it are shown in Figure 8.6. Pruned trees tend to be smaller and less complex and, thus, easier to comprehend. </a:t>
            </a:r>
          </a:p>
          <a:p>
            <a:pPr algn="just"/>
            <a:endParaRPr lang="en-US" dirty="0"/>
          </a:p>
          <a:p>
            <a:pPr algn="just"/>
            <a:r>
              <a:rPr lang="en-US" dirty="0"/>
              <a:t>	</a:t>
            </a:r>
            <a:r>
              <a:rPr lang="en-US" sz="2200" dirty="0">
                <a:latin typeface="Times New Roman" pitchFamily="18" charset="0"/>
                <a:cs typeface="Times New Roman" pitchFamily="18" charset="0"/>
              </a:rPr>
              <a:t>There are two common approaches to tree pruning: </a:t>
            </a:r>
            <a:r>
              <a:rPr lang="en-US" sz="2200" dirty="0" err="1">
                <a:latin typeface="Times New Roman" pitchFamily="18" charset="0"/>
                <a:cs typeface="Times New Roman" pitchFamily="18" charset="0"/>
              </a:rPr>
              <a:t>prepruning</a:t>
            </a:r>
            <a:r>
              <a:rPr lang="en-US" sz="2200" dirty="0">
                <a:latin typeface="Times New Roman" pitchFamily="18" charset="0"/>
                <a:cs typeface="Times New Roman" pitchFamily="18" charset="0"/>
              </a:rPr>
              <a:t> and </a:t>
            </a:r>
            <a:r>
              <a:rPr lang="en-US" sz="2200" dirty="0" err="1">
                <a:latin typeface="Times New Roman" pitchFamily="18" charset="0"/>
                <a:cs typeface="Times New Roman" pitchFamily="18" charset="0"/>
              </a:rPr>
              <a:t>postpruning</a:t>
            </a:r>
            <a:r>
              <a:rPr lang="en-US" sz="2200" dirty="0">
                <a:latin typeface="Times New Roman" pitchFamily="18" charset="0"/>
                <a:cs typeface="Times New Roman" pitchFamily="18" charset="0"/>
              </a:rPr>
              <a:t>.</a:t>
            </a:r>
          </a:p>
          <a:p>
            <a:pPr algn="just"/>
            <a:endParaRPr lang="en-US" sz="2200" dirty="0">
              <a:latin typeface="Times New Roman" pitchFamily="18" charset="0"/>
              <a:cs typeface="Times New Roman" pitchFamily="18" charset="0"/>
            </a:endParaRPr>
          </a:p>
          <a:p>
            <a:pPr algn="just"/>
            <a:r>
              <a:rPr lang="en-US" sz="2200" dirty="0">
                <a:solidFill>
                  <a:srgbClr val="00B050"/>
                </a:solidFill>
                <a:latin typeface="Times New Roman" pitchFamily="18" charset="0"/>
                <a:cs typeface="Times New Roman" pitchFamily="18" charset="0"/>
              </a:rPr>
              <a:t>	In the </a:t>
            </a:r>
            <a:r>
              <a:rPr lang="en-US" sz="2200" dirty="0" err="1">
                <a:solidFill>
                  <a:srgbClr val="00B050"/>
                </a:solidFill>
                <a:latin typeface="Times New Roman" pitchFamily="18" charset="0"/>
                <a:cs typeface="Times New Roman" pitchFamily="18" charset="0"/>
              </a:rPr>
              <a:t>prepruning</a:t>
            </a:r>
            <a:r>
              <a:rPr lang="en-US" sz="2200" dirty="0">
                <a:solidFill>
                  <a:srgbClr val="00B050"/>
                </a:solidFill>
                <a:latin typeface="Times New Roman" pitchFamily="18" charset="0"/>
                <a:cs typeface="Times New Roman" pitchFamily="18" charset="0"/>
              </a:rPr>
              <a:t> approach</a:t>
            </a:r>
            <a:r>
              <a:rPr lang="en-US" sz="2200" dirty="0">
                <a:latin typeface="Times New Roman" pitchFamily="18" charset="0"/>
                <a:cs typeface="Times New Roman" pitchFamily="18" charset="0"/>
              </a:rPr>
              <a:t>, a tree is “pruned” by halting its construction early. Upon halting, the node becomes a leaf. The leaf may hold the most frequent class among the subset tuples or the probability distribution of those tuples.</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5634433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5509200"/>
          </a:xfrm>
          <a:prstGeom prst="rect">
            <a:avLst/>
          </a:prstGeom>
        </p:spPr>
        <p:txBody>
          <a:bodyPr wrap="square">
            <a:spAutoFit/>
          </a:bodyPr>
          <a:lstStyle/>
          <a:p>
            <a:pPr algn="just"/>
            <a:r>
              <a:rPr lang="en-US" sz="2200" dirty="0">
                <a:latin typeface="Times New Roman" pitchFamily="18" charset="0"/>
                <a:cs typeface="Times New Roman" pitchFamily="18" charset="0"/>
              </a:rPr>
              <a:t>	When constructing a tree, measures such as statistical significance, information gain,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and so on, can be used to assess the goodness of a split. If partitioning the tuples at a node would result in a split that falls below a </a:t>
            </a:r>
            <a:r>
              <a:rPr lang="en-US" sz="2200" dirty="0" err="1">
                <a:latin typeface="Times New Roman" pitchFamily="18" charset="0"/>
                <a:cs typeface="Times New Roman" pitchFamily="18" charset="0"/>
              </a:rPr>
              <a:t>prespecified</a:t>
            </a:r>
            <a:r>
              <a:rPr lang="en-US" sz="2200" dirty="0">
                <a:latin typeface="Times New Roman" pitchFamily="18" charset="0"/>
                <a:cs typeface="Times New Roman" pitchFamily="18" charset="0"/>
              </a:rPr>
              <a:t> threshold, then further partitioning of the given subset is halted.</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The second and more common approach</a:t>
            </a:r>
            <a:r>
              <a:rPr lang="en-US" sz="2200" dirty="0">
                <a:latin typeface="Times New Roman" pitchFamily="18" charset="0"/>
                <a:cs typeface="Times New Roman" pitchFamily="18" charset="0"/>
              </a:rPr>
              <a:t> </a:t>
            </a:r>
            <a:r>
              <a:rPr lang="en-US" sz="2200" dirty="0">
                <a:solidFill>
                  <a:srgbClr val="00B050"/>
                </a:solidFill>
                <a:latin typeface="Times New Roman" pitchFamily="18" charset="0"/>
                <a:cs typeface="Times New Roman" pitchFamily="18" charset="0"/>
              </a:rPr>
              <a:t>is </a:t>
            </a:r>
            <a:r>
              <a:rPr lang="en-US" sz="2200" dirty="0" err="1">
                <a:solidFill>
                  <a:srgbClr val="00B050"/>
                </a:solidFill>
                <a:latin typeface="Times New Roman" pitchFamily="18" charset="0"/>
                <a:cs typeface="Times New Roman" pitchFamily="18" charset="0"/>
              </a:rPr>
              <a:t>postpruning</a:t>
            </a:r>
            <a:r>
              <a:rPr lang="en-US" sz="2200" dirty="0">
                <a:solidFill>
                  <a:srgbClr val="00B050"/>
                </a:solidFill>
                <a:latin typeface="Times New Roman" pitchFamily="18" charset="0"/>
                <a:cs typeface="Times New Roman" pitchFamily="18" charset="0"/>
              </a:rPr>
              <a:t>, </a:t>
            </a:r>
            <a:r>
              <a:rPr lang="en-US" sz="2200" dirty="0">
                <a:latin typeface="Times New Roman" pitchFamily="18" charset="0"/>
                <a:cs typeface="Times New Roman" pitchFamily="18" charset="0"/>
              </a:rPr>
              <a:t>which removes </a:t>
            </a:r>
            <a:r>
              <a:rPr lang="en-US" sz="2200" dirty="0" err="1">
                <a:latin typeface="Times New Roman" pitchFamily="18" charset="0"/>
                <a:cs typeface="Times New Roman" pitchFamily="18" charset="0"/>
              </a:rPr>
              <a:t>subtrees</a:t>
            </a:r>
            <a:r>
              <a:rPr lang="en-US" sz="2200" dirty="0">
                <a:latin typeface="Times New Roman" pitchFamily="18" charset="0"/>
                <a:cs typeface="Times New Roman" pitchFamily="18" charset="0"/>
              </a:rPr>
              <a:t> from a “fully grown” tree. A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at a given node is pruned by removing its branches and replacing it with a leaf. The leaf is labeled with the most frequent class among the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being replaced.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Ex: “A3?” in the </a:t>
            </a:r>
            <a:r>
              <a:rPr lang="en-US" sz="2200" dirty="0" err="1">
                <a:latin typeface="Times New Roman" pitchFamily="18" charset="0"/>
                <a:cs typeface="Times New Roman" pitchFamily="18" charset="0"/>
              </a:rPr>
              <a:t>unpruned</a:t>
            </a:r>
            <a:r>
              <a:rPr lang="en-US" sz="2200" dirty="0">
                <a:latin typeface="Times New Roman" pitchFamily="18" charset="0"/>
                <a:cs typeface="Times New Roman" pitchFamily="18" charset="0"/>
              </a:rPr>
              <a:t> tree of Figure 8.6.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Suppose that the most common class within this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is “class B.” In the pruned version of the tree, the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in question is pruned by replacing it with the leaf “class B.”</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5705802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4801" y="152400"/>
            <a:ext cx="8534400" cy="5353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1116107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3816429"/>
          </a:xfrm>
          <a:prstGeom prst="rect">
            <a:avLst/>
          </a:prstGeom>
        </p:spPr>
        <p:txBody>
          <a:bodyPr wrap="square">
            <a:spAutoFit/>
          </a:bodyPr>
          <a:lstStyle/>
          <a:p>
            <a:pPr algn="just"/>
            <a:r>
              <a:rPr lang="en-US" sz="2200" dirty="0">
                <a:latin typeface="Times New Roman" pitchFamily="18" charset="0"/>
                <a:cs typeface="Times New Roman" pitchFamily="18" charset="0"/>
              </a:rPr>
              <a:t>	The cost complexity pruning algorithm used in  CART is an example of the </a:t>
            </a:r>
            <a:r>
              <a:rPr lang="en-US" sz="2200" dirty="0" err="1">
                <a:latin typeface="Times New Roman" pitchFamily="18" charset="0"/>
                <a:cs typeface="Times New Roman" pitchFamily="18" charset="0"/>
              </a:rPr>
              <a:t>postpruning</a:t>
            </a:r>
            <a:r>
              <a:rPr lang="en-US" sz="2200" dirty="0">
                <a:latin typeface="Times New Roman" pitchFamily="18" charset="0"/>
                <a:cs typeface="Times New Roman" pitchFamily="18" charset="0"/>
              </a:rPr>
              <a:t> approach. This approach considers the cost complexity of a tree to be a function of the number of leaves in the tree and the error rate of the tree. It starts from the bottom of the tree. For each internal node, N, it computes the cost complexity of the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at N, and the cost complexity of the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at N if it were to be pruned (i.e., replaced by a leaf node). The two values are compared. If pruning the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at node N would result in a smaller cost complexity, then the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is pruned. Otherwise, it is kept.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25341774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1"/>
            <a:ext cx="8686800" cy="6186309"/>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C4.5 uses a method called pessimistic pruning, which is similar to the cost complexity method in that it also uses error rate estimates to make decisions regarding </a:t>
            </a:r>
            <a:r>
              <a:rPr lang="en-US" sz="2200" dirty="0" err="1">
                <a:latin typeface="Times New Roman" pitchFamily="18" charset="0"/>
                <a:cs typeface="Times New Roman" pitchFamily="18" charset="0"/>
              </a:rPr>
              <a:t>subtree</a:t>
            </a:r>
            <a:r>
              <a:rPr lang="en-US" sz="2200" dirty="0">
                <a:latin typeface="Times New Roman" pitchFamily="18" charset="0"/>
                <a:cs typeface="Times New Roman" pitchFamily="18" charset="0"/>
              </a:rPr>
              <a:t> pruning. Pessimistic pruning, however, does not require the use of a prune set. Instead, it uses the training set to estimate error rates. Recall that an estimate of accuracy or error based on the training set is overly optimistic and, therefore, strongly biased. The pessimistic pruning method therefore adjusts the error rates obtained from the training set by adding a penalty, so as to counter the bias incurred.</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Rather than pruning trees based on estimated error rates, we can prune trees based on the number of bits required to encode them. The “best” pruned tree is the one that minimizes the number of encoding bits. This method adopts the MDL principle.</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Alternatively, </a:t>
            </a:r>
            <a:r>
              <a:rPr lang="en-US" sz="2200" dirty="0" err="1">
                <a:latin typeface="Times New Roman" pitchFamily="18" charset="0"/>
                <a:cs typeface="Times New Roman" pitchFamily="18" charset="0"/>
              </a:rPr>
              <a:t>prepruning</a:t>
            </a:r>
            <a:r>
              <a:rPr lang="en-US" sz="2200" dirty="0">
                <a:latin typeface="Times New Roman" pitchFamily="18" charset="0"/>
                <a:cs typeface="Times New Roman" pitchFamily="18" charset="0"/>
              </a:rPr>
              <a:t> and </a:t>
            </a:r>
            <a:r>
              <a:rPr lang="en-US" sz="2200" dirty="0" err="1">
                <a:latin typeface="Times New Roman" pitchFamily="18" charset="0"/>
                <a:cs typeface="Times New Roman" pitchFamily="18" charset="0"/>
              </a:rPr>
              <a:t>postpruning</a:t>
            </a:r>
            <a:r>
              <a:rPr lang="en-US" sz="2200" dirty="0">
                <a:latin typeface="Times New Roman" pitchFamily="18" charset="0"/>
                <a:cs typeface="Times New Roman" pitchFamily="18" charset="0"/>
              </a:rPr>
              <a:t> may be interleaved for a combined approach. </a:t>
            </a:r>
            <a:r>
              <a:rPr lang="en-US" sz="2200" dirty="0" err="1">
                <a:latin typeface="Times New Roman" pitchFamily="18" charset="0"/>
                <a:cs typeface="Times New Roman" pitchFamily="18" charset="0"/>
              </a:rPr>
              <a:t>Postpruning</a:t>
            </a:r>
            <a:r>
              <a:rPr lang="en-US" sz="2200" dirty="0">
                <a:latin typeface="Times New Roman" pitchFamily="18" charset="0"/>
                <a:cs typeface="Times New Roman" pitchFamily="18" charset="0"/>
              </a:rPr>
              <a:t> requires more computation than </a:t>
            </a:r>
            <a:r>
              <a:rPr lang="en-US" sz="2200" dirty="0" err="1">
                <a:latin typeface="Times New Roman" pitchFamily="18" charset="0"/>
                <a:cs typeface="Times New Roman" pitchFamily="18" charset="0"/>
              </a:rPr>
              <a:t>prepruning</a:t>
            </a:r>
            <a:r>
              <a:rPr lang="en-US" sz="2200" dirty="0">
                <a:latin typeface="Times New Roman" pitchFamily="18" charset="0"/>
                <a:cs typeface="Times New Roman" pitchFamily="18" charset="0"/>
              </a:rPr>
              <a:t>, yet generally leads to a more reliable tree. No single pruning method has been found to be superior over all others.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4369667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4832092"/>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Although pruned trees tend to be more compact than their </a:t>
            </a:r>
            <a:r>
              <a:rPr lang="en-US" sz="2200" dirty="0" err="1">
                <a:latin typeface="Times New Roman" pitchFamily="18" charset="0"/>
                <a:cs typeface="Times New Roman" pitchFamily="18" charset="0"/>
              </a:rPr>
              <a:t>unpruned</a:t>
            </a:r>
            <a:r>
              <a:rPr lang="en-US" sz="2200" dirty="0">
                <a:latin typeface="Times New Roman" pitchFamily="18" charset="0"/>
                <a:cs typeface="Times New Roman" pitchFamily="18" charset="0"/>
              </a:rPr>
              <a:t> counterparts, they may still be rather large and complex. Decision trees can suffer from repetition and replication (Figure 8.7), making them overwhelming to interpret. </a:t>
            </a:r>
            <a:r>
              <a:rPr lang="en-US" sz="2200" dirty="0">
                <a:solidFill>
                  <a:srgbClr val="00B050"/>
                </a:solidFill>
                <a:latin typeface="Times New Roman" pitchFamily="18" charset="0"/>
                <a:cs typeface="Times New Roman" pitchFamily="18" charset="0"/>
              </a:rPr>
              <a:t>Repetition</a:t>
            </a:r>
            <a:r>
              <a:rPr lang="en-US" sz="2200" dirty="0">
                <a:latin typeface="Times New Roman" pitchFamily="18" charset="0"/>
                <a:cs typeface="Times New Roman" pitchFamily="18" charset="0"/>
              </a:rPr>
              <a:t> occurs when an attribute is repeatedly tested along a given branch of the tree (e.g., “age &lt; 60?,”  followed by “age &lt; 45?,” and so on). </a:t>
            </a:r>
            <a:r>
              <a:rPr lang="en-US" sz="2200" dirty="0">
                <a:solidFill>
                  <a:srgbClr val="00B050"/>
                </a:solidFill>
                <a:latin typeface="Times New Roman" pitchFamily="18" charset="0"/>
                <a:cs typeface="Times New Roman" pitchFamily="18" charset="0"/>
              </a:rPr>
              <a:t>In replication</a:t>
            </a:r>
            <a:r>
              <a:rPr lang="en-US" sz="2200" dirty="0">
                <a:latin typeface="Times New Roman" pitchFamily="18" charset="0"/>
                <a:cs typeface="Times New Roman" pitchFamily="18" charset="0"/>
              </a:rPr>
              <a:t>, duplicate </a:t>
            </a:r>
            <a:r>
              <a:rPr lang="en-US" sz="2200" dirty="0" err="1">
                <a:latin typeface="Times New Roman" pitchFamily="18" charset="0"/>
                <a:cs typeface="Times New Roman" pitchFamily="18" charset="0"/>
              </a:rPr>
              <a:t>subtrees</a:t>
            </a:r>
            <a:r>
              <a:rPr lang="en-US" sz="2200" dirty="0">
                <a:latin typeface="Times New Roman" pitchFamily="18" charset="0"/>
                <a:cs typeface="Times New Roman" pitchFamily="18" charset="0"/>
              </a:rPr>
              <a:t> exist within the tree. These situations can impede the accuracy and comprehensibility of a decision tree. The use of multivariate splits (splits based on a combination of attributes) can prevent these problems. </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Another approach is to use a different form of knowledge representation, such as rules, instead of decision trees, which shows how a rule-based classifier can be constructed by extracting IF-THEN rules from a decision tree.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655086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114800" y="152400"/>
            <a:ext cx="4648198" cy="228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85800" y="2895600"/>
            <a:ext cx="8077199"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p:cNvSpPr/>
          <p:nvPr/>
        </p:nvSpPr>
        <p:spPr>
          <a:xfrm>
            <a:off x="152400" y="381000"/>
            <a:ext cx="3962400" cy="2031325"/>
          </a:xfrm>
          <a:prstGeom prst="rect">
            <a:avLst/>
          </a:prstGeom>
        </p:spPr>
        <p:txBody>
          <a:bodyPr wrap="square">
            <a:spAutoFit/>
          </a:bodyPr>
          <a:lstStyle/>
          <a:p>
            <a:pPr algn="just"/>
            <a:r>
              <a:rPr lang="en-US" b="1" dirty="0">
                <a:latin typeface="Times New Roman" pitchFamily="18" charset="0"/>
                <a:cs typeface="Times New Roman" pitchFamily="18" charset="0"/>
              </a:rPr>
              <a:t>Figure 8.7 </a:t>
            </a:r>
            <a:r>
              <a:rPr lang="en-US" dirty="0">
                <a:latin typeface="Times New Roman" pitchFamily="18" charset="0"/>
                <a:cs typeface="Times New Roman" pitchFamily="18" charset="0"/>
              </a:rPr>
              <a:t>An example of: </a:t>
            </a:r>
            <a:r>
              <a:rPr lang="en-US" b="1" dirty="0">
                <a:latin typeface="Times New Roman" pitchFamily="18" charset="0"/>
                <a:cs typeface="Times New Roman" pitchFamily="18" charset="0"/>
              </a:rPr>
              <a:t>(a)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subtree</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repetition</a:t>
            </a:r>
            <a:r>
              <a:rPr lang="en-US" dirty="0">
                <a:latin typeface="Times New Roman" pitchFamily="18" charset="0"/>
                <a:cs typeface="Times New Roman" pitchFamily="18" charset="0"/>
              </a:rPr>
              <a:t>, where an attribute is repeatedly tested along a given branch of the tree (e.g., age) and </a:t>
            </a:r>
            <a:r>
              <a:rPr lang="en-US" b="1" dirty="0">
                <a:latin typeface="Times New Roman" pitchFamily="18" charset="0"/>
                <a:cs typeface="Times New Roman" pitchFamily="18" charset="0"/>
              </a:rPr>
              <a:t>(b)</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subtree</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replication</a:t>
            </a:r>
            <a:r>
              <a:rPr lang="en-US" dirty="0">
                <a:latin typeface="Times New Roman" pitchFamily="18" charset="0"/>
                <a:cs typeface="Times New Roman" pitchFamily="18" charset="0"/>
              </a:rPr>
              <a:t>, where duplicate </a:t>
            </a:r>
            <a:r>
              <a:rPr lang="en-US" dirty="0" err="1">
                <a:latin typeface="Times New Roman" pitchFamily="18" charset="0"/>
                <a:cs typeface="Times New Roman" pitchFamily="18" charset="0"/>
              </a:rPr>
              <a:t>subtrees</a:t>
            </a:r>
            <a:r>
              <a:rPr lang="en-US" dirty="0">
                <a:latin typeface="Times New Roman" pitchFamily="18" charset="0"/>
                <a:cs typeface="Times New Roman" pitchFamily="18" charset="0"/>
              </a:rPr>
              <a:t> exist within a tree (e.g., the </a:t>
            </a:r>
            <a:r>
              <a:rPr lang="en-US" dirty="0" err="1">
                <a:latin typeface="Times New Roman" pitchFamily="18" charset="0"/>
                <a:cs typeface="Times New Roman" pitchFamily="18" charset="0"/>
              </a:rPr>
              <a:t>subtree</a:t>
            </a:r>
            <a:r>
              <a:rPr lang="en-US" dirty="0">
                <a:latin typeface="Times New Roman" pitchFamily="18" charset="0"/>
                <a:cs typeface="Times New Roman" pitchFamily="18" charset="0"/>
              </a:rPr>
              <a:t> headed by the node “credit rating?”).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xmlns="" val="21205048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4924425"/>
          </a:xfrm>
          <a:prstGeom prst="rect">
            <a:avLst/>
          </a:prstGeom>
        </p:spPr>
        <p:txBody>
          <a:bodyPr wrap="square">
            <a:spAutoFit/>
          </a:bodyPr>
          <a:lstStyle/>
          <a:p>
            <a:pPr algn="just"/>
            <a:r>
              <a:rPr lang="en-US" sz="2800" dirty="0">
                <a:solidFill>
                  <a:srgbClr val="FF0000"/>
                </a:solidFill>
                <a:latin typeface="Times New Roman" pitchFamily="18" charset="0"/>
                <a:cs typeface="Times New Roman" pitchFamily="18" charset="0"/>
              </a:rPr>
              <a:t>Scalability and Decision Tree Induction: </a:t>
            </a:r>
          </a:p>
          <a:p>
            <a:pPr algn="just"/>
            <a:r>
              <a:rPr lang="en-US" sz="2200" dirty="0">
                <a:latin typeface="Times New Roman" pitchFamily="18" charset="0"/>
                <a:cs typeface="Times New Roman" pitchFamily="18" charset="0"/>
              </a:rPr>
              <a:t>	“What if D, the disk-resident training set of class-labeled tuples, does not fit in memory? In other words, how scalable is decision tree induction?” The efficiency of existing decision tree algorithms, such as ID3, C4.5, and CART, has been well established for relatively small datasets. Efficiency becomes an issue of concern when these algorithms are applied to the mining of very large real-world databases. The pioneering decision tree algorithms that we have discussed so far have the restriction that the training tuples should reside in memory.</a:t>
            </a:r>
          </a:p>
          <a:p>
            <a:pPr algn="just"/>
            <a:r>
              <a:rPr lang="en-US" sz="2200" dirty="0">
                <a:latin typeface="Times New Roman" pitchFamily="18" charset="0"/>
                <a:cs typeface="Times New Roman" pitchFamily="18" charset="0"/>
              </a:rPr>
              <a:t>	In data mining applications, very large training sets of millions of tuples are common. Most often, the training data will not fit in memory! Therefore, decision tree construction becomes inefficient due to swapping of the training tuples in and out of main and cache memories.</a:t>
            </a:r>
          </a:p>
          <a:p>
            <a:pPr algn="just"/>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1455439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370975"/>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Several scalable decision tree induction methods have been introduced in recent studies. </a:t>
            </a:r>
            <a:r>
              <a:rPr lang="en-US" sz="2200" dirty="0" err="1">
                <a:latin typeface="Times New Roman" pitchFamily="18" charset="0"/>
                <a:cs typeface="Times New Roman" pitchFamily="18" charset="0"/>
              </a:rPr>
              <a:t>RainForest</a:t>
            </a:r>
            <a:r>
              <a:rPr lang="en-US" sz="2200" dirty="0">
                <a:latin typeface="Times New Roman" pitchFamily="18" charset="0"/>
                <a:cs typeface="Times New Roman" pitchFamily="18" charset="0"/>
              </a:rPr>
              <a:t>, for example, adapts to the amount of main memory available and applies to any decision tree induction algorithm. The method maintains an AVC-set (where “AVC” stands for “Attribute-Value, Class label”) for each attribute, at each tree node, describing the training tuples at the node. The AVC-set of an attribute A at node N gives the class label counts for each value of A for the tuples at N. Figure 8.8 shows AVC sets for the tuple data of Table 8.1. The set of all AVC-sets at a node N is the AVC-group of N. The size of an AVC-set for attribute A at node N depends only on the number of distinct values of A and the number of classes in the set of tuples at N. Typically, this size should fit in memory, even for real-world data. </a:t>
            </a:r>
          </a:p>
          <a:p>
            <a:pPr algn="just"/>
            <a:r>
              <a:rPr lang="en-US" sz="2200" dirty="0">
                <a:latin typeface="Times New Roman" pitchFamily="18" charset="0"/>
                <a:cs typeface="Times New Roman" pitchFamily="18" charset="0"/>
              </a:rPr>
              <a:t>	BOAT (Bootstrapped Optimistic Algorithm for Tree construction) is a decision tree algorithm that takes a completely different approach to scalability—it is not based on the use of any special data structures. Instead, it uses a statistical technique known as “bootstrapping” (Section 8.5.4) to create several smaller samples (or subsets) of the given training data, each of which fits in memory.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6793581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763000" cy="6432530"/>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Each subset is used to construct a tree, resulting in several trees. The trees are examined and used to construct a new tree, T</a:t>
            </a:r>
            <a:r>
              <a:rPr lang="en-US" sz="2200" baseline="30000" dirty="0">
                <a:latin typeface="Times New Roman" pitchFamily="18" charset="0"/>
                <a:cs typeface="Times New Roman" pitchFamily="18" charset="0"/>
              </a:rPr>
              <a:t>1</a:t>
            </a:r>
            <a:r>
              <a:rPr lang="en-US" sz="2200" dirty="0">
                <a:latin typeface="Times New Roman" pitchFamily="18" charset="0"/>
                <a:cs typeface="Times New Roman" pitchFamily="18" charset="0"/>
              </a:rPr>
              <a:t>, that turns out to be “very close” to the tree that would have been generated if all the original training data had fit in memory.</a:t>
            </a: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endParaRPr lang="en-US" sz="22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Figure 8.8 The use of data structures to hold aggregate information regarding the training data (e.g., these AVC-sets describing Table 8.1’s data) are one approach to improving the scalability of decision tree induction.</a:t>
            </a:r>
            <a:endParaRPr lang="en-IN"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09600" y="1598950"/>
            <a:ext cx="8001000" cy="3963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2192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763000" cy="4832092"/>
          </a:xfrm>
          <a:prstGeom prst="rect">
            <a:avLst/>
          </a:prstGeom>
        </p:spPr>
        <p:txBody>
          <a:bodyPr wrap="square">
            <a:spAutoFit/>
          </a:bodyPr>
          <a:lstStyle/>
          <a:p>
            <a:pPr algn="just"/>
            <a:r>
              <a:rPr lang="en-US" dirty="0"/>
              <a:t>	</a:t>
            </a:r>
            <a:r>
              <a:rPr lang="en-US" sz="2200" dirty="0">
                <a:latin typeface="Times New Roman" pitchFamily="18" charset="0"/>
                <a:cs typeface="Times New Roman" pitchFamily="18" charset="0"/>
              </a:rPr>
              <a:t>BOAT can use any attribute selection measure that selects binary splits and that is based on the notion of purity of partitions such as the </a:t>
            </a:r>
            <a:r>
              <a:rPr lang="en-US" sz="2200" dirty="0" err="1">
                <a:latin typeface="Times New Roman" pitchFamily="18" charset="0"/>
                <a:cs typeface="Times New Roman" pitchFamily="18" charset="0"/>
              </a:rPr>
              <a:t>Gini</a:t>
            </a:r>
            <a:r>
              <a:rPr lang="en-US" sz="2200" dirty="0">
                <a:latin typeface="Times New Roman" pitchFamily="18" charset="0"/>
                <a:cs typeface="Times New Roman" pitchFamily="18" charset="0"/>
              </a:rPr>
              <a:t> index. BOAT uses a lower bound on the attribute selection measure to detect if this “very good” tree, T</a:t>
            </a:r>
            <a:r>
              <a:rPr lang="en-US" sz="2200" baseline="30000" dirty="0">
                <a:latin typeface="Times New Roman" pitchFamily="18" charset="0"/>
                <a:cs typeface="Times New Roman" pitchFamily="18" charset="0"/>
              </a:rPr>
              <a:t>1</a:t>
            </a:r>
            <a:r>
              <a:rPr lang="en-US" sz="2200" dirty="0">
                <a:latin typeface="Times New Roman" pitchFamily="18" charset="0"/>
                <a:cs typeface="Times New Roman" pitchFamily="18" charset="0"/>
              </a:rPr>
              <a:t>, is different from the “real” tree, T, that would have been generated using all of the data. It refines T</a:t>
            </a:r>
            <a:r>
              <a:rPr lang="en-US" sz="2200" baseline="30000" dirty="0">
                <a:latin typeface="Times New Roman" pitchFamily="18" charset="0"/>
                <a:cs typeface="Times New Roman" pitchFamily="18" charset="0"/>
              </a:rPr>
              <a:t>1</a:t>
            </a:r>
            <a:r>
              <a:rPr lang="en-US" sz="2200" dirty="0">
                <a:latin typeface="Times New Roman" pitchFamily="18" charset="0"/>
                <a:cs typeface="Times New Roman" pitchFamily="18" charset="0"/>
              </a:rPr>
              <a:t> to arrive at T.</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BOAT usually requires only two scans of D. This is quite an improvement, even in comparison to traditional decision tree algorithms (e.g., the basic algorithm in Figure 8.3), which require one scan per tree level! BOAT was found to be two to three times faster than </a:t>
            </a:r>
            <a:r>
              <a:rPr lang="en-US" sz="2200" dirty="0" err="1">
                <a:latin typeface="Times New Roman" pitchFamily="18" charset="0"/>
                <a:cs typeface="Times New Roman" pitchFamily="18" charset="0"/>
              </a:rPr>
              <a:t>RainForest</a:t>
            </a:r>
            <a:r>
              <a:rPr lang="en-US" sz="2200" dirty="0">
                <a:latin typeface="Times New Roman" pitchFamily="18" charset="0"/>
                <a:cs typeface="Times New Roman" pitchFamily="18" charset="0"/>
              </a:rPr>
              <a:t>, while constructing exactly the same tree. An additional advantage of BOAT is that it can be used for incremental updates. That is, BOAT can take new insertions and deletions for the training data and update the decision tree to reflect these changes, without having to reconstruct the tree from scratch.</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9676942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1"/>
            <a:ext cx="8839200" cy="5601533"/>
          </a:xfrm>
          <a:prstGeom prst="rect">
            <a:avLst/>
          </a:prstGeom>
        </p:spPr>
        <p:txBody>
          <a:bodyPr wrap="square">
            <a:spAutoFit/>
          </a:bodyPr>
          <a:lstStyle/>
          <a:p>
            <a:r>
              <a:rPr lang="en-US" sz="2800" dirty="0">
                <a:solidFill>
                  <a:srgbClr val="FF0000"/>
                </a:solidFill>
                <a:latin typeface="Times New Roman" pitchFamily="18" charset="0"/>
                <a:cs typeface="Times New Roman" pitchFamily="18" charset="0"/>
              </a:rPr>
              <a:t>Visual Mining for Decision Tree Induction:</a:t>
            </a:r>
          </a:p>
          <a:p>
            <a:pPr algn="just"/>
            <a:r>
              <a:rPr lang="en-US" sz="2200" dirty="0">
                <a:latin typeface="Times New Roman" pitchFamily="18" charset="0"/>
                <a:cs typeface="Times New Roman" pitchFamily="18" charset="0"/>
              </a:rPr>
              <a:t>	 “Are there any interactive approaches to decision tree induction that allow us to visual </a:t>
            </a:r>
            <a:r>
              <a:rPr lang="en-US" sz="2200" dirty="0" err="1">
                <a:latin typeface="Times New Roman" pitchFamily="18" charset="0"/>
                <a:cs typeface="Times New Roman" pitchFamily="18" charset="0"/>
              </a:rPr>
              <a:t>ize</a:t>
            </a:r>
            <a:r>
              <a:rPr lang="en-US" sz="2200" dirty="0">
                <a:latin typeface="Times New Roman" pitchFamily="18" charset="0"/>
                <a:cs typeface="Times New Roman" pitchFamily="18" charset="0"/>
              </a:rPr>
              <a:t> the data and the tree as it is being constructed? </a:t>
            </a:r>
          </a:p>
          <a:p>
            <a:pPr algn="just"/>
            <a:r>
              <a:rPr lang="en-US" sz="2200" dirty="0">
                <a:latin typeface="Times New Roman" pitchFamily="18" charset="0"/>
                <a:cs typeface="Times New Roman" pitchFamily="18" charset="0"/>
              </a:rPr>
              <a:t>	Perception-based classification (PBC) is an interactive approach based on multidimensional visualization techniques and allows the user to incorporate background knowledge about the data when building a decision tree. By visually interacting with the data, the user is also likely to develop a deeper understanding of the data. The resulting trees tend to be smaller than those built using traditional decision tree induction methods and so are easier to interpret, while achieving about the same accuracy. </a:t>
            </a:r>
          </a:p>
          <a:p>
            <a:pPr algn="just"/>
            <a:r>
              <a:rPr lang="en-US" sz="2200" dirty="0">
                <a:latin typeface="Times New Roman" pitchFamily="18" charset="0"/>
                <a:cs typeface="Times New Roman" pitchFamily="18" charset="0"/>
              </a:rPr>
              <a:t>	“How can the data be visualized to support interactive decision tree construction?” PBC uses a pixel-oriented approach to view multidimensional data with its class label information. The circle segments approach is adapted, which maps d-dimensional data objects to a circle that is partitioned into d segments, each representing one attribute.</a:t>
            </a:r>
          </a:p>
          <a:p>
            <a:pPr algn="just"/>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14446187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0"/>
            <a:ext cx="8915400" cy="5878532"/>
          </a:xfrm>
          <a:prstGeom prst="rect">
            <a:avLst/>
          </a:prstGeom>
        </p:spPr>
        <p:txBody>
          <a:bodyPr wrap="square">
            <a:spAutoFit/>
          </a:bodyPr>
          <a:lstStyle/>
          <a:p>
            <a:pPr algn="just"/>
            <a:r>
              <a:rPr lang="en-US" dirty="0">
                <a:latin typeface="Times New Roman" pitchFamily="18" charset="0"/>
                <a:cs typeface="Times New Roman" pitchFamily="18" charset="0"/>
              </a:rPr>
              <a:t>	</a:t>
            </a:r>
            <a:r>
              <a:rPr lang="en-US" sz="2200" dirty="0">
                <a:latin typeface="Times New Roman" pitchFamily="18" charset="0"/>
                <a:cs typeface="Times New Roman" pitchFamily="18" charset="0"/>
              </a:rPr>
              <a:t>The PBC system displays a split screen, consisting of a Data Interaction window and a Knowledge Interaction window (Figure 8.9). The Data Interaction window displays the circle segments of the data under examination, while the Knowledge Interaction window displays the decision tree constructed so far. Initially, the complete training set is visualized in the Data Interaction window, while the Knowledge Interaction window displays an empty decision tree.</a:t>
            </a:r>
          </a:p>
          <a:p>
            <a:pPr algn="just"/>
            <a:r>
              <a:rPr lang="en-US" sz="2200" dirty="0">
                <a:latin typeface="Times New Roman" pitchFamily="18" charset="0"/>
                <a:cs typeface="Times New Roman" pitchFamily="18" charset="0"/>
              </a:rPr>
              <a:t>	</a:t>
            </a:r>
            <a:r>
              <a:rPr lang="en-US" sz="2400" dirty="0"/>
              <a:t> </a:t>
            </a:r>
            <a:r>
              <a:rPr lang="en-US" sz="2200" dirty="0">
                <a:latin typeface="Times New Roman" pitchFamily="18" charset="0"/>
                <a:cs typeface="Times New Roman" pitchFamily="18" charset="0"/>
              </a:rPr>
              <a:t>A tree is interactively constructed as follows. The user visualizes the multidimensional data in the Data Interaction window and selects a splitting attribute and one or more split-points. The current decision tree in the Knowledge Interaction window is expanded. The user selects a node of the decision tree. The user may either assign a class label to the node (which makes the node a leaf) or request the visualization of the train </a:t>
            </a:r>
            <a:r>
              <a:rPr lang="en-US" sz="2200" dirty="0" err="1">
                <a:latin typeface="Times New Roman" pitchFamily="18" charset="0"/>
                <a:cs typeface="Times New Roman" pitchFamily="18" charset="0"/>
              </a:rPr>
              <a:t>ing</a:t>
            </a:r>
            <a:r>
              <a:rPr lang="en-US" sz="2200" dirty="0">
                <a:latin typeface="Times New Roman" pitchFamily="18" charset="0"/>
                <a:cs typeface="Times New Roman" pitchFamily="18" charset="0"/>
              </a:rPr>
              <a:t> data corresponding to the node. This leads to a new visualization of every attribute except the ones used for splitting criteria on the same path from the root. The interactive process continues until a class has been assigned to each leaf of the decision tree.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xmlns="" val="6860279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2400" y="187036"/>
            <a:ext cx="8610600" cy="5048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Rectangle 1"/>
          <p:cNvSpPr/>
          <p:nvPr/>
        </p:nvSpPr>
        <p:spPr>
          <a:xfrm>
            <a:off x="152400" y="5235286"/>
            <a:ext cx="8763000" cy="1323439"/>
          </a:xfrm>
          <a:prstGeom prst="rect">
            <a:avLst/>
          </a:prstGeom>
        </p:spPr>
        <p:txBody>
          <a:bodyPr wrap="square">
            <a:spAutoFit/>
          </a:bodyPr>
          <a:lstStyle/>
          <a:p>
            <a:pPr algn="just"/>
            <a:r>
              <a:rPr lang="en-US" sz="2000" dirty="0">
                <a:latin typeface="Times New Roman" pitchFamily="18" charset="0"/>
                <a:cs typeface="Times New Roman" pitchFamily="18" charset="0"/>
              </a:rPr>
              <a:t>Figure 8.9 A screenshot of PBC, a system for interactive decision tree construction. Multidimensional training data are viewed as circle segments in the Data Interaction window (left). The Know ledge Interaction window (right) displays the current decision tree. Source: From </a:t>
            </a:r>
            <a:r>
              <a:rPr lang="en-US" sz="2000" dirty="0" err="1">
                <a:latin typeface="Times New Roman" pitchFamily="18" charset="0"/>
                <a:cs typeface="Times New Roman" pitchFamily="18" charset="0"/>
              </a:rPr>
              <a:t>Ankerst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Elsen</a:t>
            </a:r>
            <a:r>
              <a:rPr lang="en-US" sz="2000" dirty="0">
                <a:latin typeface="Times New Roman" pitchFamily="18" charset="0"/>
                <a:cs typeface="Times New Roman" pitchFamily="18" charset="0"/>
              </a:rPr>
              <a:t>, Ester, and </a:t>
            </a:r>
            <a:r>
              <a:rPr lang="en-US" sz="2000" dirty="0" err="1">
                <a:latin typeface="Times New Roman" pitchFamily="18" charset="0"/>
                <a:cs typeface="Times New Roman" pitchFamily="18" charset="0"/>
              </a:rPr>
              <a:t>Kriegel</a:t>
            </a:r>
            <a:r>
              <a:rPr lang="en-US" sz="2000" dirty="0">
                <a:latin typeface="Times New Roman" pitchFamily="18" charset="0"/>
                <a:cs typeface="Times New Roman" pitchFamily="18" charset="0"/>
              </a:rPr>
              <a:t> [AEEK99].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xmlns="" val="21963533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382218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1852</TotalTime>
  <Words>1743</Words>
  <Application>Microsoft Office PowerPoint</Application>
  <PresentationFormat>On-screen Show (4:3)</PresentationFormat>
  <Paragraphs>318</Paragraphs>
  <Slides>83</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83</vt:i4>
      </vt:variant>
    </vt:vector>
  </HeadingPairs>
  <TitlesOfParts>
    <vt:vector size="85" baseType="lpstr">
      <vt:lpstr>Office Theme</vt:lpstr>
      <vt:lpstr>Document</vt:lpstr>
      <vt:lpstr>Slide 1</vt:lpstr>
      <vt:lpstr>BASIC CONCPETS</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india</dc:creator>
  <cp:lastModifiedBy>PC</cp:lastModifiedBy>
  <cp:revision>95</cp:revision>
  <dcterms:created xsi:type="dcterms:W3CDTF">2006-08-16T00:00:00Z</dcterms:created>
  <dcterms:modified xsi:type="dcterms:W3CDTF">2026-09-08T02:06:33Z</dcterms:modified>
</cp:coreProperties>
</file>