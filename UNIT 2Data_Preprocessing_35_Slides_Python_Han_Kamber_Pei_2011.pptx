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629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Data Preprocessing in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Concepts, Techniques, Formulas &amp; Python</a:t>
            </a:r>
          </a:p>
          <a:p>
            <a:pPr>
              <a:spcAft>
                <a:spcPts val="500"/>
              </a:spcAft>
              <a:defRPr sz="1900"/>
            </a:pPr>
            <a:r>
              <a:t>Based on Han, Kamber &amp; Pei, Data Mining: Concepts and Techniques, 3rd Edition, 2011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• Understand why preprocessing is essential</a:t>
            </a:r>
          </a:p>
          <a:p>
            <a:pPr>
              <a:spcAft>
                <a:spcPts val="500"/>
              </a:spcAft>
              <a:defRPr sz="1900"/>
            </a:pPr>
            <a:r>
              <a:t>• Explain data quality and common data problems</a:t>
            </a:r>
          </a:p>
          <a:p>
            <a:pPr>
              <a:spcAft>
                <a:spcPts val="500"/>
              </a:spcAft>
              <a:defRPr sz="1900"/>
            </a:pPr>
            <a:r>
              <a:t>• Handle missing values using Python</a:t>
            </a:r>
          </a:p>
          <a:p>
            <a:pPr>
              <a:spcAft>
                <a:spcPts val="500"/>
              </a:spcAft>
              <a:defRPr sz="1900"/>
            </a:pPr>
            <a:r>
              <a:t>• Reduce noise using binning and regression</a:t>
            </a:r>
          </a:p>
          <a:p>
            <a:pPr>
              <a:spcAft>
                <a:spcPts val="500"/>
              </a:spcAft>
              <a:defRPr sz="1900"/>
            </a:pPr>
            <a:r>
              <a:t>• Detect outliers using IQR and Z-score</a:t>
            </a:r>
          </a:p>
          <a:p>
            <a:pPr>
              <a:spcAft>
                <a:spcPts val="500"/>
              </a:spcAft>
              <a:defRPr sz="1900"/>
            </a:pPr>
            <a:r>
              <a:t>• Integrate, reduce, transform and discretize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What is Data Preprocessing?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Data preprocessing transforms raw data into a clean, consistent and suitable form for data mining.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Raw Data → Preprocessing → Prepared Data → Data Mining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Real-world data is often incomplete, noisy, inconsistent, redundant or heterogeneous.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Why Data Preprocessing?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Poor-quality data can lead to incorrect patterns, misleading statistics, poor model performance, longer processing time and unreliable decisions.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Goal: improve data quality and make mining more effective and efficient.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• Accuracy — values are correct</a:t>
            </a:r>
          </a:p>
          <a:p>
            <a:pPr>
              <a:spcAft>
                <a:spcPts val="500"/>
              </a:spcAft>
              <a:defRPr sz="1900"/>
            </a:pPr>
            <a:r>
              <a:t>• Completeness — required values are available</a:t>
            </a:r>
          </a:p>
          <a:p>
            <a:pPr>
              <a:spcAft>
                <a:spcPts val="500"/>
              </a:spcAft>
              <a:defRPr sz="1900"/>
            </a:pPr>
            <a:r>
              <a:t>• Consistency — values agree across records/sources</a:t>
            </a:r>
          </a:p>
          <a:p>
            <a:pPr>
              <a:spcAft>
                <a:spcPts val="500"/>
              </a:spcAft>
              <a:defRPr sz="1900"/>
            </a:pPr>
            <a:r>
              <a:t>• Timeliness — data is sufficiently current</a:t>
            </a:r>
          </a:p>
          <a:p>
            <a:pPr>
              <a:spcAft>
                <a:spcPts val="500"/>
              </a:spcAft>
              <a:defRPr sz="1900"/>
            </a:pPr>
            <a:r>
              <a:t>• Believability — data is credible</a:t>
            </a:r>
          </a:p>
          <a:p>
            <a:pPr>
              <a:spcAft>
                <a:spcPts val="500"/>
              </a:spcAft>
              <a:defRPr sz="1900"/>
            </a:pPr>
            <a:r>
              <a:t>• Interpretability — meaning and units are clear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Major Preprocessing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1. Data Cleaning — missing values, noise, outliers, inconsistencies, duplicates</a:t>
            </a:r>
          </a:p>
          <a:p>
            <a:pPr>
              <a:spcAft>
                <a:spcPts val="500"/>
              </a:spcAft>
              <a:defRPr sz="1900"/>
            </a:pPr>
            <a:r>
              <a:t>2. Data Integration — combining multiple sources</a:t>
            </a:r>
          </a:p>
          <a:p>
            <a:pPr>
              <a:spcAft>
                <a:spcPts val="500"/>
              </a:spcAft>
              <a:defRPr sz="1900"/>
            </a:pPr>
            <a:r>
              <a:t>3. Data Reduction — reducing volume or dimensionality</a:t>
            </a:r>
          </a:p>
          <a:p>
            <a:pPr>
              <a:spcAft>
                <a:spcPts val="500"/>
              </a:spcAft>
              <a:defRPr sz="1900"/>
            </a:pPr>
            <a:r>
              <a:t>4. Data Transformation — normalization, aggregation, generalization, construction</a:t>
            </a:r>
          </a:p>
          <a:p>
            <a:pPr>
              <a:spcAft>
                <a:spcPts val="500"/>
              </a:spcAft>
              <a:defRPr sz="1900"/>
            </a:pPr>
            <a:r>
              <a:t>5. Discretization / Concept Hierarchy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Data Cleaning: Missing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Missing values may occur because information was not collected, an attribute was not applicable, a data-entry error occurred, or a device/system failed.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Common approaches: Mean, Median, Mode, Deletion, and more advanced predictive methods.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Mean, Median and Mode Imputation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MEAN: replace a missing numerical value with the attribute mean.</a:t>
            </a:r>
          </a:p>
          <a:p>
            <a:pPr>
              <a:spcAft>
                <a:spcPts val="500"/>
              </a:spcAft>
              <a:defRPr sz="1900"/>
            </a:pPr>
            <a:r>
              <a:t>MEDIAN: replace with the middle value; useful for skewed data/outliers.</a:t>
            </a:r>
          </a:p>
          <a:p>
            <a:pPr>
              <a:spcAft>
                <a:spcPts val="500"/>
              </a:spcAft>
              <a:defRPr sz="1900"/>
            </a:pPr>
            <a:r>
              <a:t>MODE: replace with the most frequent value; commonly used for categorical data.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For Salary = 20k, 22k, NaN, 24k, 150k, median is generally more robust than mean.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Missing-Value Imputation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 = pd.read_csv("students.csv")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print(df.isnull().sum())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df["Age"] = df["Age"].fillna(df["Age"].median())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df["Department"] = df["Department"].fillna(df["Department"].mode()[0])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print(df.isnull().sum())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Deletion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Deletion removes records containing missing values.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Advantages: simple and easy.</a:t>
            </a:r>
          </a:p>
          <a:p>
            <a:pPr>
              <a:spcAft>
                <a:spcPts val="500"/>
              </a:spcAft>
              <a:defRPr sz="1900"/>
            </a:pPr>
            <a:r>
              <a:t>Limitations: reduces sample size and may introduce bias.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Use when the amount of missing data and its impact are acceptable.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Deletion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# Remove rows containing any missing value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df_clean = df.dropna()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# Remove rows only when Age is missing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df_clean = df.dropna(subset=["Age"])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print(df_clean.shape)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Noisy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Noise is random error or unwanted variation in measured data.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Example: Actual temperature ≈ 30°C; recorded values 29.8, 30.1, 35.7, 30.0.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Common smoothing approaches: Binning, Regression and Clustering.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Binning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Binning partitions sorted numerical values into groups called bins.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Purpose: smooth local fluctuations, reduce noise, and convert continuous values into intervals.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Two common forms: Equal-width and Equal-frequency binning.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Binning: Numerical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Sorted values:</a:t>
            </a:r>
          </a:p>
          <a:p>
            <a:pPr>
              <a:spcAft>
                <a:spcPts val="500"/>
              </a:spcAft>
              <a:defRPr sz="1900"/>
            </a:pPr>
            <a:r>
              <a:t>4, 8, 15, 21, 21, 24, 25, 28, 34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Three equal-frequency bins:</a:t>
            </a:r>
          </a:p>
          <a:p>
            <a:pPr>
              <a:spcAft>
                <a:spcPts val="500"/>
              </a:spcAft>
              <a:defRPr sz="1900"/>
            </a:pPr>
            <a:r>
              <a:t>B1 = 4, 8, 15</a:t>
            </a:r>
          </a:p>
          <a:p>
            <a:pPr>
              <a:spcAft>
                <a:spcPts val="500"/>
              </a:spcAft>
              <a:defRPr sz="1900"/>
            </a:pPr>
            <a:r>
              <a:t>B2 = 21, 21, 24</a:t>
            </a:r>
          </a:p>
          <a:p>
            <a:pPr>
              <a:spcAft>
                <a:spcPts val="500"/>
              </a:spcAft>
              <a:defRPr sz="1900"/>
            </a:pPr>
            <a:r>
              <a:t>B3 = 25, 28, 34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Bin-mean smoothing: B1 → 9,9,9; B2 → 22,22,22; B3 → 29,29,29.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Binning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x = pd.Series([4,8,15,21,21,24,25,28,34])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q_bins = pd.qcut(x, q=3)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print(q_bins)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w_bins = pd.cut(x, bins=3, labels=["Low","Medium","High"])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print(w_bins)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Regression Smoothing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Regression fits a mathematical relationship between variables and can smooth noisy observations.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Simple linear regression:</a:t>
            </a:r>
          </a:p>
          <a:p>
            <a:pPr>
              <a:spcAft>
                <a:spcPts val="500"/>
              </a:spcAft>
              <a:defRPr sz="1900"/>
            </a:pPr>
            <a:r>
              <a:t>ŷ = a + bx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x = predictor, ŷ = predicted value, a = intercept, b = slope.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Regression Smoothing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from sklearn.linear_model import LinearRegression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X = np.array([[1],[2],[3],[4],[5]])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y = np.array([2,4,5,8,10])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model = LinearRegression()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model.fit(X,y)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y_smooth = model.predict(X)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print(y_smooth)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Outliers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An outlier is an observation that differs markedly from the general pattern.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Possible causes: measurement error, data-entry error, rare valid event, fraud/anomaly, or natural extreme value.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Do not automatically delete an outlier; investigate it 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IQR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IQR = Q3 − Q1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Lower boundary = Q1 − 1.5 × IQR</a:t>
            </a:r>
          </a:p>
          <a:p>
            <a:pPr>
              <a:spcAft>
                <a:spcPts val="500"/>
              </a:spcAft>
              <a:defRPr sz="1900"/>
            </a:pPr>
            <a:r>
              <a:t>Upper boundary = Q3 + 1.5 × IQR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Values outside these boundaries are flagged as potential outliers.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IQR Outlier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Q1 = df["Salary"].quantile(0.25)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Q3 = df["Salary"].quantile(0.75)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IQR = Q3 - Q1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lower = Q1 - 1.5 * IQR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upper = Q3 + 1.5 * IQR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outliers = df[(df["Salary"] &lt; lower) | (df["Salary"] &gt; upper)]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print(outliers)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Z-Score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Z-score measures how many standard deviations an observation is from the mean.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Z = (x − μ) / σ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x = observation, μ = mean, σ = standard deviation.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Common rule: |Z| &gt; 3 → potential outlier.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Z-Score: Clear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Mean salary μ = ₹40,000</a:t>
            </a:r>
          </a:p>
          <a:p>
            <a:pPr>
              <a:spcAft>
                <a:spcPts val="500"/>
              </a:spcAft>
              <a:defRPr sz="1900"/>
            </a:pPr>
            <a:r>
              <a:t>Standard deviation σ = ₹5,000</a:t>
            </a:r>
          </a:p>
          <a:p>
            <a:pPr>
              <a:spcAft>
                <a:spcPts val="500"/>
              </a:spcAft>
              <a:defRPr sz="1900"/>
            </a:pPr>
            <a:r>
              <a:t>Salary x = ₹60,000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Z = (60,000 − 40,000) / 5,000 = 4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Interpretation: ₹60,000 is 4 standard deviations above the mean → potential outlier.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Z-Score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from scipy.stats import zscore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df["Z_Score"] = zscore(df["Salary"])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outliers = df[df["Z_Score"].abs() &gt; 3]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print(outliers)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Duplicate Detection &amp; Inconsistency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Duplicates: repeated records can distort counts and model training.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Inconsistency examples: M/Male/male; different date formats; kg/pounds; CSE/Computer Science.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Cleaning requires a common representation.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Duplicates &amp; Standardization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print("Duplicates:", df.duplicated().sum())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 = df.drop_duplicates()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df["Gender"] = df["Gender"].astype(str).str.strip().str.lower()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df["Gender"] = df["Gender"].replace({"m":"male","f":"female"})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Data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Data integration combines data from multiple sources into a coherent data store.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Sources: databases, CSV/Excel, data warehouses, web sources and enterprise systems.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Issues: schema integration, entity identification, redundancy and data-value conflicts.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Schema Integration &amp; Entity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Schema integration maps equivalent attributes from different sources.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Example: Student_ID ↔ Roll_No; DOB ↔ Date_of_Birth.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Entity identification determines whether records represent the same real-world entity.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Conflict example: 170 cm vs 1.70 m → common unit.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Data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students = pd.DataFrame({"Student_ID":[101,102],"Name":["Asha","Ravi"]})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marks = pd.DataFrame({"Student_ID":[101,102],"Marks":[85,91]})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merged = pd.merge(students, marks, on="Student_ID", how="inner")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print(merged)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Data Redundancy &amp;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Redundancy occurs when information is duplicated or can be derived from another attribute.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Example: Date_of_Birth + current date → Age.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Pearson correlation: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r = Σ(xᵢ−x̄)(yᵢ−ȳ) / √[Σ(xᵢ−x̄)² Σ(yᵢ−ȳ)²]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−1 ≤ r ≤ +1.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Correlation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corr = df.select_dtypes(include="number").corr()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print(corr)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print(corr["Marks"].sort_values(ascending=False))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Data 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Data reduction obtains a reduced representation while preserving useful analytical information.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Strategies: data cube aggregation, attribute subset selection, dimensionality reduction, numerosity reduction, discretization and concept hierarchies.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Benefits: lower storage, faster processing and reduced complexity.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Attribute Selection &amp; PCA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Attribute subset selection removes irrelevant or redundant features.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PCA transforms correlated numerical features into fewer principal components while preserving maximum variance.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Useful when many numerical attributes exist.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Feature Selection &amp; PCA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from sklearn.feature_selection import SelectKBest, f_classif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from sklearn.preprocessing import StandardScaler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from sklearn.decomposition import PCA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X_new = SelectKBest(f_classif, k=3).fit_transform(X,y)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X_scaled = StandardScaler().fit_transform(X)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X_pca = PCA(n_components=2).fit_transform(X_scaled)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print(X_new.shape, X_pca.shape)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Data Transformation &amp;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Transformation changes data into a suitable form for mining.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Common techniques: smoothing, aggregation, generalization, normalization and attribute construction.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Normalization is important when attributes have very different scales.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Min-Max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Transforms values to a specified range, commonly [0,1].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v′ = [(v − minA)/(maxA − minA)] × (new_max − new_min)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For [0,1]: v′ = (v − minA)/(maxA − minA)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1570</Words>
  <Application>Microsoft Macintosh PowerPoint</Application>
  <PresentationFormat>Custom</PresentationFormat>
  <Paragraphs>262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PC</dc:creator>
  <dc:description>generated using python-pptx</dc:description>
  <cp:lastModifiedBy>PC</cp:lastModifiedBy>
  <cp:revision>1</cp:revision>
  <dcterms:created xsi:type="dcterms:W3CDTF">2013-01-27T09:14:16Z</dcterms:created>
  <dcterms:modified xsi:type="dcterms:W3CDTF">2026-08-10T18:31:41Z</dcterms:modified>
</cp:coreProperties>
</file>