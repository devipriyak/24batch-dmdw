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4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307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-629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Data Preprocessing in Data Mining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8356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900"/>
            </a:pPr>
            <a:r>
              <a:t>Concepts, Techniques, Formulas &amp; Python</a:t>
            </a:r>
          </a:p>
          <a:p>
            <a:pPr>
              <a:spcAft>
                <a:spcPts val="500"/>
              </a:spcAft>
              <a:defRPr sz="1900"/>
            </a:pPr>
            <a:r>
              <a:t>Based on Han, Kamber &amp; Pei, Data Mining: Concepts and Techniques, 3rd Ed., 2011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8356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900"/>
            </a:pPr>
            <a:r>
              <a:t>• Explain the need for preprocessing</a:t>
            </a:r>
          </a:p>
          <a:p>
            <a:pPr>
              <a:spcAft>
                <a:spcPts val="500"/>
              </a:spcAft>
              <a:defRPr sz="1900"/>
            </a:pPr>
            <a:r>
              <a:t>• Identify data-quality problems</a:t>
            </a:r>
          </a:p>
          <a:p>
            <a:pPr>
              <a:spcAft>
                <a:spcPts val="500"/>
              </a:spcAft>
              <a:defRPr sz="1900"/>
            </a:pPr>
            <a:r>
              <a:t>• Perform data cleaning with Python</a:t>
            </a:r>
          </a:p>
          <a:p>
            <a:pPr>
              <a:spcAft>
                <a:spcPts val="500"/>
              </a:spcAft>
              <a:defRPr sz="1900"/>
            </a:pPr>
            <a:r>
              <a:t>• Explain binning, regression and clustering for noise</a:t>
            </a:r>
          </a:p>
          <a:p>
            <a:pPr>
              <a:spcAft>
                <a:spcPts val="500"/>
              </a:spcAft>
              <a:defRPr sz="1900"/>
            </a:pPr>
            <a:r>
              <a:t>• Understand integration, reduction and transformation</a:t>
            </a:r>
          </a:p>
          <a:p>
            <a:pPr>
              <a:spcAft>
                <a:spcPts val="500"/>
              </a:spcAft>
              <a:defRPr sz="1900"/>
            </a:pPr>
            <a:r>
              <a:t>• Apply normalization and discretization</a:t>
            </a:r>
          </a:p>
          <a:p>
            <a:pPr>
              <a:spcAft>
                <a:spcPts val="500"/>
              </a:spcAft>
              <a:defRPr sz="1900"/>
            </a:pPr>
            <a:r>
              <a:t>• Build an end-to-end preprocessing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What is Data Preprocessing?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835640" cy="327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900"/>
            </a:pPr>
            <a:r>
              <a:t>Data preprocessing transforms raw data into a clean, consistent and suitable form for data mining.</a:t>
            </a:r>
          </a:p>
          <a:p>
            <a:pPr>
              <a:spcAft>
                <a:spcPts val="500"/>
              </a:spcAft>
              <a:defRPr sz="1900"/>
            </a:pPr>
            <a:endParaRPr/>
          </a:p>
          <a:p>
            <a:pPr>
              <a:spcAft>
                <a:spcPts val="500"/>
              </a:spcAft>
              <a:defRPr sz="1900"/>
            </a:pPr>
            <a:r>
              <a:t>Raw Data → Preprocessing → Prepared Data → Data Mining</a:t>
            </a:r>
          </a:p>
          <a:p>
            <a:pPr>
              <a:spcAft>
                <a:spcPts val="500"/>
              </a:spcAft>
              <a:defRPr sz="1900"/>
            </a:pPr>
            <a:endParaRPr/>
          </a:p>
          <a:p>
            <a:pPr>
              <a:spcAft>
                <a:spcPts val="500"/>
              </a:spcAft>
              <a:defRPr sz="1900"/>
            </a:pPr>
            <a:r>
              <a:t>It is an important step because real-world data is rarely </a:t>
            </a:r>
            <a:r>
              <a:rPr/>
              <a:t>perfect</a:t>
            </a:r>
            <a:r>
              <a:rPr smtClean="0"/>
              <a:t>.</a:t>
            </a:r>
            <a:endParaRPr lang="en-US" dirty="0" smtClean="0"/>
          </a:p>
          <a:p>
            <a:pPr fontAlgn="base"/>
            <a:r>
              <a:rPr lang="en-US" dirty="0" smtClean="0">
                <a:solidFill>
                  <a:srgbClr val="FF0000"/>
                </a:solidFill>
              </a:rPr>
              <a:t>Real data contains missing and incorrect values</a:t>
            </a:r>
          </a:p>
          <a:p>
            <a:pPr fontAlgn="base"/>
            <a:r>
              <a:rPr lang="en-US" dirty="0" smtClean="0">
                <a:solidFill>
                  <a:srgbClr val="FF0000"/>
                </a:solidFill>
              </a:rPr>
              <a:t>Data may come from multiple sources</a:t>
            </a:r>
          </a:p>
          <a:p>
            <a:pPr fontAlgn="base"/>
            <a:r>
              <a:rPr lang="en-US" dirty="0" smtClean="0">
                <a:solidFill>
                  <a:srgbClr val="FF0000"/>
                </a:solidFill>
              </a:rPr>
              <a:t>Large datasets often have irrelevant information</a:t>
            </a:r>
          </a:p>
          <a:p>
            <a:pPr fontAlgn="base"/>
            <a:r>
              <a:rPr lang="en-US" dirty="0" smtClean="0">
                <a:solidFill>
                  <a:srgbClr val="FF0000"/>
                </a:solidFill>
              </a:rPr>
              <a:t>Clean data gives better mining results</a:t>
            </a:r>
          </a:p>
          <a:p>
            <a:pPr>
              <a:spcAft>
                <a:spcPts val="500"/>
              </a:spcAft>
              <a:defRPr sz="1900"/>
            </a:pP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39875" y="1266825"/>
            <a:ext cx="9112250" cy="4324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Why is Preprocessing Necessary?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8356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900"/>
            </a:pPr>
            <a:r>
              <a:t>Real-world data may be:</a:t>
            </a:r>
          </a:p>
          <a:p>
            <a:pPr>
              <a:spcAft>
                <a:spcPts val="500"/>
              </a:spcAft>
              <a:defRPr sz="1900"/>
            </a:pPr>
            <a:r>
              <a:t>• Incomplete — missing attribute values</a:t>
            </a:r>
          </a:p>
          <a:p>
            <a:pPr>
              <a:spcAft>
                <a:spcPts val="500"/>
              </a:spcAft>
              <a:defRPr sz="1900"/>
            </a:pPr>
            <a:r>
              <a:t>• Noisy — errors or random variation</a:t>
            </a:r>
          </a:p>
          <a:p>
            <a:pPr>
              <a:spcAft>
                <a:spcPts val="500"/>
              </a:spcAft>
              <a:defRPr sz="1900"/>
            </a:pPr>
            <a:r>
              <a:t>• Inconsistent — conflicting values or formats</a:t>
            </a:r>
          </a:p>
          <a:p>
            <a:pPr>
              <a:spcAft>
                <a:spcPts val="500"/>
              </a:spcAft>
              <a:defRPr sz="1900"/>
            </a:pPr>
            <a:r>
              <a:t>• Redundant — repeated or highly correlated information</a:t>
            </a:r>
          </a:p>
          <a:p>
            <a:pPr>
              <a:spcAft>
                <a:spcPts val="500"/>
              </a:spcAft>
              <a:defRPr sz="1900"/>
            </a:pPr>
            <a:r>
              <a:t>• Heterogeneous — collected from different sources</a:t>
            </a:r>
          </a:p>
          <a:p>
            <a:pPr>
              <a:spcAft>
                <a:spcPts val="500"/>
              </a:spcAft>
              <a:defRPr sz="1900"/>
            </a:pPr>
            <a:endParaRPr/>
          </a:p>
          <a:p>
            <a:pPr>
              <a:spcAft>
                <a:spcPts val="500"/>
              </a:spcAft>
              <a:defRPr sz="1900"/>
            </a:pPr>
            <a:r>
              <a:t>Better input data generally produces more reliable mining results.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Major Tasks of Data Preprocessing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8356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900"/>
            </a:pPr>
            <a:r>
              <a:t>1. Data Cleaning</a:t>
            </a:r>
          </a:p>
          <a:p>
            <a:pPr>
              <a:spcAft>
                <a:spcPts val="500"/>
              </a:spcAft>
              <a:defRPr sz="1900"/>
            </a:pPr>
            <a:r>
              <a:t>   • Missing values</a:t>
            </a:r>
          </a:p>
          <a:p>
            <a:pPr>
              <a:spcAft>
                <a:spcPts val="500"/>
              </a:spcAft>
              <a:defRPr sz="1900"/>
            </a:pPr>
            <a:r>
              <a:t>   • Noise</a:t>
            </a:r>
          </a:p>
          <a:p>
            <a:pPr>
              <a:spcAft>
                <a:spcPts val="500"/>
              </a:spcAft>
              <a:defRPr sz="1900"/>
            </a:pPr>
            <a:r>
              <a:t>   • Outliers</a:t>
            </a:r>
          </a:p>
          <a:p>
            <a:pPr>
              <a:spcAft>
                <a:spcPts val="500"/>
              </a:spcAft>
              <a:defRPr sz="1900"/>
            </a:pPr>
            <a:r>
              <a:t>   • Inconsistency</a:t>
            </a:r>
          </a:p>
          <a:p>
            <a:pPr>
              <a:spcAft>
                <a:spcPts val="500"/>
              </a:spcAft>
              <a:defRPr sz="1900"/>
            </a:pPr>
            <a:r>
              <a:t>2. Data Integration</a:t>
            </a:r>
          </a:p>
          <a:p>
            <a:pPr>
              <a:spcAft>
                <a:spcPts val="500"/>
              </a:spcAft>
              <a:defRPr sz="1900"/>
            </a:pPr>
            <a:r>
              <a:t>3. Data Reduction</a:t>
            </a:r>
          </a:p>
          <a:p>
            <a:pPr>
              <a:spcAft>
                <a:spcPts val="500"/>
              </a:spcAft>
              <a:defRPr sz="1900"/>
            </a:pPr>
            <a:r>
              <a:t>4. Data Transformation</a:t>
            </a:r>
          </a:p>
          <a:p>
            <a:pPr>
              <a:spcAft>
                <a:spcPts val="500"/>
              </a:spcAft>
              <a:defRPr sz="1900"/>
            </a:pPr>
            <a:r>
              <a:t>5. Discretization / Concept Hierarchy Generation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Data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8356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900"/>
            </a:pPr>
            <a:r>
              <a:t>Important dimensions of data quality:</a:t>
            </a:r>
          </a:p>
          <a:p>
            <a:pPr>
              <a:spcAft>
                <a:spcPts val="500"/>
              </a:spcAft>
              <a:defRPr sz="1900"/>
            </a:pPr>
            <a:endParaRPr/>
          </a:p>
          <a:p>
            <a:pPr>
              <a:spcAft>
                <a:spcPts val="500"/>
              </a:spcAft>
              <a:defRPr sz="1900"/>
            </a:pPr>
            <a:r>
              <a:t>• Accuracy — values are correct</a:t>
            </a:r>
          </a:p>
          <a:p>
            <a:pPr>
              <a:spcAft>
                <a:spcPts val="500"/>
              </a:spcAft>
              <a:defRPr sz="1900"/>
            </a:pPr>
            <a:r>
              <a:t>• Completeness — required values are present</a:t>
            </a:r>
          </a:p>
          <a:p>
            <a:pPr>
              <a:spcAft>
                <a:spcPts val="500"/>
              </a:spcAft>
              <a:defRPr sz="1900"/>
            </a:pPr>
            <a:r>
              <a:t>• Consistency — values do not conflict</a:t>
            </a:r>
          </a:p>
          <a:p>
            <a:pPr>
              <a:spcAft>
                <a:spcPts val="500"/>
              </a:spcAft>
              <a:defRPr sz="1900"/>
            </a:pPr>
            <a:r>
              <a:t>• Timeliness — data is current</a:t>
            </a:r>
          </a:p>
          <a:p>
            <a:pPr>
              <a:spcAft>
                <a:spcPts val="500"/>
              </a:spcAft>
              <a:defRPr sz="1900"/>
            </a:pPr>
            <a:r>
              <a:t>• Believability — data is credible</a:t>
            </a:r>
          </a:p>
          <a:p>
            <a:pPr>
              <a:spcAft>
                <a:spcPts val="500"/>
              </a:spcAft>
              <a:defRPr sz="1900"/>
            </a:pPr>
            <a:r>
              <a:t>• Interpretability — meaning is understandable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Data Cleaning: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8356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900"/>
            </a:pPr>
            <a:r>
              <a:t>Data cleaning attempts to detect and correct problems in the data.</a:t>
            </a:r>
          </a:p>
          <a:p>
            <a:pPr>
              <a:spcAft>
                <a:spcPts val="500"/>
              </a:spcAft>
              <a:defRPr sz="1900"/>
            </a:pPr>
            <a:endParaRPr/>
          </a:p>
          <a:p>
            <a:pPr>
              <a:spcAft>
                <a:spcPts val="500"/>
              </a:spcAft>
              <a:defRPr sz="1900"/>
            </a:pPr>
            <a:r>
              <a:t>Main problems:</a:t>
            </a:r>
          </a:p>
          <a:p>
            <a:pPr>
              <a:spcAft>
                <a:spcPts val="500"/>
              </a:spcAft>
              <a:defRPr sz="1900"/>
            </a:pPr>
            <a:r>
              <a:t>• Missing values</a:t>
            </a:r>
          </a:p>
          <a:p>
            <a:pPr>
              <a:spcAft>
                <a:spcPts val="500"/>
              </a:spcAft>
              <a:defRPr sz="1900"/>
            </a:pPr>
            <a:r>
              <a:t>• Noisy data</a:t>
            </a:r>
          </a:p>
          <a:p>
            <a:pPr>
              <a:spcAft>
                <a:spcPts val="500"/>
              </a:spcAft>
              <a:defRPr sz="1900"/>
            </a:pPr>
            <a:r>
              <a:t>• Outliers</a:t>
            </a:r>
          </a:p>
          <a:p>
            <a:pPr>
              <a:spcAft>
                <a:spcPts val="500"/>
              </a:spcAft>
              <a:defRPr sz="1900"/>
            </a:pPr>
            <a:r>
              <a:t>• Duplicate records</a:t>
            </a:r>
          </a:p>
          <a:p>
            <a:pPr>
              <a:spcAft>
                <a:spcPts val="500"/>
              </a:spcAft>
              <a:defRPr sz="1900"/>
            </a:pPr>
            <a:r>
              <a:t>• Inconsistent formats and values</a:t>
            </a:r>
          </a:p>
          <a:p>
            <a:pPr>
              <a:spcAft>
                <a:spcPts val="500"/>
              </a:spcAft>
              <a:defRPr sz="1900"/>
            </a:pPr>
            <a:endParaRPr/>
          </a:p>
          <a:p>
            <a:pPr>
              <a:spcAft>
                <a:spcPts val="500"/>
              </a:spcAft>
              <a:defRPr sz="1900"/>
            </a:pPr>
            <a:r>
              <a:t>Python tools: pandas, NumPy, scikit-learn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Missing Values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8356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900"/>
            </a:pPr>
            <a:r>
              <a:t>A missing value may occur because:</a:t>
            </a:r>
          </a:p>
          <a:p>
            <a:pPr>
              <a:spcAft>
                <a:spcPts val="500"/>
              </a:spcAft>
              <a:defRPr sz="1900"/>
            </a:pPr>
            <a:r>
              <a:t>• Attribute was not applicable</a:t>
            </a:r>
          </a:p>
          <a:p>
            <a:pPr>
              <a:spcAft>
                <a:spcPts val="500"/>
              </a:spcAft>
              <a:defRPr sz="1900"/>
            </a:pPr>
            <a:r>
              <a:t>• Data was not collected</a:t>
            </a:r>
          </a:p>
          <a:p>
            <a:pPr>
              <a:spcAft>
                <a:spcPts val="500"/>
              </a:spcAft>
              <a:defRPr sz="1900"/>
            </a:pPr>
            <a:r>
              <a:t>• Data-entry error occurred</a:t>
            </a:r>
          </a:p>
          <a:p>
            <a:pPr>
              <a:spcAft>
                <a:spcPts val="500"/>
              </a:spcAft>
              <a:defRPr sz="1900"/>
            </a:pPr>
            <a:r>
              <a:t>• Equipment failed</a:t>
            </a:r>
          </a:p>
          <a:p>
            <a:pPr>
              <a:spcAft>
                <a:spcPts val="500"/>
              </a:spcAft>
              <a:defRPr sz="1900"/>
            </a:pPr>
            <a:endParaRPr/>
          </a:p>
          <a:p>
            <a:pPr>
              <a:spcAft>
                <a:spcPts val="500"/>
              </a:spcAft>
              <a:defRPr sz="1900"/>
            </a:pPr>
            <a:r>
              <a:t>Example:</a:t>
            </a:r>
          </a:p>
          <a:p>
            <a:pPr>
              <a:spcAft>
                <a:spcPts val="500"/>
              </a:spcAft>
              <a:defRPr sz="1900"/>
            </a:pPr>
            <a:r>
              <a:t>Age: 21, 22, NaN, 24</a:t>
            </a:r>
          </a:p>
          <a:p>
            <a:pPr>
              <a:spcAft>
                <a:spcPts val="500"/>
              </a:spcAft>
              <a:defRPr sz="1900"/>
            </a:pPr>
            <a:r>
              <a:t>Salary: 25000, NaN, 31000, 28000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Missing Values: Strategies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835640" cy="56502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900"/>
            </a:pPr>
            <a:r>
              <a:t>Common approaches:</a:t>
            </a:r>
          </a:p>
          <a:p>
            <a:pPr>
              <a:spcAft>
                <a:spcPts val="500"/>
              </a:spcAft>
              <a:defRPr sz="1900"/>
            </a:pPr>
            <a:r>
              <a:t>1. Ignore the tuple — useful only in suitable cases</a:t>
            </a:r>
          </a:p>
          <a:p>
            <a:pPr>
              <a:spcAft>
                <a:spcPts val="500"/>
              </a:spcAft>
              <a:defRPr sz="1900"/>
            </a:pPr>
            <a:r>
              <a:t>2. Fill manually — expensive for large datasets</a:t>
            </a:r>
          </a:p>
          <a:p>
            <a:pPr>
              <a:spcAft>
                <a:spcPts val="500"/>
              </a:spcAft>
              <a:defRPr sz="1900"/>
            </a:pPr>
            <a:r>
              <a:t>3. Use a global constant</a:t>
            </a:r>
          </a:p>
          <a:p>
            <a:pPr>
              <a:spcAft>
                <a:spcPts val="500"/>
              </a:spcAft>
              <a:defRPr sz="1900"/>
            </a:pPr>
            <a:r>
              <a:t>4. Use mean / median / mode</a:t>
            </a:r>
          </a:p>
          <a:p>
            <a:pPr>
              <a:spcAft>
                <a:spcPts val="500"/>
              </a:spcAft>
              <a:defRPr sz="1900"/>
            </a:pPr>
            <a:r>
              <a:t>5. Use the most probable value</a:t>
            </a:r>
          </a:p>
          <a:p>
            <a:pPr fontAlgn="base"/>
            <a:r>
              <a:rPr lang="en-US" b="1" dirty="0" smtClean="0"/>
              <a:t>techniques </a:t>
            </a:r>
            <a:r>
              <a:rPr lang="en-US" b="1" dirty="0" smtClean="0"/>
              <a:t>used:</a:t>
            </a:r>
            <a:endParaRPr lang="en-US" dirty="0" smtClean="0"/>
          </a:p>
          <a:p>
            <a:pPr fontAlgn="base"/>
            <a:r>
              <a:rPr lang="en-US" b="1" dirty="0" smtClean="0"/>
              <a:t>Mean Imputation:</a:t>
            </a:r>
            <a:r>
              <a:rPr lang="en-US" dirty="0" smtClean="0"/>
              <a:t> Replaces missing values with the average of the attribute.</a:t>
            </a:r>
          </a:p>
          <a:p>
            <a:pPr fontAlgn="base"/>
            <a:r>
              <a:rPr lang="en-US" b="1" dirty="0" smtClean="0"/>
              <a:t>Median Imputation:</a:t>
            </a:r>
            <a:r>
              <a:rPr lang="en-US" dirty="0" smtClean="0"/>
              <a:t> Replaces missing values with the middle value, useful when outliers exist.</a:t>
            </a:r>
          </a:p>
          <a:p>
            <a:pPr fontAlgn="base"/>
            <a:r>
              <a:rPr lang="en-US" b="1" dirty="0" smtClean="0"/>
              <a:t>Mode Imputation:</a:t>
            </a:r>
            <a:r>
              <a:rPr lang="en-US" dirty="0" smtClean="0"/>
              <a:t> Replaces missing values with the most frequent value.</a:t>
            </a:r>
          </a:p>
          <a:p>
            <a:pPr fontAlgn="base"/>
            <a:r>
              <a:rPr lang="en-US" b="1" dirty="0" smtClean="0"/>
              <a:t>Deletion Method:</a:t>
            </a:r>
            <a:r>
              <a:rPr lang="en-US" dirty="0" smtClean="0"/>
              <a:t> Removes records that contain missing values.</a:t>
            </a:r>
          </a:p>
          <a:p>
            <a:pPr fontAlgn="base"/>
            <a:r>
              <a:rPr lang="en-US" b="1" dirty="0" err="1" smtClean="0"/>
              <a:t>Interquartile</a:t>
            </a:r>
            <a:r>
              <a:rPr lang="en-US" b="1" dirty="0" smtClean="0"/>
              <a:t> Range (IQR):</a:t>
            </a:r>
            <a:r>
              <a:rPr lang="en-US" dirty="0" smtClean="0"/>
              <a:t> Detects outliers using the range between Q1 and Q3.</a:t>
            </a:r>
          </a:p>
          <a:p>
            <a:pPr fontAlgn="base"/>
            <a:r>
              <a:rPr lang="en-US" b="1" dirty="0" smtClean="0"/>
              <a:t>Z-Score Method:</a:t>
            </a:r>
            <a:r>
              <a:rPr lang="en-US" dirty="0" smtClean="0"/>
              <a:t> Identifies outliers based on standard deviation from the mean.</a:t>
            </a:r>
          </a:p>
          <a:p>
            <a:pPr fontAlgn="base"/>
            <a:r>
              <a:rPr lang="en-US" b="1" dirty="0" smtClean="0"/>
              <a:t>Binning:</a:t>
            </a:r>
            <a:r>
              <a:rPr lang="en-US" dirty="0" smtClean="0"/>
              <a:t> </a:t>
            </a:r>
            <a:r>
              <a:rPr lang="en-US" dirty="0" err="1" smtClean="0"/>
              <a:t>Smooths</a:t>
            </a:r>
            <a:r>
              <a:rPr lang="en-US" dirty="0" smtClean="0"/>
              <a:t> noisy data by grouping values into bins.</a:t>
            </a:r>
          </a:p>
          <a:p>
            <a:pPr fontAlgn="base"/>
            <a:r>
              <a:rPr lang="en-US" b="1" dirty="0" smtClean="0"/>
              <a:t>Regression Smoothing:</a:t>
            </a:r>
            <a:r>
              <a:rPr lang="en-US" dirty="0" smtClean="0"/>
              <a:t> Uses regression to predict and smooth noisy values.</a:t>
            </a:r>
          </a:p>
          <a:p>
            <a:pPr fontAlgn="base"/>
            <a:r>
              <a:rPr lang="en-US" b="1" dirty="0" smtClean="0"/>
              <a:t>Duplicate Detection:</a:t>
            </a:r>
            <a:r>
              <a:rPr lang="en-US" dirty="0" smtClean="0"/>
              <a:t> Identifies and removes repeated records.</a:t>
            </a:r>
          </a:p>
          <a:p>
            <a:pPr>
              <a:spcAft>
                <a:spcPts val="500"/>
              </a:spcAft>
              <a:defRPr sz="1900"/>
            </a:pPr>
            <a:endParaRPr/>
          </a:p>
          <a:p>
            <a:pPr>
              <a:spcAft>
                <a:spcPts val="500"/>
              </a:spcAft>
              <a:defRPr sz="1900"/>
            </a:pPr>
            <a:r>
              <a:t>Choice depends on attribute type and missingness pattern.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Python: Detect &amp; Handle Missing Values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8356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import pandas as pd</a:t>
            </a:r>
          </a:p>
          <a:p>
            <a:pPr>
              <a:spcAft>
                <a:spcPts val="500"/>
              </a:spcAft>
              <a:defRPr sz="1700"/>
            </a:pPr>
            <a:endParaRPr/>
          </a:p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df = pd.read_csv("students.csv")</a:t>
            </a:r>
          </a:p>
          <a:p>
            <a:pPr>
              <a:spcAft>
                <a:spcPts val="500"/>
              </a:spcAft>
              <a:defRPr sz="1700"/>
            </a:pPr>
            <a:endParaRPr/>
          </a:p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# Count missing values</a:t>
            </a:r>
          </a:p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print(df.isnull().sum())</a:t>
            </a:r>
          </a:p>
          <a:p>
            <a:pPr>
              <a:spcAft>
                <a:spcPts val="500"/>
              </a:spcAft>
              <a:defRPr sz="1700"/>
            </a:pPr>
            <a:endParaRPr/>
          </a:p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# Numerical attribute</a:t>
            </a:r>
          </a:p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df["Age"] = df["Age"].fillna(df["Age"].median())</a:t>
            </a:r>
          </a:p>
          <a:p>
            <a:pPr>
              <a:spcAft>
                <a:spcPts val="500"/>
              </a:spcAft>
              <a:defRPr sz="1700"/>
            </a:pPr>
            <a:endParaRPr/>
          </a:p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# Categorical attribute</a:t>
            </a:r>
          </a:p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df["Department"] = df["Department"].fillna(</a:t>
            </a:r>
          </a:p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    df["Department"].mode()[0]</a:t>
            </a:r>
          </a:p>
          <a:p>
            <a:pPr>
              <a:spcAft>
                <a:spcPts val="500"/>
              </a:spcAft>
              <a:defRPr sz="1700"/>
            </a:pPr>
            <a:r>
              <a:t>)</a:t>
            </a:r>
          </a:p>
          <a:p>
            <a:pPr>
              <a:spcAft>
                <a:spcPts val="500"/>
              </a:spcAft>
              <a:defRPr sz="1700"/>
            </a:pPr>
            <a:endParaRPr/>
          </a:p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print(df.isnull().sum())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Mean, Median and Mode: When to Use?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8356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900"/>
            </a:pPr>
            <a:r>
              <a:t>Mean → useful when numerical data has no strong outliers</a:t>
            </a:r>
          </a:p>
          <a:p>
            <a:pPr>
              <a:spcAft>
                <a:spcPts val="500"/>
              </a:spcAft>
              <a:defRPr sz="1900"/>
            </a:pPr>
            <a:r>
              <a:t>Median → robust when numerical data contains skew/outliers</a:t>
            </a:r>
          </a:p>
          <a:p>
            <a:pPr>
              <a:spcAft>
                <a:spcPts val="500"/>
              </a:spcAft>
              <a:defRPr sz="1900"/>
            </a:pPr>
            <a:r>
              <a:t>Mode → suitable for categorical values</a:t>
            </a:r>
          </a:p>
          <a:p>
            <a:pPr>
              <a:spcAft>
                <a:spcPts val="500"/>
              </a:spcAft>
              <a:defRPr sz="1900"/>
            </a:pPr>
            <a:endParaRPr/>
          </a:p>
          <a:p>
            <a:pPr>
              <a:spcAft>
                <a:spcPts val="500"/>
              </a:spcAft>
              <a:defRPr sz="1900"/>
            </a:pPr>
            <a:r>
              <a:t>Example:</a:t>
            </a:r>
          </a:p>
          <a:p>
            <a:pPr>
              <a:spcAft>
                <a:spcPts val="500"/>
              </a:spcAft>
              <a:defRPr sz="1900"/>
            </a:pPr>
            <a:r>
              <a:t>Salary = [20000, 22000, 23000, 24000, 150000]</a:t>
            </a:r>
          </a:p>
          <a:p>
            <a:pPr>
              <a:spcAft>
                <a:spcPts val="500"/>
              </a:spcAft>
              <a:defRPr sz="1900"/>
            </a:pPr>
            <a:endParaRPr/>
          </a:p>
          <a:p>
            <a:pPr>
              <a:spcAft>
                <a:spcPts val="500"/>
              </a:spcAft>
              <a:defRPr sz="1900"/>
            </a:pPr>
            <a:r>
              <a:t>The median is generally safer than the mean because 150000 is an extreme value.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Noisy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835640" cy="35932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900"/>
            </a:pPr>
            <a:r>
              <a:t>Noise = random error or unwanted variation in a data value.</a:t>
            </a:r>
          </a:p>
          <a:p>
            <a:pPr>
              <a:spcAft>
                <a:spcPts val="500"/>
              </a:spcAft>
              <a:defRPr sz="1900"/>
            </a:pPr>
            <a:endParaRPr/>
          </a:p>
          <a:p>
            <a:pPr>
              <a:spcAft>
                <a:spcPts val="500"/>
              </a:spcAft>
              <a:defRPr sz="1900"/>
            </a:pPr>
            <a:r>
              <a:t>Example:</a:t>
            </a:r>
          </a:p>
          <a:p>
            <a:pPr>
              <a:spcAft>
                <a:spcPts val="500"/>
              </a:spcAft>
              <a:defRPr sz="1900"/>
            </a:pPr>
            <a:r>
              <a:t>Actual temperature: 30°C</a:t>
            </a:r>
          </a:p>
          <a:p>
            <a:pPr>
              <a:spcAft>
                <a:spcPts val="500"/>
              </a:spcAft>
              <a:defRPr sz="1900"/>
            </a:pPr>
            <a:r>
              <a:t>Recorded values: 29.8, 30.1, 35.7, 30.0</a:t>
            </a:r>
          </a:p>
          <a:p>
            <a:pPr>
              <a:spcAft>
                <a:spcPts val="500"/>
              </a:spcAft>
              <a:defRPr sz="1900"/>
            </a:pPr>
            <a:endParaRPr/>
          </a:p>
          <a:p>
            <a:pPr>
              <a:spcAft>
                <a:spcPts val="500"/>
              </a:spcAft>
              <a:defRPr sz="1900"/>
            </a:pPr>
            <a:r>
              <a:rPr lang="en-US" dirty="0" smtClean="0"/>
              <a:t>t</a:t>
            </a:r>
            <a:r>
              <a:rPr smtClean="0"/>
              <a:t>hree </a:t>
            </a:r>
            <a:r>
              <a:t>common smoothing approaches:</a:t>
            </a:r>
          </a:p>
          <a:p>
            <a:pPr>
              <a:spcAft>
                <a:spcPts val="500"/>
              </a:spcAft>
              <a:defRPr sz="1900"/>
            </a:pPr>
            <a:r>
              <a:t>• Binning</a:t>
            </a:r>
          </a:p>
          <a:p>
            <a:pPr>
              <a:spcAft>
                <a:spcPts val="500"/>
              </a:spcAft>
              <a:defRPr sz="1900"/>
            </a:pPr>
            <a:r>
              <a:t>• Regression</a:t>
            </a:r>
          </a:p>
          <a:p>
            <a:pPr>
              <a:spcAft>
                <a:spcPts val="500"/>
              </a:spcAft>
              <a:defRPr sz="1900"/>
            </a:pPr>
            <a:r>
              <a:t>• Clustering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Binning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8356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900"/>
            </a:pPr>
            <a:r>
              <a:t>Binning partitions sorted numerical values into groups called bins.</a:t>
            </a:r>
          </a:p>
          <a:p>
            <a:pPr>
              <a:spcAft>
                <a:spcPts val="500"/>
              </a:spcAft>
              <a:defRPr sz="1900"/>
            </a:pPr>
            <a:endParaRPr/>
          </a:p>
          <a:p>
            <a:pPr>
              <a:spcAft>
                <a:spcPts val="500"/>
              </a:spcAft>
              <a:defRPr sz="1900"/>
            </a:pPr>
            <a:r>
              <a:t>Purpose:</a:t>
            </a:r>
          </a:p>
          <a:p>
            <a:pPr>
              <a:spcAft>
                <a:spcPts val="500"/>
              </a:spcAft>
              <a:defRPr sz="1900"/>
            </a:pPr>
            <a:r>
              <a:t>• Smooth noisy data</a:t>
            </a:r>
          </a:p>
          <a:p>
            <a:pPr>
              <a:spcAft>
                <a:spcPts val="500"/>
              </a:spcAft>
              <a:defRPr sz="1900"/>
            </a:pPr>
            <a:r>
              <a:t>• Reduce minor variations</a:t>
            </a:r>
          </a:p>
          <a:p>
            <a:pPr>
              <a:spcAft>
                <a:spcPts val="500"/>
              </a:spcAft>
              <a:defRPr sz="1900"/>
            </a:pPr>
            <a:r>
              <a:t>• Convert continuous values into intervals</a:t>
            </a:r>
          </a:p>
          <a:p>
            <a:pPr>
              <a:spcAft>
                <a:spcPts val="500"/>
              </a:spcAft>
              <a:defRPr sz="1900"/>
            </a:pPr>
            <a:endParaRPr/>
          </a:p>
          <a:p>
            <a:pPr>
              <a:spcAft>
                <a:spcPts val="500"/>
              </a:spcAft>
              <a:defRPr sz="1900"/>
            </a:pPr>
            <a:r>
              <a:t>Two common strategies:</a:t>
            </a:r>
          </a:p>
          <a:p>
            <a:pPr>
              <a:spcAft>
                <a:spcPts val="500"/>
              </a:spcAft>
              <a:defRPr sz="1900"/>
            </a:pPr>
            <a:r>
              <a:t>• Equal-width binning</a:t>
            </a:r>
          </a:p>
          <a:p>
            <a:pPr>
              <a:spcAft>
                <a:spcPts val="500"/>
              </a:spcAft>
              <a:defRPr sz="1900"/>
            </a:pPr>
            <a:r>
              <a:t>• Equal-frequency binning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Binning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8356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900"/>
            </a:pPr>
            <a:r>
              <a:t>Sorted data:</a:t>
            </a:r>
          </a:p>
          <a:p>
            <a:pPr>
              <a:spcAft>
                <a:spcPts val="500"/>
              </a:spcAft>
              <a:defRPr sz="1900"/>
            </a:pPr>
            <a:r>
              <a:t>4, 8, 15, 21, 21, 24, 25, 28, 34</a:t>
            </a:r>
          </a:p>
          <a:p>
            <a:pPr>
              <a:spcAft>
                <a:spcPts val="500"/>
              </a:spcAft>
              <a:defRPr sz="1900"/>
            </a:pPr>
            <a:endParaRPr/>
          </a:p>
          <a:p>
            <a:pPr>
              <a:spcAft>
                <a:spcPts val="500"/>
              </a:spcAft>
              <a:defRPr sz="1900"/>
            </a:pPr>
            <a:r>
              <a:t>Equal-frequency bins (3 values/bin):</a:t>
            </a:r>
          </a:p>
          <a:p>
            <a:pPr>
              <a:spcAft>
                <a:spcPts val="500"/>
              </a:spcAft>
              <a:defRPr sz="1900"/>
            </a:pPr>
            <a:r>
              <a:t>B1 = 4, 8, 15</a:t>
            </a:r>
          </a:p>
          <a:p>
            <a:pPr>
              <a:spcAft>
                <a:spcPts val="500"/>
              </a:spcAft>
              <a:defRPr sz="1900"/>
            </a:pPr>
            <a:r>
              <a:t>B2 = 21, 21, 24</a:t>
            </a:r>
          </a:p>
          <a:p>
            <a:pPr>
              <a:spcAft>
                <a:spcPts val="500"/>
              </a:spcAft>
              <a:defRPr sz="1900"/>
            </a:pPr>
            <a:r>
              <a:t>B3 = 25, 28, 34</a:t>
            </a:r>
          </a:p>
          <a:p>
            <a:pPr>
              <a:spcAft>
                <a:spcPts val="500"/>
              </a:spcAft>
              <a:defRPr sz="1900"/>
            </a:pPr>
            <a:endParaRPr/>
          </a:p>
          <a:p>
            <a:pPr>
              <a:spcAft>
                <a:spcPts val="500"/>
              </a:spcAft>
              <a:defRPr sz="1900"/>
            </a:pPr>
            <a:r>
              <a:t>Bin-mean smoothing:</a:t>
            </a:r>
          </a:p>
          <a:p>
            <a:pPr>
              <a:spcAft>
                <a:spcPts val="500"/>
              </a:spcAft>
              <a:defRPr sz="1900"/>
            </a:pPr>
            <a:r>
              <a:t>B1 mean = 9</a:t>
            </a:r>
          </a:p>
          <a:p>
            <a:pPr>
              <a:spcAft>
                <a:spcPts val="500"/>
              </a:spcAft>
              <a:defRPr sz="1900"/>
            </a:pPr>
            <a:r>
              <a:t>B2 mean = 22</a:t>
            </a:r>
          </a:p>
          <a:p>
            <a:pPr>
              <a:spcAft>
                <a:spcPts val="500"/>
              </a:spcAft>
              <a:defRPr sz="1900"/>
            </a:pPr>
            <a:r>
              <a:t>B3 mean = 29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Python: Equal-Frequency Binning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8356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import pandas as pd</a:t>
            </a:r>
          </a:p>
          <a:p>
            <a:pPr>
              <a:spcAft>
                <a:spcPts val="500"/>
              </a:spcAft>
              <a:defRPr sz="1700"/>
            </a:pPr>
            <a:endParaRPr/>
          </a:p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x = pd.Series([4, 8, 15, 21, 21, 24, 25, 28, 34])</a:t>
            </a:r>
          </a:p>
          <a:p>
            <a:pPr>
              <a:spcAft>
                <a:spcPts val="500"/>
              </a:spcAft>
              <a:defRPr sz="1700"/>
            </a:pPr>
            <a:endParaRPr/>
          </a:p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bins = pd.qcut(x, q=3)</a:t>
            </a:r>
          </a:p>
          <a:p>
            <a:pPr>
              <a:spcAft>
                <a:spcPts val="500"/>
              </a:spcAft>
              <a:defRPr sz="1700"/>
            </a:pPr>
            <a:endParaRPr/>
          </a:p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print(bins)</a:t>
            </a:r>
          </a:p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print(x.groupby(bins, observed=True).mean())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Python: Equal-Width Binning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8356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import pandas as pd</a:t>
            </a:r>
          </a:p>
          <a:p>
            <a:pPr>
              <a:spcAft>
                <a:spcPts val="500"/>
              </a:spcAft>
              <a:defRPr sz="1700"/>
            </a:pPr>
            <a:endParaRPr/>
          </a:p>
          <a:p>
            <a:pPr>
              <a:spcAft>
                <a:spcPts val="500"/>
              </a:spcAft>
              <a:defRPr sz="1700"/>
            </a:pPr>
            <a:r>
              <a:t>age = pd.Series([18, 22, 25, 31, 37, 42, 51, 63])</a:t>
            </a:r>
          </a:p>
          <a:p>
            <a:pPr>
              <a:spcAft>
                <a:spcPts val="500"/>
              </a:spcAft>
              <a:defRPr sz="1700"/>
            </a:pPr>
            <a:endParaRPr/>
          </a:p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bins = pd.cut(</a:t>
            </a:r>
          </a:p>
          <a:p>
            <a:pPr>
              <a:spcAft>
                <a:spcPts val="500"/>
              </a:spcAft>
              <a:defRPr sz="1700"/>
            </a:pPr>
            <a:r>
              <a:t>    age,</a:t>
            </a:r>
          </a:p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    bins=[0, 20, 40, 60, 80],</a:t>
            </a:r>
          </a:p>
          <a:p>
            <a:pPr>
              <a:spcAft>
                <a:spcPts val="500"/>
              </a:spcAft>
              <a:defRPr sz="1700"/>
            </a:pPr>
            <a:r>
              <a:t>    labels=["Young", "Adult", "Middle", "Senior"]</a:t>
            </a:r>
          </a:p>
          <a:p>
            <a:pPr>
              <a:spcAft>
                <a:spcPts val="500"/>
              </a:spcAft>
              <a:defRPr sz="1700"/>
            </a:pPr>
            <a:r>
              <a:t>)</a:t>
            </a:r>
          </a:p>
          <a:p>
            <a:pPr>
              <a:spcAft>
                <a:spcPts val="500"/>
              </a:spcAft>
              <a:defRPr sz="1700"/>
            </a:pPr>
            <a:endParaRPr/>
          </a:p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print(pd.DataFrame({</a:t>
            </a:r>
          </a:p>
          <a:p>
            <a:pPr>
              <a:spcAft>
                <a:spcPts val="500"/>
              </a:spcAft>
              <a:defRPr sz="1700"/>
            </a:pPr>
            <a:r>
              <a:t>    "Age": age,</a:t>
            </a:r>
          </a:p>
          <a:p>
            <a:pPr>
              <a:spcAft>
                <a:spcPts val="500"/>
              </a:spcAft>
              <a:defRPr sz="1700"/>
            </a:pPr>
            <a:r>
              <a:t>    "Group": bins</a:t>
            </a:r>
          </a:p>
          <a:p>
            <a:pPr>
              <a:spcAft>
                <a:spcPts val="500"/>
              </a:spcAft>
              <a:defRPr sz="1700"/>
            </a:pPr>
            <a:r>
              <a:t>}))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Binning by Bin Boundaries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8356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900"/>
            </a:pPr>
            <a:r>
              <a:t>For each bin:</a:t>
            </a:r>
          </a:p>
          <a:p>
            <a:pPr>
              <a:spcAft>
                <a:spcPts val="500"/>
              </a:spcAft>
              <a:defRPr sz="1900"/>
            </a:pPr>
            <a:r>
              <a:t>1. Find minimum and maximum boundaries</a:t>
            </a:r>
          </a:p>
          <a:p>
            <a:pPr>
              <a:spcAft>
                <a:spcPts val="500"/>
              </a:spcAft>
              <a:defRPr sz="1900"/>
            </a:pPr>
            <a:r>
              <a:t>2. Replace each value with the nearest boundary</a:t>
            </a:r>
          </a:p>
          <a:p>
            <a:pPr>
              <a:spcAft>
                <a:spcPts val="500"/>
              </a:spcAft>
              <a:defRPr sz="1900"/>
            </a:pPr>
            <a:endParaRPr/>
          </a:p>
          <a:p>
            <a:pPr>
              <a:spcAft>
                <a:spcPts val="500"/>
              </a:spcAft>
              <a:defRPr sz="1900"/>
            </a:pPr>
            <a:r>
              <a:t>Example:</a:t>
            </a:r>
          </a:p>
          <a:p>
            <a:pPr>
              <a:spcAft>
                <a:spcPts val="500"/>
              </a:spcAft>
              <a:defRPr sz="1900"/>
            </a:pPr>
            <a:r>
              <a:t>Bin = [4, 8, 15]</a:t>
            </a:r>
          </a:p>
          <a:p>
            <a:pPr>
              <a:spcAft>
                <a:spcPts val="500"/>
              </a:spcAft>
              <a:defRPr sz="1900"/>
            </a:pPr>
            <a:r>
              <a:t>Boundaries = 4 and 15</a:t>
            </a:r>
          </a:p>
          <a:p>
            <a:pPr>
              <a:spcAft>
                <a:spcPts val="500"/>
              </a:spcAft>
              <a:defRPr sz="1900"/>
            </a:pPr>
            <a:endParaRPr/>
          </a:p>
          <a:p>
            <a:pPr>
              <a:spcAft>
                <a:spcPts val="500"/>
              </a:spcAft>
              <a:defRPr sz="1900"/>
            </a:pPr>
            <a:r>
              <a:t>4 → 4</a:t>
            </a:r>
          </a:p>
          <a:p>
            <a:pPr>
              <a:spcAft>
                <a:spcPts val="500"/>
              </a:spcAft>
              <a:defRPr sz="1900"/>
            </a:pPr>
            <a:r>
              <a:t>8 → 4 or 15 (nearest boundary)</a:t>
            </a:r>
          </a:p>
          <a:p>
            <a:pPr>
              <a:spcAft>
                <a:spcPts val="500"/>
              </a:spcAft>
              <a:defRPr sz="1900"/>
            </a:pPr>
            <a:r>
              <a:t>15 → 15</a:t>
            </a:r>
          </a:p>
          <a:p>
            <a:pPr>
              <a:spcAft>
                <a:spcPts val="500"/>
              </a:spcAft>
              <a:defRPr sz="1900"/>
            </a:pPr>
            <a:endParaRPr/>
          </a:p>
          <a:p>
            <a:pPr>
              <a:spcAft>
                <a:spcPts val="500"/>
              </a:spcAft>
              <a:defRPr sz="1900"/>
            </a:pPr>
            <a:r>
              <a:t>This reduces local fluctuations.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Regression for Noise Smoothing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8356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900"/>
            </a:pPr>
            <a:r>
              <a:t>Regression fits a mathematical relationship between variables.</a:t>
            </a:r>
          </a:p>
          <a:p>
            <a:pPr>
              <a:spcAft>
                <a:spcPts val="500"/>
              </a:spcAft>
              <a:defRPr sz="1900"/>
            </a:pPr>
            <a:endParaRPr/>
          </a:p>
          <a:p>
            <a:pPr>
              <a:spcAft>
                <a:spcPts val="500"/>
              </a:spcAft>
              <a:defRPr sz="1900"/>
            </a:pPr>
            <a:r>
              <a:t>Simple linear regression:</a:t>
            </a:r>
          </a:p>
          <a:p>
            <a:pPr>
              <a:spcAft>
                <a:spcPts val="500"/>
              </a:spcAft>
              <a:defRPr sz="1900"/>
            </a:pPr>
            <a:endParaRPr/>
          </a:p>
          <a:p>
            <a:pPr>
              <a:spcAft>
                <a:spcPts val="500"/>
              </a:spcAft>
              <a:defRPr sz="1900"/>
            </a:pPr>
            <a:r>
              <a:t>ŷ = a + bx</a:t>
            </a:r>
          </a:p>
          <a:p>
            <a:pPr>
              <a:spcAft>
                <a:spcPts val="500"/>
              </a:spcAft>
              <a:defRPr sz="1900"/>
            </a:pPr>
            <a:endParaRPr/>
          </a:p>
          <a:p>
            <a:pPr>
              <a:spcAft>
                <a:spcPts val="500"/>
              </a:spcAft>
              <a:defRPr sz="1900"/>
            </a:pPr>
            <a:r>
              <a:t>where:</a:t>
            </a:r>
          </a:p>
          <a:p>
            <a:pPr>
              <a:spcAft>
                <a:spcPts val="500"/>
              </a:spcAft>
              <a:defRPr sz="1900"/>
            </a:pPr>
            <a:r>
              <a:t>• x = predictor</a:t>
            </a:r>
          </a:p>
          <a:p>
            <a:pPr>
              <a:spcAft>
                <a:spcPts val="500"/>
              </a:spcAft>
              <a:defRPr sz="1900"/>
            </a:pPr>
            <a:r>
              <a:t>• ŷ = predicted value</a:t>
            </a:r>
          </a:p>
          <a:p>
            <a:pPr>
              <a:spcAft>
                <a:spcPts val="500"/>
              </a:spcAft>
              <a:defRPr sz="1900"/>
            </a:pPr>
            <a:r>
              <a:t>• a = intercept</a:t>
            </a:r>
          </a:p>
          <a:p>
            <a:pPr>
              <a:spcAft>
                <a:spcPts val="500"/>
              </a:spcAft>
              <a:defRPr sz="1900"/>
            </a:pPr>
            <a:r>
              <a:t>• b = slope</a:t>
            </a:r>
          </a:p>
          <a:p>
            <a:pPr>
              <a:spcAft>
                <a:spcPts val="500"/>
              </a:spcAft>
              <a:defRPr sz="1900"/>
            </a:pPr>
            <a:endParaRPr/>
          </a:p>
          <a:p>
            <a:pPr>
              <a:spcAft>
                <a:spcPts val="500"/>
              </a:spcAft>
              <a:defRPr sz="1900"/>
            </a:pPr>
            <a:r>
              <a:t>Values far from the fitted relationship may indicate noise or unusual observations.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Python: Regression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8356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import numpy as np</a:t>
            </a:r>
          </a:p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from sklearn.linear_model import LinearRegression</a:t>
            </a:r>
          </a:p>
          <a:p>
            <a:pPr>
              <a:spcAft>
                <a:spcPts val="500"/>
              </a:spcAft>
              <a:defRPr sz="1700"/>
            </a:pPr>
            <a:endParaRPr/>
          </a:p>
          <a:p>
            <a:pPr>
              <a:spcAft>
                <a:spcPts val="500"/>
              </a:spcAft>
              <a:defRPr sz="1700"/>
            </a:pPr>
            <a:r>
              <a:t>X = np.array([[1], [2], [3], [4], [5]])</a:t>
            </a:r>
          </a:p>
          <a:p>
            <a:pPr>
              <a:spcAft>
                <a:spcPts val="500"/>
              </a:spcAft>
              <a:defRPr sz="1700"/>
            </a:pPr>
            <a:r>
              <a:t>y = np.array([2, 4, 5, 8, 10])</a:t>
            </a:r>
          </a:p>
          <a:p>
            <a:pPr>
              <a:spcAft>
                <a:spcPts val="500"/>
              </a:spcAft>
              <a:defRPr sz="1700"/>
            </a:pPr>
            <a:endParaRPr/>
          </a:p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model = LinearRegression()</a:t>
            </a:r>
          </a:p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model.fit(X, y)</a:t>
            </a:r>
          </a:p>
          <a:p>
            <a:pPr>
              <a:spcAft>
                <a:spcPts val="500"/>
              </a:spcAft>
              <a:defRPr sz="1700"/>
            </a:pPr>
            <a:endParaRPr/>
          </a:p>
          <a:p>
            <a:pPr>
              <a:spcAft>
                <a:spcPts val="500"/>
              </a:spcAft>
              <a:defRPr sz="1700"/>
            </a:pPr>
            <a:r>
              <a:t>pred = model.predict(X)</a:t>
            </a:r>
          </a:p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print("Predicted:", pred)</a:t>
            </a:r>
          </a:p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print("Slope:", model.coef_[0])</a:t>
            </a:r>
          </a:p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print("Intercept:", model.intercept_)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Outliers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8356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900"/>
            </a:pPr>
            <a:r>
              <a:t>An outlier is a data object that differs markedly from other observations.</a:t>
            </a:r>
          </a:p>
          <a:p>
            <a:pPr>
              <a:spcAft>
                <a:spcPts val="500"/>
              </a:spcAft>
              <a:defRPr sz="1900"/>
            </a:pPr>
            <a:endParaRPr/>
          </a:p>
          <a:p>
            <a:pPr>
              <a:spcAft>
                <a:spcPts val="500"/>
              </a:spcAft>
              <a:defRPr sz="1900"/>
            </a:pPr>
            <a:r>
              <a:t>Possible causes:</a:t>
            </a:r>
          </a:p>
          <a:p>
            <a:pPr>
              <a:spcAft>
                <a:spcPts val="500"/>
              </a:spcAft>
              <a:defRPr sz="1900"/>
            </a:pPr>
            <a:r>
              <a:t>• Measurement error</a:t>
            </a:r>
          </a:p>
          <a:p>
            <a:pPr>
              <a:spcAft>
                <a:spcPts val="500"/>
              </a:spcAft>
              <a:defRPr sz="1900"/>
            </a:pPr>
            <a:r>
              <a:t>• Data-entry error</a:t>
            </a:r>
          </a:p>
          <a:p>
            <a:pPr>
              <a:spcAft>
                <a:spcPts val="500"/>
              </a:spcAft>
              <a:defRPr sz="1900"/>
            </a:pPr>
            <a:r>
              <a:t>• Rare but valid event</a:t>
            </a:r>
          </a:p>
          <a:p>
            <a:pPr>
              <a:spcAft>
                <a:spcPts val="500"/>
              </a:spcAft>
              <a:defRPr sz="1900"/>
            </a:pPr>
            <a:r>
              <a:t>• Fraud/anomaly</a:t>
            </a:r>
          </a:p>
          <a:p>
            <a:pPr>
              <a:spcAft>
                <a:spcPts val="500"/>
              </a:spcAft>
              <a:defRPr sz="1900"/>
            </a:pPr>
            <a:endParaRPr/>
          </a:p>
          <a:p>
            <a:pPr>
              <a:spcAft>
                <a:spcPts val="500"/>
              </a:spcAft>
              <a:defRPr sz="1900"/>
            </a:pPr>
            <a:r>
              <a:t>Do not automatically delete every outlier. First determine whether it is an error or meaningful observation.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IQR Method for Outliers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8356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900"/>
            </a:pPr>
            <a:r>
              <a:t>For numerical data:</a:t>
            </a:r>
          </a:p>
          <a:p>
            <a:pPr>
              <a:spcAft>
                <a:spcPts val="500"/>
              </a:spcAft>
              <a:defRPr sz="1900"/>
            </a:pPr>
            <a:endParaRPr/>
          </a:p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IQR = Q3 − Q1</a:t>
            </a:r>
          </a:p>
          <a:p>
            <a:pPr>
              <a:spcAft>
                <a:spcPts val="500"/>
              </a:spcAft>
              <a:defRPr sz="1900"/>
            </a:pPr>
            <a:endParaRPr/>
          </a:p>
          <a:p>
            <a:pPr>
              <a:spcAft>
                <a:spcPts val="500"/>
              </a:spcAft>
              <a:defRPr sz="1900"/>
            </a:pPr>
            <a:r>
              <a:t>Lower boundary = Q1 − 1.5 × IQR</a:t>
            </a:r>
          </a:p>
          <a:p>
            <a:pPr>
              <a:spcAft>
                <a:spcPts val="500"/>
              </a:spcAft>
              <a:defRPr sz="1900"/>
            </a:pPr>
            <a:r>
              <a:t>Upper boundary = Q3 + 1.5 × IQR</a:t>
            </a:r>
          </a:p>
          <a:p>
            <a:pPr>
              <a:spcAft>
                <a:spcPts val="500"/>
              </a:spcAft>
              <a:defRPr sz="1900"/>
            </a:pPr>
            <a:endParaRPr/>
          </a:p>
          <a:p>
            <a:pPr>
              <a:spcAft>
                <a:spcPts val="500"/>
              </a:spcAft>
              <a:defRPr sz="1900"/>
            </a:pPr>
            <a:r>
              <a:t>Values below the lower boundary or above the upper boundary are flagged as potential outliers.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Python: IQR Outlier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8356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Q1 = df["Salary"].quantile(0.25)</a:t>
            </a:r>
          </a:p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Q3 = df["Salary"].quantile(0.75)</a:t>
            </a:r>
          </a:p>
          <a:p>
            <a:pPr>
              <a:spcAft>
                <a:spcPts val="500"/>
              </a:spcAft>
              <a:defRPr sz="1900"/>
            </a:pPr>
            <a:endParaRPr/>
          </a:p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IQR = Q3 - Q1</a:t>
            </a:r>
          </a:p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lower = Q1 - 1.5 * IQR</a:t>
            </a:r>
          </a:p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upper = Q3 + 1.5 * IQR</a:t>
            </a:r>
          </a:p>
          <a:p>
            <a:pPr>
              <a:spcAft>
                <a:spcPts val="500"/>
              </a:spcAft>
              <a:defRPr sz="1900"/>
            </a:pPr>
            <a:endParaRPr/>
          </a:p>
          <a:p>
            <a:pPr>
              <a:spcAft>
                <a:spcPts val="500"/>
              </a:spcAft>
              <a:defRPr sz="1900"/>
            </a:pPr>
            <a:r>
              <a:t>outliers = df[</a:t>
            </a:r>
          </a:p>
          <a:p>
            <a:pPr>
              <a:spcAft>
                <a:spcPts val="500"/>
              </a:spcAft>
              <a:defRPr sz="1900"/>
            </a:pPr>
            <a:r>
              <a:t>    (df["Salary"] &lt; lower) |</a:t>
            </a:r>
          </a:p>
          <a:p>
            <a:pPr>
              <a:spcAft>
                <a:spcPts val="500"/>
              </a:spcAft>
              <a:defRPr sz="1900"/>
            </a:pPr>
            <a:r>
              <a:t>    (df["Salary"] &gt; upper)</a:t>
            </a:r>
          </a:p>
          <a:p>
            <a:pPr>
              <a:spcAft>
                <a:spcPts val="500"/>
              </a:spcAft>
              <a:defRPr sz="1900"/>
            </a:pPr>
            <a:r>
              <a:t>]</a:t>
            </a:r>
          </a:p>
          <a:p>
            <a:pPr>
              <a:spcAft>
                <a:spcPts val="500"/>
              </a:spcAft>
              <a:defRPr sz="1900"/>
            </a:pPr>
            <a:endParaRPr/>
          </a:p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print(outliers)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22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Data Inconsistency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8356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900"/>
            </a:pPr>
            <a:r>
              <a:t>Examples:</a:t>
            </a:r>
          </a:p>
          <a:p>
            <a:pPr>
              <a:spcAft>
                <a:spcPts val="500"/>
              </a:spcAft>
              <a:defRPr sz="1900"/>
            </a:pPr>
            <a:r>
              <a:t>• Gender represented as M, Male, male</a:t>
            </a:r>
          </a:p>
          <a:p>
            <a:pPr>
              <a:spcAft>
                <a:spcPts val="500"/>
              </a:spcAft>
              <a:defRPr sz="1900"/>
            </a:pPr>
            <a:r>
              <a:t>• Date represented as 10/08/2026 and 2026-08-10</a:t>
            </a:r>
          </a:p>
          <a:p>
            <a:pPr>
              <a:spcAft>
                <a:spcPts val="500"/>
              </a:spcAft>
              <a:defRPr sz="1900"/>
            </a:pPr>
            <a:r>
              <a:t>• Weight represented in kg in one source and pounds in another</a:t>
            </a:r>
          </a:p>
          <a:p>
            <a:pPr>
              <a:spcAft>
                <a:spcPts val="500"/>
              </a:spcAft>
              <a:defRPr sz="1900"/>
            </a:pPr>
            <a:r>
              <a:t>• Department represented as CSE and Computer Science</a:t>
            </a:r>
          </a:p>
          <a:p>
            <a:pPr>
              <a:spcAft>
                <a:spcPts val="500"/>
              </a:spcAft>
              <a:defRPr sz="1900"/>
            </a:pPr>
            <a:endParaRPr/>
          </a:p>
          <a:p>
            <a:pPr>
              <a:spcAft>
                <a:spcPts val="500"/>
              </a:spcAft>
              <a:defRPr sz="1900"/>
            </a:pPr>
            <a:r>
              <a:t>Cleaning requires a common representation.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23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Python: Standardizing Categorical Values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8356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df["Gender"] = (</a:t>
            </a:r>
          </a:p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    df["Gender"]</a:t>
            </a:r>
          </a:p>
          <a:p>
            <a:pPr>
              <a:spcAft>
                <a:spcPts val="500"/>
              </a:spcAft>
              <a:defRPr sz="1900"/>
            </a:pPr>
            <a:r>
              <a:t>    .astype(str)</a:t>
            </a:r>
          </a:p>
          <a:p>
            <a:pPr>
              <a:spcAft>
                <a:spcPts val="500"/>
              </a:spcAft>
              <a:defRPr sz="1900"/>
            </a:pPr>
            <a:r>
              <a:t>    .str.strip()</a:t>
            </a:r>
          </a:p>
          <a:p>
            <a:pPr>
              <a:spcAft>
                <a:spcPts val="500"/>
              </a:spcAft>
              <a:defRPr sz="1900"/>
            </a:pPr>
            <a:r>
              <a:t>    .str.lower()</a:t>
            </a:r>
          </a:p>
          <a:p>
            <a:pPr>
              <a:spcAft>
                <a:spcPts val="500"/>
              </a:spcAft>
              <a:defRPr sz="1900"/>
            </a:pPr>
            <a:r>
              <a:t>)</a:t>
            </a:r>
          </a:p>
          <a:p>
            <a:pPr>
              <a:spcAft>
                <a:spcPts val="500"/>
              </a:spcAft>
              <a:defRPr sz="1900"/>
            </a:pPr>
            <a:endParaRPr/>
          </a:p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df["Gender"] = df["Gender"].replace({</a:t>
            </a:r>
          </a:p>
          <a:p>
            <a:pPr>
              <a:spcAft>
                <a:spcPts val="500"/>
              </a:spcAft>
              <a:defRPr sz="1900"/>
            </a:pPr>
            <a:r>
              <a:t>    "m": "male",</a:t>
            </a:r>
          </a:p>
          <a:p>
            <a:pPr>
              <a:spcAft>
                <a:spcPts val="500"/>
              </a:spcAft>
              <a:defRPr sz="1900"/>
            </a:pPr>
            <a:r>
              <a:t>    "f": "female"</a:t>
            </a:r>
          </a:p>
          <a:p>
            <a:pPr>
              <a:spcAft>
                <a:spcPts val="500"/>
              </a:spcAft>
              <a:defRPr sz="1900"/>
            </a:pPr>
            <a:r>
              <a:t>})</a:t>
            </a:r>
          </a:p>
          <a:p>
            <a:pPr>
              <a:spcAft>
                <a:spcPts val="500"/>
              </a:spcAft>
              <a:defRPr sz="1900"/>
            </a:pPr>
            <a:endParaRPr/>
          </a:p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print(df["Gender"].value_counts())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24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Duplicate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8356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900"/>
            </a:pPr>
            <a:r>
              <a:t>Duplicate records can arise when:</a:t>
            </a:r>
          </a:p>
          <a:p>
            <a:pPr>
              <a:spcAft>
                <a:spcPts val="500"/>
              </a:spcAft>
              <a:defRPr sz="1900"/>
            </a:pPr>
            <a:r>
              <a:t>• Multiple systems contain the same record</a:t>
            </a:r>
          </a:p>
          <a:p>
            <a:pPr>
              <a:spcAft>
                <a:spcPts val="500"/>
              </a:spcAft>
              <a:defRPr sz="1900"/>
            </a:pPr>
            <a:r>
              <a:t>• Data is merged repeatedly</a:t>
            </a:r>
          </a:p>
          <a:p>
            <a:pPr>
              <a:spcAft>
                <a:spcPts val="500"/>
              </a:spcAft>
              <a:defRPr sz="1900"/>
            </a:pPr>
            <a:r>
              <a:t>• A record is entered more than once</a:t>
            </a:r>
          </a:p>
          <a:p>
            <a:pPr>
              <a:spcAft>
                <a:spcPts val="500"/>
              </a:spcAft>
              <a:defRPr sz="1900"/>
            </a:pPr>
            <a:endParaRPr/>
          </a:p>
          <a:p>
            <a:pPr>
              <a:spcAft>
                <a:spcPts val="500"/>
              </a:spcAft>
              <a:defRPr sz="1900"/>
            </a:pPr>
            <a:r>
              <a:t>Duplicates may distort frequency counts and model training.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25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Python: Duplicate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8356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print("Duplicates:",</a:t>
            </a:r>
          </a:p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      df.duplicated().sum())</a:t>
            </a:r>
          </a:p>
          <a:p>
            <a:pPr>
              <a:spcAft>
                <a:spcPts val="500"/>
              </a:spcAft>
              <a:defRPr sz="1900"/>
            </a:pPr>
            <a:endParaRPr/>
          </a:p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df = df.drop_duplicates()</a:t>
            </a:r>
          </a:p>
          <a:p>
            <a:pPr>
              <a:spcAft>
                <a:spcPts val="500"/>
              </a:spcAft>
              <a:defRPr sz="1900"/>
            </a:pPr>
            <a:endParaRPr/>
          </a:p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print("Remaining duplicates:",</a:t>
            </a:r>
          </a:p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      df.duplicated().sum())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26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Data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8356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900"/>
            </a:pPr>
            <a:r>
              <a:t>Data integration combines data from multiple sources into a coherent data store.</a:t>
            </a:r>
          </a:p>
          <a:p>
            <a:pPr>
              <a:spcAft>
                <a:spcPts val="500"/>
              </a:spcAft>
              <a:defRPr sz="1900"/>
            </a:pPr>
            <a:endParaRPr/>
          </a:p>
          <a:p>
            <a:pPr>
              <a:spcAft>
                <a:spcPts val="500"/>
              </a:spcAft>
              <a:defRPr sz="1900"/>
            </a:pPr>
            <a:r>
              <a:t>Possible sources:</a:t>
            </a:r>
          </a:p>
          <a:p>
            <a:pPr>
              <a:spcAft>
                <a:spcPts val="500"/>
              </a:spcAft>
              <a:defRPr sz="1900"/>
            </a:pPr>
            <a:r>
              <a:t>• Relational databases</a:t>
            </a:r>
          </a:p>
          <a:p>
            <a:pPr>
              <a:spcAft>
                <a:spcPts val="500"/>
              </a:spcAft>
              <a:defRPr sz="1900"/>
            </a:pPr>
            <a:r>
              <a:t>• Data warehouses</a:t>
            </a:r>
          </a:p>
          <a:p>
            <a:pPr>
              <a:spcAft>
                <a:spcPts val="500"/>
              </a:spcAft>
              <a:defRPr sz="1900"/>
            </a:pPr>
            <a:r>
              <a:t>• CSV / Excel files</a:t>
            </a:r>
          </a:p>
          <a:p>
            <a:pPr>
              <a:spcAft>
                <a:spcPts val="500"/>
              </a:spcAft>
              <a:defRPr sz="1900"/>
            </a:pPr>
            <a:r>
              <a:t>• Web sources</a:t>
            </a:r>
          </a:p>
          <a:p>
            <a:pPr>
              <a:spcAft>
                <a:spcPts val="500"/>
              </a:spcAft>
              <a:defRPr sz="1900"/>
            </a:pPr>
            <a:r>
              <a:t>• Enterprise applications</a:t>
            </a:r>
          </a:p>
          <a:p>
            <a:pPr>
              <a:spcAft>
                <a:spcPts val="500"/>
              </a:spcAft>
              <a:defRPr sz="1900"/>
            </a:pPr>
            <a:endParaRPr/>
          </a:p>
          <a:p>
            <a:pPr>
              <a:spcAft>
                <a:spcPts val="500"/>
              </a:spcAft>
              <a:defRPr sz="1900"/>
            </a:pPr>
            <a:r>
              <a:t>Key issues:</a:t>
            </a:r>
          </a:p>
          <a:p>
            <a:pPr>
              <a:spcAft>
                <a:spcPts val="500"/>
              </a:spcAft>
              <a:defRPr sz="1900"/>
            </a:pPr>
            <a:r>
              <a:t>• Schema integration</a:t>
            </a:r>
          </a:p>
          <a:p>
            <a:pPr>
              <a:spcAft>
                <a:spcPts val="500"/>
              </a:spcAft>
              <a:defRPr sz="1900"/>
            </a:pPr>
            <a:r>
              <a:t>• Entity identification</a:t>
            </a:r>
          </a:p>
          <a:p>
            <a:pPr>
              <a:spcAft>
                <a:spcPts val="500"/>
              </a:spcAft>
              <a:defRPr sz="1900"/>
            </a:pPr>
            <a:r>
              <a:t>• Redundancy</a:t>
            </a:r>
          </a:p>
          <a:p>
            <a:pPr>
              <a:spcAft>
                <a:spcPts val="500"/>
              </a:spcAft>
              <a:defRPr sz="1900"/>
            </a:pPr>
            <a:r>
              <a:t>• Data-value conflicts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27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Schema Integration &amp; Entity Identification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8356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900"/>
            </a:pPr>
            <a:r>
              <a:t>Schema integration:</a:t>
            </a:r>
          </a:p>
          <a:p>
            <a:pPr>
              <a:spcAft>
                <a:spcPts val="500"/>
              </a:spcAft>
              <a:defRPr sz="1900"/>
            </a:pPr>
            <a:r>
              <a:t>Different names may represent the same attribute.</a:t>
            </a:r>
          </a:p>
          <a:p>
            <a:pPr>
              <a:spcAft>
                <a:spcPts val="500"/>
              </a:spcAft>
              <a:defRPr sz="1900"/>
            </a:pPr>
            <a:endParaRPr/>
          </a:p>
          <a:p>
            <a:pPr>
              <a:spcAft>
                <a:spcPts val="500"/>
              </a:spcAft>
              <a:defRPr sz="1900"/>
            </a:pPr>
            <a:r>
              <a:t>Example:</a:t>
            </a:r>
          </a:p>
          <a:p>
            <a:pPr>
              <a:spcAft>
                <a:spcPts val="500"/>
              </a:spcAft>
              <a:defRPr sz="1900"/>
            </a:pPr>
            <a:r>
              <a:t>Student_ID ↔ Roll_No</a:t>
            </a:r>
          </a:p>
          <a:p>
            <a:pPr>
              <a:spcAft>
                <a:spcPts val="500"/>
              </a:spcAft>
              <a:defRPr sz="1900"/>
            </a:pPr>
            <a:r>
              <a:t>DOB ↔ Date_of_Birth</a:t>
            </a:r>
          </a:p>
          <a:p>
            <a:pPr>
              <a:spcAft>
                <a:spcPts val="500"/>
              </a:spcAft>
              <a:defRPr sz="1900"/>
            </a:pPr>
            <a:endParaRPr/>
          </a:p>
          <a:p>
            <a:pPr>
              <a:spcAft>
                <a:spcPts val="500"/>
              </a:spcAft>
              <a:defRPr sz="1900"/>
            </a:pPr>
            <a:r>
              <a:t>Entity identification:</a:t>
            </a:r>
          </a:p>
          <a:p>
            <a:pPr>
              <a:spcAft>
                <a:spcPts val="500"/>
              </a:spcAft>
              <a:defRPr sz="1900"/>
            </a:pPr>
            <a:r>
              <a:t>Determine whether records from different sources refer to the same real-world entity.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28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Python: Integrating DataFrames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8356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df1 = pd.DataFrame({</a:t>
            </a:r>
          </a:p>
          <a:p>
            <a:pPr>
              <a:spcAft>
                <a:spcPts val="500"/>
              </a:spcAft>
              <a:defRPr sz="1900"/>
            </a:pPr>
            <a:r>
              <a:t>    "Student_ID": [101, 102],</a:t>
            </a:r>
          </a:p>
          <a:p>
            <a:pPr>
              <a:spcAft>
                <a:spcPts val="500"/>
              </a:spcAft>
              <a:defRPr sz="1900"/>
            </a:pPr>
            <a:r>
              <a:t>    "Name": ["Asha", "Ravi"]</a:t>
            </a:r>
          </a:p>
          <a:p>
            <a:pPr>
              <a:spcAft>
                <a:spcPts val="500"/>
              </a:spcAft>
              <a:defRPr sz="1900"/>
            </a:pPr>
            <a:r>
              <a:t>})</a:t>
            </a:r>
          </a:p>
          <a:p>
            <a:pPr>
              <a:spcAft>
                <a:spcPts val="500"/>
              </a:spcAft>
              <a:defRPr sz="1900"/>
            </a:pPr>
            <a:endParaRPr/>
          </a:p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df2 = pd.DataFrame({</a:t>
            </a:r>
          </a:p>
          <a:p>
            <a:pPr>
              <a:spcAft>
                <a:spcPts val="500"/>
              </a:spcAft>
              <a:defRPr sz="1900"/>
            </a:pPr>
            <a:r>
              <a:t>    "Student_ID": [101, 102],</a:t>
            </a:r>
          </a:p>
          <a:p>
            <a:pPr>
              <a:spcAft>
                <a:spcPts val="500"/>
              </a:spcAft>
              <a:defRPr sz="1900"/>
            </a:pPr>
            <a:r>
              <a:t>    "Marks": [85, 91]</a:t>
            </a:r>
          </a:p>
          <a:p>
            <a:pPr>
              <a:spcAft>
                <a:spcPts val="500"/>
              </a:spcAft>
              <a:defRPr sz="1900"/>
            </a:pPr>
            <a:r>
              <a:t>})</a:t>
            </a:r>
          </a:p>
          <a:p>
            <a:pPr>
              <a:spcAft>
                <a:spcPts val="500"/>
              </a:spcAft>
              <a:defRPr sz="1900"/>
            </a:pPr>
            <a:endParaRPr/>
          </a:p>
          <a:p>
            <a:pPr>
              <a:spcAft>
                <a:spcPts val="500"/>
              </a:spcAft>
              <a:defRPr sz="1900"/>
            </a:pPr>
            <a:r>
              <a:t>merged = pd.merge(</a:t>
            </a:r>
          </a:p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    df1, df2, on="Student_ID", how="inner"</a:t>
            </a:r>
          </a:p>
          <a:p>
            <a:pPr>
              <a:spcAft>
                <a:spcPts val="500"/>
              </a:spcAft>
              <a:defRPr sz="1900"/>
            </a:pPr>
            <a:r>
              <a:t>)</a:t>
            </a:r>
          </a:p>
          <a:p>
            <a:pPr>
              <a:spcAft>
                <a:spcPts val="500"/>
              </a:spcAft>
              <a:defRPr sz="1900"/>
            </a:pPr>
            <a:endParaRPr/>
          </a:p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print(merged)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29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Data Redundancy &amp; Correlation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8356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900"/>
            </a:pPr>
            <a:r>
              <a:t>Redundancy may occur when:</a:t>
            </a:r>
          </a:p>
          <a:p>
            <a:pPr>
              <a:spcAft>
                <a:spcPts val="500"/>
              </a:spcAft>
              <a:defRPr sz="1900"/>
            </a:pPr>
            <a:r>
              <a:t>• The same information is stored more than once</a:t>
            </a:r>
          </a:p>
          <a:p>
            <a:pPr>
              <a:spcAft>
                <a:spcPts val="500"/>
              </a:spcAft>
              <a:defRPr sz="1900"/>
            </a:pPr>
            <a:r>
              <a:t>• One attribute can be derived from another</a:t>
            </a:r>
          </a:p>
          <a:p>
            <a:pPr>
              <a:spcAft>
                <a:spcPts val="500"/>
              </a:spcAft>
              <a:defRPr sz="1900"/>
            </a:pPr>
            <a:r>
              <a:t>• Highly correlated attributes carry similar information</a:t>
            </a:r>
          </a:p>
          <a:p>
            <a:pPr>
              <a:spcAft>
                <a:spcPts val="500"/>
              </a:spcAft>
              <a:defRPr sz="1900"/>
            </a:pPr>
            <a:endParaRPr/>
          </a:p>
          <a:p>
            <a:pPr>
              <a:spcAft>
                <a:spcPts val="500"/>
              </a:spcAft>
              <a:defRPr sz="1900"/>
            </a:pPr>
            <a:r>
              <a:t>Example:</a:t>
            </a:r>
          </a:p>
          <a:p>
            <a:pPr>
              <a:spcAft>
                <a:spcPts val="500"/>
              </a:spcAft>
              <a:defRPr sz="1900"/>
            </a:pPr>
            <a:r>
              <a:t>Date_of_Birth + current date → Age</a:t>
            </a:r>
          </a:p>
          <a:p>
            <a:pPr>
              <a:spcAft>
                <a:spcPts val="500"/>
              </a:spcAft>
              <a:defRPr sz="1900"/>
            </a:pPr>
            <a:endParaRPr/>
          </a:p>
          <a:p>
            <a:pPr>
              <a:spcAft>
                <a:spcPts val="500"/>
              </a:spcAft>
              <a:defRPr sz="1900"/>
            </a:pPr>
            <a:r>
              <a:t>Correlation analysis helps identify relationships between numerical attributes.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30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Pearson Correlation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8356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900"/>
            </a:pPr>
            <a:r>
              <a:t>For numerical attributes X and Y:</a:t>
            </a:r>
          </a:p>
          <a:p>
            <a:pPr>
              <a:spcAft>
                <a:spcPts val="500"/>
              </a:spcAft>
              <a:defRPr sz="1900"/>
            </a:pPr>
            <a:endParaRPr/>
          </a:p>
          <a:p>
            <a:pPr>
              <a:spcAft>
                <a:spcPts val="500"/>
              </a:spcAft>
              <a:defRPr sz="1900"/>
            </a:pPr>
            <a:r>
              <a:t>r = Σ(xᵢ−x̄)(yᵢ−ȳ) / √[Σ(xᵢ−x̄)² Σ(yᵢ−ȳ)²]</a:t>
            </a:r>
          </a:p>
          <a:p>
            <a:pPr>
              <a:spcAft>
                <a:spcPts val="500"/>
              </a:spcAft>
              <a:defRPr sz="1900"/>
            </a:pPr>
            <a:endParaRPr/>
          </a:p>
          <a:p>
            <a:pPr>
              <a:spcAft>
                <a:spcPts val="500"/>
              </a:spcAft>
              <a:defRPr sz="1900"/>
            </a:pPr>
            <a:r>
              <a:t>Range: −1 ≤ r ≤ +1</a:t>
            </a:r>
          </a:p>
          <a:p>
            <a:pPr>
              <a:spcAft>
                <a:spcPts val="500"/>
              </a:spcAft>
              <a:defRPr sz="1900"/>
            </a:pPr>
            <a:endParaRPr/>
          </a:p>
          <a:p>
            <a:pPr>
              <a:spcAft>
                <a:spcPts val="500"/>
              </a:spcAft>
              <a:defRPr sz="1900"/>
            </a:pPr>
            <a:r>
              <a:t>r ≈ +1 → strong positive linear relationship</a:t>
            </a:r>
          </a:p>
          <a:p>
            <a:pPr>
              <a:spcAft>
                <a:spcPts val="500"/>
              </a:spcAft>
              <a:defRPr sz="1900"/>
            </a:pPr>
            <a:r>
              <a:t>r ≈ −1 → strong negative linear relationship</a:t>
            </a:r>
          </a:p>
          <a:p>
            <a:pPr>
              <a:spcAft>
                <a:spcPts val="500"/>
              </a:spcAft>
              <a:defRPr sz="1900"/>
            </a:pPr>
            <a:r>
              <a:t>r ≈ 0 → weak linear relationship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31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Python: Correlation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8356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900"/>
            </a:pPr>
            <a:r>
              <a:t>corr = df.select_dtypes(</a:t>
            </a:r>
          </a:p>
          <a:p>
            <a:pPr>
              <a:spcAft>
                <a:spcPts val="500"/>
              </a:spcAft>
              <a:defRPr sz="1900"/>
            </a:pPr>
            <a:r>
              <a:t>    include="number"</a:t>
            </a:r>
          </a:p>
          <a:p>
            <a:pPr>
              <a:spcAft>
                <a:spcPts val="500"/>
              </a:spcAft>
              <a:defRPr sz="1900"/>
            </a:pPr>
            <a:r>
              <a:t>).corr()</a:t>
            </a:r>
          </a:p>
          <a:p>
            <a:pPr>
              <a:spcAft>
                <a:spcPts val="500"/>
              </a:spcAft>
              <a:defRPr sz="1900"/>
            </a:pPr>
            <a:endParaRPr/>
          </a:p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print(corr)</a:t>
            </a:r>
          </a:p>
          <a:p>
            <a:pPr>
              <a:spcAft>
                <a:spcPts val="500"/>
              </a:spcAft>
              <a:defRPr sz="1900"/>
            </a:pPr>
            <a:endParaRPr/>
          </a:p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# Example: correlation of all numeric features</a:t>
            </a:r>
          </a:p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# with a selected attribute</a:t>
            </a:r>
          </a:p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print(corr["Marks"].sort_values(</a:t>
            </a:r>
          </a:p>
          <a:p>
            <a:pPr>
              <a:spcAft>
                <a:spcPts val="500"/>
              </a:spcAft>
              <a:defRPr sz="1900"/>
            </a:pPr>
            <a:r>
              <a:t>    ascending=False</a:t>
            </a:r>
          </a:p>
          <a:p>
            <a:pPr>
              <a:spcAft>
                <a:spcPts val="500"/>
              </a:spcAft>
              <a:defRPr sz="1900"/>
            </a:pPr>
            <a:r>
              <a:t>))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32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Data Reduction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8356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900"/>
            </a:pPr>
            <a:r>
              <a:t>Data reduction obtains a reduced representation of the dataset while preserving useful information.</a:t>
            </a:r>
          </a:p>
          <a:p>
            <a:pPr>
              <a:spcAft>
                <a:spcPts val="500"/>
              </a:spcAft>
              <a:defRPr sz="1900"/>
            </a:pPr>
            <a:endParaRPr/>
          </a:p>
          <a:p>
            <a:pPr>
              <a:spcAft>
                <a:spcPts val="500"/>
              </a:spcAft>
              <a:defRPr sz="1900"/>
            </a:pPr>
            <a:r>
              <a:t>Major strategies:</a:t>
            </a:r>
          </a:p>
          <a:p>
            <a:pPr>
              <a:spcAft>
                <a:spcPts val="500"/>
              </a:spcAft>
              <a:defRPr sz="1900"/>
            </a:pPr>
            <a:r>
              <a:t>• Data cube aggregation</a:t>
            </a:r>
          </a:p>
          <a:p>
            <a:pPr>
              <a:spcAft>
                <a:spcPts val="500"/>
              </a:spcAft>
              <a:defRPr sz="1900"/>
            </a:pPr>
            <a:r>
              <a:t>• Attribute subset selection</a:t>
            </a:r>
          </a:p>
          <a:p>
            <a:pPr>
              <a:spcAft>
                <a:spcPts val="500"/>
              </a:spcAft>
              <a:defRPr sz="1900"/>
            </a:pPr>
            <a:r>
              <a:t>• Dimensionality reduction</a:t>
            </a:r>
          </a:p>
          <a:p>
            <a:pPr>
              <a:spcAft>
                <a:spcPts val="500"/>
              </a:spcAft>
              <a:defRPr sz="1900"/>
            </a:pPr>
            <a:r>
              <a:t>• Numerosity reduction</a:t>
            </a:r>
          </a:p>
          <a:p>
            <a:pPr>
              <a:spcAft>
                <a:spcPts val="500"/>
              </a:spcAft>
              <a:defRPr sz="1900"/>
            </a:pPr>
            <a:r>
              <a:t>• Discretization and concept hierarchy generation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33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Attribute Subset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8356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900"/>
            </a:pPr>
            <a:r>
              <a:t>Remove irrelevant or redundant attributes.</a:t>
            </a:r>
          </a:p>
          <a:p>
            <a:pPr>
              <a:spcAft>
                <a:spcPts val="500"/>
              </a:spcAft>
              <a:defRPr sz="1900"/>
            </a:pPr>
            <a:endParaRPr/>
          </a:p>
          <a:p>
            <a:pPr>
              <a:spcAft>
                <a:spcPts val="500"/>
              </a:spcAft>
              <a:defRPr sz="1900"/>
            </a:pPr>
            <a:r>
              <a:t>Example:</a:t>
            </a:r>
          </a:p>
          <a:p>
            <a:pPr>
              <a:spcAft>
                <a:spcPts val="500"/>
              </a:spcAft>
              <a:defRPr sz="1900"/>
            </a:pPr>
            <a:r>
              <a:t>Original: Age, Gender, City, CGPA, Skills, Hobby, Income</a:t>
            </a:r>
          </a:p>
          <a:p>
            <a:pPr>
              <a:spcAft>
                <a:spcPts val="500"/>
              </a:spcAft>
              <a:defRPr sz="1900"/>
            </a:pPr>
            <a:endParaRPr/>
          </a:p>
          <a:p>
            <a:pPr>
              <a:spcAft>
                <a:spcPts val="500"/>
              </a:spcAft>
              <a:defRPr sz="1900"/>
            </a:pPr>
            <a:r>
              <a:t>For a specific mining task, some attributes may be irrelevant.</a:t>
            </a:r>
          </a:p>
          <a:p>
            <a:pPr>
              <a:spcAft>
                <a:spcPts val="500"/>
              </a:spcAft>
              <a:defRPr sz="1900"/>
            </a:pPr>
            <a:endParaRPr/>
          </a:p>
          <a:p>
            <a:pPr>
              <a:spcAft>
                <a:spcPts val="500"/>
              </a:spcAft>
              <a:defRPr sz="1900"/>
            </a:pPr>
            <a:r>
              <a:t>Benefits:</a:t>
            </a:r>
          </a:p>
          <a:p>
            <a:pPr>
              <a:spcAft>
                <a:spcPts val="500"/>
              </a:spcAft>
              <a:defRPr sz="1900"/>
            </a:pPr>
            <a:r>
              <a:t>• Lower dimensionality</a:t>
            </a:r>
          </a:p>
          <a:p>
            <a:pPr>
              <a:spcAft>
                <a:spcPts val="500"/>
              </a:spcAft>
              <a:defRPr sz="1900"/>
            </a:pPr>
            <a:r>
              <a:t>• Faster processing</a:t>
            </a:r>
          </a:p>
          <a:p>
            <a:pPr>
              <a:spcAft>
                <a:spcPts val="500"/>
              </a:spcAft>
              <a:defRPr sz="1900"/>
            </a:pPr>
            <a:r>
              <a:t>• Reduced noise</a:t>
            </a:r>
          </a:p>
          <a:p>
            <a:pPr>
              <a:spcAft>
                <a:spcPts val="500"/>
              </a:spcAft>
              <a:defRPr sz="1900"/>
            </a:pPr>
            <a:r>
              <a:t>• Potentially better generalization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34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Python: Feature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8356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from sklearn.feature_selection import SelectKBest</a:t>
            </a:r>
          </a:p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from sklearn.feature_selection import f_classif</a:t>
            </a:r>
          </a:p>
          <a:p>
            <a:pPr>
              <a:spcAft>
                <a:spcPts val="500"/>
              </a:spcAft>
              <a:defRPr sz="1700"/>
            </a:pPr>
            <a:endParaRPr/>
          </a:p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X_selected = SelectKBest(</a:t>
            </a:r>
          </a:p>
          <a:p>
            <a:pPr>
              <a:spcAft>
                <a:spcPts val="500"/>
              </a:spcAft>
              <a:defRPr sz="1700"/>
            </a:pPr>
            <a:r>
              <a:t>    score_func=f_classif,</a:t>
            </a:r>
          </a:p>
          <a:p>
            <a:pPr>
              <a:spcAft>
                <a:spcPts val="500"/>
              </a:spcAft>
              <a:defRPr sz="1700"/>
            </a:pPr>
            <a:r>
              <a:t>    k=3</a:t>
            </a:r>
          </a:p>
          <a:p>
            <a:pPr>
              <a:spcAft>
                <a:spcPts val="500"/>
              </a:spcAft>
              <a:defRPr sz="1700"/>
            </a:pPr>
            <a:r>
              <a:t>).fit_transform(X, y)</a:t>
            </a:r>
          </a:p>
          <a:p>
            <a:pPr>
              <a:spcAft>
                <a:spcPts val="500"/>
              </a:spcAft>
              <a:defRPr sz="1700"/>
            </a:pPr>
            <a:endParaRPr/>
          </a:p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print(X_selected.shape)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35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Dimensionality Reduction: PCA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8356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900"/>
            </a:pPr>
            <a:r>
              <a:t>Principal Component Analysis (PCA) transforms correlated variables into a smaller set of uncorrelated principal components.</a:t>
            </a:r>
          </a:p>
          <a:p>
            <a:pPr>
              <a:spcAft>
                <a:spcPts val="500"/>
              </a:spcAft>
              <a:defRPr sz="1900"/>
            </a:pPr>
            <a:endParaRPr/>
          </a:p>
          <a:p>
            <a:pPr>
              <a:spcAft>
                <a:spcPts val="500"/>
              </a:spcAft>
              <a:defRPr sz="1900"/>
            </a:pPr>
            <a:r>
              <a:t>The first principal component captures the maximum possible variance, the second captures the maximum remaining variance, and so on.</a:t>
            </a:r>
          </a:p>
          <a:p>
            <a:pPr>
              <a:spcAft>
                <a:spcPts val="500"/>
              </a:spcAft>
              <a:defRPr sz="1900"/>
            </a:pPr>
            <a:endParaRPr/>
          </a:p>
          <a:p>
            <a:pPr>
              <a:spcAft>
                <a:spcPts val="500"/>
              </a:spcAft>
              <a:defRPr sz="1900"/>
            </a:pPr>
            <a:r>
              <a:t>Used when many numerical features exist.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36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Python: PCA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8356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from sklearn.preprocessing import StandardScaler</a:t>
            </a:r>
          </a:p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from sklearn.decomposition import PCA</a:t>
            </a:r>
          </a:p>
          <a:p>
            <a:pPr>
              <a:spcAft>
                <a:spcPts val="500"/>
              </a:spcAft>
              <a:defRPr sz="1700"/>
            </a:pPr>
            <a:endParaRPr/>
          </a:p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X_scaled = StandardScaler().fit_transform(X)</a:t>
            </a:r>
          </a:p>
          <a:p>
            <a:pPr>
              <a:spcAft>
                <a:spcPts val="500"/>
              </a:spcAft>
              <a:defRPr sz="1700"/>
            </a:pPr>
            <a:endParaRPr/>
          </a:p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pca = PCA(n_components=2)</a:t>
            </a:r>
          </a:p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X_pca = pca.fit_transform(X_scaled)</a:t>
            </a:r>
          </a:p>
          <a:p>
            <a:pPr>
              <a:spcAft>
                <a:spcPts val="500"/>
              </a:spcAft>
              <a:defRPr sz="1700"/>
            </a:pPr>
            <a:endParaRPr/>
          </a:p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print("New shape:", X_pca.shape)</a:t>
            </a:r>
          </a:p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print("Explained variance:",</a:t>
            </a:r>
          </a:p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      pca.explained_variance_ratio_)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37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Data Transformation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8356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900"/>
            </a:pPr>
            <a:r>
              <a:t>Data transformation converts data into forms more suitable for mining.</a:t>
            </a:r>
          </a:p>
          <a:p>
            <a:pPr>
              <a:spcAft>
                <a:spcPts val="500"/>
              </a:spcAft>
              <a:defRPr sz="1900"/>
            </a:pPr>
            <a:endParaRPr/>
          </a:p>
          <a:p>
            <a:pPr>
              <a:spcAft>
                <a:spcPts val="500"/>
              </a:spcAft>
              <a:defRPr sz="1900"/>
            </a:pPr>
            <a:r>
              <a:t>Common techniques:</a:t>
            </a:r>
          </a:p>
          <a:p>
            <a:pPr>
              <a:spcAft>
                <a:spcPts val="500"/>
              </a:spcAft>
              <a:defRPr sz="1900"/>
            </a:pPr>
            <a:r>
              <a:t>• Smoothing</a:t>
            </a:r>
          </a:p>
          <a:p>
            <a:pPr>
              <a:spcAft>
                <a:spcPts val="500"/>
              </a:spcAft>
              <a:defRPr sz="1900"/>
            </a:pPr>
            <a:r>
              <a:t>• Aggregation</a:t>
            </a:r>
          </a:p>
          <a:p>
            <a:pPr>
              <a:spcAft>
                <a:spcPts val="500"/>
              </a:spcAft>
              <a:defRPr sz="1900"/>
            </a:pPr>
            <a:r>
              <a:t>• Generalization</a:t>
            </a:r>
          </a:p>
          <a:p>
            <a:pPr>
              <a:spcAft>
                <a:spcPts val="500"/>
              </a:spcAft>
              <a:defRPr sz="1900"/>
            </a:pPr>
            <a:r>
              <a:t>• Normalization</a:t>
            </a:r>
          </a:p>
          <a:p>
            <a:pPr>
              <a:spcAft>
                <a:spcPts val="500"/>
              </a:spcAft>
              <a:defRPr sz="1900"/>
            </a:pPr>
            <a:r>
              <a:t>• Attribute construction</a:t>
            </a:r>
          </a:p>
          <a:p>
            <a:pPr>
              <a:spcAft>
                <a:spcPts val="500"/>
              </a:spcAft>
              <a:defRPr sz="1900"/>
            </a:pPr>
            <a:endParaRPr/>
          </a:p>
          <a:p>
            <a:pPr>
              <a:spcAft>
                <a:spcPts val="500"/>
              </a:spcAft>
              <a:defRPr sz="1900"/>
            </a:pPr>
            <a:r>
              <a:t>Normalization is especially important for distance-based and gradient-based algorithms.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38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Min-Max Normalization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8356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900"/>
            </a:pPr>
            <a:r>
              <a:t>Transforms values to a specified range, commonly [0, 1].</a:t>
            </a:r>
          </a:p>
          <a:p>
            <a:pPr>
              <a:spcAft>
                <a:spcPts val="500"/>
              </a:spcAft>
              <a:defRPr sz="1900"/>
            </a:pPr>
            <a:endParaRPr/>
          </a:p>
          <a:p>
            <a:pPr>
              <a:spcAft>
                <a:spcPts val="500"/>
              </a:spcAft>
              <a:defRPr sz="1900"/>
            </a:pPr>
            <a:r>
              <a:t>v′ = (v − minA)/(maxA − minA) × (new_max − new_min) + new_min</a:t>
            </a:r>
          </a:p>
          <a:p>
            <a:pPr>
              <a:spcAft>
                <a:spcPts val="500"/>
              </a:spcAft>
              <a:defRPr sz="1900"/>
            </a:pPr>
            <a:endParaRPr/>
          </a:p>
          <a:p>
            <a:pPr>
              <a:spcAft>
                <a:spcPts val="500"/>
              </a:spcAft>
              <a:defRPr sz="1900"/>
            </a:pPr>
            <a:r>
              <a:t>For [0,1]:</a:t>
            </a:r>
          </a:p>
          <a:p>
            <a:pPr>
              <a:spcAft>
                <a:spcPts val="500"/>
              </a:spcAft>
              <a:defRPr sz="1900"/>
            </a:pPr>
            <a:r>
              <a:t>v′ = (v − minA)/(maxA − minA)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39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Python: Min-Max Normalization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8356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from sklearn.preprocessing import MinMaxScaler</a:t>
            </a:r>
          </a:p>
          <a:p>
            <a:pPr>
              <a:spcAft>
                <a:spcPts val="500"/>
              </a:spcAft>
              <a:defRPr sz="1700"/>
            </a:pPr>
            <a:endParaRPr/>
          </a:p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scaler = MinMaxScaler()</a:t>
            </a:r>
          </a:p>
          <a:p>
            <a:pPr>
              <a:spcAft>
                <a:spcPts val="500"/>
              </a:spcAft>
              <a:defRPr sz="1700"/>
            </a:pPr>
            <a:endParaRPr/>
          </a:p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df["Age_scaled"] = scaler.fit_transform(</a:t>
            </a:r>
          </a:p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    df[["Age"]]</a:t>
            </a:r>
          </a:p>
          <a:p>
            <a:pPr>
              <a:spcAft>
                <a:spcPts val="500"/>
              </a:spcAft>
              <a:defRPr sz="1700"/>
            </a:pPr>
            <a:r>
              <a:t>)</a:t>
            </a:r>
          </a:p>
          <a:p>
            <a:pPr>
              <a:spcAft>
                <a:spcPts val="500"/>
              </a:spcAft>
              <a:defRPr sz="1700"/>
            </a:pPr>
            <a:endParaRPr/>
          </a:p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print(df[["Age", "Age_scaled"]])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40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Z-Score Normalization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8356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900"/>
            </a:pPr>
            <a:r>
              <a:t>Standardizes values using the mean and standard deviation.</a:t>
            </a:r>
          </a:p>
          <a:p>
            <a:pPr>
              <a:spcAft>
                <a:spcPts val="500"/>
              </a:spcAft>
              <a:defRPr sz="1900"/>
            </a:pPr>
            <a:endParaRPr/>
          </a:p>
          <a:p>
            <a:pPr>
              <a:spcAft>
                <a:spcPts val="500"/>
              </a:spcAft>
              <a:defRPr sz="1900"/>
            </a:pPr>
            <a:r>
              <a:t>v′ = (v − μA) / σA</a:t>
            </a:r>
          </a:p>
          <a:p>
            <a:pPr>
              <a:spcAft>
                <a:spcPts val="500"/>
              </a:spcAft>
              <a:defRPr sz="1900"/>
            </a:pPr>
            <a:endParaRPr/>
          </a:p>
          <a:p>
            <a:pPr>
              <a:spcAft>
                <a:spcPts val="500"/>
              </a:spcAft>
              <a:defRPr sz="1900"/>
            </a:pPr>
            <a:r>
              <a:t>After standardization, values are expressed in terms of standard deviations from the mean.</a:t>
            </a:r>
          </a:p>
          <a:p>
            <a:pPr>
              <a:spcAft>
                <a:spcPts val="500"/>
              </a:spcAft>
              <a:defRPr sz="1900"/>
            </a:pPr>
            <a:endParaRPr/>
          </a:p>
          <a:p>
            <a:pPr>
              <a:spcAft>
                <a:spcPts val="500"/>
              </a:spcAft>
              <a:defRPr sz="1900"/>
            </a:pPr>
            <a:r>
              <a:t>Useful when features have different scales or distributions.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41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Python: Z-Score Normalization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8356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from sklearn.preprocessing import StandardScaler</a:t>
            </a:r>
          </a:p>
          <a:p>
            <a:pPr>
              <a:spcAft>
                <a:spcPts val="500"/>
              </a:spcAft>
              <a:defRPr sz="1700"/>
            </a:pPr>
            <a:endParaRPr/>
          </a:p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scaler = StandardScaler()</a:t>
            </a:r>
          </a:p>
          <a:p>
            <a:pPr>
              <a:spcAft>
                <a:spcPts val="500"/>
              </a:spcAft>
              <a:defRPr sz="1700"/>
            </a:pPr>
            <a:endParaRPr/>
          </a:p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df["Age_zscore"] = scaler.fit_transform(</a:t>
            </a:r>
          </a:p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    df[["Age"]]</a:t>
            </a:r>
          </a:p>
          <a:p>
            <a:pPr>
              <a:spcAft>
                <a:spcPts val="500"/>
              </a:spcAft>
              <a:defRPr sz="1700"/>
            </a:pPr>
            <a:r>
              <a:t>)</a:t>
            </a:r>
          </a:p>
          <a:p>
            <a:pPr>
              <a:spcAft>
                <a:spcPts val="500"/>
              </a:spcAft>
              <a:defRPr sz="1700"/>
            </a:pPr>
            <a:endParaRPr/>
          </a:p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print(df[["Age", "Age_zscore"]])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42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Decimal Scaling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8356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900"/>
            </a:pPr>
            <a:r>
              <a:t>Decimal scaling moves the decimal point of values.</a:t>
            </a:r>
          </a:p>
          <a:p>
            <a:pPr>
              <a:spcAft>
                <a:spcPts val="500"/>
              </a:spcAft>
              <a:defRPr sz="1900"/>
            </a:pPr>
            <a:endParaRPr/>
          </a:p>
          <a:p>
            <a:pPr>
              <a:spcAft>
                <a:spcPts val="500"/>
              </a:spcAft>
              <a:defRPr sz="1900"/>
            </a:pPr>
            <a:r>
              <a:t>v′ = v / 10^j</a:t>
            </a:r>
          </a:p>
          <a:p>
            <a:pPr>
              <a:spcAft>
                <a:spcPts val="500"/>
              </a:spcAft>
              <a:defRPr sz="1900"/>
            </a:pPr>
            <a:endParaRPr/>
          </a:p>
          <a:p>
            <a:pPr>
              <a:spcAft>
                <a:spcPts val="500"/>
              </a:spcAft>
              <a:defRPr sz="1900"/>
            </a:pPr>
            <a:r>
              <a:t>Choose the smallest j such that max(|v′|) &lt; 1.</a:t>
            </a:r>
          </a:p>
          <a:p>
            <a:pPr>
              <a:spcAft>
                <a:spcPts val="500"/>
              </a:spcAft>
              <a:defRPr sz="1900"/>
            </a:pPr>
            <a:endParaRPr/>
          </a:p>
          <a:p>
            <a:pPr>
              <a:spcAft>
                <a:spcPts val="500"/>
              </a:spcAft>
              <a:defRPr sz="1900"/>
            </a:pPr>
            <a:r>
              <a:t>Example:</a:t>
            </a:r>
          </a:p>
          <a:p>
            <a:pPr>
              <a:spcAft>
                <a:spcPts val="500"/>
              </a:spcAft>
              <a:defRPr sz="1900"/>
            </a:pPr>
            <a:r>
              <a:t>If max(|v|) = 987,</a:t>
            </a:r>
          </a:p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j = 3</a:t>
            </a:r>
          </a:p>
          <a:p>
            <a:pPr>
              <a:spcAft>
                <a:spcPts val="500"/>
              </a:spcAft>
              <a:defRPr sz="1900"/>
            </a:pPr>
            <a:r>
              <a:t>987 / 10³ = 0.987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43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Python: Decimal Scaling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8356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x = df["Income"]</a:t>
            </a:r>
          </a:p>
          <a:p>
            <a:pPr>
              <a:spcAft>
                <a:spcPts val="500"/>
              </a:spcAft>
              <a:defRPr sz="1900"/>
            </a:pPr>
            <a:endParaRPr/>
          </a:p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j = len(str(int(x.abs().max())))</a:t>
            </a:r>
          </a:p>
          <a:p>
            <a:pPr>
              <a:spcAft>
                <a:spcPts val="500"/>
              </a:spcAft>
              <a:defRPr sz="1900"/>
            </a:pPr>
            <a:endParaRPr/>
          </a:p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df["Income_decimal"] = x / (10 ** j)</a:t>
            </a:r>
          </a:p>
          <a:p>
            <a:pPr>
              <a:spcAft>
                <a:spcPts val="500"/>
              </a:spcAft>
              <a:defRPr sz="1900"/>
            </a:pPr>
            <a:endParaRPr/>
          </a:p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print(df[[</a:t>
            </a:r>
          </a:p>
          <a:p>
            <a:pPr>
              <a:spcAft>
                <a:spcPts val="500"/>
              </a:spcAft>
              <a:defRPr sz="1900"/>
            </a:pPr>
            <a:r>
              <a:t>    "Income",</a:t>
            </a:r>
          </a:p>
          <a:p>
            <a:pPr>
              <a:spcAft>
                <a:spcPts val="500"/>
              </a:spcAft>
              <a:defRPr sz="1900"/>
            </a:pPr>
            <a:r>
              <a:t>    "Income_decimal"</a:t>
            </a:r>
          </a:p>
          <a:p>
            <a:pPr>
              <a:spcAft>
                <a:spcPts val="500"/>
              </a:spcAft>
              <a:defRPr sz="1900"/>
            </a:pPr>
            <a:r>
              <a:t>]])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44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Discretization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8356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900"/>
            </a:pPr>
            <a:r>
              <a:t>Discretization converts continuous attributes into interval labels.</a:t>
            </a:r>
          </a:p>
          <a:p>
            <a:pPr>
              <a:spcAft>
                <a:spcPts val="500"/>
              </a:spcAft>
              <a:defRPr sz="1900"/>
            </a:pPr>
            <a:endParaRPr/>
          </a:p>
          <a:p>
            <a:pPr>
              <a:spcAft>
                <a:spcPts val="500"/>
              </a:spcAft>
              <a:defRPr sz="1900"/>
            </a:pPr>
            <a:r>
              <a:t>Example: Age</a:t>
            </a:r>
          </a:p>
          <a:p>
            <a:pPr>
              <a:spcAft>
                <a:spcPts val="500"/>
              </a:spcAft>
              <a:defRPr sz="1900"/>
            </a:pPr>
            <a:r>
              <a:t>18–25 → Young</a:t>
            </a:r>
          </a:p>
          <a:p>
            <a:pPr>
              <a:spcAft>
                <a:spcPts val="500"/>
              </a:spcAft>
              <a:defRPr sz="1900"/>
            </a:pPr>
            <a:r>
              <a:t>26–40 → Adult</a:t>
            </a:r>
          </a:p>
          <a:p>
            <a:pPr>
              <a:spcAft>
                <a:spcPts val="500"/>
              </a:spcAft>
              <a:defRPr sz="1900"/>
            </a:pPr>
            <a:r>
              <a:t>41–60 → Middle-aged</a:t>
            </a:r>
          </a:p>
          <a:p>
            <a:pPr>
              <a:spcAft>
                <a:spcPts val="500"/>
              </a:spcAft>
              <a:defRPr sz="1900"/>
            </a:pPr>
            <a:r>
              <a:t>61+ → Senior</a:t>
            </a:r>
          </a:p>
          <a:p>
            <a:pPr>
              <a:spcAft>
                <a:spcPts val="500"/>
              </a:spcAft>
              <a:defRPr sz="1900"/>
            </a:pPr>
            <a:endParaRPr/>
          </a:p>
          <a:p>
            <a:pPr>
              <a:spcAft>
                <a:spcPts val="500"/>
              </a:spcAft>
              <a:defRPr sz="1900"/>
            </a:pPr>
            <a:r>
              <a:t>It can simplify data and support concept hierarchies.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45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Python: Discretization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8356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df["Age_Group"] = pd.cut(</a:t>
            </a:r>
          </a:p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    df["Age"],</a:t>
            </a:r>
          </a:p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    bins=[0, 25, 40, 60, 100],</a:t>
            </a:r>
          </a:p>
          <a:p>
            <a:pPr>
              <a:spcAft>
                <a:spcPts val="500"/>
              </a:spcAft>
              <a:defRPr sz="1900"/>
            </a:pPr>
            <a:r>
              <a:t>    labels=[</a:t>
            </a:r>
          </a:p>
          <a:p>
            <a:pPr>
              <a:spcAft>
                <a:spcPts val="500"/>
              </a:spcAft>
              <a:defRPr sz="1900"/>
            </a:pPr>
            <a:r>
              <a:t>        "Young", "Adult",</a:t>
            </a:r>
          </a:p>
          <a:p>
            <a:pPr>
              <a:spcAft>
                <a:spcPts val="500"/>
              </a:spcAft>
              <a:defRPr sz="1900"/>
            </a:pPr>
            <a:r>
              <a:t>        "Middle-aged", "Senior"</a:t>
            </a:r>
          </a:p>
          <a:p>
            <a:pPr>
              <a:spcAft>
                <a:spcPts val="500"/>
              </a:spcAft>
              <a:defRPr sz="1900"/>
            </a:pPr>
            <a:r>
              <a:t>    ]</a:t>
            </a:r>
          </a:p>
          <a:p>
            <a:pPr>
              <a:spcAft>
                <a:spcPts val="500"/>
              </a:spcAft>
              <a:defRPr sz="1900"/>
            </a:pPr>
            <a:r>
              <a:t>)</a:t>
            </a:r>
          </a:p>
          <a:p>
            <a:pPr>
              <a:spcAft>
                <a:spcPts val="500"/>
              </a:spcAft>
              <a:defRPr sz="1900"/>
            </a:pPr>
            <a:endParaRPr/>
          </a:p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print(df[["Age", "Age_Group"]])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46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Complete Preprocessing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8356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900"/>
            </a:pPr>
            <a:r>
              <a:t>Raw Dataset</a:t>
            </a:r>
          </a:p>
          <a:p>
            <a:pPr>
              <a:spcAft>
                <a:spcPts val="500"/>
              </a:spcAft>
              <a:defRPr sz="1900"/>
            </a:pPr>
            <a:r>
              <a:t>↓</a:t>
            </a:r>
          </a:p>
          <a:p>
            <a:pPr>
              <a:spcAft>
                <a:spcPts val="500"/>
              </a:spcAft>
              <a:defRPr sz="1900"/>
            </a:pPr>
            <a:r>
              <a:t>Understand data &amp; data types</a:t>
            </a:r>
          </a:p>
          <a:p>
            <a:pPr>
              <a:spcAft>
                <a:spcPts val="500"/>
              </a:spcAft>
              <a:defRPr sz="1900"/>
            </a:pPr>
            <a:r>
              <a:t>↓</a:t>
            </a:r>
          </a:p>
          <a:p>
            <a:pPr>
              <a:spcAft>
                <a:spcPts val="500"/>
              </a:spcAft>
              <a:defRPr sz="1900"/>
            </a:pPr>
            <a:r>
              <a:t>Check missing values</a:t>
            </a:r>
          </a:p>
          <a:p>
            <a:pPr>
              <a:spcAft>
                <a:spcPts val="500"/>
              </a:spcAft>
              <a:defRPr sz="1900"/>
            </a:pPr>
            <a:r>
              <a:t>↓</a:t>
            </a:r>
          </a:p>
          <a:p>
            <a:pPr>
              <a:spcAft>
                <a:spcPts val="500"/>
              </a:spcAft>
              <a:defRPr sz="1900"/>
            </a:pPr>
            <a:r>
              <a:t>Clean inconsistent values</a:t>
            </a:r>
          </a:p>
          <a:p>
            <a:pPr>
              <a:spcAft>
                <a:spcPts val="500"/>
              </a:spcAft>
              <a:defRPr sz="1900"/>
            </a:pPr>
            <a:r>
              <a:t>↓</a:t>
            </a:r>
          </a:p>
          <a:p>
            <a:pPr>
              <a:spcAft>
                <a:spcPts val="500"/>
              </a:spcAft>
              <a:defRPr sz="1900"/>
            </a:pPr>
            <a:r>
              <a:t>Remove/handle duplicates</a:t>
            </a:r>
          </a:p>
          <a:p>
            <a:pPr>
              <a:spcAft>
                <a:spcPts val="500"/>
              </a:spcAft>
              <a:defRPr sz="1900"/>
            </a:pPr>
            <a:r>
              <a:t>↓</a:t>
            </a:r>
          </a:p>
          <a:p>
            <a:pPr>
              <a:spcAft>
                <a:spcPts val="500"/>
              </a:spcAft>
              <a:defRPr sz="1900"/>
            </a:pPr>
            <a:r>
              <a:t>Detect noise and outliers</a:t>
            </a:r>
          </a:p>
          <a:p>
            <a:pPr>
              <a:spcAft>
                <a:spcPts val="500"/>
              </a:spcAft>
              <a:defRPr sz="1900"/>
            </a:pPr>
            <a:r>
              <a:t>↓</a:t>
            </a:r>
          </a:p>
          <a:p>
            <a:pPr>
              <a:spcAft>
                <a:spcPts val="500"/>
              </a:spcAft>
              <a:defRPr sz="1900"/>
            </a:pPr>
            <a:r>
              <a:t>Integrate multiple sources if needed</a:t>
            </a:r>
          </a:p>
          <a:p>
            <a:pPr>
              <a:spcAft>
                <a:spcPts val="500"/>
              </a:spcAft>
              <a:defRPr sz="1900"/>
            </a:pPr>
            <a:r>
              <a:t>↓</a:t>
            </a:r>
          </a:p>
          <a:p>
            <a:pPr>
              <a:spcAft>
                <a:spcPts val="500"/>
              </a:spcAft>
              <a:defRPr sz="1900"/>
            </a:pPr>
            <a:r>
              <a:t>Reduce irrelevant/redundant attributes</a:t>
            </a:r>
          </a:p>
          <a:p>
            <a:pPr>
              <a:spcAft>
                <a:spcPts val="500"/>
              </a:spcAft>
              <a:defRPr sz="1900"/>
            </a:pPr>
            <a:r>
              <a:t>↓</a:t>
            </a:r>
          </a:p>
          <a:p>
            <a:pPr>
              <a:spcAft>
                <a:spcPts val="500"/>
              </a:spcAft>
              <a:defRPr sz="1900"/>
            </a:pPr>
            <a:r>
              <a:t>Transform / normalize / discretize</a:t>
            </a:r>
          </a:p>
          <a:p>
            <a:pPr>
              <a:spcAft>
                <a:spcPts val="500"/>
              </a:spcAft>
              <a:defRPr sz="1900"/>
            </a:pPr>
            <a:r>
              <a:t>↓</a:t>
            </a:r>
          </a:p>
          <a:p>
            <a:pPr>
              <a:spcAft>
                <a:spcPts val="500"/>
              </a:spcAft>
              <a:defRPr sz="1900"/>
            </a:pPr>
            <a:r>
              <a:t>Prepared Dataset</a:t>
            </a:r>
          </a:p>
          <a:p>
            <a:pPr>
              <a:spcAft>
                <a:spcPts val="500"/>
              </a:spcAft>
              <a:defRPr sz="1900"/>
            </a:pPr>
            <a:r>
              <a:t>↓</a:t>
            </a:r>
          </a:p>
          <a:p>
            <a:pPr>
              <a:spcAft>
                <a:spcPts val="500"/>
              </a:spcAft>
              <a:defRPr sz="1900"/>
            </a:pPr>
            <a:r>
              <a:t>Data Mining / 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47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End-to-End Python Template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8356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import pandas as pd</a:t>
            </a:r>
          </a:p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from sklearn.preprocessing import StandardScaler</a:t>
            </a:r>
          </a:p>
          <a:p>
            <a:pPr>
              <a:spcAft>
                <a:spcPts val="500"/>
              </a:spcAft>
              <a:defRPr sz="1700"/>
            </a:pPr>
            <a:endParaRPr/>
          </a:p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df = pd.read_csv("data.csv")</a:t>
            </a:r>
          </a:p>
          <a:p>
            <a:pPr>
              <a:spcAft>
                <a:spcPts val="500"/>
              </a:spcAft>
              <a:defRPr sz="1700"/>
            </a:pPr>
            <a:endParaRPr/>
          </a:p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# 1. Inspect</a:t>
            </a:r>
          </a:p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print(df.shape)</a:t>
            </a:r>
          </a:p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print(df.info())</a:t>
            </a:r>
          </a:p>
          <a:p>
            <a:pPr>
              <a:spcAft>
                <a:spcPts val="500"/>
              </a:spcAft>
              <a:defRPr sz="1700"/>
            </a:pPr>
            <a:endParaRPr/>
          </a:p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# 2. Missing values</a:t>
            </a:r>
          </a:p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print(df.isnull().sum())</a:t>
            </a:r>
          </a:p>
          <a:p>
            <a:pPr>
              <a:spcAft>
                <a:spcPts val="500"/>
              </a:spcAft>
              <a:defRPr sz="1700"/>
            </a:pPr>
            <a:endParaRPr/>
          </a:p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# 3. Remove duplicates</a:t>
            </a:r>
          </a:p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df = df.drop_duplicates()</a:t>
            </a:r>
          </a:p>
          <a:p>
            <a:pPr>
              <a:spcAft>
                <a:spcPts val="500"/>
              </a:spcAft>
              <a:defRPr sz="1700"/>
            </a:pPr>
            <a:endParaRPr/>
          </a:p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# 4. Fill numeric missing values</a:t>
            </a:r>
          </a:p>
          <a:p>
            <a:pPr>
              <a:spcAft>
                <a:spcPts val="500"/>
              </a:spcAft>
              <a:defRPr sz="1700"/>
            </a:pPr>
            <a:r>
              <a:t>num_cols = df.select_dtypes(</a:t>
            </a:r>
          </a:p>
          <a:p>
            <a:pPr>
              <a:spcAft>
                <a:spcPts val="500"/>
              </a:spcAft>
              <a:defRPr sz="1700"/>
            </a:pPr>
            <a:r>
              <a:t>    include="number"</a:t>
            </a:r>
          </a:p>
          <a:p>
            <a:pPr>
              <a:spcAft>
                <a:spcPts val="500"/>
              </a:spcAft>
              <a:defRPr sz="1700"/>
            </a:pPr>
            <a:r>
              <a:t>).columns</a:t>
            </a:r>
          </a:p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df[num_cols] = df[num_cols].fillna(</a:t>
            </a:r>
          </a:p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    df[num_cols].median()</a:t>
            </a:r>
          </a:p>
          <a:p>
            <a:pPr>
              <a:spcAft>
                <a:spcPts val="500"/>
              </a:spcAft>
              <a:defRPr sz="1700"/>
            </a:pPr>
            <a:r>
              <a:t>)</a:t>
            </a:r>
          </a:p>
          <a:p>
            <a:pPr>
              <a:spcAft>
                <a:spcPts val="500"/>
              </a:spcAft>
              <a:defRPr sz="1700"/>
            </a:pPr>
            <a:endParaRPr/>
          </a:p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# 5. Standardize numeric features</a:t>
            </a:r>
          </a:p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scaler = StandardScaler()</a:t>
            </a:r>
          </a:p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df[num_cols] = scaler.fit_transform(df[num_cols])</a:t>
            </a:r>
          </a:p>
          <a:p>
            <a:pPr>
              <a:spcAft>
                <a:spcPts val="500"/>
              </a:spcAft>
              <a:defRPr sz="1700"/>
            </a:pPr>
            <a:endParaRPr/>
          </a:p>
          <a:p>
            <a:pPr>
              <a:spcAft>
                <a:spcPts val="500"/>
              </a:spcAft>
              <a:defRPr sz="1500">
                <a:latin typeface="Consolas"/>
              </a:defRPr>
            </a:pPr>
            <a:r>
              <a:t>print(df.head())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48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Preprocessing: Before vs After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8356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900"/>
            </a:pPr>
            <a:r>
              <a:t>BEFORE</a:t>
            </a:r>
          </a:p>
          <a:p>
            <a:pPr>
              <a:spcAft>
                <a:spcPts val="500"/>
              </a:spcAft>
              <a:defRPr sz="1900"/>
            </a:pPr>
            <a:r>
              <a:t>• Missing values</a:t>
            </a:r>
          </a:p>
          <a:p>
            <a:pPr>
              <a:spcAft>
                <a:spcPts val="500"/>
              </a:spcAft>
              <a:defRPr sz="1900"/>
            </a:pPr>
            <a:r>
              <a:t>• Duplicate records</a:t>
            </a:r>
          </a:p>
          <a:p>
            <a:pPr>
              <a:spcAft>
                <a:spcPts val="500"/>
              </a:spcAft>
              <a:defRPr sz="1900"/>
            </a:pPr>
            <a:r>
              <a:t>• Noise / outliers</a:t>
            </a:r>
          </a:p>
          <a:p>
            <a:pPr>
              <a:spcAft>
                <a:spcPts val="500"/>
              </a:spcAft>
              <a:defRPr sz="1900"/>
            </a:pPr>
            <a:r>
              <a:t>• Inconsistent labels</a:t>
            </a:r>
          </a:p>
          <a:p>
            <a:pPr>
              <a:spcAft>
                <a:spcPts val="500"/>
              </a:spcAft>
              <a:defRPr sz="1900"/>
            </a:pPr>
            <a:r>
              <a:t>• Different scales</a:t>
            </a:r>
          </a:p>
          <a:p>
            <a:pPr>
              <a:spcAft>
                <a:spcPts val="500"/>
              </a:spcAft>
              <a:defRPr sz="1900"/>
            </a:pPr>
            <a:r>
              <a:t>• Irrelevant attributes</a:t>
            </a:r>
          </a:p>
          <a:p>
            <a:pPr>
              <a:spcAft>
                <a:spcPts val="500"/>
              </a:spcAft>
              <a:defRPr sz="1900"/>
            </a:pPr>
            <a:endParaRPr/>
          </a:p>
          <a:p>
            <a:pPr>
              <a:spcAft>
                <a:spcPts val="500"/>
              </a:spcAft>
              <a:defRPr sz="1900"/>
            </a:pPr>
            <a:r>
              <a:t>AFTER</a:t>
            </a:r>
          </a:p>
          <a:p>
            <a:pPr>
              <a:spcAft>
                <a:spcPts val="500"/>
              </a:spcAft>
              <a:defRPr sz="1900"/>
            </a:pPr>
            <a:r>
              <a:t>• Complete or appropriately handled values</a:t>
            </a:r>
          </a:p>
          <a:p>
            <a:pPr>
              <a:spcAft>
                <a:spcPts val="500"/>
              </a:spcAft>
              <a:defRPr sz="1900"/>
            </a:pPr>
            <a:r>
              <a:t>• Consistent representation</a:t>
            </a:r>
          </a:p>
          <a:p>
            <a:pPr>
              <a:spcAft>
                <a:spcPts val="500"/>
              </a:spcAft>
              <a:defRPr sz="1900"/>
            </a:pPr>
            <a:r>
              <a:t>• Reduced noise</a:t>
            </a:r>
          </a:p>
          <a:p>
            <a:pPr>
              <a:spcAft>
                <a:spcPts val="500"/>
              </a:spcAft>
              <a:defRPr sz="1900"/>
            </a:pPr>
            <a:r>
              <a:t>• Controlled outliers</a:t>
            </a:r>
          </a:p>
          <a:p>
            <a:pPr>
              <a:spcAft>
                <a:spcPts val="500"/>
              </a:spcAft>
              <a:defRPr sz="1900"/>
            </a:pPr>
            <a:r>
              <a:t>• Suitable scale</a:t>
            </a:r>
          </a:p>
          <a:p>
            <a:pPr>
              <a:spcAft>
                <a:spcPts val="500"/>
              </a:spcAft>
              <a:defRPr sz="1900"/>
            </a:pPr>
            <a:r>
              <a:t>• Relevant features</a:t>
            </a:r>
          </a:p>
          <a:p>
            <a:pPr>
              <a:spcAft>
                <a:spcPts val="500"/>
              </a:spcAft>
              <a:defRPr sz="1900"/>
            </a:pPr>
            <a:endParaRPr/>
          </a:p>
          <a:p>
            <a:pPr>
              <a:spcAft>
                <a:spcPts val="500"/>
              </a:spcAft>
              <a:defRPr sz="1900"/>
            </a:pPr>
            <a:r>
              <a:t>Goal: a reliable dataset for mining.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49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8356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900"/>
            </a:pPr>
            <a:r>
              <a:t>• Preprocessing is fundamental to data mining.</a:t>
            </a:r>
          </a:p>
          <a:p>
            <a:pPr>
              <a:spcAft>
                <a:spcPts val="500"/>
              </a:spcAft>
              <a:defRPr sz="1900"/>
            </a:pPr>
            <a:r>
              <a:t>• Data cleaning addresses missing, noisy and inconsistent data.</a:t>
            </a:r>
          </a:p>
          <a:p>
            <a:pPr>
              <a:spcAft>
                <a:spcPts val="500"/>
              </a:spcAft>
              <a:defRPr sz="1900"/>
            </a:pPr>
            <a:r>
              <a:t>• Binning is a simple noise-smoothing technique.</a:t>
            </a:r>
          </a:p>
          <a:p>
            <a:pPr>
              <a:spcAft>
                <a:spcPts val="500"/>
              </a:spcAft>
              <a:defRPr sz="1900"/>
            </a:pPr>
            <a:r>
              <a:t>• Integration combines heterogeneous sources.</a:t>
            </a:r>
          </a:p>
          <a:p>
            <a:pPr>
              <a:spcAft>
                <a:spcPts val="500"/>
              </a:spcAft>
              <a:defRPr sz="1900"/>
            </a:pPr>
            <a:r>
              <a:t>• Reduction decreases data size/dimensionality.</a:t>
            </a:r>
          </a:p>
          <a:p>
            <a:pPr>
              <a:spcAft>
                <a:spcPts val="500"/>
              </a:spcAft>
              <a:defRPr sz="1900"/>
            </a:pPr>
            <a:r>
              <a:t>• Transformation makes attributes suitable for mining.</a:t>
            </a:r>
          </a:p>
          <a:p>
            <a:pPr>
              <a:spcAft>
                <a:spcPts val="500"/>
              </a:spcAft>
              <a:defRPr sz="1900"/>
            </a:pPr>
            <a:r>
              <a:t>• Always understand the data before choosing a preprocessing technique.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50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8356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900"/>
            </a:pPr>
            <a:r>
              <a:t>Han, J., Kamber, M., &amp; Pei, J. (2011).</a:t>
            </a:r>
          </a:p>
          <a:p>
            <a:pPr>
              <a:spcAft>
                <a:spcPts val="500"/>
              </a:spcAft>
              <a:defRPr sz="1900"/>
            </a:pPr>
            <a:r>
              <a:t>Data Mining: Concepts and Techniques, 3rd Edition.</a:t>
            </a:r>
          </a:p>
          <a:p>
            <a:pPr>
              <a:spcAft>
                <a:spcPts val="500"/>
              </a:spcAft>
              <a:defRPr sz="1900"/>
            </a:pPr>
            <a:r>
              <a:t>Morgan Kaufmann / Elsevier.</a:t>
            </a:r>
          </a:p>
          <a:p>
            <a:pPr>
              <a:spcAft>
                <a:spcPts val="500"/>
              </a:spcAft>
              <a:defRPr sz="1900"/>
            </a:pPr>
            <a:endParaRPr/>
          </a:p>
          <a:p>
            <a:pPr>
              <a:spcAft>
                <a:spcPts val="500"/>
              </a:spcAft>
              <a:defRPr sz="1900"/>
            </a:pPr>
            <a:r>
              <a:t>Topics aligned with the textbook: Data Preprocessing, Data Cleaning, Data Integration, Data Reduction, Data Transformation, Normalization and Discretization.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51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2614</Words>
  <Application>Microsoft Macintosh PowerPoint</Application>
  <PresentationFormat>Custom</PresentationFormat>
  <Paragraphs>632</Paragraphs>
  <Slides>52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3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</vt:vector>
  </TitlesOfParts>
  <Manager/>
  <Company/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/>
  <dc:creator/>
  <cp:keywords/>
  <dc:description>generated using python-pptx</dc:description>
  <cp:lastModifiedBy>PC</cp:lastModifiedBy>
  <cp:revision>3</cp:revision>
  <dcterms:created xsi:type="dcterms:W3CDTF">2013-01-27T09:14:16Z</dcterms:created>
  <dcterms:modified xsi:type="dcterms:W3CDTF">2026-08-10T18:16:52Z</dcterms:modified>
  <cp:category/>
</cp:coreProperties>
</file>