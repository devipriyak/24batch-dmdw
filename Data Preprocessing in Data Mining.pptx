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51865-66EF-38B0-FB0F-3A2C693447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BAB1A06-05D3-01EC-7127-93614643F6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1B7ACD-9423-C92F-F753-8BCB5F47A41C}"/>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5" name="Footer Placeholder 4">
            <a:extLst>
              <a:ext uri="{FF2B5EF4-FFF2-40B4-BE49-F238E27FC236}">
                <a16:creationId xmlns:a16="http://schemas.microsoft.com/office/drawing/2014/main" id="{B5C6DFA8-446F-A612-5597-3EA2B149E0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C34A7D-DF36-21F3-730F-90D27EC2EE2F}"/>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1963048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D8E8-5609-7F30-C021-8903D28E8F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19F00E-0701-94E6-5FEF-58348654AB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CE5C0E-DDE6-FFA8-A5DB-541A3286044C}"/>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5" name="Footer Placeholder 4">
            <a:extLst>
              <a:ext uri="{FF2B5EF4-FFF2-40B4-BE49-F238E27FC236}">
                <a16:creationId xmlns:a16="http://schemas.microsoft.com/office/drawing/2014/main" id="{AC16C19E-A58F-8A62-D38D-52786D9197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AFAE30-9E88-74CD-91D1-3CD5B3142101}"/>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2295712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F3B3E-F449-1096-FB88-7D38ABD673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7D9010-06E8-3E3D-1E3C-38EC5F9DDE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951193-C406-3252-807D-0E63E6FDCA17}"/>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5" name="Footer Placeholder 4">
            <a:extLst>
              <a:ext uri="{FF2B5EF4-FFF2-40B4-BE49-F238E27FC236}">
                <a16:creationId xmlns:a16="http://schemas.microsoft.com/office/drawing/2014/main" id="{8A397F90-A3E9-5730-EC8B-43FDF0878D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C21CE-1138-0823-E949-7D1C43BC0F2A}"/>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2463765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2454E-420B-BF74-4E80-3C5672795E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90A327-EEFE-0F47-E1FD-734D93E20F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3E7E65-CC78-0462-1F63-34BF6F3267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5A29C3-DFE6-33CD-5E27-6D4C725A80D1}"/>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6" name="Footer Placeholder 5">
            <a:extLst>
              <a:ext uri="{FF2B5EF4-FFF2-40B4-BE49-F238E27FC236}">
                <a16:creationId xmlns:a16="http://schemas.microsoft.com/office/drawing/2014/main" id="{47E2457C-5855-44F0-73BB-9A087936B1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62C69A-B546-DC53-BF1A-64F936CBAB68}"/>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658914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49A27-0684-3097-F9AB-3A1D06BA26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5E27BF-FA84-679B-FADF-DA896E9807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300CAF-FE08-99AD-744D-22642989BA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7B33B9-D54D-F29C-D6AA-9C29319502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24CF9E-7934-00DC-849F-B542058553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8D31DBB-08D1-D571-8B85-DC3594F19312}"/>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8" name="Footer Placeholder 7">
            <a:extLst>
              <a:ext uri="{FF2B5EF4-FFF2-40B4-BE49-F238E27FC236}">
                <a16:creationId xmlns:a16="http://schemas.microsoft.com/office/drawing/2014/main" id="{23513A30-0160-1A3C-A63D-3CBDC5C2DB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87945C1-402C-1899-68A6-FE1EEF2ADAFC}"/>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3315078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68F36-860B-6CC0-E023-BACDCB424EF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A20F02E-B795-7E35-F6CD-BF2063646991}"/>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4" name="Footer Placeholder 3">
            <a:extLst>
              <a:ext uri="{FF2B5EF4-FFF2-40B4-BE49-F238E27FC236}">
                <a16:creationId xmlns:a16="http://schemas.microsoft.com/office/drawing/2014/main" id="{B6DF1041-FBC8-3CE1-CFDF-85F8DE12BF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9E5F395-5EA9-3E53-191A-643E4FDB5510}"/>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3117914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CDF2CB-5631-F192-D461-7F71EA3DF4FC}"/>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3" name="Footer Placeholder 2">
            <a:extLst>
              <a:ext uri="{FF2B5EF4-FFF2-40B4-BE49-F238E27FC236}">
                <a16:creationId xmlns:a16="http://schemas.microsoft.com/office/drawing/2014/main" id="{13828ABD-0AE9-5372-F001-D4A2FDEC1A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D417109-AC71-CA47-8165-4E2908F9E357}"/>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3811221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3805C-BB26-84AD-9517-9D287F3FC1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6CBD02-B9D9-25EF-8D31-04C3C00D37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4E0C62D-1AB0-BA61-EB9C-8385634994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82E3BD-BEB9-9151-AC8D-D22F42738C9E}"/>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6" name="Footer Placeholder 5">
            <a:extLst>
              <a:ext uri="{FF2B5EF4-FFF2-40B4-BE49-F238E27FC236}">
                <a16:creationId xmlns:a16="http://schemas.microsoft.com/office/drawing/2014/main" id="{C2270B9F-FD00-0037-2D71-C99B1FA78D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13BFA9-433F-5891-086A-AEEEA618BF94}"/>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2821884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7D8F-D7CA-C516-F860-A641B245A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2A4A65-1B73-2914-C031-B628C0E893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2670F5-23B6-C010-8BE7-12DD3DC51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D8C352-7262-CD81-0113-F11EB3725287}"/>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6" name="Footer Placeholder 5">
            <a:extLst>
              <a:ext uri="{FF2B5EF4-FFF2-40B4-BE49-F238E27FC236}">
                <a16:creationId xmlns:a16="http://schemas.microsoft.com/office/drawing/2014/main" id="{84C6722C-1B47-4808-0076-8028FC0265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DDD7C0-F88B-518C-809D-BCF1462EA84F}"/>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1707718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DA6B-C702-733D-1E2C-5758BAF6DF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0B00A5-589B-EE17-A6AC-19AFC6B5B2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F37929-0415-3322-A0CD-394ACF6B756E}"/>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5" name="Footer Placeholder 4">
            <a:extLst>
              <a:ext uri="{FF2B5EF4-FFF2-40B4-BE49-F238E27FC236}">
                <a16:creationId xmlns:a16="http://schemas.microsoft.com/office/drawing/2014/main" id="{610415BF-1A2D-6F1B-8974-6B2ACAA691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06C1F2-9CC6-443A-63C5-1D18B6371809}"/>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2132033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8FB309-3B9B-08ED-5676-29FB77F249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30A6EE-1FB2-FCBA-201F-4FC380A658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3F910F-6DA7-1793-6CE4-12F2ACA74574}"/>
              </a:ext>
            </a:extLst>
          </p:cNvPr>
          <p:cNvSpPr>
            <a:spLocks noGrp="1"/>
          </p:cNvSpPr>
          <p:nvPr>
            <p:ph type="dt" sz="half" idx="10"/>
          </p:nvPr>
        </p:nvSpPr>
        <p:spPr/>
        <p:txBody>
          <a:bodyPr/>
          <a:lstStyle/>
          <a:p>
            <a:fld id="{D37608BA-52E2-44A7-A10B-FAFEC2D3D02B}" type="datetimeFigureOut">
              <a:rPr lang="en-IN" smtClean="0"/>
              <a:t>10-07-2026</a:t>
            </a:fld>
            <a:endParaRPr lang="en-IN"/>
          </a:p>
        </p:txBody>
      </p:sp>
      <p:sp>
        <p:nvSpPr>
          <p:cNvPr id="5" name="Footer Placeholder 4">
            <a:extLst>
              <a:ext uri="{FF2B5EF4-FFF2-40B4-BE49-F238E27FC236}">
                <a16:creationId xmlns:a16="http://schemas.microsoft.com/office/drawing/2014/main" id="{0787DDEF-1649-F6BC-C374-10A6DAC893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B65EDE-662C-8A18-DEC5-9EB6BF87005F}"/>
              </a:ext>
            </a:extLst>
          </p:cNvPr>
          <p:cNvSpPr>
            <a:spLocks noGrp="1"/>
          </p:cNvSpPr>
          <p:nvPr>
            <p:ph type="sldNum" sz="quarter" idx="12"/>
          </p:nvPr>
        </p:nvSpPr>
        <p:spPr/>
        <p:txBody>
          <a:bodyPr/>
          <a:lstStyle/>
          <a:p>
            <a:fld id="{5ACE6D11-3525-4B0A-A674-67CDA750C124}" type="slidenum">
              <a:rPr lang="en-IN" smtClean="0"/>
              <a:t>‹#›</a:t>
            </a:fld>
            <a:endParaRPr lang="en-IN"/>
          </a:p>
        </p:txBody>
      </p:sp>
    </p:spTree>
    <p:extLst>
      <p:ext uri="{BB962C8B-B14F-4D97-AF65-F5344CB8AC3E}">
        <p14:creationId xmlns:p14="http://schemas.microsoft.com/office/powerpoint/2010/main" val="330833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5271AF-7542-DE56-693E-17AEEC2589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9E99D6-13DD-C793-EC7C-93BCE9FCE1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C2B2C6-3445-AA62-CB0B-05BF2BFB24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7608BA-52E2-44A7-A10B-FAFEC2D3D02B}" type="datetimeFigureOut">
              <a:rPr lang="en-IN" smtClean="0"/>
              <a:t>10-07-2026</a:t>
            </a:fld>
            <a:endParaRPr lang="en-IN"/>
          </a:p>
        </p:txBody>
      </p:sp>
      <p:sp>
        <p:nvSpPr>
          <p:cNvPr id="5" name="Footer Placeholder 4">
            <a:extLst>
              <a:ext uri="{FF2B5EF4-FFF2-40B4-BE49-F238E27FC236}">
                <a16:creationId xmlns:a16="http://schemas.microsoft.com/office/drawing/2014/main" id="{4FDD0AE9-2D17-802F-6E00-9133C05B0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9A3D01-343E-755F-D742-12A061BCB0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CE6D11-3525-4B0A-A674-67CDA750C124}" type="slidenum">
              <a:rPr lang="en-IN" smtClean="0"/>
              <a:t>‹#›</a:t>
            </a:fld>
            <a:endParaRPr lang="en-IN"/>
          </a:p>
        </p:txBody>
      </p:sp>
    </p:spTree>
    <p:extLst>
      <p:ext uri="{BB962C8B-B14F-4D97-AF65-F5344CB8AC3E}">
        <p14:creationId xmlns:p14="http://schemas.microsoft.com/office/powerpoint/2010/main" val="11743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pressbooks.lib.vt.edu/introstatistics/chapter/measures-of-the-location-of-the-data/" TargetMode="External"/><Relationship Id="rId2" Type="http://schemas.openxmlformats.org/officeDocument/2006/relationships/hyperlink" Target="https://articles.outlier.org/calculate-outlier-formula"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B60B5-7F2E-4589-470C-BA273ED980E6}"/>
              </a:ext>
            </a:extLst>
          </p:cNvPr>
          <p:cNvSpPr>
            <a:spLocks noGrp="1"/>
          </p:cNvSpPr>
          <p:nvPr>
            <p:ph type="ctrTitle"/>
          </p:nvPr>
        </p:nvSpPr>
        <p:spPr/>
        <p:txBody>
          <a:bodyPr>
            <a:normAutofit fontScale="90000"/>
          </a:bodyPr>
          <a:lstStyle/>
          <a:p>
            <a:r>
              <a:rPr lang="en-IN" b="1" dirty="0"/>
              <a:t>Data Preprocessing in Data Mining</a:t>
            </a:r>
            <a:br>
              <a:rPr lang="en-IN" b="1" dirty="0"/>
            </a:br>
            <a:endParaRPr lang="en-IN" dirty="0"/>
          </a:p>
        </p:txBody>
      </p:sp>
      <p:sp>
        <p:nvSpPr>
          <p:cNvPr id="3" name="Subtitle 2">
            <a:extLst>
              <a:ext uri="{FF2B5EF4-FFF2-40B4-BE49-F238E27FC236}">
                <a16:creationId xmlns:a16="http://schemas.microsoft.com/office/drawing/2014/main" id="{E9ACB527-A5F5-2A2F-4534-8F88717BEDF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04729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1B3F7-B10F-C57B-8A3E-6707996581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819B106-4294-96FF-1576-46699EF7217C}"/>
              </a:ext>
            </a:extLst>
          </p:cNvPr>
          <p:cNvSpPr>
            <a:spLocks noGrp="1"/>
          </p:cNvSpPr>
          <p:nvPr>
            <p:ph idx="1"/>
          </p:nvPr>
        </p:nvSpPr>
        <p:spPr/>
        <p:txBody>
          <a:bodyPr/>
          <a:lstStyle/>
          <a:p>
            <a:r>
              <a:rPr lang="en-IN" dirty="0"/>
              <a:t>Real-world data is often incomplete, noisy, and inconsistent, which can lead to incorrect results if used directly. Data preprocessing in data mining is the process of cleaning and preparing raw data so it can be used effectively for analysis and model building.</a:t>
            </a:r>
          </a:p>
          <a:p>
            <a:r>
              <a:rPr lang="en-IN" dirty="0"/>
              <a:t>Real-world data is often incomplete, noisy, and inconsistent, which can lead to incorrect results if used directly. Data preprocessing in data mining is the process of cleaning and preparing raw data so it can be used effectively for analysis and model building.</a:t>
            </a:r>
          </a:p>
        </p:txBody>
      </p:sp>
    </p:spTree>
    <p:extLst>
      <p:ext uri="{BB962C8B-B14F-4D97-AF65-F5344CB8AC3E}">
        <p14:creationId xmlns:p14="http://schemas.microsoft.com/office/powerpoint/2010/main" val="1127375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FDF0D-467B-0A48-588D-6CA193C2BBCC}"/>
              </a:ext>
            </a:extLst>
          </p:cNvPr>
          <p:cNvSpPr>
            <a:spLocks noGrp="1"/>
          </p:cNvSpPr>
          <p:nvPr>
            <p:ph type="title"/>
          </p:nvPr>
        </p:nvSpPr>
        <p:spPr/>
        <p:txBody>
          <a:bodyPr/>
          <a:lstStyle/>
          <a:p>
            <a:r>
              <a:rPr lang="en-IN" b="1" dirty="0"/>
              <a:t>Steps in Data Preprocessing</a:t>
            </a:r>
            <a:br>
              <a:rPr lang="en-IN" b="1" dirty="0"/>
            </a:br>
            <a:endParaRPr lang="en-IN" dirty="0"/>
          </a:p>
        </p:txBody>
      </p:sp>
      <p:pic>
        <p:nvPicPr>
          <p:cNvPr id="5" name="Content Placeholder 4">
            <a:extLst>
              <a:ext uri="{FF2B5EF4-FFF2-40B4-BE49-F238E27FC236}">
                <a16:creationId xmlns:a16="http://schemas.microsoft.com/office/drawing/2014/main" id="{72CE5DB7-45A0-9425-A8BD-81CCFAB0FD3C}"/>
              </a:ext>
            </a:extLst>
          </p:cNvPr>
          <p:cNvPicPr>
            <a:picLocks noGrp="1" noChangeAspect="1"/>
          </p:cNvPicPr>
          <p:nvPr>
            <p:ph idx="1"/>
          </p:nvPr>
        </p:nvPicPr>
        <p:blipFill>
          <a:blip r:embed="rId2"/>
          <a:stretch>
            <a:fillRect/>
          </a:stretch>
        </p:blipFill>
        <p:spPr>
          <a:xfrm>
            <a:off x="1519084" y="1690688"/>
            <a:ext cx="9026013" cy="4341401"/>
          </a:xfrm>
          <a:prstGeom prst="rect">
            <a:avLst/>
          </a:prstGeom>
        </p:spPr>
      </p:pic>
    </p:spTree>
    <p:extLst>
      <p:ext uri="{BB962C8B-B14F-4D97-AF65-F5344CB8AC3E}">
        <p14:creationId xmlns:p14="http://schemas.microsoft.com/office/powerpoint/2010/main" val="2118002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26E2D-73E9-12BA-CA90-11820FB267D4}"/>
              </a:ext>
            </a:extLst>
          </p:cNvPr>
          <p:cNvSpPr>
            <a:spLocks noGrp="1"/>
          </p:cNvSpPr>
          <p:nvPr>
            <p:ph type="title"/>
          </p:nvPr>
        </p:nvSpPr>
        <p:spPr/>
        <p:txBody>
          <a:bodyPr/>
          <a:lstStyle/>
          <a:p>
            <a:r>
              <a:rPr lang="en-IN" b="1" dirty="0"/>
              <a:t>1. Data Cleaning</a:t>
            </a:r>
            <a:br>
              <a:rPr lang="en-IN" b="1" dirty="0"/>
            </a:br>
            <a:endParaRPr lang="en-IN" dirty="0"/>
          </a:p>
        </p:txBody>
      </p:sp>
      <p:sp>
        <p:nvSpPr>
          <p:cNvPr id="3" name="Content Placeholder 2">
            <a:extLst>
              <a:ext uri="{FF2B5EF4-FFF2-40B4-BE49-F238E27FC236}">
                <a16:creationId xmlns:a16="http://schemas.microsoft.com/office/drawing/2014/main" id="{D93C47E9-E814-5E64-F948-3F54EBE9D49E}"/>
              </a:ext>
            </a:extLst>
          </p:cNvPr>
          <p:cNvSpPr>
            <a:spLocks noGrp="1"/>
          </p:cNvSpPr>
          <p:nvPr>
            <p:ph idx="1"/>
          </p:nvPr>
        </p:nvSpPr>
        <p:spPr/>
        <p:txBody>
          <a:bodyPr/>
          <a:lstStyle/>
          <a:p>
            <a:pPr fontAlgn="base"/>
            <a:r>
              <a:rPr lang="en-IN" dirty="0"/>
              <a:t>It is the process of identifying and correcting errors or inconsistencies in the dataset. Its common tasks include:</a:t>
            </a:r>
          </a:p>
          <a:p>
            <a:pPr fontAlgn="base"/>
            <a:r>
              <a:rPr lang="en-IN" dirty="0"/>
              <a:t>Handling missing values</a:t>
            </a:r>
          </a:p>
          <a:p>
            <a:pPr fontAlgn="base"/>
            <a:r>
              <a:rPr lang="en-IN" dirty="0"/>
              <a:t>Removing duplicate records</a:t>
            </a:r>
          </a:p>
          <a:p>
            <a:pPr fontAlgn="base"/>
            <a:r>
              <a:rPr lang="en-IN" dirty="0"/>
              <a:t>Correcting wrong or inconsistent data</a:t>
            </a:r>
          </a:p>
          <a:p>
            <a:pPr fontAlgn="base"/>
            <a:r>
              <a:rPr lang="en-IN" dirty="0"/>
              <a:t>Handling Outliers</a:t>
            </a:r>
          </a:p>
          <a:p>
            <a:endParaRPr lang="en-IN" dirty="0"/>
          </a:p>
        </p:txBody>
      </p:sp>
    </p:spTree>
    <p:extLst>
      <p:ext uri="{BB962C8B-B14F-4D97-AF65-F5344CB8AC3E}">
        <p14:creationId xmlns:p14="http://schemas.microsoft.com/office/powerpoint/2010/main" val="3281328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4299-C494-7739-DAF8-DCB734691D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29283B-DBB7-05D1-E8E1-7E95410F20DC}"/>
              </a:ext>
            </a:extLst>
          </p:cNvPr>
          <p:cNvSpPr>
            <a:spLocks noGrp="1"/>
          </p:cNvSpPr>
          <p:nvPr>
            <p:ph idx="1"/>
          </p:nvPr>
        </p:nvSpPr>
        <p:spPr/>
        <p:txBody>
          <a:bodyPr>
            <a:normAutofit lnSpcReduction="10000"/>
          </a:bodyPr>
          <a:lstStyle/>
          <a:p>
            <a:pPr fontAlgn="base"/>
            <a:r>
              <a:rPr lang="en-IN" b="1" dirty="0"/>
              <a:t>Techniques used:</a:t>
            </a:r>
            <a:endParaRPr lang="en-IN" dirty="0"/>
          </a:p>
          <a:p>
            <a:pPr fontAlgn="base"/>
            <a:r>
              <a:rPr lang="en-IN" b="1" dirty="0"/>
              <a:t>Mean Imputation:</a:t>
            </a:r>
            <a:r>
              <a:rPr lang="en-IN" dirty="0"/>
              <a:t> Replaces missing values with the average of the attribute.</a:t>
            </a:r>
          </a:p>
          <a:p>
            <a:pPr fontAlgn="base"/>
            <a:r>
              <a:rPr lang="en-IN" b="1" dirty="0"/>
              <a:t>Median Imputation:</a:t>
            </a:r>
            <a:r>
              <a:rPr lang="en-IN" dirty="0"/>
              <a:t> Replaces missing values with the middle value, useful when outliers exist.</a:t>
            </a:r>
          </a:p>
          <a:p>
            <a:pPr fontAlgn="base"/>
            <a:r>
              <a:rPr lang="en-IN" b="1" dirty="0"/>
              <a:t>Mode Imputation:</a:t>
            </a:r>
            <a:r>
              <a:rPr lang="en-IN" dirty="0"/>
              <a:t> Replaces missing values with the most frequent value.</a:t>
            </a:r>
          </a:p>
          <a:p>
            <a:pPr fontAlgn="base"/>
            <a:r>
              <a:rPr lang="en-IN" b="1" dirty="0"/>
              <a:t>Deletion Method:</a:t>
            </a:r>
            <a:r>
              <a:rPr lang="en-IN" dirty="0"/>
              <a:t> Removes records that contain missing values.</a:t>
            </a:r>
          </a:p>
          <a:p>
            <a:pPr fontAlgn="base"/>
            <a:r>
              <a:rPr lang="en-IN" b="1" dirty="0"/>
              <a:t>Interquartile Range (IQR):</a:t>
            </a:r>
            <a:r>
              <a:rPr lang="en-IN" dirty="0"/>
              <a:t> Detects outliers using the range between Q1 and Q3.</a:t>
            </a:r>
          </a:p>
          <a:p>
            <a:endParaRPr lang="en-IN" dirty="0"/>
          </a:p>
        </p:txBody>
      </p:sp>
    </p:spTree>
    <p:extLst>
      <p:ext uri="{BB962C8B-B14F-4D97-AF65-F5344CB8AC3E}">
        <p14:creationId xmlns:p14="http://schemas.microsoft.com/office/powerpoint/2010/main" val="4155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D5B70-83A9-058B-A586-49DB5AF0A4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A670CF-EA2C-77BC-289F-F4F2BE53E852}"/>
              </a:ext>
            </a:extLst>
          </p:cNvPr>
          <p:cNvSpPr>
            <a:spLocks noGrp="1"/>
          </p:cNvSpPr>
          <p:nvPr>
            <p:ph idx="1"/>
          </p:nvPr>
        </p:nvSpPr>
        <p:spPr/>
        <p:txBody>
          <a:bodyPr/>
          <a:lstStyle/>
          <a:p>
            <a:pPr fontAlgn="base"/>
            <a:r>
              <a:rPr lang="en-IN" b="1" dirty="0"/>
              <a:t>Z-Score Method:</a:t>
            </a:r>
            <a:r>
              <a:rPr lang="en-IN" dirty="0"/>
              <a:t> Identifies outliers based on standard deviation from the mean.</a:t>
            </a:r>
          </a:p>
          <a:p>
            <a:pPr fontAlgn="base"/>
            <a:r>
              <a:rPr lang="en-IN" b="1" dirty="0"/>
              <a:t>Binning:</a:t>
            </a:r>
            <a:r>
              <a:rPr lang="en-IN" dirty="0"/>
              <a:t> Smooths noisy data by grouping values into bins.</a:t>
            </a:r>
          </a:p>
          <a:p>
            <a:pPr fontAlgn="base"/>
            <a:r>
              <a:rPr lang="en-IN" b="1" dirty="0"/>
              <a:t>Regression Smoothing:</a:t>
            </a:r>
            <a:r>
              <a:rPr lang="en-IN" dirty="0"/>
              <a:t> Uses regression to predict and smooth noisy values.</a:t>
            </a:r>
          </a:p>
          <a:p>
            <a:pPr fontAlgn="base"/>
            <a:r>
              <a:rPr lang="en-IN" b="1" dirty="0"/>
              <a:t>Duplicate Detection:</a:t>
            </a:r>
            <a:r>
              <a:rPr lang="en-IN" dirty="0"/>
              <a:t> Identifies and removes repeated records.</a:t>
            </a:r>
          </a:p>
          <a:p>
            <a:pPr fontAlgn="base"/>
            <a:r>
              <a:rPr lang="en-IN" b="1" dirty="0"/>
              <a:t>Example:</a:t>
            </a:r>
            <a:endParaRPr lang="en-IN" dirty="0"/>
          </a:p>
          <a:p>
            <a:pPr fontAlgn="base"/>
            <a:r>
              <a:rPr lang="en-IN" dirty="0"/>
              <a:t>Replacing missing age values with the average age</a:t>
            </a:r>
          </a:p>
          <a:p>
            <a:pPr fontAlgn="base"/>
            <a:r>
              <a:rPr lang="en-IN" dirty="0"/>
              <a:t>Removing repeated rows in a dataset</a:t>
            </a:r>
          </a:p>
          <a:p>
            <a:endParaRPr lang="en-IN" dirty="0"/>
          </a:p>
        </p:txBody>
      </p:sp>
    </p:spTree>
    <p:extLst>
      <p:ext uri="{BB962C8B-B14F-4D97-AF65-F5344CB8AC3E}">
        <p14:creationId xmlns:p14="http://schemas.microsoft.com/office/powerpoint/2010/main" val="2204608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ABD5F-3E42-36B1-70AB-1FC5C9711C8C}"/>
              </a:ext>
            </a:extLst>
          </p:cNvPr>
          <p:cNvSpPr>
            <a:spLocks noGrp="1"/>
          </p:cNvSpPr>
          <p:nvPr>
            <p:ph type="title"/>
          </p:nvPr>
        </p:nvSpPr>
        <p:spPr/>
        <p:txBody>
          <a:bodyPr/>
          <a:lstStyle/>
          <a:p>
            <a:r>
              <a:rPr lang="en-IN" b="1" dirty="0"/>
              <a:t>Mean Imputation</a:t>
            </a:r>
            <a:br>
              <a:rPr lang="en-IN" b="1" dirty="0"/>
            </a:br>
            <a:endParaRPr lang="en-IN" dirty="0"/>
          </a:p>
        </p:txBody>
      </p:sp>
      <p:sp>
        <p:nvSpPr>
          <p:cNvPr id="3" name="Content Placeholder 2">
            <a:extLst>
              <a:ext uri="{FF2B5EF4-FFF2-40B4-BE49-F238E27FC236}">
                <a16:creationId xmlns:a16="http://schemas.microsoft.com/office/drawing/2014/main" id="{1574B5E4-903A-897A-9F59-727EBE1D4787}"/>
              </a:ext>
            </a:extLst>
          </p:cNvPr>
          <p:cNvSpPr>
            <a:spLocks noGrp="1"/>
          </p:cNvSpPr>
          <p:nvPr>
            <p:ph idx="1"/>
          </p:nvPr>
        </p:nvSpPr>
        <p:spPr>
          <a:xfrm>
            <a:off x="602226" y="1530657"/>
            <a:ext cx="9706897" cy="3203575"/>
          </a:xfrm>
        </p:spPr>
        <p:txBody>
          <a:bodyPr/>
          <a:lstStyle/>
          <a:p>
            <a:r>
              <a:rPr lang="en-IN" b="1" dirty="0"/>
              <a:t>Mean Imputation</a:t>
            </a:r>
          </a:p>
          <a:p>
            <a:endParaRPr lang="en-IN" dirty="0"/>
          </a:p>
        </p:txBody>
      </p:sp>
      <p:graphicFrame>
        <p:nvGraphicFramePr>
          <p:cNvPr id="4" name="Table 3">
            <a:extLst>
              <a:ext uri="{FF2B5EF4-FFF2-40B4-BE49-F238E27FC236}">
                <a16:creationId xmlns:a16="http://schemas.microsoft.com/office/drawing/2014/main" id="{CE079A61-290F-4235-505A-E1989AF80CC6}"/>
              </a:ext>
            </a:extLst>
          </p:cNvPr>
          <p:cNvGraphicFramePr>
            <a:graphicFrameLocks noGrp="1"/>
          </p:cNvGraphicFramePr>
          <p:nvPr>
            <p:extLst>
              <p:ext uri="{D42A27DB-BD31-4B8C-83A1-F6EECF244321}">
                <p14:modId xmlns:p14="http://schemas.microsoft.com/office/powerpoint/2010/main" val="397165365"/>
              </p:ext>
            </p:extLst>
          </p:nvPr>
        </p:nvGraphicFramePr>
        <p:xfrm>
          <a:off x="838200" y="2769747"/>
          <a:ext cx="10515600" cy="2145947"/>
        </p:xfrm>
        <a:graphic>
          <a:graphicData uri="http://schemas.openxmlformats.org/drawingml/2006/table">
            <a:tbl>
              <a:tblPr/>
              <a:tblGrid>
                <a:gridCol w="5257800">
                  <a:extLst>
                    <a:ext uri="{9D8B030D-6E8A-4147-A177-3AD203B41FA5}">
                      <a16:colId xmlns:a16="http://schemas.microsoft.com/office/drawing/2014/main" val="1252310194"/>
                    </a:ext>
                  </a:extLst>
                </a:gridCol>
                <a:gridCol w="5257800">
                  <a:extLst>
                    <a:ext uri="{9D8B030D-6E8A-4147-A177-3AD203B41FA5}">
                      <a16:colId xmlns:a16="http://schemas.microsoft.com/office/drawing/2014/main" val="4278147359"/>
                    </a:ext>
                  </a:extLst>
                </a:gridCol>
              </a:tblGrid>
              <a:tr h="682907">
                <a:tc>
                  <a:txBody>
                    <a:bodyPr/>
                    <a:lstStyle/>
                    <a:p>
                      <a:pPr>
                        <a:buNone/>
                      </a:pPr>
                      <a:r>
                        <a:rPr lang="en-IN"/>
                        <a:t>Name</a:t>
                      </a:r>
                    </a:p>
                  </a:txBody>
                  <a:tcPr anchor="ctr">
                    <a:lnL>
                      <a:noFill/>
                    </a:lnL>
                    <a:lnR>
                      <a:noFill/>
                    </a:lnR>
                    <a:lnT>
                      <a:noFill/>
                    </a:lnT>
                    <a:lnB>
                      <a:noFill/>
                    </a:lnB>
                    <a:noFill/>
                  </a:tcPr>
                </a:tc>
                <a:tc>
                  <a:txBody>
                    <a:bodyPr/>
                    <a:lstStyle/>
                    <a:p>
                      <a:pPr>
                        <a:buNone/>
                      </a:pPr>
                      <a:r>
                        <a:rPr lang="en-IN"/>
                        <a:t>Age</a:t>
                      </a:r>
                    </a:p>
                  </a:txBody>
                  <a:tcPr anchor="ctr">
                    <a:lnL>
                      <a:noFill/>
                    </a:lnL>
                    <a:lnR>
                      <a:noFill/>
                    </a:lnR>
                    <a:lnT>
                      <a:noFill/>
                    </a:lnT>
                    <a:lnB>
                      <a:noFill/>
                    </a:lnB>
                    <a:noFill/>
                  </a:tcPr>
                </a:tc>
                <a:extLst>
                  <a:ext uri="{0D108BD9-81ED-4DB2-BD59-A6C34878D82A}">
                    <a16:rowId xmlns:a16="http://schemas.microsoft.com/office/drawing/2014/main" val="210228937"/>
                  </a:ext>
                </a:extLst>
              </a:tr>
              <a:tr h="0">
                <a:tc>
                  <a:txBody>
                    <a:bodyPr/>
                    <a:lstStyle/>
                    <a:p>
                      <a:pPr>
                        <a:buNone/>
                      </a:pPr>
                      <a:r>
                        <a:rPr lang="en-IN"/>
                        <a:t>Ram</a:t>
                      </a:r>
                    </a:p>
                  </a:txBody>
                  <a:tcPr anchor="ctr">
                    <a:lnL>
                      <a:noFill/>
                    </a:lnL>
                    <a:lnR>
                      <a:noFill/>
                    </a:lnR>
                    <a:lnT>
                      <a:noFill/>
                    </a:lnT>
                    <a:lnB>
                      <a:noFill/>
                    </a:lnB>
                    <a:noFill/>
                  </a:tcPr>
                </a:tc>
                <a:tc>
                  <a:txBody>
                    <a:bodyPr/>
                    <a:lstStyle/>
                    <a:p>
                      <a:pPr>
                        <a:buNone/>
                      </a:pPr>
                      <a:r>
                        <a:rPr lang="en-IN"/>
                        <a:t>20</a:t>
                      </a:r>
                    </a:p>
                  </a:txBody>
                  <a:tcPr anchor="ctr">
                    <a:lnL>
                      <a:noFill/>
                    </a:lnL>
                    <a:lnR>
                      <a:noFill/>
                    </a:lnR>
                    <a:lnT>
                      <a:noFill/>
                    </a:lnT>
                    <a:lnB>
                      <a:noFill/>
                    </a:lnB>
                    <a:noFill/>
                  </a:tcPr>
                </a:tc>
                <a:extLst>
                  <a:ext uri="{0D108BD9-81ED-4DB2-BD59-A6C34878D82A}">
                    <a16:rowId xmlns:a16="http://schemas.microsoft.com/office/drawing/2014/main" val="297843230"/>
                  </a:ext>
                </a:extLst>
              </a:tr>
              <a:tr h="0">
                <a:tc>
                  <a:txBody>
                    <a:bodyPr/>
                    <a:lstStyle/>
                    <a:p>
                      <a:pPr>
                        <a:buNone/>
                      </a:pPr>
                      <a:r>
                        <a:rPr lang="en-IN"/>
                        <a:t>Ravi</a:t>
                      </a:r>
                    </a:p>
                  </a:txBody>
                  <a:tcPr anchor="ctr">
                    <a:lnL>
                      <a:noFill/>
                    </a:lnL>
                    <a:lnR>
                      <a:noFill/>
                    </a:lnR>
                    <a:lnT>
                      <a:noFill/>
                    </a:lnT>
                    <a:lnB>
                      <a:noFill/>
                    </a:lnB>
                    <a:noFill/>
                  </a:tcPr>
                </a:tc>
                <a:tc>
                  <a:txBody>
                    <a:bodyPr/>
                    <a:lstStyle/>
                    <a:p>
                      <a:pPr>
                        <a:buNone/>
                      </a:pPr>
                      <a:r>
                        <a:rPr lang="en-IN" dirty="0" err="1"/>
                        <a:t>NaN</a:t>
                      </a:r>
                      <a:endParaRPr lang="en-IN" dirty="0"/>
                    </a:p>
                  </a:txBody>
                  <a:tcPr anchor="ctr">
                    <a:lnL>
                      <a:noFill/>
                    </a:lnL>
                    <a:lnR>
                      <a:noFill/>
                    </a:lnR>
                    <a:lnT>
                      <a:noFill/>
                    </a:lnT>
                    <a:lnB>
                      <a:noFill/>
                    </a:lnB>
                    <a:noFill/>
                  </a:tcPr>
                </a:tc>
                <a:extLst>
                  <a:ext uri="{0D108BD9-81ED-4DB2-BD59-A6C34878D82A}">
                    <a16:rowId xmlns:a16="http://schemas.microsoft.com/office/drawing/2014/main" val="628471280"/>
                  </a:ext>
                </a:extLst>
              </a:tr>
              <a:tr h="0">
                <a:tc>
                  <a:txBody>
                    <a:bodyPr/>
                    <a:lstStyle/>
                    <a:p>
                      <a:pPr>
                        <a:buNone/>
                      </a:pPr>
                      <a:r>
                        <a:rPr lang="en-IN"/>
                        <a:t>Sita</a:t>
                      </a:r>
                    </a:p>
                  </a:txBody>
                  <a:tcPr anchor="ctr">
                    <a:lnL>
                      <a:noFill/>
                    </a:lnL>
                    <a:lnR>
                      <a:noFill/>
                    </a:lnR>
                    <a:lnT>
                      <a:noFill/>
                    </a:lnT>
                    <a:lnB>
                      <a:noFill/>
                    </a:lnB>
                    <a:noFill/>
                  </a:tcPr>
                </a:tc>
                <a:tc>
                  <a:txBody>
                    <a:bodyPr/>
                    <a:lstStyle/>
                    <a:p>
                      <a:pPr>
                        <a:buNone/>
                      </a:pPr>
                      <a:r>
                        <a:rPr lang="en-IN"/>
                        <a:t>22</a:t>
                      </a:r>
                    </a:p>
                  </a:txBody>
                  <a:tcPr anchor="ctr">
                    <a:lnL>
                      <a:noFill/>
                    </a:lnL>
                    <a:lnR>
                      <a:noFill/>
                    </a:lnR>
                    <a:lnT>
                      <a:noFill/>
                    </a:lnT>
                    <a:lnB>
                      <a:noFill/>
                    </a:lnB>
                    <a:noFill/>
                  </a:tcPr>
                </a:tc>
                <a:extLst>
                  <a:ext uri="{0D108BD9-81ED-4DB2-BD59-A6C34878D82A}">
                    <a16:rowId xmlns:a16="http://schemas.microsoft.com/office/drawing/2014/main" val="3499425847"/>
                  </a:ext>
                </a:extLst>
              </a:tr>
              <a:tr h="0">
                <a:tc>
                  <a:txBody>
                    <a:bodyPr/>
                    <a:lstStyle/>
                    <a:p>
                      <a:pPr>
                        <a:buNone/>
                      </a:pPr>
                      <a:r>
                        <a:rPr lang="en-IN"/>
                        <a:t>Hari</a:t>
                      </a:r>
                    </a:p>
                  </a:txBody>
                  <a:tcPr anchor="ctr">
                    <a:lnL>
                      <a:noFill/>
                    </a:lnL>
                    <a:lnR>
                      <a:noFill/>
                    </a:lnR>
                    <a:lnT>
                      <a:noFill/>
                    </a:lnT>
                    <a:lnB>
                      <a:noFill/>
                    </a:lnB>
                    <a:noFill/>
                  </a:tcPr>
                </a:tc>
                <a:tc>
                  <a:txBody>
                    <a:bodyPr/>
                    <a:lstStyle/>
                    <a:p>
                      <a:pPr>
                        <a:buNone/>
                      </a:pPr>
                      <a:r>
                        <a:rPr lang="en-IN" dirty="0"/>
                        <a:t>24</a:t>
                      </a:r>
                    </a:p>
                  </a:txBody>
                  <a:tcPr anchor="ctr">
                    <a:lnL>
                      <a:noFill/>
                    </a:lnL>
                    <a:lnR>
                      <a:noFill/>
                    </a:lnR>
                    <a:lnT>
                      <a:noFill/>
                    </a:lnT>
                    <a:lnB>
                      <a:noFill/>
                    </a:lnB>
                    <a:noFill/>
                  </a:tcPr>
                </a:tc>
                <a:extLst>
                  <a:ext uri="{0D108BD9-81ED-4DB2-BD59-A6C34878D82A}">
                    <a16:rowId xmlns:a16="http://schemas.microsoft.com/office/drawing/2014/main" val="4051276536"/>
                  </a:ext>
                </a:extLst>
              </a:tr>
            </a:tbl>
          </a:graphicData>
        </a:graphic>
      </p:graphicFrame>
      <p:sp>
        <p:nvSpPr>
          <p:cNvPr id="6" name="TextBox 5">
            <a:extLst>
              <a:ext uri="{FF2B5EF4-FFF2-40B4-BE49-F238E27FC236}">
                <a16:creationId xmlns:a16="http://schemas.microsoft.com/office/drawing/2014/main" id="{A33AB3A7-E056-2FEB-E600-3467B8D86020}"/>
              </a:ext>
            </a:extLst>
          </p:cNvPr>
          <p:cNvSpPr txBox="1"/>
          <p:nvPr/>
        </p:nvSpPr>
        <p:spPr>
          <a:xfrm>
            <a:off x="2562532" y="5327343"/>
            <a:ext cx="6098458" cy="369332"/>
          </a:xfrm>
          <a:prstGeom prst="rect">
            <a:avLst/>
          </a:prstGeom>
          <a:noFill/>
        </p:spPr>
        <p:txBody>
          <a:bodyPr wrap="square">
            <a:spAutoFit/>
          </a:bodyPr>
          <a:lstStyle/>
          <a:p>
            <a:r>
              <a:rPr lang="en-IN" dirty="0"/>
              <a:t>(20 + 22 + 24) / 3 = 22</a:t>
            </a:r>
          </a:p>
        </p:txBody>
      </p:sp>
      <p:sp>
        <p:nvSpPr>
          <p:cNvPr id="8" name="TextBox 7">
            <a:extLst>
              <a:ext uri="{FF2B5EF4-FFF2-40B4-BE49-F238E27FC236}">
                <a16:creationId xmlns:a16="http://schemas.microsoft.com/office/drawing/2014/main" id="{D09F3810-82CE-5D26-7772-544F592205BA}"/>
              </a:ext>
            </a:extLst>
          </p:cNvPr>
          <p:cNvSpPr txBox="1"/>
          <p:nvPr/>
        </p:nvSpPr>
        <p:spPr>
          <a:xfrm>
            <a:off x="5455674" y="5259387"/>
            <a:ext cx="6098458" cy="369332"/>
          </a:xfrm>
          <a:prstGeom prst="rect">
            <a:avLst/>
          </a:prstGeom>
          <a:noFill/>
        </p:spPr>
        <p:txBody>
          <a:bodyPr wrap="square">
            <a:spAutoFit/>
          </a:bodyPr>
          <a:lstStyle/>
          <a:p>
            <a:r>
              <a:rPr lang="en-IN" dirty="0" err="1"/>
              <a:t>df</a:t>
            </a:r>
            <a:r>
              <a:rPr lang="en-IN" dirty="0"/>
              <a:t>['Age'].</a:t>
            </a:r>
            <a:r>
              <a:rPr lang="en-IN" dirty="0" err="1"/>
              <a:t>fillna</a:t>
            </a:r>
            <a:r>
              <a:rPr lang="en-IN" dirty="0"/>
              <a:t>(</a:t>
            </a:r>
            <a:r>
              <a:rPr lang="en-IN" dirty="0" err="1"/>
              <a:t>df</a:t>
            </a:r>
            <a:r>
              <a:rPr lang="en-IN" dirty="0"/>
              <a:t>['Age'].mean())</a:t>
            </a:r>
          </a:p>
        </p:txBody>
      </p:sp>
    </p:spTree>
    <p:extLst>
      <p:ext uri="{BB962C8B-B14F-4D97-AF65-F5344CB8AC3E}">
        <p14:creationId xmlns:p14="http://schemas.microsoft.com/office/powerpoint/2010/main" val="1172475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076AB-BFE8-D9F9-38D9-96FC9B1A29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5789E8-8966-289F-D570-D26F8BFF767C}"/>
              </a:ext>
            </a:extLst>
          </p:cNvPr>
          <p:cNvSpPr>
            <a:spLocks noGrp="1"/>
          </p:cNvSpPr>
          <p:nvPr>
            <p:ph idx="1"/>
          </p:nvPr>
        </p:nvSpPr>
        <p:spPr/>
        <p:txBody>
          <a:bodyPr/>
          <a:lstStyle/>
          <a:p>
            <a:r>
              <a:rPr lang="en-US" dirty="0"/>
              <a:t>import pandas as pd</a:t>
            </a:r>
          </a:p>
          <a:p>
            <a:r>
              <a:rPr lang="en-US" dirty="0"/>
              <a:t>import </a:t>
            </a:r>
            <a:r>
              <a:rPr lang="en-US" dirty="0" err="1"/>
              <a:t>numpy</a:t>
            </a:r>
            <a:r>
              <a:rPr lang="en-US" dirty="0"/>
              <a:t> as np</a:t>
            </a:r>
          </a:p>
          <a:p>
            <a:endParaRPr lang="en-US" dirty="0"/>
          </a:p>
          <a:p>
            <a:r>
              <a:rPr lang="en-US" dirty="0" err="1"/>
              <a:t>df</a:t>
            </a:r>
            <a:r>
              <a:rPr lang="en-US" dirty="0"/>
              <a:t> = </a:t>
            </a:r>
            <a:r>
              <a:rPr lang="en-US" dirty="0" err="1"/>
              <a:t>pd.DataFrame</a:t>
            </a:r>
            <a:r>
              <a:rPr lang="en-US" dirty="0"/>
              <a:t>({</a:t>
            </a:r>
          </a:p>
          <a:p>
            <a:r>
              <a:rPr lang="en-US" dirty="0"/>
              <a:t>    'Name':['</a:t>
            </a:r>
            <a:r>
              <a:rPr lang="en-US" dirty="0" err="1"/>
              <a:t>Ram','Ravi','Sita','Hari</a:t>
            </a:r>
            <a:r>
              <a:rPr lang="en-US" dirty="0"/>
              <a:t>'],</a:t>
            </a:r>
          </a:p>
          <a:p>
            <a:r>
              <a:rPr lang="en-US" dirty="0"/>
              <a:t>    'Age':[20,np.nan,22,24]</a:t>
            </a:r>
          </a:p>
          <a:p>
            <a:r>
              <a:rPr lang="en-US" dirty="0"/>
              <a:t>})</a:t>
            </a:r>
            <a:endParaRPr lang="en-IN" dirty="0"/>
          </a:p>
        </p:txBody>
      </p:sp>
    </p:spTree>
    <p:extLst>
      <p:ext uri="{BB962C8B-B14F-4D97-AF65-F5344CB8AC3E}">
        <p14:creationId xmlns:p14="http://schemas.microsoft.com/office/powerpoint/2010/main" val="779371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0B6AF-CD45-818B-1888-403734A6663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4FCC54E6-4305-0A55-4F75-F587DBBA383F}"/>
              </a:ext>
            </a:extLst>
          </p:cNvPr>
          <p:cNvSpPr>
            <a:spLocks noGrp="1"/>
          </p:cNvSpPr>
          <p:nvPr>
            <p:ph idx="1"/>
          </p:nvPr>
        </p:nvSpPr>
        <p:spPr/>
        <p:txBody>
          <a:bodyPr/>
          <a:lstStyle/>
          <a:p>
            <a:r>
              <a:rPr lang="en-IN" dirty="0" err="1"/>
              <a:t>df</a:t>
            </a:r>
            <a:r>
              <a:rPr lang="en-IN" dirty="0"/>
              <a:t>['Age'] = </a:t>
            </a:r>
            <a:r>
              <a:rPr lang="en-IN" dirty="0" err="1"/>
              <a:t>df</a:t>
            </a:r>
            <a:r>
              <a:rPr lang="en-IN" dirty="0"/>
              <a:t>['Age'].</a:t>
            </a:r>
            <a:r>
              <a:rPr lang="en-IN" dirty="0" err="1"/>
              <a:t>fillna</a:t>
            </a:r>
            <a:r>
              <a:rPr lang="en-IN" dirty="0"/>
              <a:t>(</a:t>
            </a:r>
            <a:r>
              <a:rPr lang="en-IN" dirty="0" err="1"/>
              <a:t>df</a:t>
            </a:r>
            <a:r>
              <a:rPr lang="en-IN" dirty="0"/>
              <a:t>['Age'].mean())</a:t>
            </a:r>
          </a:p>
        </p:txBody>
      </p:sp>
    </p:spTree>
    <p:extLst>
      <p:ext uri="{BB962C8B-B14F-4D97-AF65-F5344CB8AC3E}">
        <p14:creationId xmlns:p14="http://schemas.microsoft.com/office/powerpoint/2010/main" val="3876218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3C9F3-C75F-335B-5EFD-2327B491DA2C}"/>
              </a:ext>
            </a:extLst>
          </p:cNvPr>
          <p:cNvSpPr>
            <a:spLocks noGrp="1"/>
          </p:cNvSpPr>
          <p:nvPr>
            <p:ph type="title"/>
          </p:nvPr>
        </p:nvSpPr>
        <p:spPr/>
        <p:txBody>
          <a:bodyPr>
            <a:normAutofit fontScale="90000"/>
          </a:bodyPr>
          <a:lstStyle/>
          <a:p>
            <a:r>
              <a:rPr lang="en-IN" b="1" dirty="0"/>
              <a:t>Median Imputation</a:t>
            </a:r>
            <a:br>
              <a:rPr lang="en-IN" b="1" dirty="0"/>
            </a:br>
            <a:r>
              <a:rPr lang="en-IN" b="1" dirty="0"/>
              <a:t>Definition</a:t>
            </a:r>
            <a:br>
              <a:rPr lang="en-IN" b="1" dirty="0"/>
            </a:br>
            <a:endParaRPr lang="en-IN" dirty="0"/>
          </a:p>
        </p:txBody>
      </p:sp>
      <p:sp>
        <p:nvSpPr>
          <p:cNvPr id="3" name="Content Placeholder 2">
            <a:extLst>
              <a:ext uri="{FF2B5EF4-FFF2-40B4-BE49-F238E27FC236}">
                <a16:creationId xmlns:a16="http://schemas.microsoft.com/office/drawing/2014/main" id="{17D77542-C5F0-94E9-F686-83CE91FC7026}"/>
              </a:ext>
            </a:extLst>
          </p:cNvPr>
          <p:cNvSpPr>
            <a:spLocks noGrp="1"/>
          </p:cNvSpPr>
          <p:nvPr>
            <p:ph idx="1"/>
          </p:nvPr>
        </p:nvSpPr>
        <p:spPr>
          <a:xfrm>
            <a:off x="838200" y="1825625"/>
            <a:ext cx="9234948" cy="1325563"/>
          </a:xfrm>
        </p:spPr>
        <p:txBody>
          <a:bodyPr/>
          <a:lstStyle/>
          <a:p>
            <a:r>
              <a:rPr lang="en-IN" dirty="0"/>
              <a:t>Median imputation replaces missing values with the </a:t>
            </a:r>
            <a:r>
              <a:rPr lang="en-IN" b="1" dirty="0"/>
              <a:t>middle value</a:t>
            </a:r>
            <a:r>
              <a:rPr lang="en-IN" dirty="0"/>
              <a:t> after sorting the data. It is useful when outliers exist.</a:t>
            </a:r>
          </a:p>
        </p:txBody>
      </p:sp>
      <p:sp>
        <p:nvSpPr>
          <p:cNvPr id="5" name="TextBox 4">
            <a:extLst>
              <a:ext uri="{FF2B5EF4-FFF2-40B4-BE49-F238E27FC236}">
                <a16:creationId xmlns:a16="http://schemas.microsoft.com/office/drawing/2014/main" id="{01F8CE51-4E93-155D-E716-08417FCCB7C4}"/>
              </a:ext>
            </a:extLst>
          </p:cNvPr>
          <p:cNvSpPr txBox="1"/>
          <p:nvPr/>
        </p:nvSpPr>
        <p:spPr>
          <a:xfrm>
            <a:off x="2415049" y="3337481"/>
            <a:ext cx="6098458" cy="369332"/>
          </a:xfrm>
          <a:prstGeom prst="rect">
            <a:avLst/>
          </a:prstGeom>
          <a:noFill/>
        </p:spPr>
        <p:txBody>
          <a:bodyPr wrap="square">
            <a:spAutoFit/>
          </a:bodyPr>
          <a:lstStyle/>
          <a:p>
            <a:r>
              <a:rPr lang="en-IN" dirty="0"/>
              <a:t>20, 21, 22, 100, </a:t>
            </a:r>
            <a:r>
              <a:rPr lang="en-IN" dirty="0" err="1"/>
              <a:t>NaN</a:t>
            </a:r>
            <a:endParaRPr lang="en-IN" dirty="0"/>
          </a:p>
        </p:txBody>
      </p:sp>
      <p:sp>
        <p:nvSpPr>
          <p:cNvPr id="7" name="TextBox 6">
            <a:extLst>
              <a:ext uri="{FF2B5EF4-FFF2-40B4-BE49-F238E27FC236}">
                <a16:creationId xmlns:a16="http://schemas.microsoft.com/office/drawing/2014/main" id="{54310225-BEC4-02D6-D90B-F4D96B2786CF}"/>
              </a:ext>
            </a:extLst>
          </p:cNvPr>
          <p:cNvSpPr txBox="1"/>
          <p:nvPr/>
        </p:nvSpPr>
        <p:spPr>
          <a:xfrm>
            <a:off x="3046771" y="4254599"/>
            <a:ext cx="6098458" cy="369332"/>
          </a:xfrm>
          <a:prstGeom prst="rect">
            <a:avLst/>
          </a:prstGeom>
          <a:noFill/>
        </p:spPr>
        <p:txBody>
          <a:bodyPr wrap="square">
            <a:spAutoFit/>
          </a:bodyPr>
          <a:lstStyle/>
          <a:p>
            <a:r>
              <a:rPr lang="en-IN" dirty="0"/>
              <a:t>Median = </a:t>
            </a:r>
            <a:r>
              <a:rPr lang="en-IN" b="1" dirty="0"/>
              <a:t>21.5</a:t>
            </a:r>
            <a:endParaRPr lang="en-IN" dirty="0"/>
          </a:p>
        </p:txBody>
      </p:sp>
    </p:spTree>
    <p:extLst>
      <p:ext uri="{BB962C8B-B14F-4D97-AF65-F5344CB8AC3E}">
        <p14:creationId xmlns:p14="http://schemas.microsoft.com/office/powerpoint/2010/main" val="1747661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386E-C97F-860D-AA05-03DC937B49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78EC6F-3586-7CCD-A9DA-EE012CD6A6CE}"/>
              </a:ext>
            </a:extLst>
          </p:cNvPr>
          <p:cNvSpPr>
            <a:spLocks noGrp="1"/>
          </p:cNvSpPr>
          <p:nvPr>
            <p:ph idx="1"/>
          </p:nvPr>
        </p:nvSpPr>
        <p:spPr/>
        <p:txBody>
          <a:bodyPr>
            <a:normAutofit fontScale="92500" lnSpcReduction="20000"/>
          </a:bodyPr>
          <a:lstStyle/>
          <a:p>
            <a:r>
              <a:rPr lang="en-IN" dirty="0"/>
              <a:t>import pandas as pd</a:t>
            </a:r>
          </a:p>
          <a:p>
            <a:r>
              <a:rPr lang="en-IN" dirty="0"/>
              <a:t>import </a:t>
            </a:r>
            <a:r>
              <a:rPr lang="en-IN" dirty="0" err="1"/>
              <a:t>numpy</a:t>
            </a:r>
            <a:r>
              <a:rPr lang="en-IN" dirty="0"/>
              <a:t> as np</a:t>
            </a:r>
          </a:p>
          <a:p>
            <a:endParaRPr lang="en-IN" dirty="0"/>
          </a:p>
          <a:p>
            <a:r>
              <a:rPr lang="en-IN" dirty="0" err="1"/>
              <a:t>df</a:t>
            </a:r>
            <a:r>
              <a:rPr lang="en-IN" dirty="0"/>
              <a:t> = </a:t>
            </a:r>
            <a:r>
              <a:rPr lang="en-IN" dirty="0" err="1"/>
              <a:t>pd.DataFrame</a:t>
            </a:r>
            <a:r>
              <a:rPr lang="en-IN" dirty="0"/>
              <a:t>({</a:t>
            </a:r>
          </a:p>
          <a:p>
            <a:r>
              <a:rPr lang="en-IN" dirty="0"/>
              <a:t>    'Age':[20,21,22,100,np.nan]</a:t>
            </a:r>
          </a:p>
          <a:p>
            <a:r>
              <a:rPr lang="en-IN" dirty="0"/>
              <a:t>})</a:t>
            </a:r>
          </a:p>
          <a:p>
            <a:endParaRPr lang="en-IN" dirty="0"/>
          </a:p>
          <a:p>
            <a:r>
              <a:rPr lang="en-IN" dirty="0" err="1"/>
              <a:t>df</a:t>
            </a:r>
            <a:r>
              <a:rPr lang="en-IN" dirty="0"/>
              <a:t>['Age'] = </a:t>
            </a:r>
            <a:r>
              <a:rPr lang="en-IN" dirty="0" err="1"/>
              <a:t>df</a:t>
            </a:r>
            <a:r>
              <a:rPr lang="en-IN" dirty="0"/>
              <a:t>['Age'].</a:t>
            </a:r>
            <a:r>
              <a:rPr lang="en-IN" dirty="0" err="1"/>
              <a:t>fillna</a:t>
            </a:r>
            <a:r>
              <a:rPr lang="en-IN" dirty="0"/>
              <a:t>(</a:t>
            </a:r>
            <a:r>
              <a:rPr lang="en-IN" dirty="0" err="1"/>
              <a:t>df</a:t>
            </a:r>
            <a:r>
              <a:rPr lang="en-IN" dirty="0"/>
              <a:t>['Age'].median())</a:t>
            </a:r>
          </a:p>
          <a:p>
            <a:endParaRPr lang="en-IN" dirty="0"/>
          </a:p>
          <a:p>
            <a:r>
              <a:rPr lang="en-IN" dirty="0"/>
              <a:t>print(</a:t>
            </a:r>
            <a:r>
              <a:rPr lang="en-IN" dirty="0" err="1"/>
              <a:t>df</a:t>
            </a:r>
            <a:r>
              <a:rPr lang="en-IN" dirty="0"/>
              <a:t>)</a:t>
            </a:r>
          </a:p>
        </p:txBody>
      </p:sp>
    </p:spTree>
    <p:extLst>
      <p:ext uri="{BB962C8B-B14F-4D97-AF65-F5344CB8AC3E}">
        <p14:creationId xmlns:p14="http://schemas.microsoft.com/office/powerpoint/2010/main" val="716974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D4B28-3765-6FA7-AECD-4256A8540DC1}"/>
              </a:ext>
            </a:extLst>
          </p:cNvPr>
          <p:cNvSpPr>
            <a:spLocks noGrp="1"/>
          </p:cNvSpPr>
          <p:nvPr>
            <p:ph type="title"/>
          </p:nvPr>
        </p:nvSpPr>
        <p:spPr/>
        <p:txBody>
          <a:bodyPr/>
          <a:lstStyle/>
          <a:p>
            <a:r>
              <a:rPr lang="en-IN" dirty="0"/>
              <a:t>Mode Imputation</a:t>
            </a:r>
          </a:p>
        </p:txBody>
      </p:sp>
      <p:sp>
        <p:nvSpPr>
          <p:cNvPr id="3" name="Content Placeholder 2">
            <a:extLst>
              <a:ext uri="{FF2B5EF4-FFF2-40B4-BE49-F238E27FC236}">
                <a16:creationId xmlns:a16="http://schemas.microsoft.com/office/drawing/2014/main" id="{B243584B-0C98-038B-B1A9-E3EDB52D7FC9}"/>
              </a:ext>
            </a:extLst>
          </p:cNvPr>
          <p:cNvSpPr>
            <a:spLocks noGrp="1"/>
          </p:cNvSpPr>
          <p:nvPr>
            <p:ph idx="1"/>
          </p:nvPr>
        </p:nvSpPr>
        <p:spPr>
          <a:xfrm>
            <a:off x="838200" y="1825625"/>
            <a:ext cx="10515600" cy="1325563"/>
          </a:xfrm>
        </p:spPr>
        <p:txBody>
          <a:bodyPr/>
          <a:lstStyle/>
          <a:p>
            <a:r>
              <a:rPr lang="en-IN" dirty="0"/>
              <a:t>Mode imputation replaces missing values with the </a:t>
            </a:r>
            <a:r>
              <a:rPr lang="en-IN" b="1" dirty="0"/>
              <a:t>most frequently occurring value</a:t>
            </a:r>
            <a:r>
              <a:rPr lang="en-IN" dirty="0"/>
              <a:t>.</a:t>
            </a:r>
          </a:p>
        </p:txBody>
      </p:sp>
      <p:graphicFrame>
        <p:nvGraphicFramePr>
          <p:cNvPr id="4" name="Table 3">
            <a:extLst>
              <a:ext uri="{FF2B5EF4-FFF2-40B4-BE49-F238E27FC236}">
                <a16:creationId xmlns:a16="http://schemas.microsoft.com/office/drawing/2014/main" id="{351D452E-F65C-8E68-E260-0355454E40D3}"/>
              </a:ext>
            </a:extLst>
          </p:cNvPr>
          <p:cNvGraphicFramePr>
            <a:graphicFrameLocks noGrp="1"/>
          </p:cNvGraphicFramePr>
          <p:nvPr/>
        </p:nvGraphicFramePr>
        <p:xfrm>
          <a:off x="838200" y="2904014"/>
          <a:ext cx="10515600" cy="2194560"/>
        </p:xfrm>
        <a:graphic>
          <a:graphicData uri="http://schemas.openxmlformats.org/drawingml/2006/table">
            <a:tbl>
              <a:tblPr/>
              <a:tblGrid>
                <a:gridCol w="10515600">
                  <a:extLst>
                    <a:ext uri="{9D8B030D-6E8A-4147-A177-3AD203B41FA5}">
                      <a16:colId xmlns:a16="http://schemas.microsoft.com/office/drawing/2014/main" val="2741960562"/>
                    </a:ext>
                  </a:extLst>
                </a:gridCol>
              </a:tblGrid>
              <a:tr h="0">
                <a:tc>
                  <a:txBody>
                    <a:bodyPr/>
                    <a:lstStyle/>
                    <a:p>
                      <a:pPr>
                        <a:buNone/>
                      </a:pPr>
                      <a:r>
                        <a:rPr lang="en-IN"/>
                        <a:t>Gender</a:t>
                      </a:r>
                    </a:p>
                  </a:txBody>
                  <a:tcPr anchor="ctr">
                    <a:lnL>
                      <a:noFill/>
                    </a:lnL>
                    <a:lnR>
                      <a:noFill/>
                    </a:lnR>
                    <a:lnT>
                      <a:noFill/>
                    </a:lnT>
                    <a:lnB>
                      <a:noFill/>
                    </a:lnB>
                    <a:noFill/>
                  </a:tcPr>
                </a:tc>
                <a:extLst>
                  <a:ext uri="{0D108BD9-81ED-4DB2-BD59-A6C34878D82A}">
                    <a16:rowId xmlns:a16="http://schemas.microsoft.com/office/drawing/2014/main" val="4293012162"/>
                  </a:ext>
                </a:extLst>
              </a:tr>
              <a:tr h="0">
                <a:tc>
                  <a:txBody>
                    <a:bodyPr/>
                    <a:lstStyle/>
                    <a:p>
                      <a:pPr>
                        <a:buNone/>
                      </a:pPr>
                      <a:r>
                        <a:rPr lang="en-IN"/>
                        <a:t>Male</a:t>
                      </a:r>
                    </a:p>
                  </a:txBody>
                  <a:tcPr anchor="ctr">
                    <a:lnL>
                      <a:noFill/>
                    </a:lnL>
                    <a:lnR>
                      <a:noFill/>
                    </a:lnR>
                    <a:lnT>
                      <a:noFill/>
                    </a:lnT>
                    <a:lnB>
                      <a:noFill/>
                    </a:lnB>
                    <a:noFill/>
                  </a:tcPr>
                </a:tc>
                <a:extLst>
                  <a:ext uri="{0D108BD9-81ED-4DB2-BD59-A6C34878D82A}">
                    <a16:rowId xmlns:a16="http://schemas.microsoft.com/office/drawing/2014/main" val="3587248389"/>
                  </a:ext>
                </a:extLst>
              </a:tr>
              <a:tr h="0">
                <a:tc>
                  <a:txBody>
                    <a:bodyPr/>
                    <a:lstStyle/>
                    <a:p>
                      <a:pPr>
                        <a:buNone/>
                      </a:pPr>
                      <a:r>
                        <a:rPr lang="en-IN"/>
                        <a:t>Female</a:t>
                      </a:r>
                    </a:p>
                  </a:txBody>
                  <a:tcPr anchor="ctr">
                    <a:lnL>
                      <a:noFill/>
                    </a:lnL>
                    <a:lnR>
                      <a:noFill/>
                    </a:lnR>
                    <a:lnT>
                      <a:noFill/>
                    </a:lnT>
                    <a:lnB>
                      <a:noFill/>
                    </a:lnB>
                    <a:noFill/>
                  </a:tcPr>
                </a:tc>
                <a:extLst>
                  <a:ext uri="{0D108BD9-81ED-4DB2-BD59-A6C34878D82A}">
                    <a16:rowId xmlns:a16="http://schemas.microsoft.com/office/drawing/2014/main" val="1072337836"/>
                  </a:ext>
                </a:extLst>
              </a:tr>
              <a:tr h="0">
                <a:tc>
                  <a:txBody>
                    <a:bodyPr/>
                    <a:lstStyle/>
                    <a:p>
                      <a:pPr>
                        <a:buNone/>
                      </a:pPr>
                      <a:r>
                        <a:rPr lang="en-IN"/>
                        <a:t>Male</a:t>
                      </a:r>
                    </a:p>
                  </a:txBody>
                  <a:tcPr anchor="ctr">
                    <a:lnL>
                      <a:noFill/>
                    </a:lnL>
                    <a:lnR>
                      <a:noFill/>
                    </a:lnR>
                    <a:lnT>
                      <a:noFill/>
                    </a:lnT>
                    <a:lnB>
                      <a:noFill/>
                    </a:lnB>
                    <a:noFill/>
                  </a:tcPr>
                </a:tc>
                <a:extLst>
                  <a:ext uri="{0D108BD9-81ED-4DB2-BD59-A6C34878D82A}">
                    <a16:rowId xmlns:a16="http://schemas.microsoft.com/office/drawing/2014/main" val="143425950"/>
                  </a:ext>
                </a:extLst>
              </a:tr>
              <a:tr h="0">
                <a:tc>
                  <a:txBody>
                    <a:bodyPr/>
                    <a:lstStyle/>
                    <a:p>
                      <a:pPr>
                        <a:buNone/>
                      </a:pPr>
                      <a:r>
                        <a:rPr lang="en-IN"/>
                        <a:t>NaN</a:t>
                      </a:r>
                    </a:p>
                  </a:txBody>
                  <a:tcPr anchor="ctr">
                    <a:lnL>
                      <a:noFill/>
                    </a:lnL>
                    <a:lnR>
                      <a:noFill/>
                    </a:lnR>
                    <a:lnT>
                      <a:noFill/>
                    </a:lnT>
                    <a:lnB>
                      <a:noFill/>
                    </a:lnB>
                    <a:noFill/>
                  </a:tcPr>
                </a:tc>
                <a:extLst>
                  <a:ext uri="{0D108BD9-81ED-4DB2-BD59-A6C34878D82A}">
                    <a16:rowId xmlns:a16="http://schemas.microsoft.com/office/drawing/2014/main" val="1966556357"/>
                  </a:ext>
                </a:extLst>
              </a:tr>
              <a:tr h="0">
                <a:tc>
                  <a:txBody>
                    <a:bodyPr/>
                    <a:lstStyle/>
                    <a:p>
                      <a:pPr>
                        <a:buNone/>
                      </a:pPr>
                      <a:r>
                        <a:rPr lang="en-IN" dirty="0"/>
                        <a:t>Male</a:t>
                      </a:r>
                    </a:p>
                  </a:txBody>
                  <a:tcPr anchor="ctr">
                    <a:lnL>
                      <a:noFill/>
                    </a:lnL>
                    <a:lnR>
                      <a:noFill/>
                    </a:lnR>
                    <a:lnT>
                      <a:noFill/>
                    </a:lnT>
                    <a:lnB>
                      <a:noFill/>
                    </a:lnB>
                    <a:noFill/>
                  </a:tcPr>
                </a:tc>
                <a:extLst>
                  <a:ext uri="{0D108BD9-81ED-4DB2-BD59-A6C34878D82A}">
                    <a16:rowId xmlns:a16="http://schemas.microsoft.com/office/drawing/2014/main" val="1225876"/>
                  </a:ext>
                </a:extLst>
              </a:tr>
            </a:tbl>
          </a:graphicData>
        </a:graphic>
      </p:graphicFrame>
      <p:sp>
        <p:nvSpPr>
          <p:cNvPr id="6" name="TextBox 5">
            <a:extLst>
              <a:ext uri="{FF2B5EF4-FFF2-40B4-BE49-F238E27FC236}">
                <a16:creationId xmlns:a16="http://schemas.microsoft.com/office/drawing/2014/main" id="{1CE14C7A-A699-33A2-E564-14F441CFA79C}"/>
              </a:ext>
            </a:extLst>
          </p:cNvPr>
          <p:cNvSpPr txBox="1"/>
          <p:nvPr/>
        </p:nvSpPr>
        <p:spPr>
          <a:xfrm>
            <a:off x="2710016" y="4913908"/>
            <a:ext cx="6098458" cy="369332"/>
          </a:xfrm>
          <a:prstGeom prst="rect">
            <a:avLst/>
          </a:prstGeom>
          <a:noFill/>
        </p:spPr>
        <p:txBody>
          <a:bodyPr wrap="square">
            <a:spAutoFit/>
          </a:bodyPr>
          <a:lstStyle/>
          <a:p>
            <a:r>
              <a:rPr lang="en-IN" dirty="0"/>
              <a:t>Mode = </a:t>
            </a:r>
            <a:r>
              <a:rPr lang="en-IN" b="1" dirty="0"/>
              <a:t>Male</a:t>
            </a:r>
            <a:endParaRPr lang="en-IN" dirty="0"/>
          </a:p>
        </p:txBody>
      </p:sp>
    </p:spTree>
    <p:extLst>
      <p:ext uri="{BB962C8B-B14F-4D97-AF65-F5344CB8AC3E}">
        <p14:creationId xmlns:p14="http://schemas.microsoft.com/office/powerpoint/2010/main" val="1560882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F325E-6532-6CDE-2BF7-920FA58797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56D066D-9A3B-ADE1-2418-C39381BF3F07}"/>
              </a:ext>
            </a:extLst>
          </p:cNvPr>
          <p:cNvSpPr>
            <a:spLocks noGrp="1"/>
          </p:cNvSpPr>
          <p:nvPr>
            <p:ph idx="1"/>
          </p:nvPr>
        </p:nvSpPr>
        <p:spPr/>
        <p:txBody>
          <a:bodyPr>
            <a:normAutofit fontScale="92500" lnSpcReduction="20000"/>
          </a:bodyPr>
          <a:lstStyle/>
          <a:p>
            <a:r>
              <a:rPr lang="en-IN" dirty="0"/>
              <a:t>import pandas as pd</a:t>
            </a:r>
          </a:p>
          <a:p>
            <a:r>
              <a:rPr lang="en-IN" dirty="0"/>
              <a:t>import </a:t>
            </a:r>
            <a:r>
              <a:rPr lang="en-IN" dirty="0" err="1"/>
              <a:t>numpy</a:t>
            </a:r>
            <a:r>
              <a:rPr lang="en-IN" dirty="0"/>
              <a:t> as np</a:t>
            </a:r>
          </a:p>
          <a:p>
            <a:endParaRPr lang="en-IN" dirty="0"/>
          </a:p>
          <a:p>
            <a:r>
              <a:rPr lang="en-IN" dirty="0" err="1"/>
              <a:t>df</a:t>
            </a:r>
            <a:r>
              <a:rPr lang="en-IN" dirty="0"/>
              <a:t> = </a:t>
            </a:r>
            <a:r>
              <a:rPr lang="en-IN" dirty="0" err="1"/>
              <a:t>pd.DataFrame</a:t>
            </a:r>
            <a:r>
              <a:rPr lang="en-IN" dirty="0"/>
              <a:t>({</a:t>
            </a:r>
          </a:p>
          <a:p>
            <a:r>
              <a:rPr lang="en-IN" dirty="0"/>
              <a:t>    'Gender':['</a:t>
            </a:r>
            <a:r>
              <a:rPr lang="en-IN" dirty="0" err="1"/>
              <a:t>Male','Female','Male',np.nan,'Male</a:t>
            </a:r>
            <a:r>
              <a:rPr lang="en-IN" dirty="0"/>
              <a:t>']</a:t>
            </a:r>
          </a:p>
          <a:p>
            <a:r>
              <a:rPr lang="en-IN" dirty="0"/>
              <a:t>})</a:t>
            </a:r>
          </a:p>
          <a:p>
            <a:endParaRPr lang="en-IN" dirty="0"/>
          </a:p>
          <a:p>
            <a:r>
              <a:rPr lang="en-IN" dirty="0" err="1"/>
              <a:t>df</a:t>
            </a:r>
            <a:r>
              <a:rPr lang="en-IN" dirty="0"/>
              <a:t>['Gender'] = </a:t>
            </a:r>
            <a:r>
              <a:rPr lang="en-IN" dirty="0" err="1"/>
              <a:t>df</a:t>
            </a:r>
            <a:r>
              <a:rPr lang="en-IN" dirty="0"/>
              <a:t>['Gender'].</a:t>
            </a:r>
            <a:r>
              <a:rPr lang="en-IN" dirty="0" err="1"/>
              <a:t>fillna</a:t>
            </a:r>
            <a:r>
              <a:rPr lang="en-IN" dirty="0"/>
              <a:t>(</a:t>
            </a:r>
            <a:r>
              <a:rPr lang="en-IN" dirty="0" err="1"/>
              <a:t>df</a:t>
            </a:r>
            <a:r>
              <a:rPr lang="en-IN" dirty="0"/>
              <a:t>['Gender'].mode()[0])</a:t>
            </a:r>
          </a:p>
          <a:p>
            <a:endParaRPr lang="en-IN" dirty="0"/>
          </a:p>
          <a:p>
            <a:r>
              <a:rPr lang="en-IN" dirty="0"/>
              <a:t>print(</a:t>
            </a:r>
            <a:r>
              <a:rPr lang="en-IN" dirty="0" err="1"/>
              <a:t>df</a:t>
            </a:r>
            <a:r>
              <a:rPr lang="en-IN" dirty="0"/>
              <a:t>)</a:t>
            </a:r>
          </a:p>
        </p:txBody>
      </p:sp>
    </p:spTree>
    <p:extLst>
      <p:ext uri="{BB962C8B-B14F-4D97-AF65-F5344CB8AC3E}">
        <p14:creationId xmlns:p14="http://schemas.microsoft.com/office/powerpoint/2010/main" val="1554282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2F1A0-67A3-C011-C60C-F15AE6BE35D7}"/>
              </a:ext>
            </a:extLst>
          </p:cNvPr>
          <p:cNvSpPr>
            <a:spLocks noGrp="1"/>
          </p:cNvSpPr>
          <p:nvPr>
            <p:ph type="title"/>
          </p:nvPr>
        </p:nvSpPr>
        <p:spPr/>
        <p:txBody>
          <a:bodyPr/>
          <a:lstStyle/>
          <a:p>
            <a:r>
              <a:rPr lang="en-US" dirty="0"/>
              <a:t>Outlier Detection</a:t>
            </a:r>
            <a:endParaRPr lang="en-IN" dirty="0"/>
          </a:p>
        </p:txBody>
      </p:sp>
      <p:sp>
        <p:nvSpPr>
          <p:cNvPr id="3" name="Content Placeholder 2">
            <a:extLst>
              <a:ext uri="{FF2B5EF4-FFF2-40B4-BE49-F238E27FC236}">
                <a16:creationId xmlns:a16="http://schemas.microsoft.com/office/drawing/2014/main" id="{83EDBFAF-4E5B-621B-F299-803E5983C39F}"/>
              </a:ext>
            </a:extLst>
          </p:cNvPr>
          <p:cNvSpPr>
            <a:spLocks noGrp="1"/>
          </p:cNvSpPr>
          <p:nvPr>
            <p:ph idx="1"/>
          </p:nvPr>
        </p:nvSpPr>
        <p:spPr/>
        <p:txBody>
          <a:bodyPr>
            <a:normAutofit fontScale="92500" lnSpcReduction="10000"/>
          </a:bodyPr>
          <a:lstStyle/>
          <a:p>
            <a:r>
              <a:rPr lang="en-IN" dirty="0"/>
              <a:t>To identify these points, apply the following steps:</a:t>
            </a:r>
          </a:p>
          <a:p>
            <a:r>
              <a:rPr lang="en-IN" b="1" dirty="0"/>
              <a:t>Order the data:</a:t>
            </a:r>
            <a:r>
              <a:rPr lang="en-IN" dirty="0"/>
              <a:t> Arrange your data points from smallest to largest. </a:t>
            </a:r>
          </a:p>
          <a:p>
            <a:r>
              <a:rPr lang="en-IN" b="1" dirty="0"/>
              <a:t>Find the first quartile (Q₁):</a:t>
            </a:r>
            <a:r>
              <a:rPr lang="en-IN" dirty="0"/>
              <a:t> This is the median (25th percentile) of the lower half of your data. </a:t>
            </a:r>
          </a:p>
          <a:p>
            <a:r>
              <a:rPr lang="en-IN" b="1" dirty="0"/>
              <a:t>Find the third quartile (Q₃):</a:t>
            </a:r>
            <a:r>
              <a:rPr lang="en-IN" dirty="0"/>
              <a:t> is is the median (75th percentile) of the upper half of your data. [</a:t>
            </a:r>
            <a:r>
              <a:rPr lang="en-IN" dirty="0">
                <a:hlinkClick r:id="rId2"/>
              </a:rPr>
              <a:t>1</a:t>
            </a:r>
            <a:r>
              <a:rPr lang="en-IN" dirty="0"/>
              <a:t>, </a:t>
            </a:r>
            <a:r>
              <a:rPr lang="en-IN" dirty="0">
                <a:hlinkClick r:id="rId3"/>
              </a:rPr>
              <a:t>2</a:t>
            </a:r>
            <a:r>
              <a:rPr lang="en-IN" dirty="0"/>
              <a:t>]</a:t>
            </a:r>
          </a:p>
          <a:p>
            <a:r>
              <a:rPr lang="en-IN" b="1" dirty="0"/>
              <a:t>Calculate the IQR:</a:t>
            </a:r>
            <a:r>
              <a:rPr lang="en-IN" dirty="0"/>
              <a:t> IQR = Q₃ - Q₁.</a:t>
            </a:r>
          </a:p>
          <a:p>
            <a:r>
              <a:rPr lang="en-IN" b="1" dirty="0"/>
              <a:t>Determine the boundaries:</a:t>
            </a:r>
            <a:endParaRPr lang="en-IN" dirty="0"/>
          </a:p>
          <a:p>
            <a:pPr lvl="1"/>
            <a:r>
              <a:rPr lang="en-IN" b="1" dirty="0"/>
              <a:t>Lower Outlier Boundary:</a:t>
            </a:r>
            <a:r>
              <a:rPr lang="en-IN" dirty="0"/>
              <a:t> </a:t>
            </a:r>
          </a:p>
          <a:p>
            <a:pPr lvl="1"/>
            <a:r>
              <a:rPr lang="en-IN" b="1" dirty="0"/>
              <a:t>Upper Outlier </a:t>
            </a:r>
            <a:r>
              <a:rPr lang="en-IN" b="1" dirty="0" err="1"/>
              <a:t>Boundary</a:t>
            </a:r>
            <a:r>
              <a:rPr lang="en-IN" dirty="0" err="1"/>
              <a:t>Any</a:t>
            </a:r>
            <a:r>
              <a:rPr lang="en-IN" dirty="0"/>
              <a:t> value that is less than the Lower Boundary or greater than the Upper Boundary is considered an outlie</a:t>
            </a:r>
          </a:p>
          <a:p>
            <a:endParaRPr lang="en-IN" dirty="0"/>
          </a:p>
        </p:txBody>
      </p:sp>
    </p:spTree>
    <p:extLst>
      <p:ext uri="{BB962C8B-B14F-4D97-AF65-F5344CB8AC3E}">
        <p14:creationId xmlns:p14="http://schemas.microsoft.com/office/powerpoint/2010/main" val="3992222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A558B-193A-7196-F507-5726DE3CC48D}"/>
              </a:ext>
            </a:extLst>
          </p:cNvPr>
          <p:cNvSpPr>
            <a:spLocks noGrp="1"/>
          </p:cNvSpPr>
          <p:nvPr>
            <p:ph type="title"/>
          </p:nvPr>
        </p:nvSpPr>
        <p:spPr/>
        <p:txBody>
          <a:bodyPr/>
          <a:lstStyle/>
          <a:p>
            <a:r>
              <a:rPr lang="en-US" dirty="0"/>
              <a:t>Outliers Detection</a:t>
            </a:r>
            <a:endParaRPr lang="en-IN" dirty="0"/>
          </a:p>
        </p:txBody>
      </p:sp>
      <p:sp>
        <p:nvSpPr>
          <p:cNvPr id="3" name="Content Placeholder 2">
            <a:extLst>
              <a:ext uri="{FF2B5EF4-FFF2-40B4-BE49-F238E27FC236}">
                <a16:creationId xmlns:a16="http://schemas.microsoft.com/office/drawing/2014/main" id="{ADAA4D61-F264-1251-DD62-83E01BDB4A6F}"/>
              </a:ext>
            </a:extLst>
          </p:cNvPr>
          <p:cNvSpPr>
            <a:spLocks noGrp="1"/>
          </p:cNvSpPr>
          <p:nvPr>
            <p:ph idx="1"/>
          </p:nvPr>
        </p:nvSpPr>
        <p:spPr/>
        <p:txBody>
          <a:bodyPr>
            <a:normAutofit lnSpcReduction="10000"/>
          </a:bodyPr>
          <a:lstStyle/>
          <a:p>
            <a:r>
              <a:rPr lang="en-IN" dirty="0"/>
              <a:t>40, 42, 45, 46, 47, 48, 49, 50, 52, 100</a:t>
            </a:r>
          </a:p>
          <a:p>
            <a:r>
              <a:rPr lang="en-IN" dirty="0"/>
              <a:t>Step 1: Arrange the data</a:t>
            </a:r>
          </a:p>
          <a:p>
            <a:r>
              <a:rPr lang="en-IN" dirty="0"/>
              <a:t>40, 42, 45, 46, 47, 48, 49, 50, 52, 100</a:t>
            </a:r>
          </a:p>
          <a:p>
            <a:r>
              <a:rPr lang="en-IN" dirty="0"/>
              <a:t>Step 2: Find Q1 (First Quartile)</a:t>
            </a:r>
          </a:p>
          <a:p>
            <a:r>
              <a:rPr lang="en-IN" dirty="0"/>
              <a:t>Lower half:40, 42, 45, 46, 47The middle value is:Q1 = 45</a:t>
            </a:r>
          </a:p>
          <a:p>
            <a:r>
              <a:rPr lang="en-IN" b="1" dirty="0"/>
              <a:t>Step 3: Find Q3 (Third Quartile)</a:t>
            </a:r>
          </a:p>
          <a:p>
            <a:r>
              <a:rPr lang="en-IN" dirty="0"/>
              <a:t>Upper half:</a:t>
            </a:r>
          </a:p>
          <a:p>
            <a:r>
              <a:rPr lang="en-IN" dirty="0"/>
              <a:t>48, 49, 50, 52, 100</a:t>
            </a:r>
          </a:p>
          <a:p>
            <a:r>
              <a:rPr lang="en-IN" dirty="0"/>
              <a:t>Q3 = 50</a:t>
            </a:r>
          </a:p>
        </p:txBody>
      </p:sp>
    </p:spTree>
    <p:extLst>
      <p:ext uri="{BB962C8B-B14F-4D97-AF65-F5344CB8AC3E}">
        <p14:creationId xmlns:p14="http://schemas.microsoft.com/office/powerpoint/2010/main" val="3556893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F66BF-F250-82AC-3575-B9D98B58B4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6BC88F0-2A5F-D94D-5EDA-AEAE7A46FC6A}"/>
              </a:ext>
            </a:extLst>
          </p:cNvPr>
          <p:cNvSpPr>
            <a:spLocks noGrp="1"/>
          </p:cNvSpPr>
          <p:nvPr>
            <p:ph idx="1"/>
          </p:nvPr>
        </p:nvSpPr>
        <p:spPr/>
        <p:txBody>
          <a:bodyPr/>
          <a:lstStyle/>
          <a:p>
            <a:r>
              <a:rPr lang="en-IN" b="1" dirty="0"/>
              <a:t>Step 4: Calculate IQR</a:t>
            </a:r>
          </a:p>
          <a:p>
            <a:r>
              <a:rPr lang="en-IN" dirty="0"/>
              <a:t>Formula:</a:t>
            </a:r>
          </a:p>
          <a:p>
            <a:r>
              <a:rPr lang="en-IN" dirty="0"/>
              <a:t>IQR = Q3 − Q1</a:t>
            </a:r>
          </a:p>
          <a:p>
            <a:r>
              <a:rPr lang="en-IN" dirty="0"/>
              <a:t>Calculation:</a:t>
            </a:r>
          </a:p>
          <a:p>
            <a:r>
              <a:rPr lang="en-IN" dirty="0"/>
              <a:t>IQR = 50 − 45</a:t>
            </a:r>
          </a:p>
          <a:p>
            <a:r>
              <a:rPr lang="en-IN" dirty="0"/>
              <a:t>     = 5</a:t>
            </a:r>
          </a:p>
          <a:p>
            <a:endParaRPr lang="en-IN" dirty="0"/>
          </a:p>
        </p:txBody>
      </p:sp>
    </p:spTree>
    <p:extLst>
      <p:ext uri="{BB962C8B-B14F-4D97-AF65-F5344CB8AC3E}">
        <p14:creationId xmlns:p14="http://schemas.microsoft.com/office/powerpoint/2010/main" val="3630976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320BD-0B70-DEE6-2A3A-606AA81CBF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8F4D42-9885-9DE0-AAEB-D23C60F252BF}"/>
              </a:ext>
            </a:extLst>
          </p:cNvPr>
          <p:cNvSpPr>
            <a:spLocks noGrp="1"/>
          </p:cNvSpPr>
          <p:nvPr>
            <p:ph idx="1"/>
          </p:nvPr>
        </p:nvSpPr>
        <p:spPr/>
        <p:txBody>
          <a:bodyPr>
            <a:normAutofit lnSpcReduction="10000"/>
          </a:bodyPr>
          <a:lstStyle/>
          <a:p>
            <a:r>
              <a:rPr lang="en-IN" b="1" dirty="0"/>
              <a:t>Step 5: Calculate Lower and Upper Limits</a:t>
            </a:r>
          </a:p>
          <a:p>
            <a:r>
              <a:rPr lang="en-IN" dirty="0"/>
              <a:t>Lower Limit</a:t>
            </a:r>
          </a:p>
          <a:p>
            <a:r>
              <a:rPr lang="en-IN" dirty="0"/>
              <a:t>Q1 − 1.5 × IQR</a:t>
            </a:r>
          </a:p>
          <a:p>
            <a:endParaRPr lang="en-IN" dirty="0"/>
          </a:p>
          <a:p>
            <a:r>
              <a:rPr lang="en-IN" dirty="0"/>
              <a:t>= 45 − 1.5 × 5</a:t>
            </a:r>
          </a:p>
          <a:p>
            <a:endParaRPr lang="en-IN" dirty="0"/>
          </a:p>
          <a:p>
            <a:r>
              <a:rPr lang="en-IN" dirty="0"/>
              <a:t>= 45 − 7.5</a:t>
            </a:r>
          </a:p>
          <a:p>
            <a:endParaRPr lang="en-IN" dirty="0"/>
          </a:p>
          <a:p>
            <a:r>
              <a:rPr lang="en-IN" dirty="0"/>
              <a:t>= 37.5</a:t>
            </a:r>
          </a:p>
          <a:p>
            <a:endParaRPr lang="en-IN" dirty="0"/>
          </a:p>
        </p:txBody>
      </p:sp>
    </p:spTree>
    <p:extLst>
      <p:ext uri="{BB962C8B-B14F-4D97-AF65-F5344CB8AC3E}">
        <p14:creationId xmlns:p14="http://schemas.microsoft.com/office/powerpoint/2010/main" val="787509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1E135-9A10-DF5F-1742-140A030461A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C7DAC2-0630-F26A-A0A1-6645E6CD0DFD}"/>
              </a:ext>
            </a:extLst>
          </p:cNvPr>
          <p:cNvSpPr>
            <a:spLocks noGrp="1"/>
          </p:cNvSpPr>
          <p:nvPr>
            <p:ph idx="1"/>
          </p:nvPr>
        </p:nvSpPr>
        <p:spPr/>
        <p:txBody>
          <a:bodyPr/>
          <a:lstStyle/>
          <a:p>
            <a:r>
              <a:rPr lang="en-IN" dirty="0"/>
              <a:t>Upper Limit</a:t>
            </a:r>
          </a:p>
          <a:p>
            <a:r>
              <a:rPr lang="en-IN" dirty="0"/>
              <a:t>Q3 + 1.5 × IQR</a:t>
            </a:r>
          </a:p>
          <a:p>
            <a:endParaRPr lang="en-IN" dirty="0"/>
          </a:p>
          <a:p>
            <a:r>
              <a:rPr lang="en-IN" dirty="0"/>
              <a:t>= 50 + 1.5 × 5</a:t>
            </a:r>
          </a:p>
          <a:p>
            <a:endParaRPr lang="en-IN" dirty="0"/>
          </a:p>
          <a:p>
            <a:r>
              <a:rPr lang="en-IN" dirty="0"/>
              <a:t>= 50 + 7.5</a:t>
            </a:r>
          </a:p>
          <a:p>
            <a:endParaRPr lang="en-IN" dirty="0"/>
          </a:p>
          <a:p>
            <a:r>
              <a:rPr lang="en-IN" dirty="0"/>
              <a:t>= 57.5</a:t>
            </a:r>
          </a:p>
          <a:p>
            <a:endParaRPr lang="en-IN" dirty="0"/>
          </a:p>
        </p:txBody>
      </p:sp>
    </p:spTree>
    <p:extLst>
      <p:ext uri="{BB962C8B-B14F-4D97-AF65-F5344CB8AC3E}">
        <p14:creationId xmlns:p14="http://schemas.microsoft.com/office/powerpoint/2010/main" val="493951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C7678-B2BB-6897-C96C-83BDC6769F3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893877-BC8D-D544-E7A5-5B87A5A22D3B}"/>
              </a:ext>
            </a:extLst>
          </p:cNvPr>
          <p:cNvSpPr>
            <a:spLocks noGrp="1"/>
          </p:cNvSpPr>
          <p:nvPr>
            <p:ph idx="1"/>
          </p:nvPr>
        </p:nvSpPr>
        <p:spPr/>
        <p:txBody>
          <a:bodyPr/>
          <a:lstStyle/>
          <a:p>
            <a:r>
              <a:rPr lang="en-IN" b="1" dirty="0"/>
              <a:t>Step 6: Identify Outliers</a:t>
            </a:r>
          </a:p>
          <a:p>
            <a:r>
              <a:rPr lang="en-IN" dirty="0"/>
              <a:t>Acceptable range:</a:t>
            </a:r>
          </a:p>
          <a:p>
            <a:r>
              <a:rPr lang="en-IN" dirty="0"/>
              <a:t>37.5  ≤  Value  ≤ 57.5</a:t>
            </a:r>
          </a:p>
          <a:p>
            <a:endParaRPr lang="en-IN" dirty="0"/>
          </a:p>
        </p:txBody>
      </p:sp>
    </p:spTree>
    <p:extLst>
      <p:ext uri="{BB962C8B-B14F-4D97-AF65-F5344CB8AC3E}">
        <p14:creationId xmlns:p14="http://schemas.microsoft.com/office/powerpoint/2010/main" val="3473242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21F85-17CA-BC96-3818-EB5EBE874195}"/>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9FAFD57C-3D99-3E1F-E065-DF1EBC188364}"/>
              </a:ext>
            </a:extLst>
          </p:cNvPr>
          <p:cNvGraphicFramePr>
            <a:graphicFrameLocks noGrp="1"/>
          </p:cNvGraphicFramePr>
          <p:nvPr>
            <p:ph idx="1"/>
            <p:extLst>
              <p:ext uri="{D42A27DB-BD31-4B8C-83A1-F6EECF244321}">
                <p14:modId xmlns:p14="http://schemas.microsoft.com/office/powerpoint/2010/main" val="1352628504"/>
              </p:ext>
            </p:extLst>
          </p:nvPr>
        </p:nvGraphicFramePr>
        <p:xfrm>
          <a:off x="838200" y="1989614"/>
          <a:ext cx="10515600" cy="4023360"/>
        </p:xfrm>
        <a:graphic>
          <a:graphicData uri="http://schemas.openxmlformats.org/drawingml/2006/table">
            <a:tbl>
              <a:tblPr/>
              <a:tblGrid>
                <a:gridCol w="5257800">
                  <a:extLst>
                    <a:ext uri="{9D8B030D-6E8A-4147-A177-3AD203B41FA5}">
                      <a16:colId xmlns:a16="http://schemas.microsoft.com/office/drawing/2014/main" val="84701626"/>
                    </a:ext>
                  </a:extLst>
                </a:gridCol>
                <a:gridCol w="5257800">
                  <a:extLst>
                    <a:ext uri="{9D8B030D-6E8A-4147-A177-3AD203B41FA5}">
                      <a16:colId xmlns:a16="http://schemas.microsoft.com/office/drawing/2014/main" val="3854876088"/>
                    </a:ext>
                  </a:extLst>
                </a:gridCol>
              </a:tblGrid>
              <a:tr h="0">
                <a:tc>
                  <a:txBody>
                    <a:bodyPr/>
                    <a:lstStyle/>
                    <a:p>
                      <a:pPr>
                        <a:buNone/>
                      </a:pPr>
                      <a:r>
                        <a:rPr lang="en-IN"/>
                        <a:t>Value</a:t>
                      </a:r>
                    </a:p>
                  </a:txBody>
                  <a:tcPr anchor="ctr">
                    <a:lnL>
                      <a:noFill/>
                    </a:lnL>
                    <a:lnR>
                      <a:noFill/>
                    </a:lnR>
                    <a:lnT>
                      <a:noFill/>
                    </a:lnT>
                    <a:lnB>
                      <a:noFill/>
                    </a:lnB>
                    <a:noFill/>
                  </a:tcPr>
                </a:tc>
                <a:tc>
                  <a:txBody>
                    <a:bodyPr/>
                    <a:lstStyle/>
                    <a:p>
                      <a:pPr>
                        <a:buNone/>
                      </a:pPr>
                      <a:r>
                        <a:rPr lang="en-IN"/>
                        <a:t>Outlier?</a:t>
                      </a:r>
                    </a:p>
                  </a:txBody>
                  <a:tcPr anchor="ctr">
                    <a:lnL>
                      <a:noFill/>
                    </a:lnL>
                    <a:lnR>
                      <a:noFill/>
                    </a:lnR>
                    <a:lnT>
                      <a:noFill/>
                    </a:lnT>
                    <a:lnB>
                      <a:noFill/>
                    </a:lnB>
                    <a:noFill/>
                  </a:tcPr>
                </a:tc>
                <a:extLst>
                  <a:ext uri="{0D108BD9-81ED-4DB2-BD59-A6C34878D82A}">
                    <a16:rowId xmlns:a16="http://schemas.microsoft.com/office/drawing/2014/main" val="3658860651"/>
                  </a:ext>
                </a:extLst>
              </a:tr>
              <a:tr h="0">
                <a:tc>
                  <a:txBody>
                    <a:bodyPr/>
                    <a:lstStyle/>
                    <a:p>
                      <a:pPr>
                        <a:buNone/>
                      </a:pPr>
                      <a:r>
                        <a:rPr lang="en-IN"/>
                        <a:t>40</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extLst>
                  <a:ext uri="{0D108BD9-81ED-4DB2-BD59-A6C34878D82A}">
                    <a16:rowId xmlns:a16="http://schemas.microsoft.com/office/drawing/2014/main" val="3788119452"/>
                  </a:ext>
                </a:extLst>
              </a:tr>
              <a:tr h="0">
                <a:tc>
                  <a:txBody>
                    <a:bodyPr/>
                    <a:lstStyle/>
                    <a:p>
                      <a:pPr>
                        <a:buNone/>
                      </a:pPr>
                      <a:r>
                        <a:rPr lang="en-IN"/>
                        <a:t>42</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extLst>
                  <a:ext uri="{0D108BD9-81ED-4DB2-BD59-A6C34878D82A}">
                    <a16:rowId xmlns:a16="http://schemas.microsoft.com/office/drawing/2014/main" val="2296936596"/>
                  </a:ext>
                </a:extLst>
              </a:tr>
              <a:tr h="0">
                <a:tc>
                  <a:txBody>
                    <a:bodyPr/>
                    <a:lstStyle/>
                    <a:p>
                      <a:pPr>
                        <a:buNone/>
                      </a:pPr>
                      <a:r>
                        <a:rPr lang="en-IN"/>
                        <a:t>45</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extLst>
                  <a:ext uri="{0D108BD9-81ED-4DB2-BD59-A6C34878D82A}">
                    <a16:rowId xmlns:a16="http://schemas.microsoft.com/office/drawing/2014/main" val="3464540858"/>
                  </a:ext>
                </a:extLst>
              </a:tr>
              <a:tr h="0">
                <a:tc>
                  <a:txBody>
                    <a:bodyPr/>
                    <a:lstStyle/>
                    <a:p>
                      <a:pPr>
                        <a:buNone/>
                      </a:pPr>
                      <a:r>
                        <a:rPr lang="en-IN"/>
                        <a:t>46</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extLst>
                  <a:ext uri="{0D108BD9-81ED-4DB2-BD59-A6C34878D82A}">
                    <a16:rowId xmlns:a16="http://schemas.microsoft.com/office/drawing/2014/main" val="817464660"/>
                  </a:ext>
                </a:extLst>
              </a:tr>
              <a:tr h="0">
                <a:tc>
                  <a:txBody>
                    <a:bodyPr/>
                    <a:lstStyle/>
                    <a:p>
                      <a:pPr>
                        <a:buNone/>
                      </a:pPr>
                      <a:r>
                        <a:rPr lang="en-IN"/>
                        <a:t>47</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extLst>
                  <a:ext uri="{0D108BD9-81ED-4DB2-BD59-A6C34878D82A}">
                    <a16:rowId xmlns:a16="http://schemas.microsoft.com/office/drawing/2014/main" val="2222531407"/>
                  </a:ext>
                </a:extLst>
              </a:tr>
              <a:tr h="0">
                <a:tc>
                  <a:txBody>
                    <a:bodyPr/>
                    <a:lstStyle/>
                    <a:p>
                      <a:pPr>
                        <a:buNone/>
                      </a:pPr>
                      <a:r>
                        <a:rPr lang="en-IN"/>
                        <a:t>48</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extLst>
                  <a:ext uri="{0D108BD9-81ED-4DB2-BD59-A6C34878D82A}">
                    <a16:rowId xmlns:a16="http://schemas.microsoft.com/office/drawing/2014/main" val="1138504305"/>
                  </a:ext>
                </a:extLst>
              </a:tr>
              <a:tr h="0">
                <a:tc>
                  <a:txBody>
                    <a:bodyPr/>
                    <a:lstStyle/>
                    <a:p>
                      <a:pPr>
                        <a:buNone/>
                      </a:pPr>
                      <a:r>
                        <a:rPr lang="en-IN"/>
                        <a:t>49</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extLst>
                  <a:ext uri="{0D108BD9-81ED-4DB2-BD59-A6C34878D82A}">
                    <a16:rowId xmlns:a16="http://schemas.microsoft.com/office/drawing/2014/main" val="3784024548"/>
                  </a:ext>
                </a:extLst>
              </a:tr>
              <a:tr h="0">
                <a:tc>
                  <a:txBody>
                    <a:bodyPr/>
                    <a:lstStyle/>
                    <a:p>
                      <a:pPr>
                        <a:buNone/>
                      </a:pPr>
                      <a:r>
                        <a:rPr lang="en-IN"/>
                        <a:t>50</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extLst>
                  <a:ext uri="{0D108BD9-81ED-4DB2-BD59-A6C34878D82A}">
                    <a16:rowId xmlns:a16="http://schemas.microsoft.com/office/drawing/2014/main" val="1494429584"/>
                  </a:ext>
                </a:extLst>
              </a:tr>
              <a:tr h="0">
                <a:tc>
                  <a:txBody>
                    <a:bodyPr/>
                    <a:lstStyle/>
                    <a:p>
                      <a:pPr>
                        <a:buNone/>
                      </a:pPr>
                      <a:r>
                        <a:rPr lang="en-IN"/>
                        <a:t>52</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extLst>
                  <a:ext uri="{0D108BD9-81ED-4DB2-BD59-A6C34878D82A}">
                    <a16:rowId xmlns:a16="http://schemas.microsoft.com/office/drawing/2014/main" val="4001815093"/>
                  </a:ext>
                </a:extLst>
              </a:tr>
              <a:tr h="0">
                <a:tc>
                  <a:txBody>
                    <a:bodyPr/>
                    <a:lstStyle/>
                    <a:p>
                      <a:pPr>
                        <a:buNone/>
                      </a:pPr>
                      <a:r>
                        <a:rPr lang="en-IN"/>
                        <a:t>100</a:t>
                      </a:r>
                    </a:p>
                  </a:txBody>
                  <a:tcPr anchor="ctr">
                    <a:lnL>
                      <a:noFill/>
                    </a:lnL>
                    <a:lnR>
                      <a:noFill/>
                    </a:lnR>
                    <a:lnT>
                      <a:noFill/>
                    </a:lnT>
                    <a:lnB>
                      <a:noFill/>
                    </a:lnB>
                    <a:noFill/>
                  </a:tcPr>
                </a:tc>
                <a:tc>
                  <a:txBody>
                    <a:bodyPr/>
                    <a:lstStyle/>
                    <a:p>
                      <a:pPr>
                        <a:buNone/>
                      </a:pPr>
                      <a:r>
                        <a:rPr lang="en-IN"/>
                        <a:t> </a:t>
                      </a:r>
                      <a:r>
                        <a:rPr lang="en-IN" dirty="0"/>
                        <a:t>Yes</a:t>
                      </a:r>
                    </a:p>
                  </a:txBody>
                  <a:tcPr anchor="ctr">
                    <a:lnL>
                      <a:noFill/>
                    </a:lnL>
                    <a:lnR>
                      <a:noFill/>
                    </a:lnR>
                    <a:lnT>
                      <a:noFill/>
                    </a:lnT>
                    <a:lnB>
                      <a:noFill/>
                    </a:lnB>
                    <a:noFill/>
                  </a:tcPr>
                </a:tc>
                <a:extLst>
                  <a:ext uri="{0D108BD9-81ED-4DB2-BD59-A6C34878D82A}">
                    <a16:rowId xmlns:a16="http://schemas.microsoft.com/office/drawing/2014/main" val="3475579447"/>
                  </a:ext>
                </a:extLst>
              </a:tr>
            </a:tbl>
          </a:graphicData>
        </a:graphic>
      </p:graphicFrame>
    </p:spTree>
    <p:extLst>
      <p:ext uri="{BB962C8B-B14F-4D97-AF65-F5344CB8AC3E}">
        <p14:creationId xmlns:p14="http://schemas.microsoft.com/office/powerpoint/2010/main" val="4058113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846</Words>
  <Application>Microsoft Office PowerPoint</Application>
  <PresentationFormat>Widescreen</PresentationFormat>
  <Paragraphs>145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Data Preprocessing in Data Mining </vt:lpstr>
      <vt:lpstr>PowerPoint Presentation</vt:lpstr>
      <vt:lpstr>Steps in Data Preprocessing </vt:lpstr>
      <vt:lpstr>1. Data Cleaning </vt:lpstr>
      <vt:lpstr>PowerPoint Presentation</vt:lpstr>
      <vt:lpstr>PowerPoint Presentation</vt:lpstr>
      <vt:lpstr>Mean Imputation </vt:lpstr>
      <vt:lpstr>PowerPoint Presentation</vt:lpstr>
      <vt:lpstr>PowerPoint Presentation</vt:lpstr>
      <vt:lpstr>Median Imputation Definition </vt:lpstr>
      <vt:lpstr>PowerPoint Presentation</vt:lpstr>
      <vt:lpstr>Mode Imputation</vt:lpstr>
      <vt:lpstr>PowerPoint Presentation</vt:lpstr>
      <vt:lpstr>Outlier Detection</vt:lpstr>
      <vt:lpstr>Outliers Detection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1</cp:revision>
  <dcterms:created xsi:type="dcterms:W3CDTF">2026-07-10T04:26:27Z</dcterms:created>
  <dcterms:modified xsi:type="dcterms:W3CDTF">2026-07-10T04:26:30Z</dcterms:modified>
</cp:coreProperties>
</file>