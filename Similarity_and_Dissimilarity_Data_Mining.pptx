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Similarity and Dissimilarity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Data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Similarity measures how alike two data objects are.</a:t>
            </a:r>
          </a:p>
          <a:p>
            <a:pPr>
              <a:spcAft>
                <a:spcPts val="1200"/>
              </a:spcAft>
              <a:defRPr sz="2200"/>
            </a:pPr>
            <a:r>
              <a:t>Dissimilarity measures how different two data objects are.</a:t>
            </a:r>
          </a:p>
          <a:p>
            <a:pPr>
              <a:spcAft>
                <a:spcPts val="1200"/>
              </a:spcAft>
              <a:defRPr sz="2200"/>
            </a:pPr>
            <a:r>
              <a:t>Similarity: larger value generally means more alike.</a:t>
            </a:r>
          </a:p>
          <a:p>
            <a:pPr>
              <a:spcAft>
                <a:spcPts val="1200"/>
              </a:spcAft>
              <a:defRPr sz="2200"/>
            </a:pPr>
            <a:r>
              <a:t>Dissimilarity / distance: smaller value means more alike.</a:t>
            </a:r>
          </a:p>
          <a:p>
            <a:pPr>
              <a:spcAft>
                <a:spcPts val="1200"/>
              </a:spcAft>
              <a:defRPr sz="2200"/>
            </a:pPr>
            <a:r>
              <a:t>Applications: clustering, classification, nearest-neighbor methods, recommendation systems and text mining.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Similarity vs. Dissimilarity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Similarity → measures likeness between objects.</a:t>
            </a:r>
          </a:p>
          <a:p>
            <a:pPr>
              <a:spcAft>
                <a:spcPts val="1200"/>
              </a:spcAft>
              <a:defRPr sz="2100"/>
            </a:pPr>
            <a:r>
              <a:t>Dissimilarity → measures difference or distance between objects.</a:t>
            </a:r>
          </a:p>
          <a:p>
            <a:pPr>
              <a:spcAft>
                <a:spcPts val="1200"/>
              </a:spcAft>
              <a:defRPr sz="2100"/>
            </a:pPr>
            <a:r>
              <a:t>Example: If two students have very similar marks, their similarity is high.</a:t>
            </a:r>
          </a:p>
          <a:p>
            <a:pPr>
              <a:spcAft>
                <a:spcPts val="1200"/>
              </a:spcAft>
              <a:defRPr sz="2100"/>
            </a:pPr>
            <a:r>
              <a:t>For distance measures, a small distance indicates that the objects are close.</a:t>
            </a:r>
          </a:p>
          <a:p>
            <a:pPr>
              <a:spcAft>
                <a:spcPts val="1200"/>
              </a:spcAft>
              <a:defRPr sz="2100"/>
            </a:pPr>
            <a:r>
              <a:t>The appropriate measure depends on the data type: numerical, binary, categorical or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Euclidean Distance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d(X,Y) = √[(x₁−y₁)² + (x₂−y₂)² + … + (xₙ−yₙ)²]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 straight-line distance between two numerical data points.</a:t>
            </a:r>
          </a:p>
          <a:p>
            <a:pPr>
              <a:spcAft>
                <a:spcPts val="1200"/>
              </a:spcAft>
              <a:defRPr sz="1900"/>
            </a:pPr>
            <a:r>
              <a:t>Example:</a:t>
            </a:r>
          </a:p>
          <a:p>
            <a:pPr>
              <a:spcAft>
                <a:spcPts val="1200"/>
              </a:spcAft>
              <a:defRPr sz="1900"/>
            </a:pPr>
            <a:r>
              <a:t>X = (2, 3)</a:t>
            </a:r>
          </a:p>
          <a:p>
            <a:pPr>
              <a:spcAft>
                <a:spcPts val="1200"/>
              </a:spcAft>
              <a:defRPr sz="1900"/>
            </a:pPr>
            <a:r>
              <a:t>Y = (5, 7)</a:t>
            </a:r>
          </a:p>
          <a:p>
            <a:pPr>
              <a:spcAft>
                <a:spcPts val="1200"/>
              </a:spcAft>
              <a:defRPr sz="1900"/>
            </a:pPr>
            <a:r>
              <a:t>d = √[(2−5)² + (3−7)²]</a:t>
            </a:r>
          </a:p>
          <a:p>
            <a:pPr>
              <a:spcAft>
                <a:spcPts val="1200"/>
              </a:spcAft>
              <a:defRPr sz="1900"/>
            </a:pPr>
            <a:r>
              <a:t>d = √(9 + 16) = √25</a:t>
            </a:r>
          </a:p>
          <a:p>
            <a:pPr>
              <a:spcAft>
                <a:spcPts val="1200"/>
              </a:spcAft>
              <a:defRPr sz="1900"/>
            </a:pPr>
            <a:r>
              <a:t>Answer: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Manhattan Distance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d(X,Y) = Σ |xᵢ − yᵢ|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Adds the absolute differences between corresponding attributes.</a:t>
            </a:r>
          </a:p>
          <a:p>
            <a:pPr>
              <a:spcAft>
                <a:spcPts val="1200"/>
              </a:spcAft>
              <a:defRPr sz="1900"/>
            </a:pPr>
            <a:r>
              <a:t>Example:</a:t>
            </a:r>
          </a:p>
          <a:p>
            <a:pPr>
              <a:spcAft>
                <a:spcPts val="1200"/>
              </a:spcAft>
              <a:defRPr sz="1900"/>
            </a:pPr>
            <a:r>
              <a:t>X = (2, 3)</a:t>
            </a:r>
          </a:p>
          <a:p>
            <a:pPr>
              <a:spcAft>
                <a:spcPts val="1200"/>
              </a:spcAft>
              <a:defRPr sz="1900"/>
            </a:pPr>
            <a:r>
              <a:t>Y = (5, 7)</a:t>
            </a:r>
          </a:p>
          <a:p>
            <a:pPr>
              <a:spcAft>
                <a:spcPts val="1200"/>
              </a:spcAft>
              <a:defRPr sz="1900"/>
            </a:pPr>
            <a:r>
              <a:t>d = |2−5| + |3−7|</a:t>
            </a:r>
          </a:p>
          <a:p>
            <a:pPr>
              <a:spcAft>
                <a:spcPts val="1200"/>
              </a:spcAft>
              <a:defRPr sz="1900"/>
            </a:pPr>
            <a:r>
              <a:t>d = 3 + 4</a:t>
            </a:r>
          </a:p>
          <a:p>
            <a:pPr>
              <a:spcAft>
                <a:spcPts val="1200"/>
              </a:spcAft>
              <a:defRPr sz="1900"/>
            </a:pPr>
            <a:r>
              <a:t>Answer: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Minkowski Distance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d(X,Y) = [Σ |xᵢ − yᵢ|ᵖ]¹ᐟᵖ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 generalized distance measure. p = 1 gives Manhattan; p = 2 gives Euclidean.</a:t>
            </a:r>
          </a:p>
          <a:p>
            <a:pPr>
              <a:spcAft>
                <a:spcPts val="1200"/>
              </a:spcAft>
              <a:defRPr sz="1900"/>
            </a:pPr>
            <a:r>
              <a:t>Example:</a:t>
            </a:r>
          </a:p>
          <a:p>
            <a:pPr>
              <a:spcAft>
                <a:spcPts val="1200"/>
              </a:spcAft>
              <a:defRPr sz="1900"/>
            </a:pPr>
            <a:r>
              <a:t>X = (2, 3), Y = (5, 7), p = 3</a:t>
            </a:r>
          </a:p>
          <a:p>
            <a:pPr>
              <a:spcAft>
                <a:spcPts val="1200"/>
              </a:spcAft>
              <a:defRPr sz="1900"/>
            </a:pPr>
            <a:r>
              <a:t>d = [|2−5|³ + |3−7|³]¹ᐟ³</a:t>
            </a:r>
          </a:p>
          <a:p>
            <a:pPr>
              <a:spcAft>
                <a:spcPts val="1200"/>
              </a:spcAft>
              <a:defRPr sz="1900"/>
            </a:pPr>
            <a:r>
              <a:t>d = [27 + 64]¹ᐟ³ = 91¹ᐟ³</a:t>
            </a:r>
          </a:p>
          <a:p>
            <a:pPr>
              <a:spcAft>
                <a:spcPts val="1200"/>
              </a:spcAft>
              <a:defRPr sz="1900"/>
            </a:pPr>
            <a:r>
              <a:t>Answer: ≈ 4.50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Jaccard Similarity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J(X,Y) = M₁₁ / (M₁₁ + M₁₀ + M₀₁)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Used mainly for binary attributes when 0–0 matches are not important.</a:t>
            </a:r>
          </a:p>
          <a:p>
            <a:pPr>
              <a:spcAft>
                <a:spcPts val="1200"/>
              </a:spcAft>
              <a:defRPr sz="1900"/>
            </a:pPr>
            <a:r>
              <a:t>Example:</a:t>
            </a:r>
          </a:p>
          <a:p>
            <a:pPr>
              <a:spcAft>
                <a:spcPts val="1200"/>
              </a:spcAft>
              <a:defRPr sz="1900"/>
            </a:pPr>
            <a:r>
              <a:t>X = [1, 1, 0, 1]</a:t>
            </a:r>
          </a:p>
          <a:p>
            <a:pPr>
              <a:spcAft>
                <a:spcPts val="1200"/>
              </a:spcAft>
              <a:defRPr sz="1900"/>
            </a:pPr>
            <a:r>
              <a:t>Y = [1, 0, 0, 1]</a:t>
            </a:r>
          </a:p>
          <a:p>
            <a:pPr>
              <a:spcAft>
                <a:spcPts val="1200"/>
              </a:spcAft>
              <a:defRPr sz="1900"/>
            </a:pPr>
            <a:r>
              <a:t>M₁₁ = 2, M₁₀ = 1, M₀₁ = 0</a:t>
            </a:r>
          </a:p>
          <a:p>
            <a:pPr>
              <a:spcAft>
                <a:spcPts val="1200"/>
              </a:spcAft>
              <a:defRPr sz="1900"/>
            </a:pPr>
            <a:r>
              <a:t>J = 2 / (2 + 1 + 0)</a:t>
            </a:r>
          </a:p>
          <a:p>
            <a:pPr>
              <a:spcAft>
                <a:spcPts val="1200"/>
              </a:spcAft>
              <a:defRPr sz="1900"/>
            </a:pPr>
            <a:r>
              <a:t>Answer: 0.667 or 66.7%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Jaccard Dissimilarity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Dⱼ = 1 − J(X,Y)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Jaccard dissimilarity is obtained by subtracting Jaccard similarity from 1.</a:t>
            </a:r>
          </a:p>
          <a:p>
            <a:pPr>
              <a:spcAft>
                <a:spcPts val="1200"/>
              </a:spcAft>
              <a:defRPr sz="1900"/>
            </a:pPr>
            <a:r>
              <a:t>Example:</a:t>
            </a:r>
          </a:p>
          <a:p>
            <a:pPr>
              <a:spcAft>
                <a:spcPts val="1200"/>
              </a:spcAft>
              <a:defRPr sz="1900"/>
            </a:pPr>
            <a:r>
              <a:t>From the previous example, J = 0.667</a:t>
            </a:r>
          </a:p>
          <a:p>
            <a:pPr>
              <a:spcAft>
                <a:spcPts val="1200"/>
              </a:spcAft>
              <a:defRPr sz="1900"/>
            </a:pPr>
            <a:r>
              <a:t>Dⱼ = 1 − 0.667</a:t>
            </a:r>
          </a:p>
          <a:p>
            <a:pPr>
              <a:spcAft>
                <a:spcPts val="1200"/>
              </a:spcAft>
              <a:defRPr sz="1900"/>
            </a:pPr>
            <a:r>
              <a:t>Answer: 0.333 or 33.3%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Simple Matching Coefficient (SMC)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SMC = (M₁₁ + M₀₀) / (M₁₁ + M₁₀ + M₀₁ + M₀₀)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Counts both matching 1–1 and matching 0–0 binary values.</a:t>
            </a:r>
          </a:p>
          <a:p>
            <a:pPr>
              <a:spcAft>
                <a:spcPts val="1200"/>
              </a:spcAft>
              <a:defRPr sz="1900"/>
            </a:pPr>
            <a:r>
              <a:t>Example:</a:t>
            </a:r>
          </a:p>
          <a:p>
            <a:pPr>
              <a:spcAft>
                <a:spcPts val="1200"/>
              </a:spcAft>
              <a:defRPr sz="1900"/>
            </a:pPr>
            <a:r>
              <a:t>X = [1, 1, 0, 1]</a:t>
            </a:r>
          </a:p>
          <a:p>
            <a:pPr>
              <a:spcAft>
                <a:spcPts val="1200"/>
              </a:spcAft>
              <a:defRPr sz="1900"/>
            </a:pPr>
            <a:r>
              <a:t>Y = [1, 0, 0, 1]</a:t>
            </a:r>
          </a:p>
          <a:p>
            <a:pPr>
              <a:spcAft>
                <a:spcPts val="1200"/>
              </a:spcAft>
              <a:defRPr sz="1900"/>
            </a:pPr>
            <a:r>
              <a:t>M₁₁ = 2, M₀₀ = 1, M₁₀ = 1, M₀₁ = 0</a:t>
            </a:r>
          </a:p>
          <a:p>
            <a:pPr>
              <a:spcAft>
                <a:spcPts val="1200"/>
              </a:spcAft>
              <a:defRPr sz="1900"/>
            </a:pPr>
            <a:r>
              <a:t>SMC = (2 + 1) / 4</a:t>
            </a:r>
          </a:p>
          <a:p>
            <a:pPr>
              <a:spcAft>
                <a:spcPts val="1200"/>
              </a:spcAft>
              <a:defRPr sz="1900"/>
            </a:pPr>
            <a:r>
              <a:t>Answer: 0.75 or 75%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SMC Dissimilarity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Dₛₘc = 1 − SMC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 simple conversion from similarity to dissimilarity.</a:t>
            </a:r>
          </a:p>
          <a:p>
            <a:pPr>
              <a:spcAft>
                <a:spcPts val="1200"/>
              </a:spcAft>
              <a:defRPr sz="1900"/>
            </a:pPr>
            <a:r>
              <a:t>Example:</a:t>
            </a:r>
          </a:p>
          <a:p>
            <a:pPr>
              <a:spcAft>
                <a:spcPts val="1200"/>
              </a:spcAft>
              <a:defRPr sz="1900"/>
            </a:pPr>
            <a:r>
              <a:t>SMC = 0.75</a:t>
            </a:r>
          </a:p>
          <a:p>
            <a:pPr>
              <a:spcAft>
                <a:spcPts val="1200"/>
              </a:spcAft>
              <a:defRPr sz="1900"/>
            </a:pPr>
            <a:r>
              <a:t>Dₛₘc = 1 − 0.75</a:t>
            </a:r>
          </a:p>
          <a:p>
            <a:pPr>
              <a:spcAft>
                <a:spcPts val="1200"/>
              </a:spcAft>
              <a:defRPr sz="1900"/>
            </a:pPr>
            <a:r>
              <a:t>Answer: 0.25 or 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Cosine Similarity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cos(θ) = (X·Y) / (||X|| ||Y||)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Measures the angle between two vectors; widely used in text and document mining.</a:t>
            </a:r>
          </a:p>
          <a:p>
            <a:pPr>
              <a:spcAft>
                <a:spcPts val="1200"/>
              </a:spcAft>
              <a:defRPr sz="1900"/>
            </a:pPr>
            <a:r>
              <a:t>Example:</a:t>
            </a:r>
          </a:p>
          <a:p>
            <a:pPr>
              <a:spcAft>
                <a:spcPts val="1200"/>
              </a:spcAft>
              <a:defRPr sz="1900"/>
            </a:pPr>
            <a:r>
              <a:t>X = (1, 2)</a:t>
            </a:r>
          </a:p>
          <a:p>
            <a:pPr>
              <a:spcAft>
                <a:spcPts val="1200"/>
              </a:spcAft>
              <a:defRPr sz="1900"/>
            </a:pPr>
            <a:r>
              <a:t>Y = (2, 1)</a:t>
            </a:r>
          </a:p>
          <a:p>
            <a:pPr>
              <a:spcAft>
                <a:spcPts val="1200"/>
              </a:spcAft>
              <a:defRPr sz="1900"/>
            </a:pPr>
            <a:r>
              <a:t>X·Y = (1×2) + (2×1) = 4</a:t>
            </a:r>
          </a:p>
          <a:p>
            <a:pPr>
              <a:spcAft>
                <a:spcPts val="1200"/>
              </a:spcAft>
              <a:defRPr sz="1900"/>
            </a:pPr>
            <a:r>
              <a:t>||X|| = √5 and ||Y|| = √5</a:t>
            </a:r>
          </a:p>
          <a:p>
            <a:pPr>
              <a:spcAft>
                <a:spcPts val="1200"/>
              </a:spcAft>
              <a:defRPr sz="1900"/>
            </a:pPr>
            <a:r>
              <a:t>cos(θ) = 4 / 5</a:t>
            </a:r>
          </a:p>
          <a:p>
            <a:pPr>
              <a:spcAft>
                <a:spcPts val="1200"/>
              </a:spcAft>
              <a:defRPr sz="1900"/>
            </a:pPr>
            <a:r>
              <a:t>Answer: 0.80 or 80%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Cosine Dissimilarity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D = 1 − cos(θ)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 simple dissimilarity derived from cosine similarity.</a:t>
            </a:r>
          </a:p>
          <a:p>
            <a:pPr>
              <a:spcAft>
                <a:spcPts val="1200"/>
              </a:spcAft>
              <a:defRPr sz="1900"/>
            </a:pPr>
            <a:r>
              <a:t>Example:</a:t>
            </a:r>
          </a:p>
          <a:p>
            <a:pPr>
              <a:spcAft>
                <a:spcPts val="1200"/>
              </a:spcAft>
              <a:defRPr sz="1900"/>
            </a:pPr>
            <a:r>
              <a:t>Cosine similarity = 0.80</a:t>
            </a:r>
          </a:p>
          <a:p>
            <a:pPr>
              <a:spcAft>
                <a:spcPts val="1200"/>
              </a:spcAft>
              <a:defRPr sz="1900"/>
            </a:pPr>
            <a:r>
              <a:t>D = 1 − 0.80</a:t>
            </a:r>
          </a:p>
          <a:p>
            <a:pPr>
              <a:spcAft>
                <a:spcPts val="1200"/>
              </a:spcAft>
              <a:defRPr sz="1900"/>
            </a:pPr>
            <a:r>
              <a:t>Answer: 0.20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Formula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Euclidean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Numerical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√Σ(xᵢ−yᵢ)²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Dissimilarity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Manhattan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Numerical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Σ|xᵢ−yᵢ|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Dissimilarity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Minkowski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Numerical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[Σ|xᵢ−yᵢ|ᵖ]¹ᐟᵖ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Dissimilarity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Jaccard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M₁₁/(M₁₁+M₁₀+M₀₁)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Similarity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(M₁₁+M₀₀)/M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Similarity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Vector/Text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(X·Y)/(||X||||Y||)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Similarity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Important Exam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Euclidean distance → straight-line distance.</a:t>
            </a:r>
          </a:p>
          <a:p>
            <a:pPr>
              <a:spcAft>
                <a:spcPts val="1200"/>
              </a:spcAft>
              <a:defRPr sz="2100"/>
            </a:pPr>
            <a:r>
              <a:t>Manhattan distance → sum of absolute differences.</a:t>
            </a:r>
          </a:p>
          <a:p>
            <a:pPr>
              <a:spcAft>
                <a:spcPts val="1200"/>
              </a:spcAft>
              <a:defRPr sz="2100"/>
            </a:pPr>
            <a:r>
              <a:t>Minkowski distance → generalized distance; p=1 Manhattan, p=2 Euclidean.</a:t>
            </a:r>
          </a:p>
          <a:p>
            <a:pPr>
              <a:spcAft>
                <a:spcPts val="1200"/>
              </a:spcAft>
              <a:defRPr sz="2100"/>
            </a:pPr>
            <a:r>
              <a:t>Jaccard → ignores 0–0 matches.</a:t>
            </a:r>
          </a:p>
          <a:p>
            <a:pPr>
              <a:spcAft>
                <a:spcPts val="1200"/>
              </a:spcAft>
              <a:defRPr sz="2100"/>
            </a:pPr>
            <a:r>
              <a:t>SMC → considers both 1–1 and 0–0 matches.</a:t>
            </a:r>
          </a:p>
          <a:p>
            <a:pPr>
              <a:spcAft>
                <a:spcPts val="1200"/>
              </a:spcAft>
              <a:defRPr sz="2100"/>
            </a:pPr>
            <a:r>
              <a:t>Cosine similarity → compares the direction/angle between vectors.</a:t>
            </a:r>
          </a:p>
          <a:p>
            <a:pPr>
              <a:spcAft>
                <a:spcPts val="1200"/>
              </a:spcAft>
              <a:defRPr sz="2100"/>
            </a:pPr>
            <a:r>
              <a:t>For distance: smaller value means more similar.</a:t>
            </a:r>
          </a:p>
          <a:p>
            <a:pPr>
              <a:spcAft>
                <a:spcPts val="1200"/>
              </a:spcAft>
              <a:defRPr sz="2100"/>
            </a:pPr>
            <a:r>
              <a:t>For similarity: larger value means more similar.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/>
            </a:pPr>
            <a:r>
              <a:t>Similarity → How alike are the objects?</a:t>
            </a:r>
          </a:p>
          <a:p>
            <a:pPr>
              <a:spcAft>
                <a:spcPts val="1200"/>
              </a:spcAft>
              <a:defRPr sz="2600"/>
            </a:pPr>
            <a:r>
              <a:t>Dissimilarity → How different are the objects?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