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6" r:id="rId30"/>
    <p:sldId id="267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Integration and Conflict 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Integration?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Combining data from different sources into one consistent and useful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CustomerID | Name | Address | Email</a:t>
            </a:r>
          </a:p>
          <a:p>
            <a:pPr>
              <a:spcAft>
                <a:spcPts val="800"/>
              </a:spcAft>
              <a:defRPr sz="2400"/>
            </a:pPr>
            <a:r>
              <a:t>1 | Alice Smith | 123 Elm St | alice@example.com</a:t>
            </a:r>
          </a:p>
          <a:p>
            <a:pPr>
              <a:spcAft>
                <a:spcPts val="800"/>
              </a:spcAft>
              <a:defRPr sz="2400"/>
            </a:pPr>
            <a:r>
              <a:t>2 | Bob Brown | 456 Oak St | bob@example.com</a:t>
            </a:r>
          </a:p>
          <a:p>
            <a:pPr>
              <a:spcAft>
                <a:spcPts val="800"/>
              </a:spcAft>
              <a:defRPr sz="2400"/>
            </a:pPr>
            <a:r>
              <a:t>3 | Charlie Johnson | 789 Pine St | charlie@example.com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CustID | Full Name | Addr | Email Address</a:t>
            </a:r>
          </a:p>
          <a:p>
            <a:pPr>
              <a:spcAft>
                <a:spcPts val="800"/>
              </a:spcAft>
              <a:defRPr sz="2400"/>
            </a:pPr>
            <a:r>
              <a:t>1 | Alice S. | 123 Elm Street | alice@example.com</a:t>
            </a:r>
          </a:p>
          <a:p>
            <a:pPr>
              <a:spcAft>
                <a:spcPts val="800"/>
              </a:spcAft>
              <a:defRPr sz="2400"/>
            </a:pPr>
            <a:r>
              <a:t>2 | Robert Brown | 456 Oak St | bob.brown@example.com</a:t>
            </a:r>
          </a:p>
          <a:p>
            <a:pPr>
              <a:spcAft>
                <a:spcPts val="800"/>
              </a:spcAft>
              <a:defRPr sz="2400"/>
            </a:pPr>
            <a:r>
              <a:t>4 | Eve Adams | 102 Cedar Ave | eve@example.com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Schema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Different column names are renamed to a common format.</a:t>
            </a:r>
          </a:p>
          <a:p>
            <a:pPr>
              <a:spcAft>
                <a:spcPts val="800"/>
              </a:spcAft>
              <a:defRPr sz="2400"/>
            </a:pPr>
            <a:r>
              <a:t>CustID → CustomerID</a:t>
            </a:r>
          </a:p>
          <a:p>
            <a:pPr>
              <a:spcAft>
                <a:spcPts val="800"/>
              </a:spcAft>
              <a:defRPr sz="2400"/>
            </a:pPr>
            <a:r>
              <a:t>Full Name → Name</a:t>
            </a:r>
          </a:p>
          <a:p>
            <a:pPr>
              <a:spcAft>
                <a:spcPts val="800"/>
              </a:spcAft>
              <a:defRPr sz="2400"/>
            </a:pPr>
            <a:r>
              <a:t>Addr → Address</a:t>
            </a:r>
          </a:p>
          <a:p>
            <a:pPr>
              <a:spcAft>
                <a:spcPts val="800"/>
              </a:spcAft>
              <a:defRPr sz="2400"/>
            </a:pPr>
            <a:r>
              <a:t>Email Address →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Conflict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Alice Smith ≈ Alice S.</a:t>
            </a:r>
          </a:p>
          <a:p>
            <a:pPr>
              <a:spcAft>
                <a:spcPts val="800"/>
              </a:spcAft>
              <a:defRPr sz="2400"/>
            </a:pPr>
            <a:r>
              <a:t>123 Elm St ≈ 123 Elm Street</a:t>
            </a:r>
          </a:p>
          <a:p>
            <a:pPr>
              <a:spcAft>
                <a:spcPts val="800"/>
              </a:spcAft>
              <a:defRPr sz="2400"/>
            </a:pPr>
            <a:r>
              <a:t>Fuzzy matching identifies similar values.</a:t>
            </a:r>
          </a:p>
          <a:p>
            <a:pPr>
              <a:spcAft>
                <a:spcPts val="800"/>
              </a:spcAft>
              <a:defRPr sz="2400"/>
            </a:pPr>
            <a:r>
              <a:t>The aim is to determine whether records represent the same customer.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Combine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After standardizing the columns, the datasets are combined.</a:t>
            </a:r>
          </a:p>
          <a:p>
            <a:pPr>
              <a:spcAft>
                <a:spcPts val="800"/>
              </a:spcAft>
              <a:defRPr sz="2400"/>
            </a:pPr>
            <a:r>
              <a:t>Source 1 + Source 2 → Combined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Repeated records are identified.</a:t>
            </a:r>
          </a:p>
          <a:p>
            <a:pPr>
              <a:spcAft>
                <a:spcPts val="800"/>
              </a:spcAft>
              <a:defRPr sz="2400"/>
            </a:pPr>
            <a:r>
              <a:t>Example: Alice Smith | 123 Elm St | alice@example.com</a:t>
            </a:r>
          </a:p>
          <a:p>
            <a:pPr>
              <a:spcAft>
                <a:spcPts val="800"/>
              </a:spcAft>
              <a:defRPr sz="2400"/>
            </a:pPr>
            <a:r>
              <a:t>If the same record appears twice, keep one and remove the duplicate.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Schema Integration – make column names/formats consistent</a:t>
            </a:r>
          </a:p>
          <a:p>
            <a:pPr>
              <a:spcAft>
                <a:spcPts val="800"/>
              </a:spcAft>
              <a:defRPr sz="2400"/>
            </a:pPr>
            <a:r>
              <a:t>Conflict Resolution – handle differences in values</a:t>
            </a:r>
          </a:p>
          <a:p>
            <a:pPr>
              <a:spcAft>
                <a:spcPts val="800"/>
              </a:spcAft>
              <a:defRPr sz="2400"/>
            </a:pPr>
            <a:r>
              <a:t>Fuzzy Matching – find similar records</a:t>
            </a:r>
          </a:p>
          <a:p>
            <a:pPr>
              <a:spcAft>
                <a:spcPts val="800"/>
              </a:spcAft>
              <a:defRPr sz="2400"/>
            </a:pPr>
            <a:r>
              <a:t>Duplicate Removal – remove repeated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2400"/>
            </a:pPr>
            <a:r>
              <a:t>Source 1 + Source 2</a:t>
            </a:r>
          </a:p>
          <a:p>
            <a:pPr>
              <a:spcAft>
                <a:spcPts val="800"/>
              </a:spcAft>
              <a:defRPr sz="2400"/>
            </a:pPr>
            <a:r>
              <a:t>↓</a:t>
            </a:r>
          </a:p>
          <a:p>
            <a:pPr>
              <a:spcAft>
                <a:spcPts val="800"/>
              </a:spcAft>
              <a:defRPr sz="2400"/>
            </a:pPr>
            <a:r>
              <a:t>Schema Integration</a:t>
            </a:r>
          </a:p>
          <a:p>
            <a:pPr>
              <a:spcAft>
                <a:spcPts val="800"/>
              </a:spcAft>
              <a:defRPr sz="2400"/>
            </a:pPr>
            <a:r>
              <a:t>↓</a:t>
            </a:r>
          </a:p>
          <a:p>
            <a:pPr>
              <a:spcAft>
                <a:spcPts val="800"/>
              </a:spcAft>
              <a:defRPr sz="2400"/>
            </a:pPr>
            <a:r>
              <a:t>Conflict Resolution</a:t>
            </a:r>
          </a:p>
          <a:p>
            <a:pPr>
              <a:spcAft>
                <a:spcPts val="800"/>
              </a:spcAft>
              <a:defRPr sz="2400"/>
            </a:pPr>
            <a:r>
              <a:t>↓</a:t>
            </a:r>
          </a:p>
          <a:p>
            <a:pPr>
              <a:spcAft>
                <a:spcPts val="800"/>
              </a:spcAft>
              <a:defRPr sz="2400"/>
            </a:pPr>
            <a:r>
              <a:t>Duplicate Detection</a:t>
            </a:r>
          </a:p>
          <a:p>
            <a:pPr>
              <a:spcAft>
                <a:spcPts val="800"/>
              </a:spcAft>
              <a:defRPr sz="2400"/>
            </a:pPr>
            <a:r>
              <a:t>↓</a:t>
            </a:r>
          </a:p>
          <a:p>
            <a:pPr>
              <a:spcAft>
                <a:spcPts val="800"/>
              </a:spcAft>
              <a:defRPr sz="2400"/>
            </a:pPr>
            <a:r>
              <a:t>Final Clean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F42C-09C5-912C-184B-232BAECD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Python-Standardize name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4BEAC-7061-0305-3C76-EBF7A5C64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df2.rename(columns={</a:t>
            </a:r>
          </a:p>
          <a:p>
            <a:r>
              <a:rPr lang="en-IN" dirty="0"/>
              <a:t>    '</a:t>
            </a:r>
            <a:r>
              <a:rPr lang="en-IN" dirty="0" err="1"/>
              <a:t>CustID</a:t>
            </a:r>
            <a:r>
              <a:rPr lang="en-IN" dirty="0"/>
              <a:t>': '</a:t>
            </a:r>
            <a:r>
              <a:rPr lang="en-IN" dirty="0" err="1"/>
              <a:t>CustomerID</a:t>
            </a:r>
            <a:r>
              <a:rPr lang="en-IN" dirty="0"/>
              <a:t>',</a:t>
            </a:r>
          </a:p>
          <a:p>
            <a:r>
              <a:rPr lang="en-IN" dirty="0"/>
              <a:t>    'Full Name': 'Name',</a:t>
            </a:r>
          </a:p>
          <a:p>
            <a:r>
              <a:rPr lang="en-IN" dirty="0"/>
              <a:t>    '</a:t>
            </a:r>
            <a:r>
              <a:rPr lang="en-IN" dirty="0" err="1"/>
              <a:t>Addr</a:t>
            </a:r>
            <a:r>
              <a:rPr lang="en-IN" dirty="0"/>
              <a:t>': 'Address',</a:t>
            </a:r>
          </a:p>
          <a:p>
            <a:r>
              <a:rPr lang="en-IN" dirty="0"/>
              <a:t>    'Email Address': 'Email'</a:t>
            </a:r>
          </a:p>
          <a:p>
            <a:r>
              <a:rPr lang="en-IN" dirty="0"/>
              <a:t>}, </a:t>
            </a:r>
            <a:r>
              <a:rPr lang="en-IN" dirty="0" err="1"/>
              <a:t>inplace</a:t>
            </a:r>
            <a:r>
              <a:rPr lang="en-IN" dirty="0"/>
              <a:t>=True)</a:t>
            </a:r>
          </a:p>
        </p:txBody>
      </p:sp>
    </p:spTree>
    <p:extLst>
      <p:ext uri="{BB962C8B-B14F-4D97-AF65-F5344CB8AC3E}">
        <p14:creationId xmlns:p14="http://schemas.microsoft.com/office/powerpoint/2010/main" val="4014046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0EDB-2040-13BD-EED6-C52F26A3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Step 2: Conflict Resolution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BC4A3-171C-AD0A-D363-17AFDE1FF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Now we compare similar records.</a:t>
            </a:r>
          </a:p>
          <a:p>
            <a:r>
              <a:rPr lang="en-IN" b="1" dirty="0"/>
              <a:t>Example 1: Alice</a:t>
            </a:r>
          </a:p>
          <a:p>
            <a:r>
              <a:rPr lang="en-IN" dirty="0"/>
              <a:t>Source 1:</a:t>
            </a:r>
          </a:p>
          <a:p>
            <a:r>
              <a:rPr lang="en-IN" dirty="0"/>
              <a:t>Alice Smith</a:t>
            </a:r>
            <a:br>
              <a:rPr lang="en-IN" dirty="0"/>
            </a:br>
            <a:r>
              <a:rPr lang="en-IN" dirty="0"/>
              <a:t>123 Elm St</a:t>
            </a:r>
          </a:p>
          <a:p>
            <a:r>
              <a:rPr lang="en-IN" dirty="0"/>
              <a:t>Source 2:</a:t>
            </a:r>
          </a:p>
          <a:p>
            <a:r>
              <a:rPr lang="en-IN" dirty="0"/>
              <a:t>Alice S.</a:t>
            </a:r>
            <a:br>
              <a:rPr lang="en-IN" dirty="0"/>
            </a:br>
            <a:r>
              <a:rPr lang="en-IN" dirty="0"/>
              <a:t>123 Elm Street</a:t>
            </a:r>
          </a:p>
          <a:p>
            <a:r>
              <a:rPr lang="en-IN" dirty="0"/>
              <a:t>They are probably the </a:t>
            </a:r>
            <a:r>
              <a:rPr lang="en-IN" b="1" dirty="0"/>
              <a:t>same customer</a:t>
            </a:r>
            <a:r>
              <a:rPr lang="en-IN" dirty="0"/>
              <a:t>.</a:t>
            </a:r>
          </a:p>
          <a:p>
            <a:r>
              <a:rPr lang="en-IN" dirty="0"/>
              <a:t>Fuzzy matching can recognize that:</a:t>
            </a:r>
          </a:p>
          <a:p>
            <a:r>
              <a:rPr lang="en-IN" dirty="0"/>
              <a:t>Alice Smith  ≈  Alice S.</a:t>
            </a:r>
          </a:p>
          <a:p>
            <a:r>
              <a:rPr lang="en-IN" dirty="0"/>
              <a:t>123 Elm St   ≈  123 Elm Street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13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08E2-AEA0-CD7C-E79E-E134D4A4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F3EA1-B592-120A-FE89-C76A57D8E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Example 2: Bob</a:t>
            </a:r>
          </a:p>
          <a:p>
            <a:r>
              <a:rPr lang="en-IN" dirty="0"/>
              <a:t>Source 1:</a:t>
            </a:r>
          </a:p>
          <a:p>
            <a:r>
              <a:rPr lang="en-IN" dirty="0"/>
              <a:t>Bob Brown</a:t>
            </a:r>
            <a:br>
              <a:rPr lang="en-IN" dirty="0"/>
            </a:br>
            <a:r>
              <a:rPr lang="en-IN" dirty="0"/>
              <a:t>456 Oak St</a:t>
            </a:r>
            <a:br>
              <a:rPr lang="en-IN" dirty="0"/>
            </a:br>
            <a:r>
              <a:rPr lang="en-IN" dirty="0"/>
              <a:t>bob@example.com</a:t>
            </a:r>
          </a:p>
          <a:p>
            <a:r>
              <a:rPr lang="en-IN" dirty="0"/>
              <a:t>Source 2:</a:t>
            </a:r>
          </a:p>
          <a:p>
            <a:r>
              <a:rPr lang="en-IN" dirty="0"/>
              <a:t>Robert Brown</a:t>
            </a:r>
            <a:br>
              <a:rPr lang="en-IN" dirty="0"/>
            </a:br>
            <a:r>
              <a:rPr lang="en-IN" dirty="0"/>
              <a:t>456 Oak St</a:t>
            </a:r>
            <a:br>
              <a:rPr lang="en-IN" dirty="0"/>
            </a:br>
            <a:r>
              <a:rPr lang="en-IN" dirty="0"/>
              <a:t>bob.brown@example.com</a:t>
            </a:r>
          </a:p>
          <a:p>
            <a:r>
              <a:rPr lang="en-IN" dirty="0"/>
              <a:t>The name and email are different, but the address is the same.</a:t>
            </a:r>
          </a:p>
          <a:p>
            <a:r>
              <a:rPr lang="en-IN" dirty="0"/>
              <a:t>Therefore, the system can identify that these records </a:t>
            </a:r>
            <a:r>
              <a:rPr lang="en-IN" b="1" dirty="0"/>
              <a:t>may refer to the same customer</a:t>
            </a:r>
            <a:r>
              <a:rPr lang="en-IN" dirty="0"/>
              <a:t>.</a:t>
            </a:r>
          </a:p>
          <a:p>
            <a:r>
              <a:rPr lang="en-IN" dirty="0"/>
              <a:t>This is called </a:t>
            </a:r>
            <a:r>
              <a:rPr lang="en-IN" b="1" dirty="0"/>
              <a:t>Conflict Resolution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63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2FB9-439F-E1FB-212E-CDF5A8BC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9889-AB9F-BB23-A275-5E6764C38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!pip install </a:t>
            </a:r>
            <a:r>
              <a:rPr lang="en-IN" dirty="0" err="1"/>
              <a:t>rapidfuzz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584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281B-35FD-420C-FCCD-B2AB5C40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Simple fuzzy matching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B54D-9382-F145-4F49-F230509AD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</a:t>
            </a:r>
            <a:r>
              <a:rPr lang="en-IN" sz="3700" dirty="0"/>
              <a:t>rom </a:t>
            </a:r>
            <a:r>
              <a:rPr lang="en-IN" sz="3700" dirty="0" err="1"/>
              <a:t>rapidfuzz</a:t>
            </a:r>
            <a:r>
              <a:rPr lang="en-IN" sz="3700" dirty="0"/>
              <a:t> import process, fuzz</a:t>
            </a:r>
          </a:p>
          <a:p>
            <a:endParaRPr lang="en-IN" sz="3700" dirty="0"/>
          </a:p>
          <a:p>
            <a:r>
              <a:rPr lang="en-IN" sz="3700" dirty="0"/>
              <a:t># Existing names in Database 1</a:t>
            </a:r>
          </a:p>
          <a:p>
            <a:r>
              <a:rPr lang="en-IN" sz="3700" dirty="0"/>
              <a:t>names = [</a:t>
            </a:r>
          </a:p>
          <a:p>
            <a:r>
              <a:rPr lang="en-IN" sz="3700" dirty="0"/>
              <a:t>    "Alice Smith",</a:t>
            </a:r>
          </a:p>
          <a:p>
            <a:r>
              <a:rPr lang="en-IN" sz="3700" dirty="0"/>
              <a:t>    "Bob Brown",</a:t>
            </a:r>
          </a:p>
          <a:p>
            <a:r>
              <a:rPr lang="en-IN" sz="3700" dirty="0"/>
              <a:t>    "Charlie Johnson",</a:t>
            </a:r>
          </a:p>
          <a:p>
            <a:r>
              <a:rPr lang="en-IN" sz="3700" dirty="0"/>
              <a:t>    "David Wilson"</a:t>
            </a:r>
          </a:p>
          <a:p>
            <a:r>
              <a:rPr lang="en-IN" sz="3700" dirty="0"/>
              <a:t>]</a:t>
            </a:r>
          </a:p>
          <a:p>
            <a:endParaRPr lang="en-IN" sz="3700" dirty="0"/>
          </a:p>
          <a:p>
            <a:endParaRPr lang="en-IN" sz="3700" dirty="0"/>
          </a:p>
        </p:txBody>
      </p:sp>
    </p:spTree>
    <p:extLst>
      <p:ext uri="{BB962C8B-B14F-4D97-AF65-F5344CB8AC3E}">
        <p14:creationId xmlns:p14="http://schemas.microsoft.com/office/powerpoint/2010/main" val="123019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5629-B4F7-E23E-28EF-4DBBA39E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Simple fuzzy matching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12FDE-795B-29DD-59DB-7801E1C1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# Name coming from another database</a:t>
            </a:r>
          </a:p>
          <a:p>
            <a:r>
              <a:rPr lang="en-IN" dirty="0" err="1"/>
              <a:t>new_name</a:t>
            </a:r>
            <a:r>
              <a:rPr lang="en-IN" dirty="0"/>
              <a:t> = "Alice S."</a:t>
            </a:r>
          </a:p>
          <a:p>
            <a:endParaRPr lang="en-IN" dirty="0"/>
          </a:p>
          <a:p>
            <a:r>
              <a:rPr lang="en-IN" dirty="0"/>
              <a:t># Find the closest matching name</a:t>
            </a:r>
          </a:p>
          <a:p>
            <a:r>
              <a:rPr lang="en-IN" dirty="0"/>
              <a:t>result = </a:t>
            </a:r>
            <a:r>
              <a:rPr lang="en-IN" dirty="0" err="1"/>
              <a:t>process.extractOne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new_name</a:t>
            </a:r>
            <a:r>
              <a:rPr lang="en-IN" dirty="0"/>
              <a:t>,</a:t>
            </a:r>
          </a:p>
          <a:p>
            <a:r>
              <a:rPr lang="en-IN" dirty="0"/>
              <a:t>    names,</a:t>
            </a:r>
          </a:p>
          <a:p>
            <a:r>
              <a:rPr lang="en-IN" dirty="0"/>
              <a:t>    scorer=</a:t>
            </a:r>
            <a:r>
              <a:rPr lang="en-IN" dirty="0" err="1"/>
              <a:t>fuzz.token_sort_ratio</a:t>
            </a:r>
            <a:endParaRPr lang="en-IN" dirty="0"/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print("Input Name:", </a:t>
            </a:r>
            <a:r>
              <a:rPr lang="en-IN" dirty="0" err="1"/>
              <a:t>new_name</a:t>
            </a:r>
            <a:r>
              <a:rPr lang="en-IN" dirty="0"/>
              <a:t>)</a:t>
            </a:r>
          </a:p>
          <a:p>
            <a:r>
              <a:rPr lang="en-IN" dirty="0"/>
              <a:t>print("Best Match:", result[0])</a:t>
            </a:r>
          </a:p>
          <a:p>
            <a:r>
              <a:rPr lang="en-IN" dirty="0"/>
              <a:t>print("Similarity Score:", result[1])</a:t>
            </a:r>
          </a:p>
        </p:txBody>
      </p:sp>
    </p:spTree>
    <p:extLst>
      <p:ext uri="{BB962C8B-B14F-4D97-AF65-F5344CB8AC3E}">
        <p14:creationId xmlns:p14="http://schemas.microsoft.com/office/powerpoint/2010/main" val="3280220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0BEB-EC22-2F99-27A3-320A379A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720E-750A-54E0-E0EE-CD9BB60B0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Name: Alice </a:t>
            </a:r>
            <a:r>
              <a:rPr lang="en-US" dirty="0" err="1"/>
              <a:t>S.Best</a:t>
            </a:r>
            <a:r>
              <a:rPr lang="en-US" dirty="0"/>
              <a:t> Match: Alice </a:t>
            </a:r>
            <a:r>
              <a:rPr lang="en-US" dirty="0" err="1"/>
              <a:t>SmithSimilarity</a:t>
            </a:r>
            <a:r>
              <a:rPr lang="en-US" dirty="0"/>
              <a:t> Score: approximately 70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02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57BE-705F-94EF-B541-AFE03788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11FB-855F-2F16-E008-15BBFC31C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rapidfuzz</a:t>
            </a:r>
            <a:r>
              <a:rPr lang="en-IN" dirty="0"/>
              <a:t> import process, fuzz</a:t>
            </a:r>
          </a:p>
          <a:p>
            <a:endParaRPr lang="en-IN" dirty="0"/>
          </a:p>
          <a:p>
            <a:r>
              <a:rPr lang="en-IN" dirty="0"/>
              <a:t>names = [</a:t>
            </a:r>
          </a:p>
          <a:p>
            <a:r>
              <a:rPr lang="en-IN" dirty="0"/>
              <a:t>    "Alice Smith",</a:t>
            </a:r>
          </a:p>
          <a:p>
            <a:r>
              <a:rPr lang="en-IN" dirty="0"/>
              <a:t>    "Bob Brown",</a:t>
            </a:r>
          </a:p>
          <a:p>
            <a:r>
              <a:rPr lang="en-IN" dirty="0"/>
              <a:t>    "Charlie Johnson",</a:t>
            </a:r>
          </a:p>
          <a:p>
            <a:r>
              <a:rPr lang="en-IN" dirty="0"/>
              <a:t>    "David Wilson"</a:t>
            </a:r>
          </a:p>
          <a:p>
            <a:r>
              <a:rPr lang="en-IN" dirty="0"/>
              <a:t>]</a:t>
            </a:r>
          </a:p>
          <a:p>
            <a:endParaRPr lang="en-IN" dirty="0"/>
          </a:p>
          <a:p>
            <a:r>
              <a:rPr lang="en-IN" dirty="0" err="1"/>
              <a:t>new_name</a:t>
            </a:r>
            <a:r>
              <a:rPr lang="en-IN" dirty="0"/>
              <a:t> = "Alice Smith"</a:t>
            </a:r>
          </a:p>
          <a:p>
            <a:endParaRPr lang="en-IN" dirty="0"/>
          </a:p>
          <a:p>
            <a:r>
              <a:rPr lang="en-IN" dirty="0"/>
              <a:t>result = </a:t>
            </a:r>
            <a:r>
              <a:rPr lang="en-IN" dirty="0" err="1"/>
              <a:t>process.extractOne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new_name</a:t>
            </a:r>
            <a:r>
              <a:rPr lang="en-IN" dirty="0"/>
              <a:t>,</a:t>
            </a:r>
          </a:p>
          <a:p>
            <a:r>
              <a:rPr lang="en-IN" dirty="0"/>
              <a:t>    names,</a:t>
            </a:r>
          </a:p>
          <a:p>
            <a:r>
              <a:rPr lang="en-IN" dirty="0"/>
              <a:t>    scorer=</a:t>
            </a:r>
            <a:r>
              <a:rPr lang="en-IN" dirty="0" err="1"/>
              <a:t>fuzz.token_sort_ratio</a:t>
            </a:r>
            <a:endParaRPr lang="en-IN" dirty="0"/>
          </a:p>
          <a:p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684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2272F-60D3-1E3B-9FF5-EEF36D2C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1D002-E24B-4C6A-C7D1-8994ADE59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result[1] &gt;= 80:</a:t>
            </a:r>
          </a:p>
          <a:p>
            <a:r>
              <a:rPr lang="en-IN" dirty="0"/>
              <a:t>    print("Match Found")</a:t>
            </a:r>
          </a:p>
          <a:p>
            <a:r>
              <a:rPr lang="en-IN" dirty="0"/>
              <a:t>    print("Input:", </a:t>
            </a:r>
            <a:r>
              <a:rPr lang="en-IN" dirty="0" err="1"/>
              <a:t>new_name</a:t>
            </a:r>
            <a:r>
              <a:rPr lang="en-IN" dirty="0"/>
              <a:t>)</a:t>
            </a:r>
          </a:p>
          <a:p>
            <a:r>
              <a:rPr lang="en-IN" dirty="0"/>
              <a:t>    print("Matched:", result[0])</a:t>
            </a:r>
          </a:p>
          <a:p>
            <a:r>
              <a:rPr lang="en-IN" dirty="0"/>
              <a:t>    print("Similarity:", result[1])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print("No reliable match found")</a:t>
            </a:r>
          </a:p>
        </p:txBody>
      </p:sp>
    </p:spTree>
    <p:extLst>
      <p:ext uri="{BB962C8B-B14F-4D97-AF65-F5344CB8AC3E}">
        <p14:creationId xmlns:p14="http://schemas.microsoft.com/office/powerpoint/2010/main" val="1734197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6CFE-C477-B0D0-1FF2-42A909A2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to </a:t>
            </a:r>
            <a:r>
              <a:rPr lang="en-US" dirty="0" err="1"/>
              <a:t>datset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6552B-0F19-BA4E-92B9-18EB0EE45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rapidfuzz</a:t>
            </a:r>
            <a:r>
              <a:rPr lang="en-IN" dirty="0"/>
              <a:t> import process, fuzz</a:t>
            </a:r>
          </a:p>
          <a:p>
            <a:endParaRPr lang="en-IN" dirty="0"/>
          </a:p>
          <a:p>
            <a:r>
              <a:rPr lang="en-IN" dirty="0"/>
              <a:t>df2['Name'] = df2['Name'].apply(</a:t>
            </a:r>
          </a:p>
          <a:p>
            <a:r>
              <a:rPr lang="en-IN" dirty="0"/>
              <a:t>    lambda x: </a:t>
            </a:r>
            <a:r>
              <a:rPr lang="en-IN" dirty="0" err="1"/>
              <a:t>process.extractOne</a:t>
            </a:r>
            <a:r>
              <a:rPr lang="en-IN" dirty="0"/>
              <a:t>(</a:t>
            </a:r>
          </a:p>
          <a:p>
            <a:r>
              <a:rPr lang="en-IN" dirty="0"/>
              <a:t>        x,</a:t>
            </a:r>
          </a:p>
          <a:p>
            <a:r>
              <a:rPr lang="en-IN" dirty="0"/>
              <a:t>        df1['Name'].</a:t>
            </a:r>
            <a:r>
              <a:rPr lang="en-IN" dirty="0" err="1"/>
              <a:t>tolist</a:t>
            </a:r>
            <a:r>
              <a:rPr lang="en-IN" dirty="0"/>
              <a:t>(),</a:t>
            </a:r>
          </a:p>
          <a:p>
            <a:r>
              <a:rPr lang="en-IN" dirty="0"/>
              <a:t>        scorer=</a:t>
            </a:r>
            <a:r>
              <a:rPr lang="en-IN" dirty="0" err="1"/>
              <a:t>fuzz.token_sort_ratio</a:t>
            </a:r>
            <a:endParaRPr lang="en-IN" dirty="0"/>
          </a:p>
          <a:p>
            <a:r>
              <a:rPr lang="en-IN" dirty="0"/>
              <a:t>    )[0]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print(df2[['Name']])</a:t>
            </a:r>
          </a:p>
        </p:txBody>
      </p:sp>
    </p:spTree>
    <p:extLst>
      <p:ext uri="{BB962C8B-B14F-4D97-AF65-F5344CB8AC3E}">
        <p14:creationId xmlns:p14="http://schemas.microsoft.com/office/powerpoint/2010/main" val="1248188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FA83-C735-A453-0893-C0C257A5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Step 3 — Combine the Two Data Sources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DAD2C-8A84-D463-5E3E-C47C60515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After </a:t>
            </a:r>
            <a:r>
              <a:rPr lang="en-IN" b="1" dirty="0"/>
              <a:t>schema integration</a:t>
            </a:r>
            <a:r>
              <a:rPr lang="en-IN" dirty="0"/>
              <a:t> and </a:t>
            </a:r>
            <a:r>
              <a:rPr lang="en-IN" b="1" dirty="0"/>
              <a:t>fuzzy matching</a:t>
            </a:r>
            <a:r>
              <a:rPr lang="en-IN" dirty="0"/>
              <a:t>, we combine both datasets into a single dataset.</a:t>
            </a:r>
          </a:p>
          <a:p>
            <a:r>
              <a:rPr lang="en-US" dirty="0"/>
              <a:t># Combine Data Source 1 and Data Source 2</a:t>
            </a:r>
          </a:p>
          <a:p>
            <a:endParaRPr lang="en-US" dirty="0"/>
          </a:p>
          <a:p>
            <a:r>
              <a:rPr lang="en-US" dirty="0" err="1"/>
              <a:t>combined_df</a:t>
            </a:r>
            <a:r>
              <a:rPr lang="en-US" dirty="0"/>
              <a:t> = </a:t>
            </a:r>
            <a:r>
              <a:rPr lang="en-US" dirty="0" err="1"/>
              <a:t>pd.concat</a:t>
            </a:r>
            <a:r>
              <a:rPr lang="en-US" dirty="0"/>
              <a:t>(</a:t>
            </a:r>
          </a:p>
          <a:p>
            <a:r>
              <a:rPr lang="en-US" dirty="0"/>
              <a:t>    [df1, df2],</a:t>
            </a:r>
          </a:p>
          <a:p>
            <a:r>
              <a:rPr lang="en-US" dirty="0"/>
              <a:t>    </a:t>
            </a:r>
            <a:r>
              <a:rPr lang="en-US" dirty="0" err="1"/>
              <a:t>ignore_index</a:t>
            </a:r>
            <a:r>
              <a:rPr lang="en-US" dirty="0"/>
              <a:t>=True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print("Combined Dataset:")</a:t>
            </a:r>
          </a:p>
          <a:p>
            <a:r>
              <a:rPr lang="en-US" dirty="0"/>
              <a:t>print(</a:t>
            </a:r>
            <a:r>
              <a:rPr lang="en-US" dirty="0" err="1"/>
              <a:t>combined_df</a:t>
            </a:r>
            <a:r>
              <a:rPr lang="en-US" dirty="0"/>
              <a:t>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43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756B-D889-9560-932E-3458E98B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Step 4 — Duplicate Detection and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4CBE-D14B-95FB-5C23-790F6F9AE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Remove duplicate records</a:t>
            </a:r>
          </a:p>
          <a:p>
            <a:endParaRPr lang="en-IN" dirty="0"/>
          </a:p>
          <a:p>
            <a:r>
              <a:rPr lang="en-IN" dirty="0" err="1"/>
              <a:t>df_final</a:t>
            </a:r>
            <a:r>
              <a:rPr lang="en-IN" dirty="0"/>
              <a:t> = </a:t>
            </a:r>
            <a:r>
              <a:rPr lang="en-IN" dirty="0" err="1"/>
              <a:t>combined_df.drop_duplicates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print("Dataset after removing duplicates:")</a:t>
            </a:r>
          </a:p>
          <a:p>
            <a:r>
              <a:rPr lang="en-IN" dirty="0"/>
              <a:t>print(</a:t>
            </a:r>
            <a:r>
              <a:rPr lang="en-IN" dirty="0" err="1"/>
              <a:t>df_final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7494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4810-3AE9-972A-5727-87B6CE40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how many duplicates exist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FE6F-AA71-0A2D-4DD7-68EF1CD5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Count duplicate records</a:t>
            </a:r>
          </a:p>
          <a:p>
            <a:endParaRPr lang="en-US" dirty="0"/>
          </a:p>
          <a:p>
            <a:r>
              <a:rPr lang="en-US" dirty="0"/>
              <a:t>duplicates = </a:t>
            </a:r>
            <a:r>
              <a:rPr lang="en-US" dirty="0" err="1"/>
              <a:t>combined_df.duplicated</a:t>
            </a:r>
            <a:r>
              <a:rPr lang="en-US" dirty="0"/>
              <a:t>().sum()</a:t>
            </a:r>
          </a:p>
          <a:p>
            <a:endParaRPr lang="en-US" dirty="0"/>
          </a:p>
          <a:p>
            <a:r>
              <a:rPr lang="en-US" dirty="0"/>
              <a:t>print("Number of duplicate records:", duplicates)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981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8D13-F68C-CFD8-1FFE-B61A559F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Remove duplicates based on specific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3FCC-AB2E-FBA0-AFA4-F28DA3A81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df_final</a:t>
            </a:r>
            <a:r>
              <a:rPr lang="en-IN" dirty="0"/>
              <a:t> = </a:t>
            </a:r>
            <a:r>
              <a:rPr lang="en-IN" dirty="0" err="1"/>
              <a:t>combined_df.drop_duplicates</a:t>
            </a:r>
            <a:r>
              <a:rPr lang="en-IN" dirty="0"/>
              <a:t>(</a:t>
            </a:r>
          </a:p>
          <a:p>
            <a:r>
              <a:rPr lang="en-IN" dirty="0"/>
              <a:t>    subset=['Name', 'Address', 'Email'],</a:t>
            </a:r>
          </a:p>
          <a:p>
            <a:r>
              <a:rPr lang="en-IN" dirty="0"/>
              <a:t>    keep='first'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print("Final Dataset:")</a:t>
            </a:r>
          </a:p>
          <a:p>
            <a:r>
              <a:rPr lang="en-IN" dirty="0"/>
              <a:t>print(</a:t>
            </a:r>
            <a:r>
              <a:rPr lang="en-IN" dirty="0" err="1"/>
              <a:t>df_final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220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6A64-4835-D4D6-6CA2-E5835FBF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Step 5 — Final Integrated and Consistent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BA1D-66FA-77FC-AD7C-465C7FD2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Display the final integrated dataset</a:t>
            </a:r>
          </a:p>
          <a:p>
            <a:endParaRPr lang="en-US" dirty="0"/>
          </a:p>
          <a:p>
            <a:r>
              <a:rPr lang="en-US" dirty="0"/>
              <a:t>print("========== FINAL INTEGRATED DATA ==========")</a:t>
            </a:r>
          </a:p>
          <a:p>
            <a:r>
              <a:rPr lang="en-US" dirty="0"/>
              <a:t>print(</a:t>
            </a:r>
            <a:r>
              <a:rPr lang="en-US" dirty="0" err="1"/>
              <a:t>df_final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125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CD2D-7B51-AD85-9183-9C86A5FF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size of the final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5A51-F5DB-8B7F-BC15-BB1F61A77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print("Number of rows:", </a:t>
            </a:r>
            <a:r>
              <a:rPr lang="en-US" dirty="0" err="1"/>
              <a:t>df_final.shape</a:t>
            </a:r>
            <a:r>
              <a:rPr lang="en-US" dirty="0"/>
              <a:t>[0])</a:t>
            </a:r>
          </a:p>
          <a:p>
            <a:r>
              <a:rPr lang="en-US" dirty="0"/>
              <a:t>print("Number of columns:", </a:t>
            </a:r>
            <a:r>
              <a:rPr lang="en-US" dirty="0" err="1"/>
              <a:t>df_final.shape</a:t>
            </a:r>
            <a:r>
              <a:rPr lang="en-US" dirty="0"/>
              <a:t>[1])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380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7325-A923-7DE1-6EF4-9594DEF7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save it as a CSV file: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1E7F5-540B-7FC9-762F-FDB54ECD2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df_final.to_csv</a:t>
            </a:r>
            <a:r>
              <a:rPr lang="en-IN" dirty="0"/>
              <a:t>("final_integrated_data.csv", index=False)</a:t>
            </a:r>
          </a:p>
          <a:p>
            <a:endParaRPr lang="en-IN" dirty="0"/>
          </a:p>
          <a:p>
            <a:r>
              <a:rPr lang="en-IN" dirty="0"/>
              <a:t>print("Final dataset saved successfully.")</a:t>
            </a:r>
          </a:p>
        </p:txBody>
      </p:sp>
    </p:spTree>
    <p:extLst>
      <p:ext uri="{BB962C8B-B14F-4D97-AF65-F5344CB8AC3E}">
        <p14:creationId xmlns:p14="http://schemas.microsoft.com/office/powerpoint/2010/main" val="2212711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5EAC-566E-EE0E-E909-CE8E91B2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The final dataset should have: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4613-6C00-74D7-A80C-D688F7C0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Consistent column names </a:t>
            </a:r>
          </a:p>
          <a:p>
            <a:pPr lvl="0"/>
            <a:r>
              <a:rPr lang="en-IN" dirty="0"/>
              <a:t>Resolved name/address differences </a:t>
            </a:r>
          </a:p>
          <a:p>
            <a:pPr lvl="0"/>
            <a:r>
              <a:rPr lang="en-IN" dirty="0"/>
              <a:t>Duplicate records removed </a:t>
            </a:r>
          </a:p>
          <a:p>
            <a:pPr lvl="0"/>
            <a:r>
              <a:rPr lang="en-IN" dirty="0"/>
              <a:t>Clean and integrated customer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826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Department A: 101 | Ravi Kumar | Vijayawada</a:t>
            </a:r>
          </a:p>
          <a:p>
            <a:pPr>
              <a:spcAft>
                <a:spcPts val="800"/>
              </a:spcAft>
              <a:defRPr sz="2400"/>
            </a:pPr>
            <a:r>
              <a:t>Department B: 101 | Ravi K. | Vijayawada</a:t>
            </a:r>
          </a:p>
          <a:p>
            <a:pPr>
              <a:spcAft>
                <a:spcPts val="800"/>
              </a:spcAft>
              <a:defRPr sz="2400"/>
            </a:pPr>
            <a:r>
              <a:t>The records may represent the same person.</a:t>
            </a:r>
          </a:p>
          <a:p>
            <a:pPr>
              <a:spcAft>
                <a:spcPts val="800"/>
              </a:spcAft>
              <a:defRPr sz="2400"/>
            </a:pPr>
            <a:r>
              <a:t>Data integration helps identify and combine such records.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Data Integration combines information from multiple sources.</a:t>
            </a:r>
          </a:p>
          <a:p>
            <a:pPr>
              <a:spcAft>
                <a:spcPts val="800"/>
              </a:spcAft>
              <a:defRPr sz="2400"/>
            </a:pPr>
            <a:r>
              <a:t>Schema integration makes structures consistent.</a:t>
            </a:r>
          </a:p>
          <a:p>
            <a:pPr>
              <a:spcAft>
                <a:spcPts val="800"/>
              </a:spcAft>
              <a:defRPr sz="2400"/>
            </a:pPr>
            <a:r>
              <a:t>Fuzzy matching helps resolve differences.</a:t>
            </a:r>
          </a:p>
          <a:p>
            <a:pPr>
              <a:spcAft>
                <a:spcPts val="800"/>
              </a:spcAft>
              <a:defRPr sz="2400"/>
            </a:pPr>
            <a:r>
              <a:t>Duplicate removal produces a clean final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1146</Words>
  <Application>Microsoft Office PowerPoint</Application>
  <PresentationFormat>On-screen Show (4:3)</PresentationFormat>
  <Paragraphs>193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Data Integration and Conflict Resolution</vt:lpstr>
      <vt:lpstr>What is Data Integration?</vt:lpstr>
      <vt:lpstr>Data Source 1</vt:lpstr>
      <vt:lpstr>Data Source 2</vt:lpstr>
      <vt:lpstr>Step 1: Schema Integration</vt:lpstr>
      <vt:lpstr>Step 2: Conflict Resolution</vt:lpstr>
      <vt:lpstr>Step 3: Combine the Data</vt:lpstr>
      <vt:lpstr>Step 4: Duplicate Detection</vt:lpstr>
      <vt:lpstr>Objectives </vt:lpstr>
      <vt:lpstr>Overall Process</vt:lpstr>
      <vt:lpstr>Python-Standardize name</vt:lpstr>
      <vt:lpstr>Step 2: Conflict Resolution </vt:lpstr>
      <vt:lpstr>PowerPoint Presentation</vt:lpstr>
      <vt:lpstr>PowerPoint Presentation</vt:lpstr>
      <vt:lpstr>2. Simple fuzzy matching code</vt:lpstr>
      <vt:lpstr>2. Simple fuzzy matching code</vt:lpstr>
      <vt:lpstr>Output</vt:lpstr>
      <vt:lpstr>PowerPoint Presentation</vt:lpstr>
      <vt:lpstr>PowerPoint Presentation</vt:lpstr>
      <vt:lpstr>Applying to datset</vt:lpstr>
      <vt:lpstr>Step 3 — Combine the Two Data Sources </vt:lpstr>
      <vt:lpstr>Step 4 — Duplicate Detection and Removal</vt:lpstr>
      <vt:lpstr>check how many duplicates exist</vt:lpstr>
      <vt:lpstr>Remove duplicates based on specific columns</vt:lpstr>
      <vt:lpstr>Step 5 — Final Integrated and Consistent Dataset</vt:lpstr>
      <vt:lpstr>size of the final dataset:</vt:lpstr>
      <vt:lpstr>save it as a CSV file:</vt:lpstr>
      <vt:lpstr>The final dataset should have: </vt:lpstr>
      <vt:lpstr>Real-Life Example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2026-08-17T04:20:05Z</dcterms:modified>
  <cp:category/>
</cp:coreProperties>
</file>