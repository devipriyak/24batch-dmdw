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1" r:id="rId11"/>
    <p:sldId id="265" r:id="rId12"/>
    <p:sldId id="266" r:id="rId13"/>
    <p:sldId id="290" r:id="rId14"/>
    <p:sldId id="267" r:id="rId15"/>
    <p:sldId id="268" r:id="rId16"/>
    <p:sldId id="269" r:id="rId17"/>
    <p:sldId id="270" r:id="rId18"/>
    <p:sldId id="295" r:id="rId19"/>
    <p:sldId id="296" r:id="rId20"/>
    <p:sldId id="297" r:id="rId21"/>
    <p:sldId id="271" r:id="rId22"/>
    <p:sldId id="292" r:id="rId23"/>
    <p:sldId id="293" r:id="rId24"/>
    <p:sldId id="294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Reduction and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 Mining – Unit II</a:t>
            </a:r>
          </a:p>
          <a:p>
            <a:pPr>
              <a:spcAft>
                <a:spcPts val="1000"/>
              </a:spcAft>
              <a:defRPr sz="2000"/>
            </a:pPr>
            <a:r>
              <a:t>Concepts, techniques, examples and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Understand data reduction and its need</a:t>
            </a:r>
          </a:p>
          <a:p>
            <a:pPr>
              <a:spcAft>
                <a:spcPts val="1000"/>
              </a:spcAft>
              <a:defRPr sz="2000"/>
            </a:pPr>
            <a:r>
              <a:t>Explain dimensionality reduction, sampling and numerosity reduction</a:t>
            </a:r>
          </a:p>
          <a:p>
            <a:pPr>
              <a:spcAft>
                <a:spcPts val="1000"/>
              </a:spcAft>
              <a:defRPr sz="2000"/>
            </a:pPr>
            <a:r>
              <a:t>Understand data transformation techniques</a:t>
            </a:r>
          </a:p>
          <a:p>
            <a:pPr>
              <a:spcAft>
                <a:spcPts val="1000"/>
              </a:spcAft>
              <a:defRPr sz="2000"/>
            </a:pPr>
            <a:r>
              <a:t>Apply normalization, discretization and encoding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Raw Data → Cleaning → Integration → Reduction → Transformation → Mining</a:t>
            </a:r>
          </a:p>
          <a:p>
            <a:pPr>
              <a:spcAft>
                <a:spcPts val="1000"/>
              </a:spcAft>
              <a:defRPr sz="2000"/>
            </a:pPr>
            <a:r>
              <a:t>Preprocessing improves data quality and mining efficiency</a:t>
            </a:r>
          </a:p>
          <a:p>
            <a:pPr>
              <a:spcAft>
                <a:spcPts val="1000"/>
              </a:spcAft>
              <a:defRPr sz="2000"/>
            </a:pPr>
            <a:r>
              <a:t>Reduction decreases data volume/dimensionality</a:t>
            </a:r>
          </a:p>
          <a:p>
            <a:pPr>
              <a:spcAft>
                <a:spcPts val="1000"/>
              </a:spcAft>
              <a:defRPr sz="2000"/>
            </a:pPr>
            <a:r>
              <a:t>Transformation converts data into a suitable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Reduction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Process of reducing data volume while preserving useful information</a:t>
            </a:r>
          </a:p>
          <a:p>
            <a:pPr>
              <a:spcAft>
                <a:spcPts val="1000"/>
              </a:spcAft>
              <a:defRPr sz="2000"/>
            </a:pPr>
            <a:r>
              <a:t>Reduces storage and computational requirements</a:t>
            </a:r>
          </a:p>
          <a:p>
            <a:pPr>
              <a:spcAft>
                <a:spcPts val="1000"/>
              </a:spcAft>
              <a:defRPr sz="2000"/>
            </a:pPr>
            <a:r>
              <a:t>Can reduce records, attributes or representation size</a:t>
            </a:r>
          </a:p>
          <a:p>
            <a:pPr>
              <a:spcAft>
                <a:spcPts val="1000"/>
              </a:spcAft>
              <a:defRPr sz="2000"/>
            </a:pPr>
            <a:r>
              <a:t>Goal: efficient mining with minimum information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Why Data Reduction?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Large datasets require high storage</a:t>
            </a:r>
          </a:p>
          <a:p>
            <a:pPr>
              <a:spcAft>
                <a:spcPts val="1000"/>
              </a:spcAft>
              <a:defRPr sz="2000"/>
            </a:pPr>
            <a:r>
              <a:t>Mining algorithms may be computationally expensive</a:t>
            </a:r>
          </a:p>
          <a:p>
            <a:pPr>
              <a:spcAft>
                <a:spcPts val="1000"/>
              </a:spcAft>
              <a:defRPr sz="2000"/>
            </a:pPr>
            <a:r>
              <a:t>Redundant attributes increase complexity</a:t>
            </a:r>
          </a:p>
          <a:p>
            <a:pPr>
              <a:spcAft>
                <a:spcPts val="1000"/>
              </a:spcAft>
              <a:defRPr sz="2000"/>
            </a:pPr>
            <a:r>
              <a:t>Noise and irrelevant information can affect performance</a:t>
            </a:r>
          </a:p>
          <a:p>
            <a:pPr>
              <a:spcAft>
                <a:spcPts val="1000"/>
              </a:spcAft>
              <a:defRPr sz="2000"/>
            </a:pPr>
            <a:r>
              <a:t>Reduced data can improve processing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Major Data Reduction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 cube aggregation</a:t>
            </a:r>
          </a:p>
          <a:p>
            <a:pPr>
              <a:spcAft>
                <a:spcPts val="1000"/>
              </a:spcAft>
              <a:defRPr sz="2000"/>
            </a:pPr>
            <a:r>
              <a:t>Attribute subset selection</a:t>
            </a:r>
          </a:p>
          <a:p>
            <a:pPr>
              <a:spcAft>
                <a:spcPts val="1000"/>
              </a:spcAft>
              <a:defRPr sz="2000"/>
            </a:pPr>
            <a:r>
              <a:t>Dimensionality reduction</a:t>
            </a:r>
          </a:p>
          <a:p>
            <a:pPr>
              <a:spcAft>
                <a:spcPts val="1000"/>
              </a:spcAft>
              <a:defRPr sz="2000"/>
            </a:pPr>
            <a:r>
              <a:t>Numerosity reduction</a:t>
            </a:r>
          </a:p>
          <a:p>
            <a:pPr>
              <a:spcAft>
                <a:spcPts val="1000"/>
              </a:spcAft>
              <a:defRPr sz="2000"/>
            </a:pPr>
            <a:r>
              <a:t>Sampling</a:t>
            </a:r>
          </a:p>
          <a:p>
            <a:pPr>
              <a:spcAft>
                <a:spcPts val="1000"/>
              </a:spcAft>
              <a:defRPr sz="2000"/>
            </a:pPr>
            <a:r>
              <a:t>Data compression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Cube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Detailed data is summarized at a higher level</a:t>
            </a:r>
          </a:p>
          <a:p>
            <a:pPr>
              <a:spcAft>
                <a:spcPts val="1000"/>
              </a:spcAft>
              <a:defRPr sz="2000"/>
            </a:pPr>
            <a:r>
              <a:t>Example: daily sales → monthly sales</a:t>
            </a:r>
          </a:p>
          <a:p>
            <a:pPr>
              <a:spcAft>
                <a:spcPts val="1000"/>
              </a:spcAft>
              <a:defRPr sz="2000"/>
            </a:pPr>
            <a:r>
              <a:t>SUM, AVG, MIN, MAX and COUNT can be used</a:t>
            </a:r>
          </a:p>
          <a:p>
            <a:pPr>
              <a:spcAft>
                <a:spcPts val="1000"/>
              </a:spcAft>
              <a:defRPr sz="2000"/>
            </a:pPr>
            <a:r>
              <a:t>Reduces the number of values to be processed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Example: Data Cube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Original: Day 1 ₹50,000; Day 2 ₹40,000; Day 3 ₹60,000</a:t>
            </a:r>
          </a:p>
          <a:p>
            <a:pPr>
              <a:spcAft>
                <a:spcPts val="1000"/>
              </a:spcAft>
              <a:defRPr sz="2000"/>
            </a:pPr>
            <a:r>
              <a:t>Aggregated: January Laptop Sales = ₹1,50,000</a:t>
            </a:r>
          </a:p>
          <a:p>
            <a:pPr>
              <a:spcAft>
                <a:spcPts val="1000"/>
              </a:spcAft>
              <a:defRPr sz="2000"/>
            </a:pPr>
            <a:r>
              <a:t>Useful for OLAP and decision-support analysis</a:t>
            </a:r>
          </a:p>
          <a:p>
            <a:pPr>
              <a:spcAft>
                <a:spcPts val="1000"/>
              </a:spcAft>
              <a:defRPr sz="2000"/>
            </a:pPr>
            <a:r>
              <a:t>Trade-off: detailed information may be lost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Attribute Subset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Select only relevant attributes/features</a:t>
            </a:r>
          </a:p>
          <a:p>
            <a:pPr>
              <a:spcAft>
                <a:spcPts val="1000"/>
              </a:spcAft>
              <a:defRPr sz="2000"/>
            </a:pPr>
            <a:r>
              <a:t>Remove irrelevant and redundant attributes</a:t>
            </a:r>
          </a:p>
          <a:p>
            <a:pPr>
              <a:spcAft>
                <a:spcPts val="1000"/>
              </a:spcAft>
              <a:defRPr sz="2000"/>
            </a:pPr>
            <a:r>
              <a:t>Example: Patient_ID and Name may not help disease prediction</a:t>
            </a:r>
          </a:p>
          <a:p>
            <a:pPr>
              <a:spcAft>
                <a:spcPts val="1000"/>
              </a:spcAft>
              <a:defRPr sz="2000"/>
            </a:pPr>
            <a:r>
              <a:t>Methods: forward selection, backward elimination, correlation, information gain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 Selection Techniques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 Methods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Chi-square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Gain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Mutual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 threshold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Wrapper Methods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 Selection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Backward Elimination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Recursive Feature Elimination (RFE)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Methods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LASSO 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Ridge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87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Reduces the number of dimensions/features</a:t>
            </a:r>
          </a:p>
          <a:p>
            <a:pPr>
              <a:spcAft>
                <a:spcPts val="1000"/>
              </a:spcAft>
              <a:defRPr sz="2000"/>
            </a:pPr>
            <a:r>
              <a:t>Creates a smaller representation of the original data</a:t>
            </a:r>
          </a:p>
          <a:p>
            <a:pPr>
              <a:spcAft>
                <a:spcPts val="1000"/>
              </a:spcAft>
              <a:defRPr sz="2000"/>
            </a:pPr>
            <a:r>
              <a:t>Common methods: PCA, SVD, autoencoders</a:t>
            </a:r>
          </a:p>
          <a:p>
            <a:pPr>
              <a:spcAft>
                <a:spcPts val="1000"/>
              </a:spcAft>
              <a:defRPr sz="2000"/>
            </a:pPr>
            <a:r>
              <a:t>Benefits: lower computation, less storage and easier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PCA – Principal Component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rPr dirty="0"/>
              <a:t>Transforms correlated variables into principal components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PC1 captures the maximum variance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PC2 captures the next highest variance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 smaller number of components can represent most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PCA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the data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covariance matrix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eigenvalues and eigenvectors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 the principal components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required principal components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the original data into the selected components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652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Numerosity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Replaces the original data with a smaller representation</a:t>
            </a:r>
          </a:p>
          <a:p>
            <a:pPr>
              <a:spcAft>
                <a:spcPts val="1000"/>
              </a:spcAft>
              <a:defRPr sz="2000"/>
            </a:pPr>
            <a:r>
              <a:t>Parametric methods: regression and log-linear models</a:t>
            </a:r>
          </a:p>
          <a:p>
            <a:pPr>
              <a:spcAft>
                <a:spcPts val="1000"/>
              </a:spcAft>
              <a:defRPr sz="2000"/>
            </a:pPr>
            <a:r>
              <a:t>Non-parametric methods: histograms, clustering and sampling</a:t>
            </a:r>
          </a:p>
          <a:p>
            <a:pPr>
              <a:spcAft>
                <a:spcPts val="1000"/>
              </a:spcAft>
              <a:defRPr sz="2000"/>
            </a:pPr>
            <a:r>
              <a:t>Useful for large datasets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Selects a representative subset of the dataset</a:t>
            </a:r>
          </a:p>
          <a:p>
            <a:pPr>
              <a:spcAft>
                <a:spcPts val="1000"/>
              </a:spcAft>
              <a:defRPr sz="2000"/>
            </a:pPr>
            <a:r>
              <a:t>Simple random sampling: equal probability</a:t>
            </a:r>
          </a:p>
          <a:p>
            <a:pPr>
              <a:spcAft>
                <a:spcPts val="1000"/>
              </a:spcAft>
              <a:defRPr sz="2000"/>
            </a:pPr>
            <a:r>
              <a:t>Stratified sampling: samples from each group</a:t>
            </a:r>
          </a:p>
          <a:p>
            <a:pPr>
              <a:spcAft>
                <a:spcPts val="1000"/>
              </a:spcAft>
              <a:defRPr sz="2000"/>
            </a:pPr>
            <a:r>
              <a:t>Example: 100,000 records → 10,000 representative records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Reduces the storage size of data</a:t>
            </a:r>
          </a:p>
          <a:p>
            <a:pPr>
              <a:spcAft>
                <a:spcPts val="1000"/>
              </a:spcAft>
              <a:defRPr sz="2000"/>
            </a:pPr>
            <a:r>
              <a:t>Lossless compression preserves all information</a:t>
            </a:r>
          </a:p>
          <a:p>
            <a:pPr>
              <a:spcAft>
                <a:spcPts val="1000"/>
              </a:spcAft>
              <a:defRPr sz="2000"/>
            </a:pPr>
            <a:r>
              <a:t>Lossy compression removes some less-important information</a:t>
            </a:r>
          </a:p>
          <a:p>
            <a:pPr>
              <a:spcAft>
                <a:spcPts val="1000"/>
              </a:spcAft>
              <a:defRPr sz="2000"/>
            </a:pPr>
            <a:r>
              <a:t>Common in images, audio and large data files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dirty="0"/>
              <a:t>Data Transformation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Converts data into a suitable format or scale</a:t>
            </a:r>
          </a:p>
          <a:p>
            <a:pPr>
              <a:spcAft>
                <a:spcPts val="1000"/>
              </a:spcAft>
              <a:defRPr sz="2000"/>
            </a:pPr>
            <a:r>
              <a:t>Improves consistency and algorithm compatibility</a:t>
            </a:r>
          </a:p>
          <a:p>
            <a:pPr>
              <a:spcAft>
                <a:spcPts val="1000"/>
              </a:spcAft>
              <a:defRPr sz="2000"/>
            </a:pPr>
            <a:r>
              <a:t>Common techniques: smoothing, aggregation, generalization</a:t>
            </a:r>
          </a:p>
          <a:p>
            <a:pPr>
              <a:spcAft>
                <a:spcPts val="1000"/>
              </a:spcAft>
              <a:defRPr sz="2000"/>
            </a:pPr>
            <a:r>
              <a:t>Normalization, discretization and feature construction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662579"/>
            <a:ext cx="868590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noise from data.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method: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Binning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10, 12, 13, 90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smooth abnormal/noisy values.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detailed data into summarized data.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sales → Monthly sales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transactions → Total monthly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Replaces low-level data with higher-level concepts using a concept hierarchy.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Vijayawada → Andhra Pradesh → India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 = 23 → Young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411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smtClean="0">
                <a:latin typeface="Arial" panose="020B0604020202020204" pitchFamily="34" charset="0"/>
              </a:rPr>
              <a:t>4.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Normalization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Scales </a:t>
            </a:r>
            <a:r>
              <a:rPr lang="en-US" altLang="en-US" sz="1800" dirty="0">
                <a:latin typeface="Arial" panose="020B0604020202020204" pitchFamily="34" charset="0"/>
              </a:rPr>
              <a:t>numerical values to a common range.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Important methods: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Min-Max normalization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Z-score normalization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Decimal scaling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Robust scaling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1800" b="1" dirty="0">
                <a:latin typeface="Arial" panose="020B0604020202020204" pitchFamily="34" charset="0"/>
              </a:rPr>
              <a:t>Attribute/Feature Construction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Creates new attributes from existing attributes.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Example: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latin typeface="+mj-lt"/>
              </a:rPr>
              <a:t>Date of Birth → Age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latin typeface="+mj-lt"/>
              </a:rPr>
              <a:t>Height + Weight → BMI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en-US" altLang="en-US" sz="1800" b="1" dirty="0">
                <a:latin typeface="Arial" panose="020B0604020202020204" pitchFamily="34" charset="0"/>
              </a:rPr>
              <a:t>Discretization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Converts continuous numerical values into intervals/categories.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Example: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Age </a:t>
            </a:r>
            <a:r>
              <a:rPr lang="en-US" altLang="en-US" sz="1500" dirty="0">
                <a:latin typeface="Arial Unicode MS"/>
              </a:rPr>
              <a:t>0–12</a:t>
            </a:r>
            <a:r>
              <a:rPr lang="en-US" altLang="en-US" sz="1500" dirty="0"/>
              <a:t> → Child </a:t>
            </a:r>
            <a:endParaRPr lang="en-US" altLang="en-US" sz="1500" dirty="0"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latin typeface="Arial Unicode MS"/>
              </a:rPr>
              <a:t>13–19</a:t>
            </a:r>
            <a:r>
              <a:rPr lang="en-US" altLang="en-US" sz="1500" dirty="0"/>
              <a:t> → Teenager </a:t>
            </a:r>
            <a:endParaRPr lang="en-US" altLang="en-US" sz="1500" dirty="0"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latin typeface="Arial Unicode MS"/>
              </a:rPr>
              <a:t>20–59</a:t>
            </a:r>
            <a:r>
              <a:rPr lang="en-US" altLang="en-US" sz="1500" dirty="0"/>
              <a:t> → Adult </a:t>
            </a:r>
            <a:endParaRPr lang="en-US" altLang="en-US" sz="1500" dirty="0"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latin typeface="Arial Unicode MS"/>
              </a:rPr>
              <a:t>60+</a:t>
            </a:r>
            <a:r>
              <a:rPr lang="en-US" altLang="en-US" sz="1500" dirty="0"/>
              <a:t> → Senior </a:t>
            </a:r>
            <a:endParaRPr lang="en-US" altLang="en-US" sz="1500" dirty="0"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 smtClean="0">
                <a:latin typeface="Arial Unicode MS"/>
              </a:rPr>
              <a:t>Male </a:t>
            </a:r>
            <a:r>
              <a:rPr lang="en-US" altLang="en-US" sz="1500" dirty="0">
                <a:latin typeface="Arial Unicode MS"/>
              </a:rPr>
              <a:t>→ 0</a:t>
            </a:r>
            <a:r>
              <a:rPr lang="en-US" altLang="en-US" sz="1500" dirty="0"/>
              <a:t> </a:t>
            </a:r>
            <a:endParaRPr lang="en-US" altLang="en-US" sz="1500" dirty="0"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latin typeface="Arial Unicode MS"/>
              </a:rPr>
              <a:t>Female → 1</a:t>
            </a:r>
            <a:r>
              <a:rPr lang="en-US" altLang="en-US" sz="1500" dirty="0"/>
              <a:t> </a:t>
            </a:r>
            <a:endParaRPr lang="en-US" altLang="en-US" sz="1500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134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r>
              <a:rPr lang="en-US" altLang="en-US" sz="1800" b="1" dirty="0">
                <a:latin typeface="Arial" panose="020B0604020202020204" pitchFamily="34" charset="0"/>
              </a:rPr>
              <a:t>Binning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Divides numerical data into intervals (bins).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Types: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Equal-width binning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Equal-frequency binning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Used mainly for </a:t>
            </a:r>
            <a:r>
              <a:rPr lang="en-US" altLang="en-US" sz="1800" b="1" dirty="0">
                <a:latin typeface="Arial" panose="020B0604020202020204" pitchFamily="34" charset="0"/>
              </a:rPr>
              <a:t>smoothing and discretization</a:t>
            </a:r>
            <a:r>
              <a:rPr lang="en-US" altLang="en-US" sz="1800" dirty="0">
                <a:latin typeface="Arial" panose="020B0604020202020204" pitchFamily="34" charset="0"/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8"/>
            </a:pPr>
            <a:r>
              <a:rPr lang="en-US" altLang="en-US" sz="1800" b="1" dirty="0">
                <a:latin typeface="Arial" panose="020B0604020202020204" pitchFamily="34" charset="0"/>
              </a:rPr>
              <a:t>Encoding Categorical Data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Converts categorical values into numerical representations.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Examples: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Label Encoding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One-Hot Encoding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Example: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429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Removes or reduces noise in data</a:t>
            </a:r>
          </a:p>
          <a:p>
            <a:pPr>
              <a:spcAft>
                <a:spcPts val="1000"/>
              </a:spcAft>
              <a:defRPr sz="2000"/>
            </a:pPr>
            <a:r>
              <a:t>Techniques include binning, regression and clustering</a:t>
            </a:r>
          </a:p>
          <a:p>
            <a:pPr>
              <a:spcAft>
                <a:spcPts val="1000"/>
              </a:spcAft>
              <a:defRPr sz="2000"/>
            </a:pPr>
            <a:r>
              <a:t>Example: 10, 11, 12, 50, 13, 14</a:t>
            </a:r>
          </a:p>
          <a:p>
            <a:pPr>
              <a:spcAft>
                <a:spcPts val="1000"/>
              </a:spcAft>
              <a:defRPr sz="2000"/>
            </a:pPr>
            <a:r>
              <a:t>A suspicious value such as 50 may require investigation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Equal-Width Binning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uppose</a:t>
            </a:r>
            <a:r>
              <a:rPr lang="en-US" dirty="0"/>
              <a:t> we have the following </a:t>
            </a:r>
            <a:r>
              <a:rPr lang="en-US" b="1" dirty="0"/>
              <a:t>10 values</a:t>
            </a:r>
            <a:r>
              <a:rPr lang="en-US" dirty="0"/>
              <a:t>:</a:t>
            </a:r>
          </a:p>
          <a:p>
            <a:r>
              <a:rPr lang="en-US" b="1" dirty="0"/>
              <a:t>10, 20, 25, 30, 35, 40, 50, 60, 70, 80</a:t>
            </a:r>
            <a:endParaRPr lang="en-US" dirty="0"/>
          </a:p>
          <a:p>
            <a:r>
              <a:rPr lang="en-US" dirty="0"/>
              <a:t>We want to divide them into </a:t>
            </a:r>
            <a:r>
              <a:rPr lang="en-US" b="1" dirty="0"/>
              <a:t>4 equal-width bins</a:t>
            </a:r>
            <a:r>
              <a:rPr lang="en-US" dirty="0"/>
              <a:t>.</a:t>
            </a:r>
          </a:p>
          <a:p>
            <a:r>
              <a:rPr lang="en-US" b="1" dirty="0"/>
              <a:t>Step 1: Find minimum and maximum</a:t>
            </a:r>
          </a:p>
          <a:p>
            <a:r>
              <a:rPr lang="en-US" dirty="0"/>
              <a:t>Minimum = </a:t>
            </a:r>
            <a:r>
              <a:rPr lang="en-US" b="1" dirty="0"/>
              <a:t>10</a:t>
            </a:r>
            <a:r>
              <a:rPr lang="en-US" dirty="0"/>
              <a:t> </a:t>
            </a:r>
          </a:p>
          <a:p>
            <a:r>
              <a:rPr lang="en-US" dirty="0"/>
              <a:t>Maximum = </a:t>
            </a:r>
            <a:r>
              <a:rPr lang="en-US" b="1" dirty="0"/>
              <a:t>80</a:t>
            </a:r>
            <a:r>
              <a:rPr lang="en-US" dirty="0"/>
              <a:t> </a:t>
            </a:r>
          </a:p>
          <a:p>
            <a:r>
              <a:rPr lang="en-US" dirty="0"/>
              <a:t>Number of bins = </a:t>
            </a:r>
            <a:r>
              <a:rPr lang="en-US" b="1" dirty="0"/>
              <a:t>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4397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Equal-Width Binning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Calculate bin width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181" y="2809788"/>
            <a:ext cx="4391638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12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Equal-Width Binning – 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8615418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289091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849470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Bin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69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Bin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 – 27.5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10, 20, 25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8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Bin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27.5 – 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30, 35, 40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8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Bin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45 – 62.5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50, 60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61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Bin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62.5 – 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70, 80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534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975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Sort values and divide them into intervals called bins</a:t>
            </a:r>
          </a:p>
          <a:p>
            <a:pPr>
              <a:spcAft>
                <a:spcPts val="1000"/>
              </a:spcAft>
              <a:defRPr sz="2000"/>
            </a:pPr>
            <a:r>
              <a:t>Example: 10, 12, 13, 15, 20, 22, 25, 30</a:t>
            </a:r>
          </a:p>
          <a:p>
            <a:pPr>
              <a:spcAft>
                <a:spcPts val="1000"/>
              </a:spcAft>
              <a:defRPr sz="2000"/>
            </a:pPr>
            <a:r>
              <a:t>Bins: [10,12,13], [15,20,22], [25,30]</a:t>
            </a:r>
          </a:p>
          <a:p>
            <a:pPr>
              <a:spcAft>
                <a:spcPts val="1000"/>
              </a:spcAft>
              <a:defRPr sz="2000"/>
            </a:pPr>
            <a:r>
              <a:t>Bin mean/median/boundaries can be used for smoothing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Combines multiple values into a summary value</a:t>
            </a:r>
          </a:p>
          <a:p>
            <a:pPr>
              <a:spcAft>
                <a:spcPts val="1000"/>
              </a:spcAft>
              <a:defRPr sz="2000"/>
            </a:pPr>
            <a:r>
              <a:t>Functions: SUM, AVG, MIN, MAX, COUNT</a:t>
            </a:r>
          </a:p>
          <a:p>
            <a:pPr>
              <a:spcAft>
                <a:spcPts val="1000"/>
              </a:spcAft>
              <a:defRPr sz="2000"/>
            </a:pPr>
            <a:r>
              <a:t>Example: daily sales → monthly sales</a:t>
            </a:r>
          </a:p>
          <a:p>
            <a:pPr>
              <a:spcAft>
                <a:spcPts val="1000"/>
              </a:spcAft>
              <a:defRPr sz="2000"/>
            </a:pPr>
            <a:r>
              <a:t>Reduces detail and creates meaningful summaries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Replaces low-level values with higher-level concepts</a:t>
            </a:r>
          </a:p>
          <a:p>
            <a:pPr>
              <a:spcAft>
                <a:spcPts val="1000"/>
              </a:spcAft>
              <a:defRPr sz="2000"/>
            </a:pPr>
            <a:r>
              <a:t>Example: Vijayawada → Andhra Pradesh → India</a:t>
            </a:r>
          </a:p>
          <a:p>
            <a:pPr>
              <a:spcAft>
                <a:spcPts val="1000"/>
              </a:spcAft>
              <a:defRPr sz="2000"/>
            </a:pPr>
            <a:r>
              <a:t>Example: 23 years → Young Adult</a:t>
            </a:r>
          </a:p>
          <a:p>
            <a:pPr>
              <a:spcAft>
                <a:spcPts val="1000"/>
              </a:spcAft>
              <a:defRPr sz="2000"/>
            </a:pPr>
            <a:r>
              <a:t>Uses concept hierarchies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Changes numerical attributes to a common scale</a:t>
            </a:r>
          </a:p>
          <a:p>
            <a:pPr>
              <a:spcAft>
                <a:spcPts val="1000"/>
              </a:spcAft>
              <a:defRPr sz="2000"/>
            </a:pPr>
            <a:r>
              <a:t>Important for distance-based and gradient-based algorithms</a:t>
            </a:r>
          </a:p>
          <a:p>
            <a:pPr>
              <a:spcAft>
                <a:spcPts val="1000"/>
              </a:spcAft>
              <a:defRPr sz="2000"/>
            </a:pPr>
            <a:r>
              <a:t>Common methods: Min-Max, Z-score and Decimal Scaling</a:t>
            </a:r>
          </a:p>
          <a:p>
            <a:pPr>
              <a:spcAft>
                <a:spcPts val="1000"/>
              </a:spcAft>
              <a:defRPr sz="2000"/>
            </a:pPr>
            <a:r>
              <a:t>Prevents large-scale attributes from dominating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Min-Max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Formula: v′ = (v − min(A)) / (max(A) − min(A))</a:t>
            </a:r>
          </a:p>
          <a:p>
            <a:pPr>
              <a:spcAft>
                <a:spcPts val="1000"/>
              </a:spcAft>
              <a:defRPr sz="2000"/>
            </a:pPr>
            <a:r>
              <a:t>Usually transforms values to [0, 1]</a:t>
            </a:r>
          </a:p>
          <a:p>
            <a:pPr>
              <a:spcAft>
                <a:spcPts val="1000"/>
              </a:spcAft>
              <a:defRPr sz="2000"/>
            </a:pPr>
            <a:r>
              <a:t>Example: min=20, max=80, v=50</a:t>
            </a:r>
          </a:p>
          <a:p>
            <a:pPr>
              <a:spcAft>
                <a:spcPts val="1000"/>
              </a:spcAft>
              <a:defRPr sz="2000"/>
            </a:pPr>
            <a:r>
              <a:t>v′ = (50−20)/(80−20) = 0.5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Z-Score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Formula: v′ = (v − μ) / σ</a:t>
            </a:r>
          </a:p>
          <a:p>
            <a:pPr>
              <a:spcAft>
                <a:spcPts val="1000"/>
              </a:spcAft>
              <a:defRPr sz="2000"/>
            </a:pPr>
            <a:r>
              <a:t>μ = mean; σ = standard deviation</a:t>
            </a:r>
          </a:p>
          <a:p>
            <a:pPr>
              <a:spcAft>
                <a:spcPts val="1000"/>
              </a:spcAft>
              <a:defRPr sz="2000"/>
            </a:pPr>
            <a:r>
              <a:t>Centers data around mean 0</a:t>
            </a:r>
          </a:p>
          <a:p>
            <a:pPr>
              <a:spcAft>
                <a:spcPts val="1000"/>
              </a:spcAft>
              <a:defRPr sz="2000"/>
            </a:pPr>
            <a:r>
              <a:t>Useful when data distribution and scale vary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Decimal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Formula: v′ = v / 10^j</a:t>
            </a:r>
          </a:p>
          <a:p>
            <a:pPr>
              <a:spcAft>
                <a:spcPts val="1000"/>
              </a:spcAft>
              <a:defRPr sz="2000"/>
            </a:pPr>
            <a:r>
              <a:t>Choose j so that all transformed values have absolute value &lt; 1</a:t>
            </a:r>
          </a:p>
          <a:p>
            <a:pPr>
              <a:spcAft>
                <a:spcPts val="1000"/>
              </a:spcAft>
              <a:defRPr sz="2000"/>
            </a:pPr>
            <a:r>
              <a:t>Example: 987 / 10³ = 0.987</a:t>
            </a:r>
          </a:p>
          <a:p>
            <a:pPr>
              <a:spcAft>
                <a:spcPts val="1000"/>
              </a:spcAft>
              <a:defRPr sz="2000"/>
            </a:pPr>
            <a:r>
              <a:t>Simple numerical scaling technique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Feature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Creates new attributes from existing attributes</a:t>
            </a:r>
          </a:p>
          <a:p>
            <a:pPr>
              <a:spcAft>
                <a:spcPts val="1000"/>
              </a:spcAft>
              <a:defRPr sz="2000"/>
            </a:pPr>
            <a:r>
              <a:t>Example: BMI = Weight / Height²</a:t>
            </a:r>
          </a:p>
          <a:p>
            <a:pPr>
              <a:spcAft>
                <a:spcPts val="1000"/>
              </a:spcAft>
              <a:defRPr sz="2000"/>
            </a:pPr>
            <a:r>
              <a:t>Example: Date of Birth → Age</a:t>
            </a:r>
          </a:p>
          <a:p>
            <a:pPr>
              <a:spcAft>
                <a:spcPts val="1000"/>
              </a:spcAft>
              <a:defRPr sz="2000"/>
            </a:pPr>
            <a:r>
              <a:t>Can create more informative features for mining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Discretization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Converts continuous values into intervals/categories</a:t>
            </a:r>
          </a:p>
          <a:p>
            <a:pPr>
              <a:spcAft>
                <a:spcPts val="1000"/>
              </a:spcAft>
              <a:defRPr sz="2000"/>
            </a:pPr>
            <a:r>
              <a:t>Example: Age 18–25 = Young</a:t>
            </a:r>
          </a:p>
          <a:p>
            <a:pPr>
              <a:spcAft>
                <a:spcPts val="1000"/>
              </a:spcAft>
              <a:defRPr sz="2000"/>
            </a:pPr>
            <a:r>
              <a:t>26–40 = Adult; 41–60 = Middle-aged; &gt;60 = Senior</a:t>
            </a:r>
          </a:p>
          <a:p>
            <a:pPr>
              <a:spcAft>
                <a:spcPts val="1000"/>
              </a:spcAft>
              <a:defRPr sz="2000"/>
            </a:pPr>
            <a:r>
              <a:t>Useful for classification and rule mining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Categorical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Converts categories into numerical representation</a:t>
            </a:r>
          </a:p>
          <a:p>
            <a:pPr>
              <a:spcAft>
                <a:spcPts val="1000"/>
              </a:spcAft>
              <a:defRPr sz="2000"/>
            </a:pPr>
            <a:r>
              <a:t>Label encoding: Male=0, Female=1</a:t>
            </a:r>
          </a:p>
          <a:p>
            <a:pPr>
              <a:spcAft>
                <a:spcPts val="1000"/>
              </a:spcAft>
              <a:defRPr sz="2000"/>
            </a:pPr>
            <a:r>
              <a:t>One-hot encoding creates separate binary columns</a:t>
            </a:r>
          </a:p>
          <a:p>
            <a:pPr>
              <a:spcAft>
                <a:spcPts val="1000"/>
              </a:spcAft>
              <a:defRPr sz="2000"/>
            </a:pPr>
            <a:r>
              <a:t>Avoids direct use of text categories in numerical algorithms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One-Hot Encoding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Color = Red, Green, Blue</a:t>
            </a:r>
          </a:p>
          <a:p>
            <a:pPr>
              <a:spcAft>
                <a:spcPts val="1000"/>
              </a:spcAft>
              <a:defRPr sz="2000"/>
            </a:pPr>
            <a:r>
              <a:t>Red → [1,0,0]</a:t>
            </a:r>
          </a:p>
          <a:p>
            <a:pPr>
              <a:spcAft>
                <a:spcPts val="1000"/>
              </a:spcAft>
              <a:defRPr sz="2000"/>
            </a:pPr>
            <a:r>
              <a:t>Green → [0,1,0]</a:t>
            </a:r>
          </a:p>
          <a:p>
            <a:pPr>
              <a:spcAft>
                <a:spcPts val="1000"/>
              </a:spcAft>
              <a:defRPr sz="2000"/>
            </a:pPr>
            <a:r>
              <a:t>Blue → [0,0,1]</a:t>
            </a:r>
          </a:p>
          <a:p>
            <a:pPr>
              <a:spcAft>
                <a:spcPts val="1000"/>
              </a:spcAft>
              <a:defRPr sz="2000"/>
            </a:pPr>
            <a:r>
              <a:t>Useful when categories have no natural order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Reduction vs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Reduction: reduces data volume or dimensions</a:t>
            </a:r>
          </a:p>
          <a:p>
            <a:pPr>
              <a:spcAft>
                <a:spcPts val="1000"/>
              </a:spcAft>
              <a:defRPr sz="2000"/>
            </a:pPr>
            <a:r>
              <a:t>Transformation: changes data representation or scale</a:t>
            </a:r>
          </a:p>
          <a:p>
            <a:pPr>
              <a:spcAft>
                <a:spcPts val="1000"/>
              </a:spcAft>
              <a:defRPr sz="2000"/>
            </a:pPr>
            <a:r>
              <a:t>Reduction examples: PCA, sampling, feature selection</a:t>
            </a:r>
          </a:p>
          <a:p>
            <a:pPr>
              <a:spcAft>
                <a:spcPts val="1000"/>
              </a:spcAft>
              <a:defRPr sz="2000"/>
            </a:pPr>
            <a:r>
              <a:t>Transformation examples: normalization, discretization, encoding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Healthcare dataset: remove Patient_ID using feature selection</a:t>
            </a:r>
          </a:p>
          <a:p>
            <a:pPr>
              <a:spcAft>
                <a:spcPts val="1000"/>
              </a:spcAft>
              <a:defRPr sz="2000"/>
            </a:pPr>
            <a:r>
              <a:t>Use PCA to reduce many correlated measurements</a:t>
            </a:r>
          </a:p>
          <a:p>
            <a:pPr>
              <a:spcAft>
                <a:spcPts val="1000"/>
              </a:spcAft>
              <a:defRPr sz="2000"/>
            </a:pPr>
            <a:r>
              <a:t>Normalize numerical features</a:t>
            </a:r>
          </a:p>
          <a:p>
            <a:pPr>
              <a:spcAft>
                <a:spcPts val="1000"/>
              </a:spcAft>
              <a:defRPr sz="2000"/>
            </a:pPr>
            <a:r>
              <a:t>Convert age into groups if required</a:t>
            </a:r>
          </a:p>
          <a:p>
            <a:pPr>
              <a:spcAft>
                <a:spcPts val="1000"/>
              </a:spcAft>
              <a:defRPr sz="2000"/>
            </a:pPr>
            <a:r>
              <a:t>Encode categorical attributes before modeling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Faster data mining</a:t>
            </a:r>
          </a:p>
          <a:p>
            <a:pPr>
              <a:spcAft>
                <a:spcPts val="1000"/>
              </a:spcAft>
              <a:defRPr sz="2000"/>
            </a:pPr>
            <a:r>
              <a:t>Lower storage and memory requirements</a:t>
            </a:r>
          </a:p>
          <a:p>
            <a:pPr>
              <a:spcAft>
                <a:spcPts val="1000"/>
              </a:spcAft>
              <a:defRPr sz="2000"/>
            </a:pPr>
            <a:r>
              <a:t>Improved algorithm efficiency</a:t>
            </a:r>
          </a:p>
          <a:p>
            <a:pPr>
              <a:spcAft>
                <a:spcPts val="1000"/>
              </a:spcAft>
              <a:defRPr sz="2000"/>
            </a:pPr>
            <a:r>
              <a:t>Reduced redundancy</a:t>
            </a:r>
          </a:p>
          <a:p>
            <a:pPr>
              <a:spcAft>
                <a:spcPts val="1000"/>
              </a:spcAft>
              <a:defRPr sz="2000"/>
            </a:pPr>
            <a:r>
              <a:t>Better suitability for machine learning algorithms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Limitations /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Excessive reduction may remove useful information</a:t>
            </a:r>
          </a:p>
          <a:p>
            <a:pPr>
              <a:spcAft>
                <a:spcPts val="1000"/>
              </a:spcAft>
              <a:defRPr sz="2000"/>
            </a:pPr>
            <a:r>
              <a:t>Poor sampling can create biased results</a:t>
            </a:r>
          </a:p>
          <a:p>
            <a:pPr>
              <a:spcAft>
                <a:spcPts val="1000"/>
              </a:spcAft>
              <a:defRPr sz="2000"/>
            </a:pPr>
            <a:r>
              <a:t>Normalization does not remove outliers</a:t>
            </a:r>
          </a:p>
          <a:p>
            <a:pPr>
              <a:spcAft>
                <a:spcPts val="1000"/>
              </a:spcAft>
              <a:defRPr sz="2000"/>
            </a:pPr>
            <a:r>
              <a:t>Encoding method must match the nature of categories</a:t>
            </a:r>
          </a:p>
          <a:p>
            <a:pPr>
              <a:spcAft>
                <a:spcPts val="1000"/>
              </a:spcAft>
              <a:defRPr sz="2000"/>
            </a:pPr>
            <a:r>
              <a:t>Transformation should preserve task-relevant information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Key Points for 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Define data reduction and transformation</a:t>
            </a:r>
          </a:p>
          <a:p>
            <a:pPr>
              <a:spcAft>
                <a:spcPts val="1000"/>
              </a:spcAft>
              <a:defRPr sz="2000"/>
            </a:pPr>
            <a:r>
              <a:t>Explain PCA and attribute subset selection</a:t>
            </a:r>
          </a:p>
          <a:p>
            <a:pPr>
              <a:spcAft>
                <a:spcPts val="1000"/>
              </a:spcAft>
              <a:defRPr sz="2000"/>
            </a:pPr>
            <a:r>
              <a:t>Describe sampling and numerosity reduction</a:t>
            </a:r>
          </a:p>
          <a:p>
            <a:pPr>
              <a:spcAft>
                <a:spcPts val="1000"/>
              </a:spcAft>
              <a:defRPr sz="2000"/>
            </a:pPr>
            <a:r>
              <a:t>Explain Min-Max and Z-score normalization with formulas</a:t>
            </a:r>
          </a:p>
          <a:p>
            <a:pPr>
              <a:spcAft>
                <a:spcPts val="1000"/>
              </a:spcAft>
              <a:defRPr sz="2000"/>
            </a:pPr>
            <a:r>
              <a:t>Explain discretization, generalization and feature construction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 Reduction → smaller but informative dataset</a:t>
            </a:r>
          </a:p>
          <a:p>
            <a:pPr>
              <a:spcAft>
                <a:spcPts val="1000"/>
              </a:spcAft>
              <a:defRPr sz="2000"/>
            </a:pPr>
            <a:r>
              <a:t>Data Transformation → suitable representation</a:t>
            </a:r>
          </a:p>
          <a:p>
            <a:pPr>
              <a:spcAft>
                <a:spcPts val="1000"/>
              </a:spcAft>
              <a:defRPr sz="2000"/>
            </a:pPr>
            <a:r>
              <a:t>Both are essential preprocessing steps</a:t>
            </a:r>
          </a:p>
          <a:p>
            <a:pPr>
              <a:spcAft>
                <a:spcPts val="1000"/>
              </a:spcAft>
              <a:defRPr sz="2000"/>
            </a:pPr>
            <a:r>
              <a:t>Correct preprocessing improves data mining efficiency and model performance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Questions /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1409</Words>
  <Application>Microsoft Office PowerPoint</Application>
  <PresentationFormat>Widescreen</PresentationFormat>
  <Paragraphs>274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Arial Unicode MS</vt:lpstr>
      <vt:lpstr>Calibri</vt:lpstr>
      <vt:lpstr>Office Theme</vt:lpstr>
      <vt:lpstr>Data Reduction and Data Transformation</vt:lpstr>
      <vt:lpstr>Learning Objectives</vt:lpstr>
      <vt:lpstr>Data Preprocessing</vt:lpstr>
      <vt:lpstr>Data Reduction – Definition</vt:lpstr>
      <vt:lpstr>Why Data Reduction?</vt:lpstr>
      <vt:lpstr>Major Data Reduction Techniques</vt:lpstr>
      <vt:lpstr>Data Cube Aggregation</vt:lpstr>
      <vt:lpstr>Example: Data Cube Aggregation</vt:lpstr>
      <vt:lpstr>Attribute Subset Selection</vt:lpstr>
      <vt:lpstr>Attribute Selection Techniques</vt:lpstr>
      <vt:lpstr>Dimensionality Reduction</vt:lpstr>
      <vt:lpstr>PCA – Principal Component Analysis</vt:lpstr>
      <vt:lpstr>PCA</vt:lpstr>
      <vt:lpstr>Numerosity Reduction</vt:lpstr>
      <vt:lpstr>Sampling</vt:lpstr>
      <vt:lpstr>Data Compression</vt:lpstr>
      <vt:lpstr>Data Transformation – Definition</vt:lpstr>
      <vt:lpstr>Data Transformation</vt:lpstr>
      <vt:lpstr>Data Transformation</vt:lpstr>
      <vt:lpstr>Data Transformation</vt:lpstr>
      <vt:lpstr>Smoothing</vt:lpstr>
      <vt:lpstr>Equal-Width Binning – Example</vt:lpstr>
      <vt:lpstr>Equal-Width Binning – Example</vt:lpstr>
      <vt:lpstr>Equal-Width Binning – Example</vt:lpstr>
      <vt:lpstr>Binning</vt:lpstr>
      <vt:lpstr>Aggregation</vt:lpstr>
      <vt:lpstr>Generalization</vt:lpstr>
      <vt:lpstr>Normalization</vt:lpstr>
      <vt:lpstr>Min-Max Normalization</vt:lpstr>
      <vt:lpstr>Z-Score Normalization</vt:lpstr>
      <vt:lpstr>Decimal Scaling</vt:lpstr>
      <vt:lpstr>Feature Construction</vt:lpstr>
      <vt:lpstr>Discretization</vt:lpstr>
      <vt:lpstr>Categorical Data Encoding</vt:lpstr>
      <vt:lpstr>One-Hot Encoding Example</vt:lpstr>
      <vt:lpstr>Data Reduction vs Transformation</vt:lpstr>
      <vt:lpstr>Real-World Example</vt:lpstr>
      <vt:lpstr>Advantages</vt:lpstr>
      <vt:lpstr>Limitations / Considerations</vt:lpstr>
      <vt:lpstr>Key Points for Examination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Reduction and Data Transformation</dc:title>
  <dc:subject/>
  <dc:creator>WE LAB</dc:creator>
  <cp:keywords/>
  <dc:description>generated using python-pptx</dc:description>
  <cp:lastModifiedBy>WE LAB</cp:lastModifiedBy>
  <cp:revision>6</cp:revision>
  <dcterms:created xsi:type="dcterms:W3CDTF">2013-01-27T09:14:16Z</dcterms:created>
  <dcterms:modified xsi:type="dcterms:W3CDTF">2026-08-22T04:29:02Z</dcterms:modified>
  <cp:category/>
</cp:coreProperties>
</file>