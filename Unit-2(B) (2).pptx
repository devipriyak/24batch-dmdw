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4"/>
  </p:notesMasterIdLst>
  <p:sldIdLst>
    <p:sldId id="256" r:id="rId2"/>
    <p:sldId id="287" r:id="rId3"/>
    <p:sldId id="288" r:id="rId4"/>
    <p:sldId id="289" r:id="rId5"/>
    <p:sldId id="290" r:id="rId6"/>
    <p:sldId id="342" r:id="rId7"/>
    <p:sldId id="343" r:id="rId8"/>
    <p:sldId id="344" r:id="rId9"/>
    <p:sldId id="313" r:id="rId10"/>
    <p:sldId id="340" r:id="rId11"/>
    <p:sldId id="341" r:id="rId12"/>
    <p:sldId id="345" r:id="rId13"/>
    <p:sldId id="292" r:id="rId14"/>
    <p:sldId id="311" r:id="rId15"/>
    <p:sldId id="346" r:id="rId16"/>
    <p:sldId id="295" r:id="rId17"/>
    <p:sldId id="296" r:id="rId18"/>
    <p:sldId id="297" r:id="rId19"/>
    <p:sldId id="298" r:id="rId20"/>
    <p:sldId id="348" r:id="rId21"/>
    <p:sldId id="299" r:id="rId22"/>
    <p:sldId id="300" r:id="rId23"/>
    <p:sldId id="314" r:id="rId24"/>
    <p:sldId id="315" r:id="rId25"/>
    <p:sldId id="316" r:id="rId26"/>
    <p:sldId id="317" r:id="rId27"/>
    <p:sldId id="318" r:id="rId28"/>
    <p:sldId id="319" r:id="rId29"/>
    <p:sldId id="320" r:id="rId30"/>
    <p:sldId id="321" r:id="rId31"/>
    <p:sldId id="322" r:id="rId32"/>
    <p:sldId id="323" r:id="rId33"/>
    <p:sldId id="324" r:id="rId34"/>
    <p:sldId id="325" r:id="rId35"/>
    <p:sldId id="349" r:id="rId36"/>
    <p:sldId id="347" r:id="rId37"/>
    <p:sldId id="326" r:id="rId38"/>
    <p:sldId id="327" r:id="rId39"/>
    <p:sldId id="328" r:id="rId40"/>
    <p:sldId id="329" r:id="rId41"/>
    <p:sldId id="330" r:id="rId42"/>
    <p:sldId id="331" r:id="rId43"/>
    <p:sldId id="332" r:id="rId44"/>
    <p:sldId id="333" r:id="rId45"/>
    <p:sldId id="334" r:id="rId46"/>
    <p:sldId id="350" r:id="rId47"/>
    <p:sldId id="351" r:id="rId48"/>
    <p:sldId id="352" r:id="rId49"/>
    <p:sldId id="335" r:id="rId50"/>
    <p:sldId id="336" r:id="rId51"/>
    <p:sldId id="337" r:id="rId52"/>
    <p:sldId id="339" r:id="rId5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1" d="100"/>
          <a:sy n="81" d="100"/>
        </p:scale>
        <p:origin x="1498"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F386C26-66FF-4BE6-B205-DE18CC43BCE5}" type="datetimeFigureOut">
              <a:rPr lang="en-IN" smtClean="0"/>
              <a:t>06-08-2026</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3ACDD60-CE98-4051-B763-A2AE8CBD5982}" type="slidenum">
              <a:rPr lang="en-IN" smtClean="0"/>
              <a:t>‹#›</a:t>
            </a:fld>
            <a:endParaRPr lang="en-IN"/>
          </a:p>
        </p:txBody>
      </p:sp>
    </p:spTree>
    <p:extLst>
      <p:ext uri="{BB962C8B-B14F-4D97-AF65-F5344CB8AC3E}">
        <p14:creationId xmlns:p14="http://schemas.microsoft.com/office/powerpoint/2010/main" val="3307330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D3ACDD60-CE98-4051-B763-A2AE8CBD5982}" type="slidenum">
              <a:rPr lang="en-IN" smtClean="0"/>
              <a:t>37</a:t>
            </a:fld>
            <a:endParaRPr lang="en-IN"/>
          </a:p>
        </p:txBody>
      </p:sp>
    </p:spTree>
    <p:extLst>
      <p:ext uri="{BB962C8B-B14F-4D97-AF65-F5344CB8AC3E}">
        <p14:creationId xmlns:p14="http://schemas.microsoft.com/office/powerpoint/2010/main" val="23741140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381000"/>
            <a:ext cx="8305800" cy="2677656"/>
          </a:xfrm>
          <a:prstGeom prst="rect">
            <a:avLst/>
          </a:prstGeom>
        </p:spPr>
        <p:txBody>
          <a:bodyPr wrap="square">
            <a:spAutoFit/>
          </a:bodyPr>
          <a:lstStyle/>
          <a:p>
            <a:pPr algn="ctr"/>
            <a:r>
              <a:rPr lang="en-US" sz="2800" b="1" u="sng" dirty="0">
                <a:solidFill>
                  <a:srgbClr val="FF0000"/>
                </a:solidFill>
                <a:latin typeface="Times New Roman" pitchFamily="18" charset="0"/>
                <a:cs typeface="Times New Roman" pitchFamily="18" charset="0"/>
              </a:rPr>
              <a:t>UNIT II</a:t>
            </a:r>
          </a:p>
          <a:p>
            <a:pPr algn="just"/>
            <a:endParaRPr lang="en-US" sz="2800" dirty="0">
              <a:solidFill>
                <a:srgbClr val="00B050"/>
              </a:solidFill>
              <a:latin typeface="Times New Roman" pitchFamily="18" charset="0"/>
              <a:cs typeface="Times New Roman" pitchFamily="18" charset="0"/>
            </a:endParaRPr>
          </a:p>
          <a:p>
            <a:pPr algn="just"/>
            <a:r>
              <a:rPr lang="en-US" sz="2800" dirty="0">
                <a:solidFill>
                  <a:srgbClr val="00B050"/>
                </a:solidFill>
                <a:latin typeface="Times New Roman" pitchFamily="18" charset="0"/>
                <a:cs typeface="Times New Roman" pitchFamily="18" charset="0"/>
              </a:rPr>
              <a:t>Data Preprocessing: </a:t>
            </a:r>
          </a:p>
          <a:p>
            <a:pPr algn="just"/>
            <a:r>
              <a:rPr lang="en-US" sz="2800" dirty="0">
                <a:solidFill>
                  <a:srgbClr val="00B050"/>
                </a:solidFill>
                <a:latin typeface="Times New Roman" pitchFamily="18" charset="0"/>
                <a:cs typeface="Times New Roman" pitchFamily="18" charset="0"/>
              </a:rPr>
              <a:t>	</a:t>
            </a:r>
            <a:r>
              <a:rPr lang="en-US" sz="2800" dirty="0">
                <a:latin typeface="Times New Roman" pitchFamily="18" charset="0"/>
                <a:cs typeface="Times New Roman" pitchFamily="18" charset="0"/>
              </a:rPr>
              <a:t>An Overview, Data Cleaning, Data Integration, Data Reduction, Data Transformation and Data Discretization.</a:t>
            </a:r>
            <a:endParaRPr lang="en-IN" sz="2800" dirty="0">
              <a:latin typeface="Times New Roman" pitchFamily="18" charset="0"/>
              <a:cs typeface="Times New Roman" pitchFamily="18" charset="0"/>
            </a:endParaRPr>
          </a:p>
        </p:txBody>
      </p:sp>
    </p:spTree>
    <p:extLst>
      <p:ext uri="{BB962C8B-B14F-4D97-AF65-F5344CB8AC3E}">
        <p14:creationId xmlns:p14="http://schemas.microsoft.com/office/powerpoint/2010/main" val="38046646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152400"/>
            <a:ext cx="8763000" cy="6278642"/>
          </a:xfrm>
          <a:prstGeom prst="rect">
            <a:avLst/>
          </a:prstGeom>
        </p:spPr>
        <p:txBody>
          <a:bodyPr wrap="square">
            <a:spAutoFit/>
          </a:bodyPr>
          <a:lstStyle/>
          <a:p>
            <a:pPr algn="just"/>
            <a:r>
              <a:rPr lang="en-US" sz="2800" u="sng" dirty="0">
                <a:solidFill>
                  <a:srgbClr val="FF0000"/>
                </a:solidFill>
                <a:latin typeface="Times New Roman" pitchFamily="18" charset="0"/>
                <a:cs typeface="Times New Roman" pitchFamily="18" charset="0"/>
              </a:rPr>
              <a:t>Data Reduction:</a:t>
            </a:r>
          </a:p>
          <a:p>
            <a:pPr algn="just"/>
            <a:r>
              <a:rPr lang="en-US" sz="2200" dirty="0">
                <a:latin typeface="Times New Roman" pitchFamily="18" charset="0"/>
                <a:cs typeface="Times New Roman" pitchFamily="18" charset="0"/>
              </a:rPr>
              <a:t> 	Data reduction techniques can be applied to obtain a reduced representation of the data set that is much smaller in volume, yet closely maintains the integrity of the original data. That is, mining on the reduced data set should be more efficient yet produce the same (or almost the same) analytical results.</a:t>
            </a:r>
          </a:p>
          <a:p>
            <a:pPr algn="just"/>
            <a:endParaRPr lang="en-US" sz="2200" dirty="0">
              <a:latin typeface="Times New Roman" pitchFamily="18" charset="0"/>
              <a:cs typeface="Times New Roman" pitchFamily="18" charset="0"/>
            </a:endParaRPr>
          </a:p>
          <a:p>
            <a:pPr algn="just"/>
            <a:r>
              <a:rPr lang="en-IN" sz="2200" dirty="0">
                <a:solidFill>
                  <a:srgbClr val="00B050"/>
                </a:solidFill>
                <a:latin typeface="Times New Roman" pitchFamily="18" charset="0"/>
                <a:cs typeface="Times New Roman" pitchFamily="18" charset="0"/>
              </a:rPr>
              <a:t>Overview of Data Reduction Strategies:</a:t>
            </a:r>
          </a:p>
          <a:p>
            <a:pPr algn="just"/>
            <a:r>
              <a:rPr lang="en-IN" sz="2200" dirty="0">
                <a:latin typeface="Times New Roman" pitchFamily="18" charset="0"/>
                <a:cs typeface="Times New Roman" pitchFamily="18" charset="0"/>
              </a:rPr>
              <a:t> 	Data reduction strategies include dimensionality reduction, </a:t>
            </a:r>
            <a:r>
              <a:rPr lang="en-IN" sz="2200" dirty="0" err="1">
                <a:latin typeface="Times New Roman" pitchFamily="18" charset="0"/>
                <a:cs typeface="Times New Roman" pitchFamily="18" charset="0"/>
              </a:rPr>
              <a:t>numerosity</a:t>
            </a:r>
            <a:r>
              <a:rPr lang="en-IN" sz="2200" dirty="0">
                <a:latin typeface="Times New Roman" pitchFamily="18" charset="0"/>
                <a:cs typeface="Times New Roman" pitchFamily="18" charset="0"/>
              </a:rPr>
              <a:t> reduction, and data compression.</a:t>
            </a:r>
          </a:p>
          <a:p>
            <a:pPr algn="just"/>
            <a:endParaRPr lang="en-IN" sz="2200" dirty="0">
              <a:latin typeface="Times New Roman" pitchFamily="18" charset="0"/>
              <a:cs typeface="Times New Roman" pitchFamily="18" charset="0"/>
            </a:endParaRPr>
          </a:p>
          <a:p>
            <a:pPr algn="just"/>
            <a:r>
              <a:rPr lang="en-IN" sz="2200" dirty="0">
                <a:latin typeface="Times New Roman" pitchFamily="18" charset="0"/>
                <a:cs typeface="Times New Roman" pitchFamily="18" charset="0"/>
              </a:rPr>
              <a:t>	</a:t>
            </a:r>
            <a:r>
              <a:rPr lang="en-IN" sz="2200" dirty="0">
                <a:solidFill>
                  <a:srgbClr val="FF0000"/>
                </a:solidFill>
                <a:latin typeface="Times New Roman" pitchFamily="18" charset="0"/>
                <a:cs typeface="Times New Roman" pitchFamily="18" charset="0"/>
              </a:rPr>
              <a:t>Dimensionality reduction </a:t>
            </a:r>
            <a:r>
              <a:rPr lang="en-IN" sz="2200" dirty="0">
                <a:latin typeface="Times New Roman" pitchFamily="18" charset="0"/>
                <a:cs typeface="Times New Roman" pitchFamily="18" charset="0"/>
              </a:rPr>
              <a:t>is the process of reducing the number of random variables or attributes under consideration. </a:t>
            </a:r>
            <a:r>
              <a:rPr lang="en-US" sz="2200" dirty="0">
                <a:latin typeface="Times New Roman" pitchFamily="18" charset="0"/>
                <a:cs typeface="Times New Roman" pitchFamily="18" charset="0"/>
              </a:rPr>
              <a:t>Dimensionality reduction methods include wavelet transforms and principal components analysis, which transform or project the original data onto a smaller space. Attribute subset selection is a method of dimensionality reduction in which irrelevant, weakly relevant, or redundant attributes or dimensions are detected and removed.</a:t>
            </a:r>
            <a:endParaRPr lang="en-US" sz="2200" dirty="0">
              <a:solidFill>
                <a:srgbClr val="00B050"/>
              </a:solidFill>
              <a:latin typeface="Times New Roman" pitchFamily="18" charset="0"/>
              <a:cs typeface="Times New Roman" pitchFamily="18" charset="0"/>
            </a:endParaRPr>
          </a:p>
        </p:txBody>
      </p:sp>
    </p:spTree>
    <p:extLst>
      <p:ext uri="{BB962C8B-B14F-4D97-AF65-F5344CB8AC3E}">
        <p14:creationId xmlns:p14="http://schemas.microsoft.com/office/powerpoint/2010/main" val="33784679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228600"/>
            <a:ext cx="8763000" cy="5847755"/>
          </a:xfrm>
          <a:prstGeom prst="rect">
            <a:avLst/>
          </a:prstGeom>
        </p:spPr>
        <p:txBody>
          <a:bodyPr wrap="square">
            <a:spAutoFit/>
          </a:bodyPr>
          <a:lstStyle/>
          <a:p>
            <a:pPr algn="just"/>
            <a:r>
              <a:rPr lang="en-US" sz="2200" dirty="0">
                <a:solidFill>
                  <a:srgbClr val="00B050"/>
                </a:solidFill>
                <a:latin typeface="Times New Roman" pitchFamily="18" charset="0"/>
                <a:cs typeface="Times New Roman" pitchFamily="18" charset="0"/>
              </a:rPr>
              <a:t>	</a:t>
            </a:r>
            <a:r>
              <a:rPr lang="en-US" sz="2200" dirty="0" err="1">
                <a:solidFill>
                  <a:srgbClr val="00B050"/>
                </a:solidFill>
                <a:latin typeface="Times New Roman" pitchFamily="18" charset="0"/>
                <a:cs typeface="Times New Roman" pitchFamily="18" charset="0"/>
              </a:rPr>
              <a:t>Numerosity</a:t>
            </a:r>
            <a:r>
              <a:rPr lang="en-US" sz="2200" dirty="0">
                <a:solidFill>
                  <a:srgbClr val="00B050"/>
                </a:solidFill>
                <a:latin typeface="Times New Roman" pitchFamily="18" charset="0"/>
                <a:cs typeface="Times New Roman" pitchFamily="18" charset="0"/>
              </a:rPr>
              <a:t> reduction </a:t>
            </a:r>
            <a:r>
              <a:rPr lang="en-US" sz="2200" dirty="0">
                <a:latin typeface="Times New Roman" pitchFamily="18" charset="0"/>
                <a:cs typeface="Times New Roman" pitchFamily="18" charset="0"/>
              </a:rPr>
              <a:t>techniques replace the original data volume by alternative, smaller forms of data representation. These techniques may be parametric or non parametric. For parametric methods, a model is used to estimate the data, so that typically only the data parameters need to be stored, instead of the actual data. Regression and log-linear models are examples. Nonparametric methods for storing reduced representations of the data include histograms, clustering, sampling, and data cube aggregation.</a:t>
            </a: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In </a:t>
            </a:r>
            <a:r>
              <a:rPr lang="en-US" sz="2200" dirty="0">
                <a:solidFill>
                  <a:srgbClr val="00B050"/>
                </a:solidFill>
                <a:latin typeface="Times New Roman" pitchFamily="18" charset="0"/>
                <a:cs typeface="Times New Roman" pitchFamily="18" charset="0"/>
              </a:rPr>
              <a:t>data compression</a:t>
            </a:r>
            <a:r>
              <a:rPr lang="en-US" sz="2200" dirty="0">
                <a:latin typeface="Times New Roman" pitchFamily="18" charset="0"/>
                <a:cs typeface="Times New Roman" pitchFamily="18" charset="0"/>
              </a:rPr>
              <a:t>, transformations are applied so as to obtain a reduced or “compressed” representation of the original data. If the original data can be reconstructed from the compressed data without any information loss, the data reduction is called lossless. If, instead, we can reconstruct only an approximation of the original data, then the data reduction is called </a:t>
            </a:r>
            <a:r>
              <a:rPr lang="en-US" sz="2200" dirty="0" err="1">
                <a:latin typeface="Times New Roman" pitchFamily="18" charset="0"/>
                <a:cs typeface="Times New Roman" pitchFamily="18" charset="0"/>
              </a:rPr>
              <a:t>lossy</a:t>
            </a:r>
            <a:r>
              <a:rPr lang="en-US" sz="2200" dirty="0">
                <a:latin typeface="Times New Roman" pitchFamily="18" charset="0"/>
                <a:cs typeface="Times New Roman" pitchFamily="18" charset="0"/>
              </a:rPr>
              <a:t>. There are several lossless algorithms for string compression; however, they typically allow only limited data manipulation. Dimensionality reduction and </a:t>
            </a:r>
            <a:r>
              <a:rPr lang="en-US" sz="2200" dirty="0" err="1">
                <a:latin typeface="Times New Roman" pitchFamily="18" charset="0"/>
                <a:cs typeface="Times New Roman" pitchFamily="18" charset="0"/>
              </a:rPr>
              <a:t>numerosity</a:t>
            </a:r>
            <a:r>
              <a:rPr lang="en-US" sz="2200" dirty="0">
                <a:latin typeface="Times New Roman" pitchFamily="18" charset="0"/>
                <a:cs typeface="Times New Roman" pitchFamily="18" charset="0"/>
              </a:rPr>
              <a:t> reduction techniques can also be considered forms of data compression.</a:t>
            </a:r>
          </a:p>
        </p:txBody>
      </p:sp>
    </p:spTree>
    <p:extLst>
      <p:ext uri="{BB962C8B-B14F-4D97-AF65-F5344CB8AC3E}">
        <p14:creationId xmlns:p14="http://schemas.microsoft.com/office/powerpoint/2010/main" val="18410369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152400"/>
            <a:ext cx="8610600" cy="6309420"/>
          </a:xfrm>
          <a:prstGeom prst="rect">
            <a:avLst/>
          </a:prstGeom>
        </p:spPr>
        <p:txBody>
          <a:bodyPr wrap="square">
            <a:spAutoFit/>
          </a:bodyPr>
          <a:lstStyle/>
          <a:p>
            <a:pPr algn="just"/>
            <a:r>
              <a:rPr lang="en-US" sz="2800" b="1" dirty="0">
                <a:solidFill>
                  <a:srgbClr val="FF0000"/>
                </a:solidFill>
                <a:latin typeface="Times New Roman" pitchFamily="18" charset="0"/>
                <a:cs typeface="Times New Roman" pitchFamily="18" charset="0"/>
              </a:rPr>
              <a:t>Wavelet Transforms:</a:t>
            </a:r>
          </a:p>
          <a:p>
            <a:pPr algn="just"/>
            <a:r>
              <a:rPr lang="en-US" sz="2200" dirty="0">
                <a:latin typeface="Times New Roman" pitchFamily="18" charset="0"/>
                <a:cs typeface="Times New Roman" pitchFamily="18" charset="0"/>
              </a:rPr>
              <a:t>	The discrete wavelet transform (DWT) is a linear signal processing technique that, when applied to a data vector X, transforms it to a numerically different vector, X</a:t>
            </a:r>
            <a:r>
              <a:rPr lang="en-US" sz="2200" baseline="30000" dirty="0">
                <a:latin typeface="Times New Roman" pitchFamily="18" charset="0"/>
                <a:cs typeface="Times New Roman" pitchFamily="18" charset="0"/>
              </a:rPr>
              <a:t>1</a:t>
            </a:r>
            <a:r>
              <a:rPr lang="en-US" sz="2200" dirty="0">
                <a:latin typeface="Times New Roman" pitchFamily="18" charset="0"/>
                <a:cs typeface="Times New Roman" pitchFamily="18" charset="0"/>
              </a:rPr>
              <a:t>, of wavelet coefficients. The two vectors are of the same length. When applying this technique to data reduction, we consider each tuple as an n-dimensional data vector, that is, X=(x</a:t>
            </a:r>
            <a:r>
              <a:rPr lang="en-US" sz="2200" baseline="-25000" dirty="0">
                <a:latin typeface="Times New Roman" pitchFamily="18" charset="0"/>
                <a:cs typeface="Times New Roman" pitchFamily="18" charset="0"/>
              </a:rPr>
              <a:t>1</a:t>
            </a:r>
            <a:r>
              <a:rPr lang="en-US" sz="2200" dirty="0">
                <a:latin typeface="Times New Roman" pitchFamily="18" charset="0"/>
                <a:cs typeface="Times New Roman" pitchFamily="18" charset="0"/>
              </a:rPr>
              <a:t>,x</a:t>
            </a:r>
            <a:r>
              <a:rPr lang="en-US" sz="2200" baseline="-25000" dirty="0">
                <a:latin typeface="Times New Roman" pitchFamily="18" charset="0"/>
                <a:cs typeface="Times New Roman" pitchFamily="18" charset="0"/>
              </a:rPr>
              <a:t>2</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x</a:t>
            </a:r>
            <a:r>
              <a:rPr lang="en-US" sz="2200" baseline="-25000" dirty="0" err="1">
                <a:latin typeface="Times New Roman" pitchFamily="18" charset="0"/>
                <a:cs typeface="Times New Roman" pitchFamily="18" charset="0"/>
              </a:rPr>
              <a:t>n</a:t>
            </a:r>
            <a:r>
              <a:rPr lang="en-US" sz="2200" dirty="0">
                <a:latin typeface="Times New Roman" pitchFamily="18" charset="0"/>
                <a:cs typeface="Times New Roman" pitchFamily="18" charset="0"/>
              </a:rPr>
              <a:t>), depicting n measurements made on the tuple from n database attributes.</a:t>
            </a:r>
          </a:p>
          <a:p>
            <a:pPr algn="just"/>
            <a:endParaRPr lang="en-US" sz="2200" dirty="0">
              <a:latin typeface="Times New Roman" pitchFamily="18" charset="0"/>
              <a:cs typeface="Times New Roman" pitchFamily="18" charset="0"/>
            </a:endParaRPr>
          </a:p>
          <a:p>
            <a:pPr algn="just"/>
            <a:r>
              <a:rPr lang="en-US" sz="2400" dirty="0"/>
              <a:t>	</a:t>
            </a:r>
            <a:r>
              <a:rPr lang="en-US" sz="2200" dirty="0">
                <a:latin typeface="Times New Roman" pitchFamily="18" charset="0"/>
                <a:cs typeface="Times New Roman" pitchFamily="18" charset="0"/>
              </a:rPr>
              <a:t>The general procedure for applying a discrete wavelet transform uses a hierarchical pyramid algorithm that halves the data at each iteration, resulting in fast computational speed. The method is as follows: </a:t>
            </a:r>
          </a:p>
          <a:p>
            <a:pPr algn="just"/>
            <a:r>
              <a:rPr lang="en-US" sz="2200" dirty="0">
                <a:latin typeface="Times New Roman" pitchFamily="18" charset="0"/>
                <a:cs typeface="Times New Roman" pitchFamily="18" charset="0"/>
              </a:rPr>
              <a:t>	1. The length, L, of the input data vector must be an integer power of 2. This condition can be met by padding the data vector with zeros as necessary (L &gt;= n).</a:t>
            </a:r>
          </a:p>
          <a:p>
            <a:pPr algn="just"/>
            <a:r>
              <a:rPr lang="en-US" sz="2200" dirty="0">
                <a:latin typeface="Times New Roman" pitchFamily="18" charset="0"/>
                <a:cs typeface="Times New Roman" pitchFamily="18" charset="0"/>
              </a:rPr>
              <a:t>	2. Each transform involves applying two functions. The first applies some data smoothing, such as a sum or weighted average. The second performs a weighted difference, which acts to bring out the detailed features of the data.</a:t>
            </a:r>
          </a:p>
        </p:txBody>
      </p:sp>
    </p:spTree>
    <p:extLst>
      <p:ext uri="{BB962C8B-B14F-4D97-AF65-F5344CB8AC3E}">
        <p14:creationId xmlns:p14="http://schemas.microsoft.com/office/powerpoint/2010/main" val="25873462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228600"/>
            <a:ext cx="8610600" cy="3139321"/>
          </a:xfrm>
          <a:prstGeom prst="rect">
            <a:avLst/>
          </a:prstGeom>
        </p:spPr>
        <p:txBody>
          <a:bodyPr wrap="square">
            <a:spAutoFit/>
          </a:bodyPr>
          <a:lstStyle/>
          <a:p>
            <a:pPr algn="just"/>
            <a:r>
              <a:rPr lang="en-US" sz="2200" dirty="0">
                <a:latin typeface="Times New Roman" pitchFamily="18" charset="0"/>
                <a:cs typeface="Times New Roman" pitchFamily="18" charset="0"/>
              </a:rPr>
              <a:t>3. The two functions are applied to pairs of data points in X, that is, to all pairs of measurements (x</a:t>
            </a:r>
            <a:r>
              <a:rPr lang="en-US" sz="2200" baseline="-25000" dirty="0">
                <a:latin typeface="Times New Roman" pitchFamily="18" charset="0"/>
                <a:cs typeface="Times New Roman" pitchFamily="18" charset="0"/>
              </a:rPr>
              <a:t>2i</a:t>
            </a:r>
            <a:r>
              <a:rPr lang="en-US" sz="2200" dirty="0">
                <a:latin typeface="Times New Roman" pitchFamily="18" charset="0"/>
                <a:cs typeface="Times New Roman" pitchFamily="18" charset="0"/>
              </a:rPr>
              <a:t>,x</a:t>
            </a:r>
            <a:r>
              <a:rPr lang="en-US" sz="2200" baseline="-25000" dirty="0">
                <a:latin typeface="Times New Roman" pitchFamily="18" charset="0"/>
                <a:cs typeface="Times New Roman" pitchFamily="18" charset="0"/>
              </a:rPr>
              <a:t>2i +1</a:t>
            </a:r>
            <a:r>
              <a:rPr lang="en-US" sz="2200" dirty="0">
                <a:latin typeface="Times New Roman" pitchFamily="18" charset="0"/>
                <a:cs typeface="Times New Roman" pitchFamily="18" charset="0"/>
              </a:rPr>
              <a:t>). This results in two data sets of length L/2. </a:t>
            </a: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4. The two functions are recursively applied to the data sets obtained in the previous loop, until the resulting data sets obtained are of length 2.</a:t>
            </a: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5. Selected values from the data sets obtained in the previous iterations are designated the wavelet coefficients of the transformed data.</a:t>
            </a: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3367922"/>
            <a:ext cx="8001000" cy="3309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083779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243C8ED-A60C-499D-BD8D-D8C955AD3D51}"/>
              </a:ext>
            </a:extLst>
          </p:cNvPr>
          <p:cNvPicPr>
            <a:picLocks noChangeAspect="1"/>
          </p:cNvPicPr>
          <p:nvPr/>
        </p:nvPicPr>
        <p:blipFill>
          <a:blip r:embed="rId2"/>
          <a:stretch>
            <a:fillRect/>
          </a:stretch>
        </p:blipFill>
        <p:spPr>
          <a:xfrm>
            <a:off x="411582" y="1371600"/>
            <a:ext cx="8166747" cy="4038600"/>
          </a:xfrm>
          <a:prstGeom prst="rect">
            <a:avLst/>
          </a:prstGeom>
        </p:spPr>
      </p:pic>
    </p:spTree>
    <p:extLst>
      <p:ext uri="{BB962C8B-B14F-4D97-AF65-F5344CB8AC3E}">
        <p14:creationId xmlns:p14="http://schemas.microsoft.com/office/powerpoint/2010/main" val="24898131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728333D-5965-4650-B183-B6B17D9A1BF8}"/>
              </a:ext>
            </a:extLst>
          </p:cNvPr>
          <p:cNvPicPr>
            <a:picLocks noChangeAspect="1"/>
          </p:cNvPicPr>
          <p:nvPr/>
        </p:nvPicPr>
        <p:blipFill>
          <a:blip r:embed="rId2"/>
          <a:stretch>
            <a:fillRect/>
          </a:stretch>
        </p:blipFill>
        <p:spPr>
          <a:xfrm>
            <a:off x="838200" y="142975"/>
            <a:ext cx="7788295" cy="3047998"/>
          </a:xfrm>
          <a:prstGeom prst="rect">
            <a:avLst/>
          </a:prstGeom>
        </p:spPr>
      </p:pic>
      <p:pic>
        <p:nvPicPr>
          <p:cNvPr id="3" name="Picture 2">
            <a:extLst>
              <a:ext uri="{FF2B5EF4-FFF2-40B4-BE49-F238E27FC236}">
                <a16:creationId xmlns:a16="http://schemas.microsoft.com/office/drawing/2014/main" id="{35FFB97D-7B59-4D20-ABB3-CC14C9DE0738}"/>
              </a:ext>
            </a:extLst>
          </p:cNvPr>
          <p:cNvPicPr>
            <a:picLocks noChangeAspect="1"/>
          </p:cNvPicPr>
          <p:nvPr/>
        </p:nvPicPr>
        <p:blipFill>
          <a:blip r:embed="rId3"/>
          <a:stretch>
            <a:fillRect/>
          </a:stretch>
        </p:blipFill>
        <p:spPr>
          <a:xfrm>
            <a:off x="838200" y="3429000"/>
            <a:ext cx="7128803" cy="3047999"/>
          </a:xfrm>
          <a:prstGeom prst="rect">
            <a:avLst/>
          </a:prstGeom>
        </p:spPr>
      </p:pic>
    </p:spTree>
    <p:extLst>
      <p:ext uri="{BB962C8B-B14F-4D97-AF65-F5344CB8AC3E}">
        <p14:creationId xmlns:p14="http://schemas.microsoft.com/office/powerpoint/2010/main" val="7078922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FFF8598-74C9-4722-8233-7B9B87C3C3A9}"/>
              </a:ext>
            </a:extLst>
          </p:cNvPr>
          <p:cNvPicPr>
            <a:picLocks noChangeAspect="1"/>
          </p:cNvPicPr>
          <p:nvPr/>
        </p:nvPicPr>
        <p:blipFill>
          <a:blip r:embed="rId2"/>
          <a:stretch>
            <a:fillRect/>
          </a:stretch>
        </p:blipFill>
        <p:spPr>
          <a:xfrm>
            <a:off x="1245581" y="304801"/>
            <a:ext cx="6652837" cy="2895600"/>
          </a:xfrm>
          <a:prstGeom prst="rect">
            <a:avLst/>
          </a:prstGeom>
        </p:spPr>
      </p:pic>
      <p:pic>
        <p:nvPicPr>
          <p:cNvPr id="3" name="Picture 2">
            <a:extLst>
              <a:ext uri="{FF2B5EF4-FFF2-40B4-BE49-F238E27FC236}">
                <a16:creationId xmlns:a16="http://schemas.microsoft.com/office/drawing/2014/main" id="{82E68385-5421-42F1-B16A-57F87BBCD36D}"/>
              </a:ext>
            </a:extLst>
          </p:cNvPr>
          <p:cNvPicPr>
            <a:picLocks noChangeAspect="1"/>
          </p:cNvPicPr>
          <p:nvPr/>
        </p:nvPicPr>
        <p:blipFill>
          <a:blip r:embed="rId3"/>
          <a:stretch>
            <a:fillRect/>
          </a:stretch>
        </p:blipFill>
        <p:spPr>
          <a:xfrm>
            <a:off x="914400" y="3438425"/>
            <a:ext cx="6984017" cy="3016323"/>
          </a:xfrm>
          <a:prstGeom prst="rect">
            <a:avLst/>
          </a:prstGeom>
        </p:spPr>
      </p:pic>
    </p:spTree>
    <p:extLst>
      <p:ext uri="{BB962C8B-B14F-4D97-AF65-F5344CB8AC3E}">
        <p14:creationId xmlns:p14="http://schemas.microsoft.com/office/powerpoint/2010/main" val="25875202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228600"/>
            <a:ext cx="8610600" cy="523220"/>
          </a:xfrm>
          <a:prstGeom prst="rect">
            <a:avLst/>
          </a:prstGeom>
        </p:spPr>
        <p:txBody>
          <a:bodyPr wrap="square">
            <a:spAutoFit/>
          </a:bodyPr>
          <a:lstStyle/>
          <a:p>
            <a:pPr algn="just"/>
            <a:r>
              <a:rPr lang="en-IN" sz="2800" u="sng" dirty="0">
                <a:solidFill>
                  <a:srgbClr val="00B050"/>
                </a:solidFill>
                <a:latin typeface="Times New Roman" pitchFamily="18" charset="0"/>
                <a:cs typeface="Times New Roman" pitchFamily="18" charset="0"/>
              </a:rPr>
              <a:t>some wavelet families:</a:t>
            </a:r>
            <a:endParaRPr lang="en-US" sz="2800" u="sng" dirty="0">
              <a:solidFill>
                <a:srgbClr val="00B050"/>
              </a:solidFill>
              <a:latin typeface="Times New Roman" pitchFamily="18" charset="0"/>
              <a:cs typeface="Times New Roman" pitchFamily="18" charset="0"/>
            </a:endParaRPr>
          </a:p>
        </p:txBody>
      </p:sp>
      <p:pic>
        <p:nvPicPr>
          <p:cNvPr id="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1219200"/>
            <a:ext cx="7315200" cy="266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a:extLst>
              <a:ext uri="{FF2B5EF4-FFF2-40B4-BE49-F238E27FC236}">
                <a16:creationId xmlns:a16="http://schemas.microsoft.com/office/drawing/2014/main" id="{6A25A3BD-E385-4DF2-BAF5-522DF560CD54}"/>
              </a:ext>
            </a:extLst>
          </p:cNvPr>
          <p:cNvSpPr/>
          <p:nvPr/>
        </p:nvSpPr>
        <p:spPr>
          <a:xfrm>
            <a:off x="1143000" y="3886200"/>
            <a:ext cx="7696200" cy="2402761"/>
          </a:xfrm>
          <a:prstGeom prst="rect">
            <a:avLst/>
          </a:prstGeom>
        </p:spPr>
        <p:txBody>
          <a:bodyPr wrap="square">
            <a:spAutoFit/>
          </a:bodyPr>
          <a:lstStyle/>
          <a:p>
            <a:pPr>
              <a:lnSpc>
                <a:spcPct val="107000"/>
              </a:lnSpc>
              <a:spcBef>
                <a:spcPts val="1200"/>
              </a:spcBef>
              <a:spcAft>
                <a:spcPts val="0"/>
              </a:spcAft>
            </a:pPr>
            <a:r>
              <a:rPr lang="en-IN" sz="2800" b="1" kern="0" dirty="0">
                <a:solidFill>
                  <a:srgbClr val="2F5496"/>
                </a:solidFill>
                <a:latin typeface="Calibri Light" panose="020F0302020204030204" pitchFamily="34" charset="0"/>
                <a:ea typeface="Times New Roman" panose="02020603050405020304" pitchFamily="18" charset="0"/>
                <a:cs typeface="Times New Roman" panose="02020603050405020304" pitchFamily="18" charset="0"/>
              </a:rPr>
              <a:t>Why Wavelet Transform is useful for Data Reduction</a:t>
            </a:r>
          </a:p>
          <a:p>
            <a:r>
              <a:rPr lang="en-IN" sz="2000" dirty="0">
                <a:latin typeface="Times New Roman" panose="02020603050405020304" pitchFamily="18" charset="0"/>
                <a:ea typeface="Times New Roman" panose="02020603050405020304" pitchFamily="18" charset="0"/>
              </a:rPr>
              <a:t>After transformation:</a:t>
            </a:r>
          </a:p>
          <a:p>
            <a:pPr marL="342900" lvl="0" indent="-342900">
              <a:lnSpc>
                <a:spcPct val="107000"/>
              </a:lnSpc>
              <a:spcAft>
                <a:spcPts val="800"/>
              </a:spcAft>
              <a:buSzPts val="1000"/>
              <a:buFont typeface="Symbol" panose="05050102010706020507" pitchFamily="18" charset="2"/>
              <a:buChar char=""/>
              <a:tabLst>
                <a:tab pos="457200" algn="l"/>
              </a:tabLst>
            </a:pPr>
            <a:r>
              <a:rPr lang="en-IN" dirty="0">
                <a:latin typeface="Calibri" panose="020F0502020204030204" pitchFamily="34" charset="0"/>
                <a:ea typeface="Calibri" panose="020F0502020204030204" pitchFamily="34" charset="0"/>
                <a:cs typeface="Times New Roman" panose="02020603050405020304" pitchFamily="18" charset="0"/>
              </a:rPr>
              <a:t>Most of the important information is concentrated in </a:t>
            </a:r>
            <a:r>
              <a:rPr lang="en-IN" b="1" dirty="0">
                <a:latin typeface="Calibri" panose="020F0502020204030204" pitchFamily="34" charset="0"/>
                <a:ea typeface="Calibri" panose="020F0502020204030204" pitchFamily="34" charset="0"/>
                <a:cs typeface="Times New Roman" panose="02020603050405020304" pitchFamily="18" charset="0"/>
              </a:rPr>
              <a:t>a few large coefficients</a:t>
            </a:r>
            <a:r>
              <a:rPr lang="en-IN" dirty="0">
                <a:latin typeface="Calibri" panose="020F0502020204030204" pitchFamily="34" charset="0"/>
                <a:ea typeface="Calibri" panose="020F0502020204030204" pitchFamily="34" charset="0"/>
                <a:cs typeface="Times New Roman" panose="02020603050405020304" pitchFamily="18" charset="0"/>
              </a:rPr>
              <a:t> </a:t>
            </a:r>
          </a:p>
          <a:p>
            <a:pPr marL="342900" lvl="0" indent="-342900">
              <a:lnSpc>
                <a:spcPct val="107000"/>
              </a:lnSpc>
              <a:spcAft>
                <a:spcPts val="800"/>
              </a:spcAft>
              <a:buSzPts val="1000"/>
              <a:buFont typeface="Symbol" panose="05050102010706020507" pitchFamily="18" charset="2"/>
              <a:buChar char=""/>
              <a:tabLst>
                <a:tab pos="457200" algn="l"/>
              </a:tabLst>
            </a:pPr>
            <a:r>
              <a:rPr lang="en-IN" dirty="0">
                <a:latin typeface="Calibri" panose="020F0502020204030204" pitchFamily="34" charset="0"/>
                <a:ea typeface="Calibri" panose="020F0502020204030204" pitchFamily="34" charset="0"/>
                <a:cs typeface="Times New Roman" panose="02020603050405020304" pitchFamily="18" charset="0"/>
              </a:rPr>
              <a:t>Small coefficients contribute less and can be discarded </a:t>
            </a:r>
          </a:p>
          <a:p>
            <a:pPr marL="342900" lvl="0" indent="-342900">
              <a:lnSpc>
                <a:spcPct val="107000"/>
              </a:lnSpc>
              <a:spcAft>
                <a:spcPts val="800"/>
              </a:spcAft>
              <a:buSzPts val="1000"/>
              <a:buFont typeface="Symbol" panose="05050102010706020507" pitchFamily="18" charset="2"/>
              <a:buChar char=""/>
              <a:tabLst>
                <a:tab pos="457200" algn="l"/>
              </a:tabLst>
            </a:pPr>
            <a:r>
              <a:rPr lang="en-IN" dirty="0">
                <a:latin typeface="Calibri" panose="020F0502020204030204" pitchFamily="34" charset="0"/>
                <a:ea typeface="Calibri" panose="020F0502020204030204" pitchFamily="34" charset="0"/>
                <a:cs typeface="Times New Roman" panose="02020603050405020304" pitchFamily="18" charset="0"/>
              </a:rPr>
              <a:t>So, instead of storing all values, we store only the </a:t>
            </a:r>
            <a:r>
              <a:rPr lang="en-IN" b="1" dirty="0">
                <a:latin typeface="Calibri" panose="020F0502020204030204" pitchFamily="34" charset="0"/>
                <a:ea typeface="Calibri" panose="020F0502020204030204" pitchFamily="34" charset="0"/>
                <a:cs typeface="Times New Roman" panose="02020603050405020304" pitchFamily="18" charset="0"/>
              </a:rPr>
              <a:t>strongest coefficients</a:t>
            </a:r>
            <a:r>
              <a:rPr lang="en-IN" dirty="0">
                <a:latin typeface="Calibri" panose="020F0502020204030204" pitchFamily="34" charset="0"/>
                <a:ea typeface="Calibri" panose="020F0502020204030204" pitchFamily="34" charset="0"/>
                <a:cs typeface="Times New Roman" panose="02020603050405020304" pitchFamily="18" charset="0"/>
              </a:rPr>
              <a:t> </a:t>
            </a:r>
          </a:p>
          <a:p>
            <a:r>
              <a:rPr lang="en-IN" dirty="0">
                <a:latin typeface="Calibri" panose="020F0502020204030204" pitchFamily="34" charset="0"/>
                <a:ea typeface="Calibri" panose="020F0502020204030204" pitchFamily="34" charset="0"/>
                <a:cs typeface="Times New Roman" panose="02020603050405020304" pitchFamily="18" charset="0"/>
              </a:rPr>
              <a:t>This gives a </a:t>
            </a:r>
            <a:r>
              <a:rPr lang="en-IN" b="1" dirty="0">
                <a:latin typeface="Calibri" panose="020F0502020204030204" pitchFamily="34" charset="0"/>
                <a:ea typeface="Calibri" panose="020F0502020204030204" pitchFamily="34" charset="0"/>
                <a:cs typeface="Times New Roman" panose="02020603050405020304" pitchFamily="18" charset="0"/>
              </a:rPr>
              <a:t>compressed representation</a:t>
            </a:r>
            <a:r>
              <a:rPr lang="en-IN" dirty="0">
                <a:latin typeface="Calibri" panose="020F0502020204030204" pitchFamily="34" charset="0"/>
                <a:ea typeface="Calibri" panose="020F0502020204030204" pitchFamily="34" charset="0"/>
                <a:cs typeface="Times New Roman" panose="02020603050405020304" pitchFamily="18" charset="0"/>
              </a:rPr>
              <a:t> of the data </a:t>
            </a:r>
            <a:endParaRPr lang="en-IN" dirty="0"/>
          </a:p>
        </p:txBody>
      </p:sp>
    </p:spTree>
    <p:extLst>
      <p:ext uri="{BB962C8B-B14F-4D97-AF65-F5344CB8AC3E}">
        <p14:creationId xmlns:p14="http://schemas.microsoft.com/office/powerpoint/2010/main" val="37330020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1213C2F-1A70-4372-B6FA-6D4081113A19}"/>
              </a:ext>
            </a:extLst>
          </p:cNvPr>
          <p:cNvSpPr/>
          <p:nvPr/>
        </p:nvSpPr>
        <p:spPr>
          <a:xfrm>
            <a:off x="533400" y="228601"/>
            <a:ext cx="8229600" cy="6248400"/>
          </a:xfrm>
          <a:prstGeom prst="rect">
            <a:avLst/>
          </a:prstGeom>
        </p:spPr>
        <p:txBody>
          <a:bodyPr wrap="square">
            <a:spAutoFit/>
          </a:bodyPr>
          <a:lstStyle/>
          <a:p>
            <a:pPr>
              <a:lnSpc>
                <a:spcPct val="107000"/>
              </a:lnSpc>
              <a:spcBef>
                <a:spcPts val="1200"/>
              </a:spcBef>
              <a:spcAft>
                <a:spcPts val="0"/>
              </a:spcAft>
            </a:pPr>
            <a:r>
              <a:rPr lang="en-IN" sz="2800" b="1" kern="0" dirty="0">
                <a:solidFill>
                  <a:srgbClr val="2F5496"/>
                </a:solidFill>
                <a:latin typeface="Calibri Light" panose="020F0302020204030204" pitchFamily="34" charset="0"/>
                <a:ea typeface="Times New Roman" panose="02020603050405020304" pitchFamily="18" charset="0"/>
                <a:cs typeface="Times New Roman" panose="02020603050405020304" pitchFamily="18" charset="0"/>
              </a:rPr>
              <a:t>Reconstruction of Original Data</a:t>
            </a:r>
          </a:p>
          <a:p>
            <a:pPr>
              <a:lnSpc>
                <a:spcPct val="107000"/>
              </a:lnSpc>
              <a:spcAft>
                <a:spcPts val="800"/>
              </a:spcAft>
            </a:pPr>
            <a:r>
              <a:rPr lang="en-IN" dirty="0">
                <a:latin typeface="Calibri" panose="020F0502020204030204" pitchFamily="34" charset="0"/>
                <a:ea typeface="Calibri" panose="020F0502020204030204" pitchFamily="34" charset="0"/>
                <a:cs typeface="Times New Roman" panose="02020603050405020304" pitchFamily="18" charset="0"/>
              </a:rPr>
              <a:t>If we have the wavelet coefficients, we can apply the inverse DWT to reconstruct:</a:t>
            </a:r>
          </a:p>
          <a:p>
            <a:pPr marL="342900" lvl="0" indent="-342900">
              <a:lnSpc>
                <a:spcPct val="107000"/>
              </a:lnSpc>
              <a:spcAft>
                <a:spcPts val="800"/>
              </a:spcAft>
              <a:buFont typeface="+mj-lt"/>
              <a:buAutoNum type="arabicPeriod"/>
              <a:tabLst>
                <a:tab pos="457200" algn="l"/>
              </a:tabLst>
            </a:pPr>
            <a:r>
              <a:rPr lang="en-IN" dirty="0">
                <a:latin typeface="Calibri" panose="020F0502020204030204" pitchFamily="34" charset="0"/>
                <a:ea typeface="Calibri" panose="020F0502020204030204" pitchFamily="34" charset="0"/>
                <a:cs typeface="Times New Roman" panose="02020603050405020304" pitchFamily="18" charset="0"/>
              </a:rPr>
              <a:t>either the original data exactly (if all coefficients are kept) </a:t>
            </a:r>
          </a:p>
          <a:p>
            <a:pPr marL="342900" lvl="0" indent="-342900">
              <a:lnSpc>
                <a:spcPct val="107000"/>
              </a:lnSpc>
              <a:spcAft>
                <a:spcPts val="800"/>
              </a:spcAft>
              <a:buFont typeface="+mj-lt"/>
              <a:buAutoNum type="arabicPeriod"/>
              <a:tabLst>
                <a:tab pos="457200" algn="l"/>
              </a:tabLst>
            </a:pPr>
            <a:r>
              <a:rPr lang="en-IN" dirty="0">
                <a:latin typeface="Calibri" panose="020F0502020204030204" pitchFamily="34" charset="0"/>
                <a:ea typeface="Calibri" panose="020F0502020204030204" pitchFamily="34" charset="0"/>
                <a:cs typeface="Times New Roman" panose="02020603050405020304" pitchFamily="18" charset="0"/>
              </a:rPr>
              <a:t>or an approximation (if only major coefficients are kept) </a:t>
            </a:r>
          </a:p>
          <a:p>
            <a:pPr>
              <a:lnSpc>
                <a:spcPct val="107000"/>
              </a:lnSpc>
              <a:spcBef>
                <a:spcPts val="200"/>
              </a:spcBef>
              <a:spcAft>
                <a:spcPts val="0"/>
              </a:spcAft>
            </a:pPr>
            <a:r>
              <a:rPr lang="en-IN" sz="2400" b="1" dirty="0">
                <a:solidFill>
                  <a:srgbClr val="2F5496"/>
                </a:solidFill>
                <a:latin typeface="Calibri Light" panose="020F0302020204030204" pitchFamily="34" charset="0"/>
                <a:ea typeface="Times New Roman" panose="02020603050405020304" pitchFamily="18" charset="0"/>
                <a:cs typeface="Times New Roman" panose="02020603050405020304" pitchFamily="18" charset="0"/>
              </a:rPr>
              <a:t>Additional Note on Wavelet Transform</a:t>
            </a:r>
          </a:p>
          <a:p>
            <a:pPr>
              <a:lnSpc>
                <a:spcPct val="107000"/>
              </a:lnSpc>
              <a:spcAft>
                <a:spcPts val="800"/>
              </a:spcAft>
            </a:pPr>
            <a:r>
              <a:rPr lang="en-IN" dirty="0">
                <a:latin typeface="Calibri" panose="020F0502020204030204" pitchFamily="34" charset="0"/>
                <a:ea typeface="Calibri" panose="020F0502020204030204" pitchFamily="34" charset="0"/>
                <a:cs typeface="Times New Roman" panose="02020603050405020304" pitchFamily="18" charset="0"/>
              </a:rPr>
              <a:t>Wavelet coefficients can also be obtained using matrix multiplication.</a:t>
            </a:r>
          </a:p>
          <a:p>
            <a:pPr marL="342900" lvl="0" indent="-342900">
              <a:lnSpc>
                <a:spcPct val="107000"/>
              </a:lnSpc>
              <a:spcAft>
                <a:spcPts val="800"/>
              </a:spcAft>
              <a:buSzPts val="1000"/>
              <a:buFont typeface="Symbol" panose="05050102010706020507" pitchFamily="18" charset="2"/>
              <a:buChar char=""/>
              <a:tabLst>
                <a:tab pos="457200" algn="l"/>
              </a:tabLst>
            </a:pPr>
            <a:r>
              <a:rPr lang="en-IN" dirty="0">
                <a:latin typeface="Calibri" panose="020F0502020204030204" pitchFamily="34" charset="0"/>
                <a:ea typeface="Calibri" panose="020F0502020204030204" pitchFamily="34" charset="0"/>
                <a:cs typeface="Times New Roman" panose="02020603050405020304" pitchFamily="18" charset="0"/>
              </a:rPr>
              <a:t>The input data vector is multiplied by a matrix to produce the wavelet coefficients. </a:t>
            </a:r>
          </a:p>
          <a:p>
            <a:pPr marL="342900" lvl="0" indent="-342900">
              <a:lnSpc>
                <a:spcPct val="107000"/>
              </a:lnSpc>
              <a:spcAft>
                <a:spcPts val="800"/>
              </a:spcAft>
              <a:buSzPts val="1000"/>
              <a:buFont typeface="Symbol" panose="05050102010706020507" pitchFamily="18" charset="2"/>
              <a:buChar char=""/>
              <a:tabLst>
                <a:tab pos="457200" algn="l"/>
              </a:tabLst>
            </a:pPr>
            <a:r>
              <a:rPr lang="en-IN" dirty="0">
                <a:latin typeface="Calibri" panose="020F0502020204030204" pitchFamily="34" charset="0"/>
                <a:ea typeface="Calibri" panose="020F0502020204030204" pitchFamily="34" charset="0"/>
                <a:cs typeface="Times New Roman" panose="02020603050405020304" pitchFamily="18" charset="0"/>
              </a:rPr>
              <a:t>The matrix used depends on the specific Discrete Wavelet Transform (DWT). </a:t>
            </a:r>
          </a:p>
          <a:p>
            <a:r>
              <a:rPr lang="en-IN" sz="2400" dirty="0">
                <a:latin typeface="Times New Roman" panose="02020603050405020304" pitchFamily="18" charset="0"/>
                <a:ea typeface="Times New Roman" panose="02020603050405020304" pitchFamily="18" charset="0"/>
              </a:rPr>
              <a:t>Property of the Matrix</a:t>
            </a:r>
            <a:endParaRPr lang="en-IN" sz="2400" b="1" dirty="0">
              <a:latin typeface="Times New Roman" panose="02020603050405020304" pitchFamily="18" charset="0"/>
              <a:ea typeface="Times New Roman" panose="02020603050405020304" pitchFamily="18" charset="0"/>
            </a:endParaRPr>
          </a:p>
          <a:p>
            <a:pPr>
              <a:lnSpc>
                <a:spcPct val="107000"/>
              </a:lnSpc>
              <a:spcAft>
                <a:spcPts val="800"/>
              </a:spcAft>
            </a:pPr>
            <a:r>
              <a:rPr lang="en-IN" dirty="0">
                <a:latin typeface="Calibri" panose="020F0502020204030204" pitchFamily="34" charset="0"/>
                <a:ea typeface="Calibri" panose="020F0502020204030204" pitchFamily="34" charset="0"/>
                <a:cs typeface="Times New Roman" panose="02020603050405020304" pitchFamily="18" charset="0"/>
              </a:rPr>
              <a:t>The matrix must be orthonormal, which means:</a:t>
            </a:r>
          </a:p>
          <a:p>
            <a:pPr marL="342900" lvl="0" indent="-342900">
              <a:lnSpc>
                <a:spcPct val="107000"/>
              </a:lnSpc>
              <a:spcAft>
                <a:spcPts val="800"/>
              </a:spcAft>
              <a:buFont typeface="Arial" panose="020B0604020202020204" pitchFamily="34" charset="0"/>
              <a:buChar char="•"/>
              <a:tabLst>
                <a:tab pos="457200" algn="l"/>
              </a:tabLst>
            </a:pPr>
            <a:r>
              <a:rPr lang="en-IN" dirty="0">
                <a:latin typeface="Calibri" panose="020F0502020204030204" pitchFamily="34" charset="0"/>
                <a:ea typeface="Calibri" panose="020F0502020204030204" pitchFamily="34" charset="0"/>
                <a:cs typeface="Times New Roman" panose="02020603050405020304" pitchFamily="18" charset="0"/>
              </a:rPr>
              <a:t>Each column is a unit vector </a:t>
            </a:r>
          </a:p>
          <a:p>
            <a:pPr marL="342900" lvl="0" indent="-342900">
              <a:lnSpc>
                <a:spcPct val="107000"/>
              </a:lnSpc>
              <a:spcAft>
                <a:spcPts val="800"/>
              </a:spcAft>
              <a:buFont typeface="Arial" panose="020B0604020202020204" pitchFamily="34" charset="0"/>
              <a:buChar char="•"/>
              <a:tabLst>
                <a:tab pos="457200" algn="l"/>
              </a:tabLst>
            </a:pPr>
            <a:r>
              <a:rPr lang="en-IN" dirty="0">
                <a:latin typeface="Calibri" panose="020F0502020204030204" pitchFamily="34" charset="0"/>
                <a:ea typeface="Calibri" panose="020F0502020204030204" pitchFamily="34" charset="0"/>
                <a:cs typeface="Times New Roman" panose="02020603050405020304" pitchFamily="18" charset="0"/>
              </a:rPr>
              <a:t>Different columns are mutually orthogonal </a:t>
            </a:r>
          </a:p>
          <a:p>
            <a:pPr>
              <a:lnSpc>
                <a:spcPct val="107000"/>
              </a:lnSpc>
              <a:spcAft>
                <a:spcPts val="800"/>
              </a:spcAft>
            </a:pPr>
            <a:r>
              <a:rPr lang="en-IN" dirty="0">
                <a:latin typeface="Calibri" panose="020F0502020204030204" pitchFamily="34" charset="0"/>
                <a:ea typeface="Calibri" panose="020F0502020204030204" pitchFamily="34" charset="0"/>
                <a:cs typeface="Times New Roman" panose="02020603050405020304" pitchFamily="18" charset="0"/>
              </a:rPr>
              <a:t>Because of this property:</a:t>
            </a:r>
          </a:p>
          <a:p>
            <a:pPr marL="342900" lvl="0" indent="-342900">
              <a:lnSpc>
                <a:spcPct val="107000"/>
              </a:lnSpc>
              <a:spcAft>
                <a:spcPts val="800"/>
              </a:spcAft>
              <a:buFont typeface="Arial" panose="020B0604020202020204" pitchFamily="34" charset="0"/>
              <a:buChar char="•"/>
              <a:tabLst>
                <a:tab pos="457200" algn="l"/>
              </a:tabLst>
            </a:pPr>
            <a:r>
              <a:rPr lang="en-IN" dirty="0">
                <a:latin typeface="Calibri" panose="020F0502020204030204" pitchFamily="34" charset="0"/>
                <a:ea typeface="Calibri" panose="020F0502020204030204" pitchFamily="34" charset="0"/>
                <a:cs typeface="Times New Roman" panose="02020603050405020304" pitchFamily="18" charset="0"/>
              </a:rPr>
              <a:t>the inverse of the matrix = transpose of the matrix </a:t>
            </a:r>
          </a:p>
          <a:p>
            <a:r>
              <a:rPr lang="en-IN" dirty="0">
                <a:latin typeface="Calibri" panose="020F0502020204030204" pitchFamily="34" charset="0"/>
                <a:ea typeface="Calibri" panose="020F0502020204030204" pitchFamily="34" charset="0"/>
                <a:cs typeface="Times New Roman" panose="02020603050405020304" pitchFamily="18" charset="0"/>
              </a:rPr>
              <a:t>this makes it easy to reconstruct the original data from the transformed data </a:t>
            </a:r>
            <a:endParaRPr lang="en-IN" dirty="0"/>
          </a:p>
        </p:txBody>
      </p:sp>
    </p:spTree>
    <p:extLst>
      <p:ext uri="{BB962C8B-B14F-4D97-AF65-F5344CB8AC3E}">
        <p14:creationId xmlns:p14="http://schemas.microsoft.com/office/powerpoint/2010/main" val="27245029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F0BD783-B3B7-4CEA-950E-419068A1992F}"/>
              </a:ext>
            </a:extLst>
          </p:cNvPr>
          <p:cNvSpPr>
            <a:spLocks noChangeArrowheads="1"/>
          </p:cNvSpPr>
          <p:nvPr/>
        </p:nvSpPr>
        <p:spPr bwMode="auto">
          <a:xfrm>
            <a:off x="533400" y="763786"/>
            <a:ext cx="8153400" cy="12361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25392" rIns="91440" bIns="101568"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F5496"/>
                </a:solidFill>
                <a:effectLst/>
                <a:latin typeface="Times New Roman" panose="02020603050405020304" pitchFamily="18" charset="0"/>
                <a:ea typeface="Times New Roman" panose="02020603050405020304" pitchFamily="18" charset="0"/>
                <a:cs typeface="Times New Roman" panose="02020603050405020304" pitchFamily="18" charset="0"/>
              </a:rPr>
              <a:t>Wavelet Transform on Multidimensional Data</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Wavelet transforms are not limited to one-dimensional data.</a:t>
            </a:r>
            <a:br>
              <a:rPr kumimoji="0" lang="en-US" altLang="en-US"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br>
            <a:r>
              <a:rPr kumimoji="0" lang="en-US" altLang="en-US"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They can also be applied to </a:t>
            </a:r>
            <a:r>
              <a:rPr kumimoji="0" lang="en-US" altLang="en-US"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multidimensional data</a:t>
            </a:r>
            <a:r>
              <a:rPr kumimoji="0" lang="en-US" altLang="en-US"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such as a </a:t>
            </a:r>
            <a:r>
              <a:rPr kumimoji="0" lang="en-US" altLang="en-US"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data cube</a:t>
            </a:r>
            <a:r>
              <a:rPr kumimoji="0" lang="en-US" altLang="en-US"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2B830371-23F8-40FF-BDF4-37333F5E6E15}"/>
              </a:ext>
            </a:extLst>
          </p:cNvPr>
          <p:cNvSpPr>
            <a:spLocks noChangeArrowheads="1"/>
          </p:cNvSpPr>
          <p:nvPr/>
        </p:nvSpPr>
        <p:spPr bwMode="auto">
          <a:xfrm>
            <a:off x="609600" y="2162306"/>
            <a:ext cx="8153400" cy="21953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152352" rIns="91440" bIns="101568"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F5496"/>
                </a:solidFill>
                <a:effectLst/>
                <a:latin typeface="Times New Roman" panose="02020603050405020304" pitchFamily="18" charset="0"/>
                <a:ea typeface="Times New Roman" panose="02020603050405020304" pitchFamily="18" charset="0"/>
                <a:cs typeface="Times New Roman" panose="02020603050405020304" pitchFamily="18" charset="0"/>
              </a:rPr>
              <a:t>How it is applied to multidimensional data</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For a data cube, the transform is applied </a:t>
            </a:r>
            <a:r>
              <a:rPr kumimoji="0" lang="en-US" altLang="en-US"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dimension by dimension</a:t>
            </a:r>
            <a:r>
              <a:rPr kumimoji="0" lang="en-US" altLang="en-US"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First apply the wavelet transform on the </a:t>
            </a:r>
            <a:r>
              <a:rPr kumimoji="0" lang="en-US" altLang="en-US"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first dimension</a:t>
            </a:r>
            <a:r>
              <a:rPr kumimoji="0" lang="en-US" altLang="en-US"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Then apply it on the </a:t>
            </a:r>
            <a:r>
              <a:rPr kumimoji="0" lang="en-US" altLang="en-US"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second dimension</a:t>
            </a:r>
            <a:r>
              <a:rPr kumimoji="0" lang="en-US" altLang="en-US"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Continue this process for the remaining dimensions </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So, the transform is performed </a:t>
            </a:r>
            <a:r>
              <a:rPr kumimoji="0" lang="en-US" altLang="en-US"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separately along each dimension</a:t>
            </a:r>
            <a:r>
              <a:rPr kumimoji="0" lang="en-US" altLang="en-US"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of the cube.</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ECD8E290-AA35-4A24-AFAC-07F79EE0EAF2}"/>
              </a:ext>
            </a:extLst>
          </p:cNvPr>
          <p:cNvSpPr>
            <a:spLocks noChangeArrowheads="1"/>
          </p:cNvSpPr>
          <p:nvPr/>
        </p:nvSpPr>
        <p:spPr bwMode="auto">
          <a:xfrm>
            <a:off x="762000" y="4747673"/>
            <a:ext cx="8153400" cy="15388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152352"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F5496"/>
                </a:solidFill>
                <a:effectLst/>
                <a:latin typeface="Times New Roman" panose="02020603050405020304" pitchFamily="18" charset="0"/>
                <a:ea typeface="Times New Roman" panose="02020603050405020304" pitchFamily="18" charset="0"/>
                <a:cs typeface="Times New Roman" panose="02020603050405020304" pitchFamily="18" charset="0"/>
              </a:rPr>
              <a:t>Computational Complexity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The computational complexity of applying wavelet transforms to a data cube is: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O(number of cells in the cube)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This means the complexity is </a:t>
            </a:r>
            <a:r>
              <a:rPr kumimoji="0" lang="en-US" altLang="en-US"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linear with respect to the number of cells</a:t>
            </a:r>
            <a:r>
              <a:rPr kumimoji="0" lang="en-US" altLang="en-US"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making it efficient even for large multidimensional datasets.</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578214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66BCF9B-41BC-4EBB-AD1E-5F0A856159F2}"/>
              </a:ext>
            </a:extLst>
          </p:cNvPr>
          <p:cNvSpPr>
            <a:spLocks noChangeArrowheads="1"/>
          </p:cNvSpPr>
          <p:nvPr/>
        </p:nvSpPr>
        <p:spPr bwMode="auto">
          <a:xfrm>
            <a:off x="609600" y="360016"/>
            <a:ext cx="8382000" cy="2097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25392" rIns="91440" bIns="101568"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rgbClr val="2F5496"/>
                </a:solidFill>
                <a:effectLst/>
                <a:highlight>
                  <a:srgbClr val="FFFF00"/>
                </a:highlight>
                <a:latin typeface="Times New Roman" panose="02020603050405020304" pitchFamily="18" charset="0"/>
                <a:ea typeface="Times New Roman" panose="02020603050405020304" pitchFamily="18" charset="0"/>
                <a:cs typeface="Times New Roman" panose="02020603050405020304" pitchFamily="18" charset="0"/>
              </a:rPr>
              <a:t>Principal Component Analysis (PCA)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Principal Component Analysis (PCA)</a:t>
            </a:r>
            <a: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is a </a:t>
            </a:r>
            <a:r>
              <a:rPr kumimoji="0" lang="en-US" altLang="en-US" sz="2000"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dimensionality reduction technique</a:t>
            </a:r>
            <a: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used to reduce the number of attributes in a dataset while preserving as much important information as possible.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It is also called the </a:t>
            </a:r>
            <a:r>
              <a:rPr kumimoji="0" lang="en-US" altLang="en-US" sz="2000" b="1" i="0" u="none" strike="noStrike" cap="none" normalizeH="0" baseline="0" dirty="0" err="1">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Karhunen</a:t>
            </a:r>
            <a:r>
              <a:rPr kumimoji="0" lang="en-US" altLang="en-US" sz="2000"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kumimoji="0" lang="en-US" altLang="en-US" sz="2000" b="1" i="0" u="none" strike="noStrike" cap="none" normalizeH="0" baseline="0" dirty="0" err="1">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Loève</a:t>
            </a:r>
            <a:r>
              <a:rPr kumimoji="0" lang="en-US" altLang="en-US" sz="2000"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(K-L) method</a:t>
            </a:r>
            <a: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E8EF5176-BE31-4E78-89A1-AD9D673912BE}"/>
              </a:ext>
            </a:extLst>
          </p:cNvPr>
          <p:cNvSpPr/>
          <p:nvPr/>
        </p:nvSpPr>
        <p:spPr>
          <a:xfrm>
            <a:off x="838200" y="2743200"/>
            <a:ext cx="7696200" cy="3831242"/>
          </a:xfrm>
          <a:prstGeom prst="rect">
            <a:avLst/>
          </a:prstGeom>
        </p:spPr>
        <p:txBody>
          <a:bodyPr wrap="square">
            <a:spAutoFit/>
          </a:bodyPr>
          <a:lstStyle/>
          <a:p>
            <a:pPr>
              <a:lnSpc>
                <a:spcPct val="107000"/>
              </a:lnSpc>
              <a:spcBef>
                <a:spcPts val="1200"/>
              </a:spcBef>
              <a:spcAft>
                <a:spcPts val="0"/>
              </a:spcAft>
            </a:pPr>
            <a:r>
              <a:rPr lang="en-IN" sz="2400" kern="0" dirty="0">
                <a:solidFill>
                  <a:srgbClr val="2F5496"/>
                </a:solidFill>
                <a:latin typeface="Times New Roman" panose="02020603050405020304" pitchFamily="18" charset="0"/>
                <a:ea typeface="Times New Roman" panose="02020603050405020304" pitchFamily="18" charset="0"/>
                <a:cs typeface="Times New Roman" panose="02020603050405020304" pitchFamily="18" charset="0"/>
              </a:rPr>
              <a:t>Basic Idea of PCA</a:t>
            </a:r>
            <a:endParaRPr lang="en-IN" sz="2800" b="1" kern="0" dirty="0">
              <a:solidFill>
                <a:srgbClr val="2F5496"/>
              </a:solidFill>
              <a:latin typeface="Calibri Light" panose="020F03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IN" dirty="0">
                <a:latin typeface="Calibri" panose="020F0502020204030204" pitchFamily="34" charset="0"/>
                <a:ea typeface="Calibri" panose="020F0502020204030204" pitchFamily="34" charset="0"/>
                <a:cs typeface="Times New Roman" panose="02020603050405020304" pitchFamily="18" charset="0"/>
              </a:rPr>
              <a:t>Suppose a dataset has </a:t>
            </a:r>
            <a:r>
              <a:rPr lang="en-IN" sz="2400" b="1" dirty="0">
                <a:latin typeface="Times New Roman" panose="02020603050405020304" pitchFamily="18" charset="0"/>
                <a:ea typeface="Calibri" panose="020F0502020204030204" pitchFamily="34" charset="0"/>
                <a:cs typeface="Times New Roman" panose="02020603050405020304" pitchFamily="18" charset="0"/>
              </a:rPr>
              <a:t>n attributes (dimensions)</a:t>
            </a:r>
            <a:r>
              <a:rPr lang="en-IN" dirty="0">
                <a:latin typeface="Calibri" panose="020F0502020204030204" pitchFamily="34" charset="0"/>
                <a:ea typeface="Calibri" panose="020F0502020204030204" pitchFamily="34" charset="0"/>
                <a:cs typeface="Times New Roman" panose="02020603050405020304" pitchFamily="18" charset="0"/>
              </a:rPr>
              <a:t>.</a:t>
            </a:r>
            <a:br>
              <a:rPr lang="en-IN" dirty="0">
                <a:latin typeface="Calibri" panose="020F0502020204030204" pitchFamily="34" charset="0"/>
                <a:ea typeface="Calibri" panose="020F0502020204030204" pitchFamily="34" charset="0"/>
                <a:cs typeface="Times New Roman" panose="02020603050405020304" pitchFamily="18" charset="0"/>
              </a:rPr>
            </a:br>
            <a:r>
              <a:rPr lang="en-IN" dirty="0">
                <a:latin typeface="Calibri" panose="020F0502020204030204" pitchFamily="34" charset="0"/>
                <a:ea typeface="Calibri" panose="020F0502020204030204" pitchFamily="34" charset="0"/>
                <a:cs typeface="Times New Roman" panose="02020603050405020304" pitchFamily="18" charset="0"/>
              </a:rPr>
              <a:t>PCA tries to find </a:t>
            </a:r>
            <a:r>
              <a:rPr lang="en-IN" sz="2400" b="1" dirty="0">
                <a:latin typeface="Times New Roman" panose="02020603050405020304" pitchFamily="18" charset="0"/>
                <a:ea typeface="Calibri" panose="020F0502020204030204" pitchFamily="34" charset="0"/>
                <a:cs typeface="Times New Roman" panose="02020603050405020304" pitchFamily="18" charset="0"/>
              </a:rPr>
              <a:t>k new orthonormal vectors</a:t>
            </a:r>
            <a:r>
              <a:rPr lang="en-IN" dirty="0">
                <a:latin typeface="Calibri" panose="020F0502020204030204" pitchFamily="34" charset="0"/>
                <a:ea typeface="Calibri" panose="020F0502020204030204" pitchFamily="34" charset="0"/>
                <a:cs typeface="Times New Roman" panose="02020603050405020304" pitchFamily="18" charset="0"/>
              </a:rPr>
              <a:t> (where </a:t>
            </a:r>
            <a:r>
              <a:rPr lang="en-IN" sz="2000" b="1" dirty="0">
                <a:latin typeface="Times New Roman" panose="02020603050405020304" pitchFamily="18" charset="0"/>
                <a:ea typeface="Calibri" panose="020F0502020204030204" pitchFamily="34" charset="0"/>
                <a:cs typeface="Times New Roman" panose="02020603050405020304" pitchFamily="18" charset="0"/>
              </a:rPr>
              <a:t>k ≤n </a:t>
            </a:r>
            <a:r>
              <a:rPr lang="en-IN" dirty="0">
                <a:latin typeface="Calibri" panose="020F0502020204030204" pitchFamily="34" charset="0"/>
                <a:ea typeface="Calibri" panose="020F0502020204030204" pitchFamily="34" charset="0"/>
                <a:cs typeface="Times New Roman" panose="02020603050405020304" pitchFamily="18" charset="0"/>
              </a:rPr>
              <a:t>) that best represent the original data.</a:t>
            </a:r>
          </a:p>
          <a:p>
            <a:pPr marL="342900" lvl="0" indent="-342900">
              <a:lnSpc>
                <a:spcPct val="107000"/>
              </a:lnSpc>
              <a:spcAft>
                <a:spcPts val="800"/>
              </a:spcAft>
              <a:buFont typeface="+mj-lt"/>
              <a:buAutoNum type="arabicPeriod"/>
              <a:tabLst>
                <a:tab pos="457200" algn="l"/>
              </a:tabLst>
            </a:pPr>
            <a:r>
              <a:rPr lang="en-IN" dirty="0">
                <a:latin typeface="Calibri" panose="020F0502020204030204" pitchFamily="34" charset="0"/>
                <a:ea typeface="Calibri" panose="020F0502020204030204" pitchFamily="34" charset="0"/>
                <a:cs typeface="Times New Roman" panose="02020603050405020304" pitchFamily="18" charset="0"/>
              </a:rPr>
              <a:t>These new vectors are called </a:t>
            </a:r>
            <a:r>
              <a:rPr lang="en-IN" sz="2400" b="1" dirty="0">
                <a:latin typeface="Times New Roman" panose="02020603050405020304" pitchFamily="18" charset="0"/>
                <a:ea typeface="Calibri" panose="020F0502020204030204" pitchFamily="34" charset="0"/>
                <a:cs typeface="Times New Roman" panose="02020603050405020304" pitchFamily="18" charset="0"/>
              </a:rPr>
              <a:t>principal components</a:t>
            </a:r>
            <a:r>
              <a:rPr lang="en-IN" dirty="0">
                <a:latin typeface="Calibri" panose="020F0502020204030204" pitchFamily="34" charset="0"/>
                <a:ea typeface="Calibri" panose="020F0502020204030204" pitchFamily="34" charset="0"/>
                <a:cs typeface="Times New Roman" panose="02020603050405020304" pitchFamily="18" charset="0"/>
              </a:rPr>
              <a:t> </a:t>
            </a:r>
          </a:p>
          <a:p>
            <a:pPr marL="342900" lvl="0" indent="-342900">
              <a:lnSpc>
                <a:spcPct val="107000"/>
              </a:lnSpc>
              <a:spcAft>
                <a:spcPts val="800"/>
              </a:spcAft>
              <a:buFont typeface="+mj-lt"/>
              <a:buAutoNum type="arabicPeriod"/>
              <a:tabLst>
                <a:tab pos="457200" algn="l"/>
              </a:tabLst>
            </a:pPr>
            <a:r>
              <a:rPr lang="en-IN" dirty="0">
                <a:latin typeface="Calibri" panose="020F0502020204030204" pitchFamily="34" charset="0"/>
                <a:ea typeface="Calibri" panose="020F0502020204030204" pitchFamily="34" charset="0"/>
                <a:cs typeface="Times New Roman" panose="02020603050405020304" pitchFamily="18" charset="0"/>
              </a:rPr>
              <a:t>The original data is then </a:t>
            </a:r>
            <a:r>
              <a:rPr lang="en-IN" sz="2400" b="1" dirty="0">
                <a:latin typeface="Times New Roman" panose="02020603050405020304" pitchFamily="18" charset="0"/>
                <a:ea typeface="Calibri" panose="020F0502020204030204" pitchFamily="34" charset="0"/>
                <a:cs typeface="Times New Roman" panose="02020603050405020304" pitchFamily="18" charset="0"/>
              </a:rPr>
              <a:t>projected onto this smaller set of components</a:t>
            </a:r>
            <a:r>
              <a:rPr lang="en-IN" dirty="0">
                <a:latin typeface="Calibri" panose="020F0502020204030204" pitchFamily="34" charset="0"/>
                <a:ea typeface="Calibri" panose="020F0502020204030204" pitchFamily="34" charset="0"/>
                <a:cs typeface="Times New Roman" panose="02020603050405020304" pitchFamily="18" charset="0"/>
              </a:rPr>
              <a:t> </a:t>
            </a:r>
          </a:p>
          <a:p>
            <a:pPr marL="342900" lvl="0" indent="-342900">
              <a:lnSpc>
                <a:spcPct val="107000"/>
              </a:lnSpc>
              <a:spcAft>
                <a:spcPts val="800"/>
              </a:spcAft>
              <a:buFont typeface="+mj-lt"/>
              <a:buAutoNum type="arabicPeriod"/>
              <a:tabLst>
                <a:tab pos="457200" algn="l"/>
              </a:tabLst>
            </a:pPr>
            <a:r>
              <a:rPr lang="en-IN" dirty="0">
                <a:latin typeface="Calibri" panose="020F0502020204030204" pitchFamily="34" charset="0"/>
                <a:ea typeface="Calibri" panose="020F0502020204030204" pitchFamily="34" charset="0"/>
                <a:cs typeface="Times New Roman" panose="02020603050405020304" pitchFamily="18" charset="0"/>
              </a:rPr>
              <a:t>As a result, the data is represented in a </a:t>
            </a:r>
            <a:r>
              <a:rPr lang="en-IN" sz="2400" b="1" dirty="0">
                <a:latin typeface="Times New Roman" panose="02020603050405020304" pitchFamily="18" charset="0"/>
                <a:ea typeface="Calibri" panose="020F0502020204030204" pitchFamily="34" charset="0"/>
                <a:cs typeface="Times New Roman" panose="02020603050405020304" pitchFamily="18" charset="0"/>
              </a:rPr>
              <a:t>smaller space</a:t>
            </a:r>
            <a:r>
              <a:rPr lang="en-IN" dirty="0">
                <a:latin typeface="Calibri" panose="020F0502020204030204" pitchFamily="34" charset="0"/>
                <a:ea typeface="Calibri" panose="020F0502020204030204" pitchFamily="34" charset="0"/>
                <a:cs typeface="Times New Roman" panose="02020603050405020304" pitchFamily="18" charset="0"/>
              </a:rPr>
              <a:t>, achieving </a:t>
            </a:r>
            <a:r>
              <a:rPr lang="en-IN" sz="2400" b="1" dirty="0">
                <a:latin typeface="Times New Roman" panose="02020603050405020304" pitchFamily="18" charset="0"/>
                <a:ea typeface="Calibri" panose="020F0502020204030204" pitchFamily="34" charset="0"/>
                <a:cs typeface="Times New Roman" panose="02020603050405020304" pitchFamily="18" charset="0"/>
              </a:rPr>
              <a:t>dimensionality reduction</a:t>
            </a:r>
            <a:r>
              <a:rPr lang="en-IN" dirty="0">
                <a:latin typeface="Calibri" panose="020F0502020204030204" pitchFamily="34" charset="0"/>
                <a:ea typeface="Calibri" panose="020F0502020204030204" pitchFamily="34" charset="0"/>
                <a:cs typeface="Times New Roman" panose="02020603050405020304" pitchFamily="18" charset="0"/>
              </a:rPr>
              <a:t> </a:t>
            </a:r>
          </a:p>
        </p:txBody>
      </p:sp>
    </p:spTree>
    <p:extLst>
      <p:ext uri="{BB962C8B-B14F-4D97-AF65-F5344CB8AC3E}">
        <p14:creationId xmlns:p14="http://schemas.microsoft.com/office/powerpoint/2010/main" val="39414905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152400"/>
            <a:ext cx="8839200" cy="861774"/>
          </a:xfrm>
          <a:prstGeom prst="rect">
            <a:avLst/>
          </a:prstGeom>
        </p:spPr>
        <p:txBody>
          <a:bodyPr wrap="square">
            <a:spAutoFit/>
          </a:bodyPr>
          <a:lstStyle/>
          <a:p>
            <a:pPr algn="just"/>
            <a:r>
              <a:rPr lang="en-US" sz="2800" dirty="0">
                <a:solidFill>
                  <a:srgbClr val="00B050"/>
                </a:solidFill>
                <a:latin typeface="Times New Roman" pitchFamily="18" charset="0"/>
                <a:cs typeface="Times New Roman" pitchFamily="18" charset="0"/>
              </a:rPr>
              <a:t>Principal Components Analysis (PCA): </a:t>
            </a:r>
          </a:p>
          <a:p>
            <a:pPr algn="just"/>
            <a:r>
              <a:rPr lang="en-US" sz="2200" dirty="0">
                <a:latin typeface="Times New Roman" pitchFamily="18" charset="0"/>
                <a:cs typeface="Times New Roman" pitchFamily="18" charset="0"/>
              </a:rPr>
              <a:t>	</a:t>
            </a:r>
            <a:endParaRPr lang="en-IN" sz="2200" dirty="0">
              <a:latin typeface="Times New Roman" pitchFamily="18" charset="0"/>
              <a:cs typeface="Times New Roman" pitchFamily="18" charset="0"/>
            </a:endParaRPr>
          </a:p>
        </p:txBody>
      </p:sp>
      <p:pic>
        <p:nvPicPr>
          <p:cNvPr id="3" name="Picture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6225" y="762000"/>
            <a:ext cx="8639175" cy="586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181289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838200"/>
            <a:ext cx="7239000" cy="5272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728937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C494E5A-033A-44A9-8C6F-A536825D3EAF}"/>
              </a:ext>
            </a:extLst>
          </p:cNvPr>
          <p:cNvSpPr>
            <a:spLocks noChangeArrowheads="1"/>
          </p:cNvSpPr>
          <p:nvPr/>
        </p:nvSpPr>
        <p:spPr bwMode="auto">
          <a:xfrm>
            <a:off x="0" y="42580"/>
            <a:ext cx="8839200" cy="40677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25392" rIns="91440" bIns="101568"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Applications and Characteristics of PCA</a:t>
            </a:r>
            <a:endParaRPr kumimoji="0" lang="en-US" altLang="en-US" sz="1600" b="0" i="0" u="none" strike="noStrike" cap="none" normalizeH="0" baseline="0" dirty="0">
              <a:ln>
                <a:noFill/>
              </a:ln>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2F5496"/>
                </a:solidFill>
                <a:effectLst/>
                <a:latin typeface="Times New Roman" panose="02020603050405020304" pitchFamily="18" charset="0"/>
                <a:ea typeface="Times New Roman" panose="02020603050405020304" pitchFamily="18" charset="0"/>
                <a:cs typeface="Times New Roman" panose="02020603050405020304" pitchFamily="18" charset="0"/>
              </a:rPr>
              <a:t>1. Works with Ordered and Unordered Attributes</a:t>
            </a:r>
            <a:endParaRPr kumimoji="0" lang="en-US" altLang="en-US" sz="1600" b="0" i="0" u="none" strike="noStrike" cap="none" normalizeH="0" baseline="0" dirty="0">
              <a:ln>
                <a:noFill/>
              </a:ln>
              <a:solidFill>
                <a:srgbClr val="2F5496"/>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PCA can be applied to both:</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ordered attributes</a:t>
            </a:r>
            <a:r>
              <a:rPr kumimoji="0" lang="en-US" altLang="en-US" sz="16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unordered attributes</a:t>
            </a:r>
            <a:r>
              <a:rPr kumimoji="0" lang="en-US" altLang="en-US" sz="16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2F5496"/>
                </a:solidFill>
                <a:effectLst/>
                <a:latin typeface="Times New Roman" panose="02020603050405020304" pitchFamily="18" charset="0"/>
                <a:ea typeface="Times New Roman" panose="02020603050405020304" pitchFamily="18" charset="0"/>
                <a:cs typeface="Times New Roman" panose="02020603050405020304" pitchFamily="18" charset="0"/>
              </a:rPr>
              <a:t>2. Can Handle Sparse and Skewed Data</a:t>
            </a:r>
            <a:endParaRPr kumimoji="0" lang="en-US" altLang="en-US" sz="1600" b="0" i="0" u="none" strike="noStrike" cap="none" normalizeH="0" baseline="0" dirty="0">
              <a:ln>
                <a:noFill/>
              </a:ln>
              <a:solidFill>
                <a:srgbClr val="2F5496"/>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Works well for </a:t>
            </a:r>
            <a:r>
              <a:rPr kumimoji="0" lang="en-US" altLang="en-US" sz="16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sparse data</a:t>
            </a:r>
            <a:r>
              <a:rPr kumimoji="0" lang="en-US" altLang="en-US" sz="16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Also useful for </a:t>
            </a:r>
            <a:r>
              <a:rPr kumimoji="0" lang="en-US" altLang="en-US" sz="16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skewed data</a:t>
            </a:r>
            <a:r>
              <a:rPr kumimoji="0" lang="en-US" altLang="en-US" sz="16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2F5496"/>
                </a:solidFill>
                <a:effectLst/>
                <a:latin typeface="Times New Roman" panose="02020603050405020304" pitchFamily="18" charset="0"/>
                <a:ea typeface="Times New Roman" panose="02020603050405020304" pitchFamily="18" charset="0"/>
                <a:cs typeface="Times New Roman" panose="02020603050405020304" pitchFamily="18" charset="0"/>
              </a:rPr>
              <a:t>3. Handles Multidimensional Data</a:t>
            </a:r>
            <a:endParaRPr kumimoji="0" lang="en-US" altLang="en-US" sz="1600" b="0" i="0" u="none" strike="noStrike" cap="none" normalizeH="0" baseline="0" dirty="0">
              <a:ln>
                <a:noFill/>
              </a:ln>
              <a:solidFill>
                <a:srgbClr val="2F5496"/>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If the data has many dimensions, PCA can reduce it to fewer dimensions, often </a:t>
            </a:r>
            <a:r>
              <a:rPr kumimoji="0" lang="en-US" altLang="en-US" sz="1600"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2D or 3D</a:t>
            </a:r>
            <a:r>
              <a:rPr kumimoji="0" lang="en-US" altLang="en-US" sz="16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for easier analysis and visualization.</a:t>
            </a:r>
            <a:endParaRPr kumimoji="0" lang="en-US" altLang="en-US" sz="1600" b="0" i="0" u="none" strike="noStrike" cap="none" normalizeH="0" baseline="0" dirty="0">
              <a:ln>
                <a:noFill/>
              </a:ln>
              <a:solidFill>
                <a:srgbClr val="2F5496"/>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2F5496"/>
                </a:solidFill>
                <a:effectLst/>
                <a:latin typeface="Times New Roman" panose="02020603050405020304" pitchFamily="18" charset="0"/>
                <a:ea typeface="Times New Roman" panose="02020603050405020304" pitchFamily="18" charset="0"/>
                <a:cs typeface="Times New Roman" panose="02020603050405020304" pitchFamily="18" charset="0"/>
              </a:rPr>
              <a:t>4. Used in Other Data Analysis Methods</a:t>
            </a:r>
            <a:endParaRPr kumimoji="0" lang="en-US" altLang="en-US" sz="1600" b="0" i="0" u="none" strike="noStrike" cap="none" normalizeH="0" baseline="0" dirty="0">
              <a:ln>
                <a:noFill/>
              </a:ln>
              <a:solidFill>
                <a:srgbClr val="2F5496"/>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Principal components can be used as input for:</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Multiple Regression</a:t>
            </a:r>
            <a:r>
              <a:rPr kumimoji="0" lang="en-US" altLang="en-US" sz="16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Cluster Analysis</a:t>
            </a:r>
            <a:r>
              <a:rPr kumimoji="0" lang="en-US" altLang="en-US" sz="16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77316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152400"/>
            <a:ext cx="8686800" cy="6309420"/>
          </a:xfrm>
          <a:prstGeom prst="rect">
            <a:avLst/>
          </a:prstGeom>
        </p:spPr>
        <p:txBody>
          <a:bodyPr wrap="square">
            <a:spAutoFit/>
          </a:bodyPr>
          <a:lstStyle/>
          <a:p>
            <a:pPr algn="just"/>
            <a:r>
              <a:rPr lang="en-IN" sz="2800" u="sng" dirty="0">
                <a:solidFill>
                  <a:srgbClr val="00B050"/>
                </a:solidFill>
                <a:latin typeface="Times New Roman" pitchFamily="18" charset="0"/>
                <a:cs typeface="Times New Roman" pitchFamily="18" charset="0"/>
              </a:rPr>
              <a:t>Attribute Subset Selection:</a:t>
            </a:r>
            <a:endParaRPr lang="en-IN" sz="2200" u="sng" dirty="0">
              <a:solidFill>
                <a:srgbClr val="00B050"/>
              </a:solidFill>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Attribute subset selection reduces the data set size by removing irrelevant or redundant attributes (or dimensions). The goal of attribute subset selection is to find a minimum set of attributes such that the resulting probability distribution of the data classes is as close as possible to the original distribution obtained using all attributes. Mining on a reduced set of attributes has an additional benefit: It reduces the number of attributes appearing in the discovered patterns, helping to make the patterns easier to understand. </a:t>
            </a: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“How can we find a ‘good’ subset of the original attributes?”</a:t>
            </a:r>
          </a:p>
          <a:p>
            <a:r>
              <a:rPr lang="en-IN" dirty="0"/>
              <a:t>In </a:t>
            </a:r>
            <a:r>
              <a:rPr lang="en-IN" b="1" dirty="0"/>
              <a:t>attribute subset selection</a:t>
            </a:r>
            <a:r>
              <a:rPr lang="en-IN" dirty="0"/>
              <a:t>, the problem is to choose the </a:t>
            </a:r>
            <a:r>
              <a:rPr lang="en-IN" b="1" dirty="0"/>
              <a:t>best subset of attributes</a:t>
            </a:r>
            <a:r>
              <a:rPr lang="en-IN" dirty="0"/>
              <a:t> from the original set.</a:t>
            </a:r>
          </a:p>
          <a:p>
            <a:r>
              <a:rPr lang="en-IN" dirty="0"/>
              <a:t>If there are </a:t>
            </a:r>
            <a:r>
              <a:rPr lang="en-IN" b="1" dirty="0"/>
              <a:t>n attributes</a:t>
            </a:r>
            <a:r>
              <a:rPr lang="en-IN" dirty="0"/>
              <a:t>, then the total number of possible subsets is:</a:t>
            </a:r>
          </a:p>
          <a:p>
            <a:r>
              <a:rPr lang="en-IN" dirty="0"/>
              <a:t>2^n</a:t>
            </a:r>
          </a:p>
          <a:p>
            <a:r>
              <a:rPr lang="en-IN" dirty="0"/>
              <a:t>So, checking </a:t>
            </a:r>
            <a:r>
              <a:rPr lang="en-IN" b="1" dirty="0"/>
              <a:t>every possible subset</a:t>
            </a:r>
            <a:r>
              <a:rPr lang="en-IN" dirty="0"/>
              <a:t> to find the best one is called </a:t>
            </a:r>
            <a:r>
              <a:rPr lang="en-IN" b="1" dirty="0">
                <a:solidFill>
                  <a:srgbClr val="FF0000"/>
                </a:solidFill>
              </a:rPr>
              <a:t>exhaustive search.</a:t>
            </a:r>
            <a:endParaRPr lang="en-US" sz="2200" dirty="0">
              <a:solidFill>
                <a:srgbClr val="FF0000"/>
              </a:solidFill>
              <a:latin typeface="Times New Roman" pitchFamily="18" charset="0"/>
              <a:cs typeface="Times New Roman" pitchFamily="18" charset="0"/>
            </a:endParaRP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Basic </a:t>
            </a:r>
            <a:r>
              <a:rPr lang="en-US" sz="2200" dirty="0">
                <a:solidFill>
                  <a:srgbClr val="FF0000"/>
                </a:solidFill>
                <a:latin typeface="Times New Roman" pitchFamily="18" charset="0"/>
                <a:cs typeface="Times New Roman" pitchFamily="18" charset="0"/>
              </a:rPr>
              <a:t>heuristic methods(</a:t>
            </a:r>
            <a:r>
              <a:rPr lang="en-IN" dirty="0"/>
              <a:t>Greedy approach</a:t>
            </a:r>
            <a:r>
              <a:rPr lang="en-US" sz="2200" dirty="0">
                <a:solidFill>
                  <a:srgbClr val="FF0000"/>
                </a:solidFill>
                <a:latin typeface="Times New Roman" pitchFamily="18" charset="0"/>
                <a:cs typeface="Times New Roman" pitchFamily="18" charset="0"/>
              </a:rPr>
              <a:t>) </a:t>
            </a:r>
            <a:r>
              <a:rPr lang="en-US" sz="2200" dirty="0">
                <a:latin typeface="Times New Roman" pitchFamily="18" charset="0"/>
                <a:cs typeface="Times New Roman" pitchFamily="18" charset="0"/>
              </a:rPr>
              <a:t>of attribute subset selection include the techniques that as follow:</a:t>
            </a:r>
          </a:p>
        </p:txBody>
      </p:sp>
    </p:spTree>
    <p:extLst>
      <p:ext uri="{BB962C8B-B14F-4D97-AF65-F5344CB8AC3E}">
        <p14:creationId xmlns:p14="http://schemas.microsoft.com/office/powerpoint/2010/main" val="23999455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1" y="152401"/>
            <a:ext cx="8839200" cy="655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976256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228600"/>
            <a:ext cx="8762999" cy="2462213"/>
          </a:xfrm>
          <a:prstGeom prst="rect">
            <a:avLst/>
          </a:prstGeom>
        </p:spPr>
        <p:txBody>
          <a:bodyPr wrap="square">
            <a:spAutoFit/>
          </a:bodyPr>
          <a:lstStyle/>
          <a:p>
            <a:pPr marL="342900" indent="-342900" algn="just">
              <a:buFont typeface="Wingdings" pitchFamily="2" charset="2"/>
              <a:buChar char="Ø"/>
            </a:pPr>
            <a:r>
              <a:rPr lang="en-IN" sz="2200" dirty="0">
                <a:latin typeface="Times New Roman" pitchFamily="18" charset="0"/>
                <a:cs typeface="Times New Roman" pitchFamily="18" charset="0"/>
              </a:rPr>
              <a:t>Stepwise forward selection:</a:t>
            </a:r>
          </a:p>
          <a:p>
            <a:pPr marL="342900" indent="-342900" algn="just">
              <a:buFont typeface="Wingdings" pitchFamily="2" charset="2"/>
              <a:buChar char="Ø"/>
            </a:pPr>
            <a:endParaRPr lang="en-IN" sz="2200" dirty="0">
              <a:latin typeface="Times New Roman" pitchFamily="18" charset="0"/>
              <a:cs typeface="Times New Roman" pitchFamily="18" charset="0"/>
            </a:endParaRPr>
          </a:p>
          <a:p>
            <a:pPr marL="342900" indent="-342900" algn="just">
              <a:buFont typeface="Wingdings" pitchFamily="2" charset="2"/>
              <a:buChar char="Ø"/>
            </a:pPr>
            <a:r>
              <a:rPr lang="en-IN" sz="2200" dirty="0">
                <a:latin typeface="Times New Roman" pitchFamily="18" charset="0"/>
                <a:cs typeface="Times New Roman" pitchFamily="18" charset="0"/>
              </a:rPr>
              <a:t>Stepwise backward elimination:</a:t>
            </a:r>
          </a:p>
          <a:p>
            <a:pPr marL="342900" indent="-342900" algn="just">
              <a:buFont typeface="Wingdings" pitchFamily="2" charset="2"/>
              <a:buChar char="Ø"/>
            </a:pPr>
            <a:endParaRPr lang="en-IN" sz="2200" dirty="0">
              <a:latin typeface="Times New Roman" pitchFamily="18" charset="0"/>
              <a:cs typeface="Times New Roman" pitchFamily="18" charset="0"/>
            </a:endParaRPr>
          </a:p>
          <a:p>
            <a:pPr marL="342900" indent="-342900" algn="just">
              <a:buFont typeface="Wingdings" pitchFamily="2" charset="2"/>
              <a:buChar char="Ø"/>
            </a:pPr>
            <a:r>
              <a:rPr lang="en-US" sz="2200" dirty="0">
                <a:latin typeface="Times New Roman" pitchFamily="18" charset="0"/>
                <a:cs typeface="Times New Roman" pitchFamily="18" charset="0"/>
              </a:rPr>
              <a:t>Combination of forward selection and backward elimination:</a:t>
            </a:r>
          </a:p>
          <a:p>
            <a:pPr marL="342900" indent="-342900" algn="just">
              <a:buFont typeface="Wingdings" pitchFamily="2" charset="2"/>
              <a:buChar char="Ø"/>
            </a:pPr>
            <a:endParaRPr lang="en-US" sz="2200" dirty="0">
              <a:latin typeface="Times New Roman" pitchFamily="18" charset="0"/>
              <a:cs typeface="Times New Roman" pitchFamily="18" charset="0"/>
            </a:endParaRPr>
          </a:p>
          <a:p>
            <a:pPr marL="342900" indent="-342900" algn="just">
              <a:buFont typeface="Wingdings" pitchFamily="2" charset="2"/>
              <a:buChar char="Ø"/>
            </a:pPr>
            <a:r>
              <a:rPr lang="en-IN" sz="2200" dirty="0">
                <a:latin typeface="Times New Roman" pitchFamily="18" charset="0"/>
                <a:cs typeface="Times New Roman" pitchFamily="18" charset="0"/>
              </a:rPr>
              <a:t>Decision tree induction: </a:t>
            </a:r>
          </a:p>
        </p:txBody>
      </p:sp>
    </p:spTree>
    <p:extLst>
      <p:ext uri="{BB962C8B-B14F-4D97-AF65-F5344CB8AC3E}">
        <p14:creationId xmlns:p14="http://schemas.microsoft.com/office/powerpoint/2010/main" val="34996584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0" y="1676400"/>
            <a:ext cx="4495800" cy="4572000"/>
          </a:xfrm>
          <a:prstGeom prst="rect">
            <a:avLst/>
          </a:prstGeom>
        </p:spPr>
      </p:pic>
      <p:pic>
        <p:nvPicPr>
          <p:cNvPr id="3"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95800" y="1676400"/>
            <a:ext cx="46482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p:cNvSpPr/>
          <p:nvPr/>
        </p:nvSpPr>
        <p:spPr>
          <a:xfrm>
            <a:off x="228600" y="228601"/>
            <a:ext cx="8763000" cy="954107"/>
          </a:xfrm>
          <a:prstGeom prst="rect">
            <a:avLst/>
          </a:prstGeom>
        </p:spPr>
        <p:txBody>
          <a:bodyPr wrap="square">
            <a:spAutoFit/>
          </a:bodyPr>
          <a:lstStyle/>
          <a:p>
            <a:pPr algn="just"/>
            <a:r>
              <a:rPr lang="en-US" sz="2800" u="sng" dirty="0">
                <a:solidFill>
                  <a:srgbClr val="FF0000"/>
                </a:solidFill>
              </a:rPr>
              <a:t>Regression and Log-Linear Models: Parametric Data Reduction:</a:t>
            </a:r>
            <a:endParaRPr lang="en-IN" sz="2800" u="sng" dirty="0">
              <a:solidFill>
                <a:srgbClr val="FF0000"/>
              </a:solidFill>
            </a:endParaRPr>
          </a:p>
        </p:txBody>
      </p:sp>
    </p:spTree>
    <p:extLst>
      <p:ext uri="{BB962C8B-B14F-4D97-AF65-F5344CB8AC3E}">
        <p14:creationId xmlns:p14="http://schemas.microsoft.com/office/powerpoint/2010/main" val="11635028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2D53E4A-6558-4A42-905E-C8C200060EE4}"/>
              </a:ext>
            </a:extLst>
          </p:cNvPr>
          <p:cNvSpPr/>
          <p:nvPr/>
        </p:nvSpPr>
        <p:spPr>
          <a:xfrm>
            <a:off x="1066800" y="1066800"/>
            <a:ext cx="7620000" cy="4735592"/>
          </a:xfrm>
          <a:prstGeom prst="rect">
            <a:avLst/>
          </a:prstGeom>
        </p:spPr>
        <p:txBody>
          <a:bodyPr wrap="square">
            <a:spAutoFit/>
          </a:bodyPr>
          <a:lstStyle/>
          <a:p>
            <a:pPr>
              <a:lnSpc>
                <a:spcPct val="107000"/>
              </a:lnSpc>
              <a:spcAft>
                <a:spcPts val="800"/>
              </a:spcAft>
            </a:pPr>
            <a:r>
              <a:rPr lang="en-IN" sz="2400" dirty="0">
                <a:latin typeface="Times New Roman" panose="02020603050405020304" pitchFamily="18" charset="0"/>
                <a:ea typeface="Times New Roman" panose="02020603050405020304" pitchFamily="18" charset="0"/>
                <a:cs typeface="Times New Roman" panose="02020603050405020304" pitchFamily="18" charset="0"/>
              </a:rPr>
              <a:t>Suppose a dataset has </a:t>
            </a:r>
            <a:r>
              <a:rPr lang="en-IN" sz="2400" b="1" dirty="0">
                <a:latin typeface="Times New Roman" panose="02020603050405020304" pitchFamily="18" charset="0"/>
                <a:ea typeface="Times New Roman" panose="02020603050405020304" pitchFamily="18" charset="0"/>
                <a:cs typeface="Times New Roman" panose="02020603050405020304" pitchFamily="18" charset="0"/>
              </a:rPr>
              <a:t>3 attributes</a:t>
            </a:r>
            <a:r>
              <a:rPr lang="en-IN" sz="2400" dirty="0">
                <a:latin typeface="Times New Roman" panose="02020603050405020304" pitchFamily="18" charset="0"/>
                <a:ea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2400" dirty="0">
                <a:latin typeface="Times New Roman" panose="02020603050405020304" pitchFamily="18" charset="0"/>
                <a:ea typeface="Times New Roman" panose="02020603050405020304" pitchFamily="18" charset="0"/>
                <a:cs typeface="Times New Roman" panose="02020603050405020304" pitchFamily="18" charset="0"/>
              </a:rPr>
              <a:t>Gender </a:t>
            </a:r>
            <a:endParaRPr lang="en-IN" sz="2400"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2400" dirty="0">
                <a:latin typeface="Times New Roman" panose="02020603050405020304" pitchFamily="18" charset="0"/>
                <a:ea typeface="Times New Roman" panose="02020603050405020304" pitchFamily="18" charset="0"/>
                <a:cs typeface="Times New Roman" panose="02020603050405020304" pitchFamily="18" charset="0"/>
              </a:rPr>
              <a:t>Age Group </a:t>
            </a:r>
            <a:endParaRPr lang="en-IN" sz="2400"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2400" dirty="0">
                <a:latin typeface="Times New Roman" panose="02020603050405020304" pitchFamily="18" charset="0"/>
                <a:ea typeface="Times New Roman" panose="02020603050405020304" pitchFamily="18" charset="0"/>
                <a:cs typeface="Times New Roman" panose="02020603050405020304" pitchFamily="18" charset="0"/>
              </a:rPr>
              <a:t>City </a:t>
            </a:r>
            <a:endParaRPr lang="en-IN" sz="24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n-IN" sz="2400" dirty="0">
                <a:latin typeface="Times New Roman" panose="02020603050405020304" pitchFamily="18" charset="0"/>
                <a:ea typeface="Times New Roman" panose="02020603050405020304" pitchFamily="18" charset="0"/>
                <a:cs typeface="Times New Roman" panose="02020603050405020304" pitchFamily="18" charset="0"/>
              </a:rPr>
              <a:t>Instead of calculating probabilities for every </a:t>
            </a:r>
            <a:r>
              <a:rPr lang="en-IN" sz="2400" b="1" dirty="0">
                <a:latin typeface="Times New Roman" panose="02020603050405020304" pitchFamily="18" charset="0"/>
                <a:ea typeface="Times New Roman" panose="02020603050405020304" pitchFamily="18" charset="0"/>
                <a:cs typeface="Times New Roman" panose="02020603050405020304" pitchFamily="18" charset="0"/>
              </a:rPr>
              <a:t>Gender × Age × City</a:t>
            </a:r>
            <a:r>
              <a:rPr lang="en-IN" sz="2400" dirty="0">
                <a:latin typeface="Times New Roman" panose="02020603050405020304" pitchFamily="18" charset="0"/>
                <a:ea typeface="Times New Roman" panose="02020603050405020304" pitchFamily="18" charset="0"/>
                <a:cs typeface="Times New Roman" panose="02020603050405020304" pitchFamily="18" charset="0"/>
              </a:rPr>
              <a:t> combination, a log-linear model can estimate them using smaller combinations such as:</a:t>
            </a:r>
            <a:endParaRPr lang="en-IN" sz="2400"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2400" dirty="0">
                <a:latin typeface="Times New Roman" panose="02020603050405020304" pitchFamily="18" charset="0"/>
                <a:ea typeface="Times New Roman" panose="02020603050405020304" pitchFamily="18" charset="0"/>
                <a:cs typeface="Times New Roman" panose="02020603050405020304" pitchFamily="18" charset="0"/>
              </a:rPr>
              <a:t>Gender × Age </a:t>
            </a:r>
            <a:endParaRPr lang="en-IN" sz="2400"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2400" dirty="0">
                <a:latin typeface="Times New Roman" panose="02020603050405020304" pitchFamily="18" charset="0"/>
                <a:ea typeface="Times New Roman" panose="02020603050405020304" pitchFamily="18" charset="0"/>
                <a:cs typeface="Times New Roman" panose="02020603050405020304" pitchFamily="18" charset="0"/>
              </a:rPr>
              <a:t>Age × City </a:t>
            </a:r>
            <a:endParaRPr lang="en-IN" sz="2400"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2400" dirty="0">
                <a:latin typeface="Times New Roman" panose="02020603050405020304" pitchFamily="18" charset="0"/>
                <a:ea typeface="Times New Roman" panose="02020603050405020304" pitchFamily="18" charset="0"/>
                <a:cs typeface="Times New Roman" panose="02020603050405020304" pitchFamily="18" charset="0"/>
              </a:rPr>
              <a:t>Gender × City </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0053182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304800"/>
            <a:ext cx="8610600" cy="6278642"/>
          </a:xfrm>
          <a:prstGeom prst="rect">
            <a:avLst/>
          </a:prstGeom>
        </p:spPr>
        <p:txBody>
          <a:bodyPr wrap="square">
            <a:spAutoFit/>
          </a:bodyPr>
          <a:lstStyle/>
          <a:p>
            <a:r>
              <a:rPr lang="en-US" sz="2800" u="sng" dirty="0">
                <a:solidFill>
                  <a:srgbClr val="FF0000"/>
                </a:solidFill>
                <a:latin typeface="Times New Roman" pitchFamily="18" charset="0"/>
                <a:cs typeface="Times New Roman" pitchFamily="18" charset="0"/>
              </a:rPr>
              <a:t>Histograms: </a:t>
            </a:r>
          </a:p>
          <a:p>
            <a:pPr algn="just"/>
            <a:r>
              <a:rPr lang="en-US" sz="2200" dirty="0">
                <a:latin typeface="Times New Roman" pitchFamily="18" charset="0"/>
                <a:cs typeface="Times New Roman" pitchFamily="18" charset="0"/>
              </a:rPr>
              <a:t>	Histograms use binning to approximate data distributions and are a popular form of data reduction. </a:t>
            </a:r>
          </a:p>
          <a:p>
            <a:pPr algn="just"/>
            <a:r>
              <a:rPr lang="en-US" sz="2200" dirty="0">
                <a:latin typeface="Times New Roman" pitchFamily="18" charset="0"/>
                <a:cs typeface="Times New Roman" pitchFamily="18" charset="0"/>
              </a:rPr>
              <a:t>	A histogram for an attribute, A, partitions the data distribution of A into disjoint subsets, referred to as buckets or bins. If each bucket represents only a single attribute–value/frequency pair, the buckets are called </a:t>
            </a:r>
            <a:r>
              <a:rPr lang="en-US" sz="2200" b="1" dirty="0">
                <a:latin typeface="Times New Roman" pitchFamily="18" charset="0"/>
                <a:cs typeface="Times New Roman" pitchFamily="18" charset="0"/>
              </a:rPr>
              <a:t>singleton buckets</a:t>
            </a:r>
            <a:r>
              <a:rPr lang="en-US" sz="2200" dirty="0">
                <a:latin typeface="Times New Roman" pitchFamily="18" charset="0"/>
                <a:cs typeface="Times New Roman" pitchFamily="18" charset="0"/>
              </a:rPr>
              <a:t>. </a:t>
            </a:r>
          </a:p>
          <a:p>
            <a:pPr algn="just"/>
            <a:endParaRPr lang="en-US" sz="2200" dirty="0">
              <a:latin typeface="Times New Roman" pitchFamily="18" charset="0"/>
              <a:cs typeface="Times New Roman" pitchFamily="18" charset="0"/>
            </a:endParaRPr>
          </a:p>
          <a:p>
            <a:pPr algn="just"/>
            <a:r>
              <a:rPr lang="en-US" sz="2200" b="1" dirty="0">
                <a:latin typeface="Times New Roman" pitchFamily="18" charset="0"/>
                <a:cs typeface="Times New Roman" pitchFamily="18" charset="0"/>
              </a:rPr>
              <a:t>Example: </a:t>
            </a:r>
            <a:r>
              <a:rPr lang="en-US" sz="2200" dirty="0">
                <a:latin typeface="Times New Roman" pitchFamily="18" charset="0"/>
                <a:cs typeface="Times New Roman" pitchFamily="18" charset="0"/>
              </a:rPr>
              <a:t>The following data are a list of </a:t>
            </a:r>
            <a:r>
              <a:rPr lang="en-US" sz="2200" dirty="0" err="1">
                <a:latin typeface="Times New Roman" pitchFamily="18" charset="0"/>
                <a:cs typeface="Times New Roman" pitchFamily="18" charset="0"/>
              </a:rPr>
              <a:t>AllElectronics</a:t>
            </a:r>
            <a:r>
              <a:rPr lang="en-US" sz="2200" dirty="0">
                <a:latin typeface="Times New Roman" pitchFamily="18" charset="0"/>
                <a:cs typeface="Times New Roman" pitchFamily="18" charset="0"/>
              </a:rPr>
              <a:t> prices for commonly sold items (rounded to the nearest dollar). </a:t>
            </a:r>
          </a:p>
          <a:p>
            <a:pPr algn="just"/>
            <a:r>
              <a:rPr lang="en-US" sz="2200" dirty="0">
                <a:latin typeface="Times New Roman" pitchFamily="18" charset="0"/>
                <a:cs typeface="Times New Roman" pitchFamily="18" charset="0"/>
              </a:rPr>
              <a:t>	The numbers have been sorted: 1, 1, 5, 5, 5, 5, 5, 8, 8, 10, 10, 10, 10, 12, 14, 14, 14, 15, 15, 15, 15, 15, 15, 18, 18, 18, 18, 18, 18, 18, 18, 20, 20, 20, 20, 20, 20, 20, 21, 21, 21, 21, 25, 25, 25, 25, 25, 28, 28, 30, 30, 30. </a:t>
            </a: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Figure 3.7 shows a histogram for the data using singleton buckets. To further reduce the data, it is common to have each bucket denote a continuous value range for the given attribute. In Figure 3.8, each bucket represents a different $10 range for price. </a:t>
            </a:r>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val="4504660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381000"/>
            <a:ext cx="8610600" cy="62483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303307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228600"/>
            <a:ext cx="8001001" cy="427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76200" y="4648200"/>
            <a:ext cx="8991600" cy="1785104"/>
          </a:xfrm>
          <a:prstGeom prst="rect">
            <a:avLst/>
          </a:prstGeom>
        </p:spPr>
        <p:txBody>
          <a:bodyPr wrap="square">
            <a:spAutoFit/>
          </a:bodyPr>
          <a:lstStyle/>
          <a:p>
            <a:pPr algn="just"/>
            <a:r>
              <a:rPr lang="en-US" sz="2200" b="1" dirty="0">
                <a:latin typeface="Times New Roman" pitchFamily="18" charset="0"/>
                <a:cs typeface="Times New Roman" pitchFamily="18" charset="0"/>
              </a:rPr>
              <a:t>Equal-width:</a:t>
            </a:r>
            <a:r>
              <a:rPr lang="en-US" sz="2200" dirty="0">
                <a:latin typeface="Times New Roman" pitchFamily="18" charset="0"/>
                <a:cs typeface="Times New Roman" pitchFamily="18" charset="0"/>
              </a:rPr>
              <a:t> In an equal-width histogram, the width of each bucket range is uniform (e.g., the width of $10 for the buckets in Figure 3.8). </a:t>
            </a:r>
          </a:p>
          <a:p>
            <a:pPr algn="just"/>
            <a:endParaRPr lang="en-US" sz="2200" dirty="0">
              <a:latin typeface="Times New Roman" pitchFamily="18" charset="0"/>
              <a:cs typeface="Times New Roman" pitchFamily="18" charset="0"/>
            </a:endParaRPr>
          </a:p>
          <a:p>
            <a:pPr algn="just"/>
            <a:r>
              <a:rPr lang="en-US" sz="2200" b="1" dirty="0">
                <a:latin typeface="Times New Roman" pitchFamily="18" charset="0"/>
                <a:cs typeface="Times New Roman" pitchFamily="18" charset="0"/>
              </a:rPr>
              <a:t>Equal-frequency</a:t>
            </a:r>
            <a:r>
              <a:rPr lang="en-US" sz="2200" dirty="0">
                <a:latin typeface="Times New Roman" pitchFamily="18" charset="0"/>
                <a:cs typeface="Times New Roman" pitchFamily="18" charset="0"/>
              </a:rPr>
              <a:t> (or equal-depth): In an equal-frequency histogram, the buckets are created so that, roughly, the frequency of each bucket is constant</a:t>
            </a:r>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val="15982137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152401"/>
            <a:ext cx="8686800" cy="4247317"/>
          </a:xfrm>
          <a:prstGeom prst="rect">
            <a:avLst/>
          </a:prstGeom>
        </p:spPr>
        <p:txBody>
          <a:bodyPr wrap="square">
            <a:spAutoFit/>
          </a:bodyPr>
          <a:lstStyle/>
          <a:p>
            <a:pPr algn="just"/>
            <a:r>
              <a:rPr lang="en-US" sz="2800" dirty="0">
                <a:solidFill>
                  <a:srgbClr val="FF0000"/>
                </a:solidFill>
                <a:latin typeface="Times New Roman" pitchFamily="18" charset="0"/>
                <a:cs typeface="Times New Roman" pitchFamily="18" charset="0"/>
              </a:rPr>
              <a:t>Clustering</a:t>
            </a:r>
            <a:r>
              <a:rPr lang="en-US" sz="2200" dirty="0">
                <a:solidFill>
                  <a:srgbClr val="FF0000"/>
                </a:solidFill>
                <a:latin typeface="Times New Roman" pitchFamily="18" charset="0"/>
                <a:cs typeface="Times New Roman" pitchFamily="18" charset="0"/>
              </a:rPr>
              <a:t>:</a:t>
            </a: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Clustering techniques consider data tuples as objects. They partition the objects into groups, or clusters, so that objects within a cluster are “similar” to one another and “dis similar” to objects in other clusters. Similarity is commonly defined in terms of how “close” the objects are in space, based on a distance function. </a:t>
            </a: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The “quality” of a cluster may be represented by its diameter, the maximum distance between any two objects in the cluster. Centroid distance is an alternative measure of cluster quality and is defined as the average distance of each cluster object from the cluster centroid.</a:t>
            </a:r>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val="20042452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2193" y="381000"/>
            <a:ext cx="8487007" cy="5881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608419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152400"/>
            <a:ext cx="8610600" cy="6617196"/>
          </a:xfrm>
          <a:prstGeom prst="rect">
            <a:avLst/>
          </a:prstGeom>
        </p:spPr>
        <p:txBody>
          <a:bodyPr wrap="square">
            <a:spAutoFit/>
          </a:bodyPr>
          <a:lstStyle/>
          <a:p>
            <a:pPr algn="just"/>
            <a:r>
              <a:rPr lang="en-US" sz="2800" b="1" u="sng" dirty="0">
                <a:solidFill>
                  <a:srgbClr val="FF0000"/>
                </a:solidFill>
                <a:latin typeface="Times New Roman" pitchFamily="18" charset="0"/>
                <a:cs typeface="Times New Roman" pitchFamily="18" charset="0"/>
              </a:rPr>
              <a:t>Sampling :</a:t>
            </a:r>
          </a:p>
          <a:p>
            <a:pPr algn="just"/>
            <a:r>
              <a:rPr lang="en-US" sz="2200" dirty="0">
                <a:latin typeface="Times New Roman" pitchFamily="18" charset="0"/>
                <a:cs typeface="Times New Roman" pitchFamily="18" charset="0"/>
              </a:rPr>
              <a:t>	Sampling can be used as a data reduction technique because it allows a large data set to be represented by a much smaller random data sample (or subset). Suppose that a large data set, D, contains N tuples. Let’s look at the most common ways that we could sample D for data reduction, as illustrated in Figure 3.9.</a:t>
            </a:r>
          </a:p>
          <a:p>
            <a:pPr algn="just"/>
            <a:endParaRPr lang="en-US" sz="2200" dirty="0">
              <a:latin typeface="Times New Roman" pitchFamily="18" charset="0"/>
              <a:cs typeface="Times New Roman" pitchFamily="18" charset="0"/>
            </a:endParaRPr>
          </a:p>
          <a:p>
            <a:pPr algn="just"/>
            <a:r>
              <a:rPr lang="en-US" sz="2200" b="1" dirty="0">
                <a:latin typeface="Times New Roman" pitchFamily="18" charset="0"/>
                <a:cs typeface="Times New Roman" pitchFamily="18" charset="0"/>
              </a:rPr>
              <a:t>Simple random sample without replacement (SRSWOR) of size s: </a:t>
            </a:r>
            <a:r>
              <a:rPr lang="en-US" sz="2200" dirty="0">
                <a:latin typeface="Times New Roman" pitchFamily="18" charset="0"/>
                <a:cs typeface="Times New Roman" pitchFamily="18" charset="0"/>
              </a:rPr>
              <a:t>This is created by drawing s of the N tuples from D (s &lt; N),  where the probability of drawing any tuple in D is 1/N, that is, all tuples are equally likely to be sampled.</a:t>
            </a:r>
          </a:p>
          <a:p>
            <a:pPr algn="just"/>
            <a:r>
              <a:rPr lang="en-US" sz="2200" b="1" dirty="0">
                <a:latin typeface="Times New Roman" pitchFamily="18" charset="0"/>
                <a:cs typeface="Times New Roman" pitchFamily="18" charset="0"/>
              </a:rPr>
              <a:t>Simple random sample with replacement (SRSWR) of size s: </a:t>
            </a:r>
            <a:r>
              <a:rPr lang="en-US" sz="2200" dirty="0">
                <a:latin typeface="Times New Roman" pitchFamily="18" charset="0"/>
                <a:cs typeface="Times New Roman" pitchFamily="18" charset="0"/>
              </a:rPr>
              <a:t>This is similar to SRSWOR, except that each time a tuple is drawn from D, it is recorded and then replaced. That is, after a tuple is drawn, it is placed back in D so that it may be drawn again.</a:t>
            </a:r>
          </a:p>
          <a:p>
            <a:pPr algn="just"/>
            <a:r>
              <a:rPr lang="en-US" sz="2200" b="1" dirty="0">
                <a:latin typeface="Times New Roman" pitchFamily="18" charset="0"/>
                <a:cs typeface="Times New Roman" pitchFamily="18" charset="0"/>
              </a:rPr>
              <a:t>Cluster sample: </a:t>
            </a:r>
            <a:r>
              <a:rPr lang="en-US" sz="2200" dirty="0">
                <a:latin typeface="Times New Roman" pitchFamily="18" charset="0"/>
                <a:cs typeface="Times New Roman" pitchFamily="18" charset="0"/>
              </a:rPr>
              <a:t>If the tuples in D are grouped into M mutually disjoint “clusters,” then an SRS of s clusters can be obtained, where s &lt; M. For example, tuples in a database are usually retrieved a page at a time, so that each page can be considered </a:t>
            </a:r>
            <a:r>
              <a:rPr lang="en-IN" sz="2200" dirty="0">
                <a:latin typeface="Times New Roman" pitchFamily="18" charset="0"/>
                <a:cs typeface="Times New Roman" pitchFamily="18" charset="0"/>
              </a:rPr>
              <a:t>a cluster.</a:t>
            </a:r>
          </a:p>
        </p:txBody>
      </p:sp>
    </p:spTree>
    <p:extLst>
      <p:ext uri="{BB962C8B-B14F-4D97-AF65-F5344CB8AC3E}">
        <p14:creationId xmlns:p14="http://schemas.microsoft.com/office/powerpoint/2010/main" val="37640396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76200"/>
            <a:ext cx="8610600" cy="1785104"/>
          </a:xfrm>
          <a:prstGeom prst="rect">
            <a:avLst/>
          </a:prstGeom>
        </p:spPr>
        <p:txBody>
          <a:bodyPr wrap="square">
            <a:spAutoFit/>
          </a:bodyPr>
          <a:lstStyle/>
          <a:p>
            <a:pPr algn="just"/>
            <a:r>
              <a:rPr lang="en-US" sz="2200" b="1" dirty="0">
                <a:latin typeface="Times New Roman" pitchFamily="18" charset="0"/>
                <a:cs typeface="Times New Roman" pitchFamily="18" charset="0"/>
              </a:rPr>
              <a:t>Stratified sample:</a:t>
            </a:r>
            <a:r>
              <a:rPr lang="en-US" sz="2200" dirty="0">
                <a:latin typeface="Times New Roman" pitchFamily="18" charset="0"/>
                <a:cs typeface="Times New Roman" pitchFamily="18" charset="0"/>
              </a:rPr>
              <a:t> If D is divided into mutually disjoint parts called strata, a stratified sample of D is generated by obtaining an SRS at each stratum. This helps ensure a representative sample, especially when the data are skewed. For example, a stratified sample may be obtained from customer data, where a stratum is created for each customer age group.</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861304"/>
            <a:ext cx="8610600" cy="47585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374798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228600"/>
            <a:ext cx="8077199" cy="4838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691725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152400"/>
            <a:ext cx="8610600" cy="2739211"/>
          </a:xfrm>
          <a:prstGeom prst="rect">
            <a:avLst/>
          </a:prstGeom>
        </p:spPr>
        <p:txBody>
          <a:bodyPr wrap="square">
            <a:spAutoFit/>
          </a:bodyPr>
          <a:lstStyle/>
          <a:p>
            <a:pPr algn="just"/>
            <a:r>
              <a:rPr lang="en-US" sz="2800" u="sng" dirty="0">
                <a:solidFill>
                  <a:srgbClr val="FF0000"/>
                </a:solidFill>
                <a:latin typeface="Times New Roman" pitchFamily="18" charset="0"/>
                <a:cs typeface="Times New Roman" pitchFamily="18" charset="0"/>
              </a:rPr>
              <a:t>Data Cube Aggregation: </a:t>
            </a:r>
          </a:p>
          <a:p>
            <a:pPr algn="just"/>
            <a:r>
              <a:rPr lang="en-US" dirty="0">
                <a:latin typeface="Times New Roman" pitchFamily="18" charset="0"/>
                <a:cs typeface="Times New Roman" pitchFamily="18" charset="0"/>
              </a:rPr>
              <a:t>	</a:t>
            </a:r>
          </a:p>
          <a:p>
            <a:pPr algn="just"/>
            <a:r>
              <a:rPr lang="en-US" dirty="0">
                <a:latin typeface="Times New Roman" pitchFamily="18" charset="0"/>
                <a:cs typeface="Times New Roman" pitchFamily="18" charset="0"/>
              </a:rPr>
              <a:t>	Imagine that you have collected the data for your analysis. These data consist of the </a:t>
            </a:r>
            <a:r>
              <a:rPr lang="en-US" dirty="0" err="1">
                <a:latin typeface="Times New Roman" pitchFamily="18" charset="0"/>
                <a:cs typeface="Times New Roman" pitchFamily="18" charset="0"/>
              </a:rPr>
              <a:t>AllElectronics</a:t>
            </a:r>
            <a:r>
              <a:rPr lang="en-US" dirty="0">
                <a:latin typeface="Times New Roman" pitchFamily="18" charset="0"/>
                <a:cs typeface="Times New Roman" pitchFamily="18" charset="0"/>
              </a:rPr>
              <a:t> sales per quarter, for the years 2008 to 2010. You are, however, interested in the annual sales (total per year), rather than the total per quarter. Thus, the data can be aggregated so that the resulting data summarize the total sales per year instead of per quarter. This aggregation is illustrated in Figure 3.10.</a:t>
            </a:r>
          </a:p>
          <a:p>
            <a:pPr algn="just"/>
            <a:r>
              <a:rPr lang="en-US" dirty="0">
                <a:latin typeface="Times New Roman" pitchFamily="18" charset="0"/>
                <a:cs typeface="Times New Roman" pitchFamily="18" charset="0"/>
              </a:rPr>
              <a:t>	The resulting data set is smaller in volume, without loss of information necessary for the analysis task.</a:t>
            </a:r>
            <a:endParaRPr lang="en-IN" dirty="0">
              <a:latin typeface="Times New Roman" pitchFamily="18" charset="0"/>
              <a:cs typeface="Times New Roman" pitchFamily="18" charset="0"/>
            </a:endParaRP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891611"/>
            <a:ext cx="8686800" cy="39317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817884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6582" y="557861"/>
            <a:ext cx="8077199" cy="4795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054359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152400"/>
            <a:ext cx="8610600" cy="6401753"/>
          </a:xfrm>
          <a:prstGeom prst="rect">
            <a:avLst/>
          </a:prstGeom>
        </p:spPr>
        <p:txBody>
          <a:bodyPr wrap="square">
            <a:spAutoFit/>
          </a:bodyPr>
          <a:lstStyle/>
          <a:p>
            <a:pPr algn="just"/>
            <a:r>
              <a:rPr lang="en-US" sz="2800" dirty="0">
                <a:solidFill>
                  <a:srgbClr val="FF0000"/>
                </a:solidFill>
                <a:latin typeface="Times New Roman" pitchFamily="18" charset="0"/>
                <a:cs typeface="Times New Roman" pitchFamily="18" charset="0"/>
              </a:rPr>
              <a:t>Data Transformation and Data Discretization: </a:t>
            </a:r>
          </a:p>
          <a:p>
            <a:pPr algn="just"/>
            <a:r>
              <a:rPr lang="en-US" sz="2200" dirty="0">
                <a:latin typeface="Times New Roman" pitchFamily="18" charset="0"/>
                <a:cs typeface="Times New Roman" pitchFamily="18" charset="0"/>
              </a:rPr>
              <a:t>	This section presents methods of data transformation. In this preprocessing step, the data are transformed or consolidated so that the resulting mining process may be more efficient, and the patterns found may be easier to understand. Data discretization, a form of data transformation.</a:t>
            </a:r>
          </a:p>
          <a:p>
            <a:pPr algn="just"/>
            <a:endParaRPr lang="en-US" sz="2200" dirty="0">
              <a:latin typeface="Times New Roman" pitchFamily="18" charset="0"/>
              <a:cs typeface="Times New Roman" pitchFamily="18" charset="0"/>
            </a:endParaRPr>
          </a:p>
          <a:p>
            <a:pPr algn="just"/>
            <a:r>
              <a:rPr lang="en-US" sz="2400" dirty="0">
                <a:solidFill>
                  <a:srgbClr val="00B050"/>
                </a:solidFill>
                <a:latin typeface="Times New Roman" pitchFamily="18" charset="0"/>
                <a:cs typeface="Times New Roman" pitchFamily="18" charset="0"/>
              </a:rPr>
              <a:t>Data Transformation Strategies Overview:</a:t>
            </a:r>
            <a:r>
              <a:rPr lang="en-US" sz="2200" dirty="0">
                <a:latin typeface="Times New Roman" pitchFamily="18" charset="0"/>
                <a:cs typeface="Times New Roman" pitchFamily="18" charset="0"/>
              </a:rPr>
              <a:t> </a:t>
            </a:r>
          </a:p>
          <a:p>
            <a:pPr algn="just"/>
            <a:r>
              <a:rPr lang="en-US" sz="2200" dirty="0">
                <a:latin typeface="Times New Roman" pitchFamily="18" charset="0"/>
                <a:cs typeface="Times New Roman" pitchFamily="18" charset="0"/>
              </a:rPr>
              <a:t>	In data transformation, the data are transformed or consolidated into forms appropriate for mining. Strategies for data transformation include the following: </a:t>
            </a:r>
          </a:p>
          <a:p>
            <a:pPr marL="457200" indent="-457200" algn="just">
              <a:buAutoNum type="arabicPeriod"/>
            </a:pPr>
            <a:r>
              <a:rPr lang="en-US" sz="2200" b="1" dirty="0">
                <a:latin typeface="Times New Roman" pitchFamily="18" charset="0"/>
                <a:cs typeface="Times New Roman" pitchFamily="18" charset="0"/>
              </a:rPr>
              <a:t>Smoothing</a:t>
            </a:r>
            <a:r>
              <a:rPr lang="en-US" sz="2200" dirty="0">
                <a:latin typeface="Times New Roman" pitchFamily="18" charset="0"/>
                <a:cs typeface="Times New Roman" pitchFamily="18" charset="0"/>
              </a:rPr>
              <a:t>, which works to remove noise from the data. Techniques include binning, regression, and clustering. </a:t>
            </a:r>
          </a:p>
          <a:p>
            <a:pPr marL="457200" indent="-457200" algn="just">
              <a:buAutoNum type="arabicPeriod"/>
            </a:pPr>
            <a:r>
              <a:rPr lang="en-US" sz="2200" b="1" dirty="0">
                <a:latin typeface="Times New Roman" pitchFamily="18" charset="0"/>
                <a:cs typeface="Times New Roman" pitchFamily="18" charset="0"/>
              </a:rPr>
              <a:t>Attribute construction</a:t>
            </a:r>
            <a:r>
              <a:rPr lang="en-US" sz="2200" dirty="0">
                <a:latin typeface="Times New Roman" pitchFamily="18" charset="0"/>
                <a:cs typeface="Times New Roman" pitchFamily="18" charset="0"/>
              </a:rPr>
              <a:t>, where new attributes are constructed and added from the given set of attributes to help the mining process.</a:t>
            </a:r>
          </a:p>
          <a:p>
            <a:pPr marL="457200" indent="-457200" algn="just">
              <a:buAutoNum type="arabicPeriod"/>
            </a:pPr>
            <a:r>
              <a:rPr lang="en-US" sz="2200" b="1" dirty="0">
                <a:latin typeface="Times New Roman" pitchFamily="18" charset="0"/>
                <a:cs typeface="Times New Roman" pitchFamily="18" charset="0"/>
              </a:rPr>
              <a:t>Aggregation,</a:t>
            </a:r>
            <a:r>
              <a:rPr lang="en-US" sz="2200" dirty="0">
                <a:latin typeface="Times New Roman" pitchFamily="18" charset="0"/>
                <a:cs typeface="Times New Roman" pitchFamily="18" charset="0"/>
              </a:rPr>
              <a:t> where summary or aggregation operations are applied to the data. For example, the daily sales data may be aggregated so as to compute monthly and annual total amounts.</a:t>
            </a:r>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val="14821730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152400"/>
            <a:ext cx="8610600" cy="4493538"/>
          </a:xfrm>
          <a:prstGeom prst="rect">
            <a:avLst/>
          </a:prstGeom>
        </p:spPr>
        <p:txBody>
          <a:bodyPr wrap="square">
            <a:spAutoFit/>
          </a:bodyPr>
          <a:lstStyle/>
          <a:p>
            <a:pPr algn="just"/>
            <a:r>
              <a:rPr lang="en-US" sz="2200" b="1" dirty="0">
                <a:latin typeface="Times New Roman" pitchFamily="18" charset="0"/>
                <a:cs typeface="Times New Roman" pitchFamily="18" charset="0"/>
              </a:rPr>
              <a:t>4. Normalization</a:t>
            </a:r>
            <a:r>
              <a:rPr lang="en-US" sz="2200" dirty="0">
                <a:latin typeface="Times New Roman" pitchFamily="18" charset="0"/>
                <a:cs typeface="Times New Roman" pitchFamily="18" charset="0"/>
              </a:rPr>
              <a:t>, where the attribute data are scaled so as to fall within a smaller range, such as -1.0 to 1.0, or 0.0 to 1.0. </a:t>
            </a:r>
          </a:p>
          <a:p>
            <a:pPr algn="just"/>
            <a:endParaRPr lang="en-US" sz="2200" dirty="0">
              <a:latin typeface="Times New Roman" pitchFamily="18" charset="0"/>
              <a:cs typeface="Times New Roman" pitchFamily="18" charset="0"/>
            </a:endParaRPr>
          </a:p>
          <a:p>
            <a:pPr algn="just"/>
            <a:r>
              <a:rPr lang="en-US" sz="2200" b="1" dirty="0">
                <a:latin typeface="Times New Roman" pitchFamily="18" charset="0"/>
                <a:cs typeface="Times New Roman" pitchFamily="18" charset="0"/>
              </a:rPr>
              <a:t>5. Discretization</a:t>
            </a:r>
            <a:r>
              <a:rPr lang="en-US" sz="2200" dirty="0">
                <a:latin typeface="Times New Roman" pitchFamily="18" charset="0"/>
                <a:cs typeface="Times New Roman" pitchFamily="18" charset="0"/>
              </a:rPr>
              <a:t>, where the raw values of a numeric attribute (e.g., age) are replaced by interval labels (e.g., 0–10, 11–20, etc.) or conceptual labels (e.g., youth, adult, senior). The labels, in turn, can be recursively organized into higher-level concepts, resulting in a concept hierarchy for the numeric attribute. Figure 3.12 shows a concept hierarchy for the attribute price. </a:t>
            </a:r>
          </a:p>
          <a:p>
            <a:pPr algn="just"/>
            <a:endParaRPr lang="en-US" sz="2200" dirty="0">
              <a:latin typeface="Times New Roman" pitchFamily="18" charset="0"/>
              <a:cs typeface="Times New Roman" pitchFamily="18" charset="0"/>
            </a:endParaRPr>
          </a:p>
          <a:p>
            <a:pPr algn="just"/>
            <a:r>
              <a:rPr lang="en-US" sz="2200" b="1" dirty="0">
                <a:latin typeface="Times New Roman" pitchFamily="18" charset="0"/>
                <a:cs typeface="Times New Roman" pitchFamily="18" charset="0"/>
              </a:rPr>
              <a:t>6. Concept hierarchy generation </a:t>
            </a:r>
            <a:r>
              <a:rPr lang="en-US" sz="2200" dirty="0">
                <a:latin typeface="Times New Roman" pitchFamily="18" charset="0"/>
                <a:cs typeface="Times New Roman" pitchFamily="18" charset="0"/>
              </a:rPr>
              <a:t>for nominal data, where attributes such as street can be generalized to higher-level concepts, like city or country. Many hierarchies for nominal attributes are implicit within the database schema and can be automatically defined at the schema definition level.</a:t>
            </a:r>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val="24901154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228601"/>
            <a:ext cx="8534401" cy="396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439627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152400"/>
            <a:ext cx="8763000" cy="5170646"/>
          </a:xfrm>
          <a:prstGeom prst="rect">
            <a:avLst/>
          </a:prstGeom>
        </p:spPr>
        <p:txBody>
          <a:bodyPr wrap="square">
            <a:spAutoFit/>
          </a:bodyPr>
          <a:lstStyle/>
          <a:p>
            <a:pPr algn="just"/>
            <a:r>
              <a:rPr lang="en-US" sz="2200" dirty="0">
                <a:latin typeface="Times New Roman" pitchFamily="18" charset="0"/>
                <a:cs typeface="Times New Roman" pitchFamily="18" charset="0"/>
              </a:rPr>
              <a:t>	</a:t>
            </a:r>
            <a:r>
              <a:rPr lang="en-US" sz="2200" dirty="0">
                <a:solidFill>
                  <a:srgbClr val="00B050"/>
                </a:solidFill>
                <a:latin typeface="Times New Roman" pitchFamily="18" charset="0"/>
                <a:cs typeface="Times New Roman" pitchFamily="18" charset="0"/>
              </a:rPr>
              <a:t>Discretization techniques </a:t>
            </a:r>
            <a:r>
              <a:rPr lang="en-US" sz="2200" dirty="0">
                <a:latin typeface="Times New Roman" pitchFamily="18" charset="0"/>
                <a:cs typeface="Times New Roman" pitchFamily="18" charset="0"/>
              </a:rPr>
              <a:t>can be categorized based on how the discretization is performed, such as whether it uses class information or which direction it proceeds (i.e., top-down vs. bottom-up). If the discretization process uses class information, then we say it is supervised discretization. Otherwise, it is unsupervised. </a:t>
            </a: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If the process starts by first finding one or a few points (called split points or cut points) to split the entire attribute range, and then repeats this recursively on the resulting intervals, it is called top-down discretization or splitting. </a:t>
            </a: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This contrasts with bottom-up discretization or merging, which starts by considering all of the continuous values as potential split-points, removes some by merging neighborhood values to form intervals, and then recursively applies this process to the resulting intervals.</a:t>
            </a:r>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val="31490766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972DA5-86A8-48C4-B8C9-D1055ECB07B8}"/>
              </a:ext>
            </a:extLst>
          </p:cNvPr>
          <p:cNvSpPr>
            <a:spLocks noChangeArrowheads="1"/>
          </p:cNvSpPr>
          <p:nvPr/>
        </p:nvSpPr>
        <p:spPr bwMode="auto">
          <a:xfrm>
            <a:off x="457200" y="1097099"/>
            <a:ext cx="7696200" cy="22006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0" numCol="1" anchor="ctr" anchorCtr="0" compatLnSpc="1">
            <a:prstTxWarp prst="textNoShape">
              <a:avLst/>
            </a:prstTxWarp>
            <a:spAutoFit/>
          </a:bodyPr>
          <a:lstStyle>
            <a:lvl1pPr eaLnBrk="0" fontAlgn="base" hangingPunct="0">
              <a:spcBef>
                <a:spcPct val="0"/>
              </a:spcBef>
              <a:spcAft>
                <a:spcPct val="0"/>
              </a:spcAft>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defRPr>
                <a:solidFill>
                  <a:schemeClr val="tx1"/>
                </a:solidFill>
                <a:latin typeface="Arial" panose="020B0604020202020204" pitchFamily="34" charset="0"/>
              </a:defRPr>
            </a:lvl1pPr>
            <a:lvl2pPr eaLnBrk="0" fontAlgn="base" hangingPunct="0">
              <a:spcBef>
                <a:spcPct val="0"/>
              </a:spcBef>
              <a:spcAft>
                <a:spcPct val="0"/>
              </a:spcAft>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defRPr>
                <a:solidFill>
                  <a:schemeClr val="tx1"/>
                </a:solidFill>
                <a:latin typeface="Arial" panose="020B0604020202020204" pitchFamily="34" charset="0"/>
              </a:defRPr>
            </a:lvl2pPr>
            <a:lvl3pPr eaLnBrk="0" fontAlgn="base" hangingPunct="0">
              <a:spcBef>
                <a:spcPct val="0"/>
              </a:spcBef>
              <a:spcAft>
                <a:spcPct val="0"/>
              </a:spcAft>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defRPr>
                <a:solidFill>
                  <a:schemeClr val="tx1"/>
                </a:solidFill>
                <a:latin typeface="Arial" panose="020B0604020202020204" pitchFamily="34" charset="0"/>
              </a:defRPr>
            </a:lvl3pPr>
            <a:lvl4pPr eaLnBrk="0" fontAlgn="base" hangingPunct="0">
              <a:spcBef>
                <a:spcPct val="0"/>
              </a:spcBef>
              <a:spcAft>
                <a:spcPct val="0"/>
              </a:spcAft>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defRPr>
                <a:solidFill>
                  <a:schemeClr val="tx1"/>
                </a:solidFill>
                <a:latin typeface="Arial" panose="020B0604020202020204" pitchFamily="34" charset="0"/>
              </a:defRPr>
            </a:lvl4pPr>
            <a:lvl5pPr eaLnBrk="0" fontAlgn="base" hangingPunct="0">
              <a:spcBef>
                <a:spcPct val="0"/>
              </a:spcBef>
              <a:spcAft>
                <a:spcPct val="0"/>
              </a:spcAft>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defRPr>
                <a:solidFill>
                  <a:schemeClr val="tx1"/>
                </a:solidFill>
                <a:latin typeface="Arial" panose="020B0604020202020204" pitchFamily="34" charset="0"/>
              </a:defRPr>
            </a:lvl5pPr>
            <a:lvl6pPr eaLnBrk="0" fontAlgn="base" hangingPunct="0">
              <a:spcBef>
                <a:spcPct val="0"/>
              </a:spcBef>
              <a:spcAft>
                <a:spcPct val="0"/>
              </a:spcAft>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defRPr>
                <a:solidFill>
                  <a:schemeClr val="tx1"/>
                </a:solidFill>
                <a:latin typeface="Arial" panose="020B0604020202020204" pitchFamily="34" charset="0"/>
              </a:defRPr>
            </a:lvl6pPr>
            <a:lvl7pPr eaLnBrk="0" fontAlgn="base" hangingPunct="0">
              <a:spcBef>
                <a:spcPct val="0"/>
              </a:spcBef>
              <a:spcAft>
                <a:spcPct val="0"/>
              </a:spcAft>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defRPr>
                <a:solidFill>
                  <a:schemeClr val="tx1"/>
                </a:solidFill>
                <a:latin typeface="Arial" panose="020B0604020202020204" pitchFamily="34" charset="0"/>
              </a:defRPr>
            </a:lvl7pPr>
            <a:lvl8pPr eaLnBrk="0" fontAlgn="base" hangingPunct="0">
              <a:spcBef>
                <a:spcPct val="0"/>
              </a:spcBef>
              <a:spcAft>
                <a:spcPct val="0"/>
              </a:spcAft>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defRPr>
                <a:solidFill>
                  <a:schemeClr val="tx1"/>
                </a:solidFill>
                <a:latin typeface="Arial" panose="020B0604020202020204" pitchFamily="34" charset="0"/>
              </a:defRPr>
            </a:lvl8pPr>
            <a:lvl9pPr eaLnBrk="0" fontAlgn="base" hangingPunct="0">
              <a:spcBef>
                <a:spcPct val="0"/>
              </a:spcBef>
              <a:spcAft>
                <a:spcPct val="0"/>
              </a:spcAft>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altLang="en-US" sz="2000"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Example</a:t>
            </a: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Continuous values (Age):</a:t>
            </a: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18, 20, 22, 25, 28, 35, 42, 50, 60</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endPar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After discretization:</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18–25  → Young</a:t>
            </a: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26–40  → Adult</a:t>
            </a: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41–60  → Senior</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59773F99-B4D6-4EB9-8760-BD153BEE31EC}"/>
              </a:ext>
            </a:extLst>
          </p:cNvPr>
          <p:cNvGraphicFramePr>
            <a:graphicFrameLocks noGrp="1"/>
          </p:cNvGraphicFramePr>
          <p:nvPr>
            <p:extLst>
              <p:ext uri="{D42A27DB-BD31-4B8C-83A1-F6EECF244321}">
                <p14:modId xmlns:p14="http://schemas.microsoft.com/office/powerpoint/2010/main" val="18406048"/>
              </p:ext>
            </p:extLst>
          </p:nvPr>
        </p:nvGraphicFramePr>
        <p:xfrm>
          <a:off x="457200" y="3386930"/>
          <a:ext cx="4572000" cy="2200604"/>
        </p:xfrm>
        <a:graphic>
          <a:graphicData uri="http://schemas.openxmlformats.org/drawingml/2006/table">
            <a:tbl>
              <a:tblPr firstRow="1" firstCol="1" bandRow="1">
                <a:tableStyleId>{5C22544A-7EE6-4342-B048-85BDC9FD1C3A}</a:tableStyleId>
              </a:tblPr>
              <a:tblGrid>
                <a:gridCol w="2286000">
                  <a:extLst>
                    <a:ext uri="{9D8B030D-6E8A-4147-A177-3AD203B41FA5}">
                      <a16:colId xmlns:a16="http://schemas.microsoft.com/office/drawing/2014/main" val="2835109766"/>
                    </a:ext>
                  </a:extLst>
                </a:gridCol>
                <a:gridCol w="2286000">
                  <a:extLst>
                    <a:ext uri="{9D8B030D-6E8A-4147-A177-3AD203B41FA5}">
                      <a16:colId xmlns:a16="http://schemas.microsoft.com/office/drawing/2014/main" val="1959449734"/>
                    </a:ext>
                  </a:extLst>
                </a:gridCol>
              </a:tblGrid>
              <a:tr h="473410">
                <a:tc>
                  <a:txBody>
                    <a:bodyPr/>
                    <a:lstStyle/>
                    <a:p>
                      <a:pPr algn="ctr">
                        <a:lnSpc>
                          <a:spcPct val="107000"/>
                        </a:lnSpc>
                        <a:spcAft>
                          <a:spcPts val="800"/>
                        </a:spcAft>
                      </a:pPr>
                      <a:r>
                        <a:rPr lang="en-IN" sz="1600" dirty="0">
                          <a:effectLst/>
                          <a:latin typeface="Times New Roman" panose="02020603050405020304" pitchFamily="18" charset="0"/>
                          <a:cs typeface="Times New Roman" panose="02020603050405020304" pitchFamily="18" charset="0"/>
                        </a:rPr>
                        <a:t>Marks</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07000"/>
                        </a:lnSpc>
                        <a:spcAft>
                          <a:spcPts val="800"/>
                        </a:spcAft>
                      </a:pPr>
                      <a:r>
                        <a:rPr lang="en-IN" sz="1600">
                          <a:effectLst/>
                          <a:latin typeface="Times New Roman" panose="02020603050405020304" pitchFamily="18" charset="0"/>
                          <a:cs typeface="Times New Roman" panose="02020603050405020304" pitchFamily="18" charset="0"/>
                        </a:rPr>
                        <a:t>Result</a:t>
                      </a:r>
                      <a:endParaRPr lang="en-IN"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668968580"/>
                  </a:ext>
                </a:extLst>
              </a:tr>
              <a:tr h="473410">
                <a:tc>
                  <a:txBody>
                    <a:bodyPr/>
                    <a:lstStyle/>
                    <a:p>
                      <a:pPr>
                        <a:lnSpc>
                          <a:spcPct val="107000"/>
                        </a:lnSpc>
                        <a:spcAft>
                          <a:spcPts val="800"/>
                        </a:spcAft>
                      </a:pPr>
                      <a:r>
                        <a:rPr lang="en-IN" sz="1600" dirty="0">
                          <a:effectLst/>
                          <a:latin typeface="Times New Roman" panose="02020603050405020304" pitchFamily="18" charset="0"/>
                          <a:cs typeface="Times New Roman" panose="02020603050405020304" pitchFamily="18" charset="0"/>
                        </a:rPr>
                        <a:t>35</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1600">
                          <a:effectLst/>
                          <a:latin typeface="Times New Roman" panose="02020603050405020304" pitchFamily="18" charset="0"/>
                          <a:cs typeface="Times New Roman" panose="02020603050405020304" pitchFamily="18" charset="0"/>
                        </a:rPr>
                        <a:t>Fail</a:t>
                      </a:r>
                      <a:endParaRPr lang="en-IN"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5100819"/>
                  </a:ext>
                </a:extLst>
              </a:tr>
              <a:tr h="473410">
                <a:tc>
                  <a:txBody>
                    <a:bodyPr/>
                    <a:lstStyle/>
                    <a:p>
                      <a:pPr>
                        <a:lnSpc>
                          <a:spcPct val="107000"/>
                        </a:lnSpc>
                        <a:spcAft>
                          <a:spcPts val="800"/>
                        </a:spcAft>
                      </a:pPr>
                      <a:r>
                        <a:rPr lang="en-IN" sz="1600" dirty="0">
                          <a:effectLst/>
                          <a:latin typeface="Times New Roman" panose="02020603050405020304" pitchFamily="18" charset="0"/>
                          <a:cs typeface="Times New Roman" panose="02020603050405020304" pitchFamily="18" charset="0"/>
                        </a:rPr>
                        <a:t>40</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1600" dirty="0">
                          <a:effectLst/>
                          <a:latin typeface="Times New Roman" panose="02020603050405020304" pitchFamily="18" charset="0"/>
                          <a:cs typeface="Times New Roman" panose="02020603050405020304" pitchFamily="18" charset="0"/>
                        </a:rPr>
                        <a:t>Pass</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639915799"/>
                  </a:ext>
                </a:extLst>
              </a:tr>
              <a:tr h="473410">
                <a:tc>
                  <a:txBody>
                    <a:bodyPr/>
                    <a:lstStyle/>
                    <a:p>
                      <a:pPr>
                        <a:lnSpc>
                          <a:spcPct val="107000"/>
                        </a:lnSpc>
                        <a:spcAft>
                          <a:spcPts val="800"/>
                        </a:spcAft>
                      </a:pPr>
                      <a:r>
                        <a:rPr lang="en-IN" sz="1600">
                          <a:effectLst/>
                          <a:latin typeface="Times New Roman" panose="02020603050405020304" pitchFamily="18" charset="0"/>
                          <a:cs typeface="Times New Roman" panose="02020603050405020304" pitchFamily="18" charset="0"/>
                        </a:rPr>
                        <a:t>45</a:t>
                      </a:r>
                      <a:endParaRPr lang="en-IN"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1600" dirty="0">
                          <a:effectLst/>
                          <a:latin typeface="Times New Roman" panose="02020603050405020304" pitchFamily="18" charset="0"/>
                          <a:cs typeface="Times New Roman" panose="02020603050405020304" pitchFamily="18" charset="0"/>
                        </a:rPr>
                        <a:t>Pass</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269970310"/>
                  </a:ext>
                </a:extLst>
              </a:tr>
              <a:tr h="306964">
                <a:tc>
                  <a:txBody>
                    <a:bodyPr/>
                    <a:lstStyle/>
                    <a:p>
                      <a:pPr>
                        <a:lnSpc>
                          <a:spcPct val="107000"/>
                        </a:lnSpc>
                        <a:spcAft>
                          <a:spcPts val="800"/>
                        </a:spcAft>
                      </a:pPr>
                      <a:r>
                        <a:rPr lang="en-IN" sz="1600">
                          <a:effectLst/>
                          <a:latin typeface="Times New Roman" panose="02020603050405020304" pitchFamily="18" charset="0"/>
                          <a:cs typeface="Times New Roman" panose="02020603050405020304" pitchFamily="18" charset="0"/>
                        </a:rPr>
                        <a:t>25</a:t>
                      </a:r>
                      <a:endParaRPr lang="en-IN"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1600" dirty="0">
                          <a:effectLst/>
                          <a:latin typeface="Times New Roman" panose="02020603050405020304" pitchFamily="18" charset="0"/>
                          <a:cs typeface="Times New Roman" panose="02020603050405020304" pitchFamily="18" charset="0"/>
                        </a:rPr>
                        <a:t>Fail</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501375789"/>
                  </a:ext>
                </a:extLst>
              </a:tr>
            </a:tbl>
          </a:graphicData>
        </a:graphic>
      </p:graphicFrame>
      <p:sp>
        <p:nvSpPr>
          <p:cNvPr id="4" name="Rectangle 3">
            <a:extLst>
              <a:ext uri="{FF2B5EF4-FFF2-40B4-BE49-F238E27FC236}">
                <a16:creationId xmlns:a16="http://schemas.microsoft.com/office/drawing/2014/main" id="{B6B95D55-B42B-4FD1-95FA-A59065299DA6}"/>
              </a:ext>
            </a:extLst>
          </p:cNvPr>
          <p:cNvSpPr/>
          <p:nvPr/>
        </p:nvSpPr>
        <p:spPr>
          <a:xfrm>
            <a:off x="5334000" y="3386930"/>
            <a:ext cx="3505200" cy="2806859"/>
          </a:xfrm>
          <a:prstGeom prst="rect">
            <a:avLst/>
          </a:prstGeom>
        </p:spPr>
        <p:txBody>
          <a:bodyPr wrap="square">
            <a:spAutoFit/>
          </a:bodyPr>
          <a:lstStyle/>
          <a:p>
            <a:pPr>
              <a:lnSpc>
                <a:spcPct val="10700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2400" dirty="0">
                <a:highlight>
                  <a:srgbClr val="FFFF00"/>
                </a:highlight>
                <a:latin typeface="Times New Roman" panose="02020603050405020304" pitchFamily="18" charset="0"/>
                <a:ea typeface="Times New Roman" panose="02020603050405020304" pitchFamily="18" charset="0"/>
                <a:cs typeface="Times New Roman" panose="02020603050405020304" pitchFamily="18" charset="0"/>
              </a:rPr>
              <a:t>18–25</a:t>
            </a:r>
            <a:endParaRPr lang="en-IN" sz="2400" dirty="0">
              <a:highlight>
                <a:srgbClr val="FFFF00"/>
              </a:highligh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2400" dirty="0">
                <a:highlight>
                  <a:srgbClr val="FFFF00"/>
                </a:highlight>
                <a:latin typeface="Times New Roman" panose="02020603050405020304" pitchFamily="18" charset="0"/>
                <a:ea typeface="Times New Roman" panose="02020603050405020304" pitchFamily="18" charset="0"/>
                <a:cs typeface="Times New Roman" panose="02020603050405020304" pitchFamily="18" charset="0"/>
              </a:rPr>
              <a:t> </a:t>
            </a:r>
            <a:endParaRPr lang="en-IN" sz="2400" dirty="0">
              <a:highlight>
                <a:srgbClr val="FFFF00"/>
              </a:highligh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2400" dirty="0">
                <a:highlight>
                  <a:srgbClr val="FFFF00"/>
                </a:highlight>
                <a:latin typeface="Times New Roman" panose="02020603050405020304" pitchFamily="18" charset="0"/>
                <a:ea typeface="Times New Roman" panose="02020603050405020304" pitchFamily="18" charset="0"/>
                <a:cs typeface="Times New Roman" panose="02020603050405020304" pitchFamily="18" charset="0"/>
              </a:rPr>
              <a:t>26–40</a:t>
            </a:r>
            <a:endParaRPr lang="en-IN" sz="2400" dirty="0">
              <a:highlight>
                <a:srgbClr val="FFFF00"/>
              </a:highligh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2400" dirty="0">
                <a:highlight>
                  <a:srgbClr val="FFFF00"/>
                </a:highlight>
                <a:latin typeface="Times New Roman" panose="02020603050405020304" pitchFamily="18" charset="0"/>
                <a:ea typeface="Times New Roman" panose="02020603050405020304" pitchFamily="18" charset="0"/>
                <a:cs typeface="Times New Roman" panose="02020603050405020304" pitchFamily="18" charset="0"/>
              </a:rPr>
              <a:t> </a:t>
            </a:r>
            <a:endParaRPr lang="en-IN" sz="2400" dirty="0">
              <a:highlight>
                <a:srgbClr val="FFFF00"/>
              </a:highligh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2400" dirty="0">
                <a:highlight>
                  <a:srgbClr val="FFFF00"/>
                </a:highlight>
                <a:latin typeface="Times New Roman" panose="02020603050405020304" pitchFamily="18" charset="0"/>
                <a:ea typeface="Times New Roman" panose="02020603050405020304" pitchFamily="18" charset="0"/>
                <a:cs typeface="Times New Roman" panose="02020603050405020304" pitchFamily="18" charset="0"/>
              </a:rPr>
              <a:t>41–60</a:t>
            </a:r>
            <a:endParaRPr lang="en-IN" sz="2400" dirty="0">
              <a:highlight>
                <a:srgbClr val="FFFF00"/>
              </a:highlight>
              <a:latin typeface="Times New Roman" panose="02020603050405020304" pitchFamily="18" charset="0"/>
              <a:ea typeface="Calibri" panose="020F0502020204030204" pitchFamily="34" charset="0"/>
              <a:cs typeface="Times New Roman" panose="02020603050405020304" pitchFamily="18" charset="0"/>
            </a:endParaRPr>
          </a:p>
          <a:p>
            <a:r>
              <a:rPr lang="en-IN" sz="2400" dirty="0">
                <a:highlight>
                  <a:srgbClr val="FFFF00"/>
                </a:highlight>
                <a:latin typeface="Times New Roman" panose="02020603050405020304" pitchFamily="18" charset="0"/>
                <a:ea typeface="Times New Roman" panose="02020603050405020304" pitchFamily="18" charset="0"/>
                <a:cs typeface="Times New Roman" panose="02020603050405020304" pitchFamily="18" charset="0"/>
              </a:rPr>
              <a:t>No class information is used</a:t>
            </a:r>
            <a:endParaRPr lang="en-IN" sz="2400" dirty="0">
              <a:highlight>
                <a:srgbClr val="FFFF00"/>
              </a:highligh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9614875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FA49FF4-2101-4D38-BDA2-5B085F2DBA29}"/>
              </a:ext>
            </a:extLst>
          </p:cNvPr>
          <p:cNvSpPr>
            <a:spLocks noChangeArrowheads="1"/>
          </p:cNvSpPr>
          <p:nvPr/>
        </p:nvSpPr>
        <p:spPr bwMode="auto">
          <a:xfrm>
            <a:off x="152400" y="1027781"/>
            <a:ext cx="8686800" cy="30110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101568"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Top-Down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Entire Range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18------------------------60↓</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Split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18---------40---------60↓</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Split Again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18----30----40------60</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Rectangle 2">
            <a:extLst>
              <a:ext uri="{FF2B5EF4-FFF2-40B4-BE49-F238E27FC236}">
                <a16:creationId xmlns:a16="http://schemas.microsoft.com/office/drawing/2014/main" id="{5F99796E-2E19-4FCF-A008-1A3D6146AD4C}"/>
              </a:ext>
            </a:extLst>
          </p:cNvPr>
          <p:cNvSpPr>
            <a:spLocks noChangeArrowheads="1"/>
          </p:cNvSpPr>
          <p:nvPr/>
        </p:nvSpPr>
        <p:spPr bwMode="auto">
          <a:xfrm>
            <a:off x="0" y="457199"/>
            <a:ext cx="8839200" cy="288131"/>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4" name="Rectangle 3">
            <a:extLst>
              <a:ext uri="{FF2B5EF4-FFF2-40B4-BE49-F238E27FC236}">
                <a16:creationId xmlns:a16="http://schemas.microsoft.com/office/drawing/2014/main" id="{E69C3BDA-0699-4AFD-BA54-EC6AD4B99292}"/>
              </a:ext>
            </a:extLst>
          </p:cNvPr>
          <p:cNvSpPr>
            <a:spLocks noChangeArrowheads="1"/>
          </p:cNvSpPr>
          <p:nvPr/>
        </p:nvSpPr>
        <p:spPr bwMode="auto">
          <a:xfrm>
            <a:off x="304800" y="3687430"/>
            <a:ext cx="8686800" cy="31239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Bottom-Up</a:t>
            </a:r>
          </a:p>
          <a:p>
            <a:pPr marL="457200" marR="0" lvl="0" indent="-457200" algn="l" defTabSz="914400" rtl="0" eaLnBrk="0" fontAlgn="base" latinLnBrk="0" hangingPunct="0">
              <a:lnSpc>
                <a:spcPct val="100000"/>
              </a:lnSpc>
              <a:spcBef>
                <a:spcPct val="0"/>
              </a:spcBef>
              <a:spcAft>
                <a:spcPct val="0"/>
              </a:spcAft>
              <a:buClrTx/>
              <a:buSzTx/>
              <a:buFontTx/>
              <a:buAutoNum type="arabicPlain" startAt="18"/>
              <a:tabLst/>
            </a:pPr>
            <a: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20   22   25   28   35↓</a:t>
            </a:r>
          </a:p>
          <a:p>
            <a:pPr marR="0" lvl="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Merge</a:t>
            </a:r>
          </a:p>
          <a:p>
            <a:pPr marR="0" lvl="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18 20 22</a:t>
            </a:r>
          </a:p>
          <a:p>
            <a:pPr marR="0" lvl="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25 28</a:t>
            </a:r>
          </a:p>
          <a:p>
            <a:pPr marR="0" lvl="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35↓</a:t>
            </a:r>
          </a:p>
          <a:p>
            <a:pPr marR="0" lvl="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Merge Again</a:t>
            </a:r>
          </a:p>
          <a:p>
            <a:pPr marR="0" lvl="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18–28</a:t>
            </a:r>
          </a:p>
          <a:p>
            <a:pPr marR="0" lvl="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35</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R="0" lvl="0" algn="l" defTabSz="914400" rtl="0" eaLnBrk="0" fontAlgn="base" latinLnBrk="0" hangingPunct="0">
              <a:lnSpc>
                <a:spcPct val="100000"/>
              </a:lnSpc>
              <a:spcBef>
                <a:spcPct val="0"/>
              </a:spcBef>
              <a:spcAft>
                <a:spcPct val="0"/>
              </a:spcAft>
              <a:buClrTx/>
              <a:buSzTx/>
              <a:tabLst/>
            </a:pPr>
            <a:r>
              <a:rPr lang="en-US" altLang="en-US" sz="2000" dirty="0">
                <a:latin typeface="Times New Roman" panose="02020603050405020304" pitchFamily="18" charset="0"/>
                <a:cs typeface="Times New Roman" panose="02020603050405020304" pitchFamily="18" charset="0"/>
              </a:rPr>
              <a:t>Finally 18-35</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3173220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152401"/>
            <a:ext cx="8763000" cy="6617196"/>
          </a:xfrm>
          <a:prstGeom prst="rect">
            <a:avLst/>
          </a:prstGeom>
        </p:spPr>
        <p:txBody>
          <a:bodyPr wrap="square">
            <a:spAutoFit/>
          </a:bodyPr>
          <a:lstStyle/>
          <a:p>
            <a:pPr algn="just"/>
            <a:r>
              <a:rPr lang="en-US" sz="2200" dirty="0">
                <a:latin typeface="Times New Roman" pitchFamily="18" charset="0"/>
                <a:cs typeface="Times New Roman" pitchFamily="18" charset="0"/>
              </a:rPr>
              <a:t>	Data discretization and concept hierarchy generation are also forms of data reduction. The raw data are replaced by a smaller number of interval or concept labels. This simplifies the original data and makes the mining more efficient. The resulting patterns mined are typically easier to understand. Concept hierarchies are also useful for mining at multiple abstraction levels.</a:t>
            </a:r>
          </a:p>
          <a:p>
            <a:pPr algn="just"/>
            <a:endParaRPr lang="en-US" sz="2200" dirty="0">
              <a:latin typeface="Times New Roman" pitchFamily="18" charset="0"/>
              <a:cs typeface="Times New Roman" pitchFamily="18" charset="0"/>
            </a:endParaRPr>
          </a:p>
          <a:p>
            <a:pPr algn="just"/>
            <a:r>
              <a:rPr lang="en-US" sz="2800" dirty="0">
                <a:solidFill>
                  <a:srgbClr val="FF0000"/>
                </a:solidFill>
                <a:latin typeface="Times New Roman" pitchFamily="18" charset="0"/>
                <a:cs typeface="Times New Roman" pitchFamily="18" charset="0"/>
              </a:rPr>
              <a:t>Data Transformation by Normalization: </a:t>
            </a: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The measurement unit used can affect the data analysis. For example, changing measurement units from meters to inches for height, or from kilograms to pounds for weight, may lead to very different results. </a:t>
            </a: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In general, expressing an attribute in smaller units will lead to a larger range for that attribute, and thus tend to give such an attribute greater effect or “weight.” To help avoid dependence on the choice of measurement units, the data should be normalized or standardized. This involves transforming the data to fall within a smaller or common range such as           [-1,1] or [0.0, 1.0]. </a:t>
            </a:r>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val="28970038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152400"/>
            <a:ext cx="8763000" cy="4093428"/>
          </a:xfrm>
          <a:prstGeom prst="rect">
            <a:avLst/>
          </a:prstGeom>
        </p:spPr>
        <p:txBody>
          <a:bodyPr wrap="square">
            <a:spAutoFit/>
          </a:bodyPr>
          <a:lstStyle/>
          <a:p>
            <a:pPr algn="just"/>
            <a:r>
              <a:rPr lang="en-US" dirty="0"/>
              <a:t>	</a:t>
            </a:r>
          </a:p>
          <a:p>
            <a:pPr algn="just"/>
            <a:endParaRPr lang="en-US" sz="2200" dirty="0">
              <a:latin typeface="Times New Roman" pitchFamily="18" charset="0"/>
              <a:cs typeface="Times New Roman" pitchFamily="18" charset="0"/>
            </a:endParaRP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Normalization is particularly useful for classification algorithms involving neural networks or distance measurements such as nearest-neighbor classification and clustering.</a:t>
            </a: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a:t>
            </a:r>
          </a:p>
          <a:p>
            <a:pPr algn="just"/>
            <a:r>
              <a:rPr lang="en-US" sz="2200" dirty="0">
                <a:latin typeface="Times New Roman" pitchFamily="18" charset="0"/>
                <a:cs typeface="Times New Roman" pitchFamily="18" charset="0"/>
              </a:rPr>
              <a:t>	There are many methods for data normalization. We study </a:t>
            </a:r>
            <a:r>
              <a:rPr lang="en-US" sz="2200" dirty="0">
                <a:solidFill>
                  <a:srgbClr val="00B050"/>
                </a:solidFill>
                <a:latin typeface="Times New Roman" pitchFamily="18" charset="0"/>
                <a:cs typeface="Times New Roman" pitchFamily="18" charset="0"/>
              </a:rPr>
              <a:t>min-max normalization, z-score normalization, and normalization by decimal scaling. </a:t>
            </a:r>
            <a:r>
              <a:rPr lang="en-US" sz="2200" dirty="0">
                <a:latin typeface="Times New Roman" pitchFamily="18" charset="0"/>
                <a:cs typeface="Times New Roman" pitchFamily="18" charset="0"/>
              </a:rPr>
              <a:t>For our discussion, let A be a numeric attribute with n observed values, v1,v2, ,</a:t>
            </a:r>
            <a:r>
              <a:rPr lang="en-US" sz="2200" dirty="0" err="1">
                <a:latin typeface="Times New Roman" pitchFamily="18" charset="0"/>
                <a:cs typeface="Times New Roman" pitchFamily="18" charset="0"/>
              </a:rPr>
              <a:t>vn</a:t>
            </a:r>
            <a:r>
              <a:rPr lang="en-US" sz="2200" dirty="0">
                <a:latin typeface="Times New Roman" pitchFamily="18" charset="0"/>
                <a:cs typeface="Times New Roman" pitchFamily="18" charset="0"/>
              </a:rPr>
              <a:t>.</a:t>
            </a:r>
          </a:p>
        </p:txBody>
      </p:sp>
    </p:spTree>
    <p:extLst>
      <p:ext uri="{BB962C8B-B14F-4D97-AF65-F5344CB8AC3E}">
        <p14:creationId xmlns:p14="http://schemas.microsoft.com/office/powerpoint/2010/main" val="83022991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1672" y="152399"/>
            <a:ext cx="8693727" cy="4124206"/>
          </a:xfrm>
          <a:prstGeom prst="rect">
            <a:avLst/>
          </a:prstGeom>
        </p:spPr>
        <p:txBody>
          <a:bodyPr wrap="square">
            <a:spAutoFit/>
          </a:bodyPr>
          <a:lstStyle/>
          <a:p>
            <a:pPr algn="just"/>
            <a:r>
              <a:rPr lang="en-US" dirty="0"/>
              <a:t>	</a:t>
            </a:r>
            <a:endParaRPr lang="en-US" sz="2200" dirty="0">
              <a:latin typeface="Times New Roman" pitchFamily="18" charset="0"/>
              <a:cs typeface="Times New Roman" pitchFamily="18" charset="0"/>
            </a:endParaRPr>
          </a:p>
          <a:p>
            <a:pPr algn="just"/>
            <a:r>
              <a:rPr lang="en-US" sz="2400" dirty="0"/>
              <a:t>	</a:t>
            </a:r>
            <a:r>
              <a:rPr lang="en-US" sz="2200" dirty="0">
                <a:latin typeface="Times New Roman" pitchFamily="18" charset="0"/>
                <a:cs typeface="Times New Roman" pitchFamily="18" charset="0"/>
              </a:rPr>
              <a:t>Min-max normalization performs a linear transformation on the original data. Sup pose that </a:t>
            </a:r>
            <a:r>
              <a:rPr lang="en-US" sz="2200" dirty="0" err="1">
                <a:latin typeface="Times New Roman" pitchFamily="18" charset="0"/>
                <a:cs typeface="Times New Roman" pitchFamily="18" charset="0"/>
              </a:rPr>
              <a:t>min_A</a:t>
            </a:r>
            <a:r>
              <a:rPr lang="en-US" sz="2200" dirty="0">
                <a:latin typeface="Times New Roman" pitchFamily="18" charset="0"/>
                <a:cs typeface="Times New Roman" pitchFamily="18" charset="0"/>
              </a:rPr>
              <a:t> and </a:t>
            </a:r>
            <a:r>
              <a:rPr lang="en-US" sz="2200" dirty="0" err="1">
                <a:latin typeface="Times New Roman" pitchFamily="18" charset="0"/>
                <a:cs typeface="Times New Roman" pitchFamily="18" charset="0"/>
              </a:rPr>
              <a:t>max_A</a:t>
            </a:r>
            <a:r>
              <a:rPr lang="en-US" sz="2200" dirty="0">
                <a:latin typeface="Times New Roman" pitchFamily="18" charset="0"/>
                <a:cs typeface="Times New Roman" pitchFamily="18" charset="0"/>
              </a:rPr>
              <a:t> are the minimum and maximum values of an attribute, A. Min-max normalization maps a value, vi, of A to vi in the range [new </a:t>
            </a:r>
            <a:r>
              <a:rPr lang="en-US" sz="2200" dirty="0" err="1">
                <a:latin typeface="Times New Roman" pitchFamily="18" charset="0"/>
                <a:cs typeface="Times New Roman" pitchFamily="18" charset="0"/>
              </a:rPr>
              <a:t>min_A</a:t>
            </a:r>
            <a:r>
              <a:rPr lang="en-US" sz="2200" dirty="0">
                <a:latin typeface="Times New Roman" pitchFamily="18" charset="0"/>
                <a:cs typeface="Times New Roman" pitchFamily="18" charset="0"/>
              </a:rPr>
              <a:t>, new </a:t>
            </a:r>
            <a:r>
              <a:rPr lang="en-US" sz="2200" dirty="0" err="1">
                <a:latin typeface="Times New Roman" pitchFamily="18" charset="0"/>
                <a:cs typeface="Times New Roman" pitchFamily="18" charset="0"/>
              </a:rPr>
              <a:t>max_A</a:t>
            </a:r>
            <a:r>
              <a:rPr lang="en-US" sz="2200" dirty="0">
                <a:latin typeface="Times New Roman" pitchFamily="18" charset="0"/>
                <a:cs typeface="Times New Roman" pitchFamily="18" charset="0"/>
              </a:rPr>
              <a:t>] by computing:</a:t>
            </a:r>
          </a:p>
          <a:p>
            <a:pPr algn="just"/>
            <a:endParaRPr lang="en-US" sz="2200" dirty="0">
              <a:latin typeface="Times New Roman" pitchFamily="18" charset="0"/>
              <a:cs typeface="Times New Roman" pitchFamily="18" charset="0"/>
            </a:endParaRPr>
          </a:p>
          <a:p>
            <a:pPr algn="just"/>
            <a:endParaRPr lang="en-US" sz="2200" dirty="0">
              <a:latin typeface="Times New Roman" pitchFamily="18" charset="0"/>
              <a:cs typeface="Times New Roman" pitchFamily="18" charset="0"/>
            </a:endParaRPr>
          </a:p>
          <a:p>
            <a:pPr algn="just"/>
            <a:endParaRPr lang="en-US" sz="2200" dirty="0">
              <a:latin typeface="Times New Roman" pitchFamily="18" charset="0"/>
              <a:cs typeface="Times New Roman" pitchFamily="18" charset="0"/>
            </a:endParaRP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Min-max normalization preserves the relationships among the original data values. It will encounter an “out-of-bounds” error if a future input case for normalization falls outside of the original data range for A</a:t>
            </a:r>
            <a:endParaRPr lang="en-IN" sz="2200" dirty="0">
              <a:latin typeface="Times New Roman" pitchFamily="18" charset="0"/>
              <a:cs typeface="Times New Roman" pitchFamily="18" charset="0"/>
            </a:endParaRPr>
          </a:p>
        </p:txBody>
      </p:sp>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981201"/>
            <a:ext cx="7882244" cy="1142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1672" y="4495800"/>
            <a:ext cx="8693727" cy="1390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5938802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76200"/>
            <a:ext cx="8763000" cy="662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3588754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228600"/>
            <a:ext cx="8763000" cy="297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3200400"/>
            <a:ext cx="8762999" cy="350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8371017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152400"/>
            <a:ext cx="8991600" cy="662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70768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152400"/>
            <a:ext cx="8839200" cy="6032421"/>
          </a:xfrm>
          <a:prstGeom prst="rect">
            <a:avLst/>
          </a:prstGeom>
        </p:spPr>
        <p:txBody>
          <a:bodyPr wrap="square">
            <a:spAutoFit/>
          </a:bodyPr>
          <a:lstStyle/>
          <a:p>
            <a:pPr algn="just"/>
            <a:r>
              <a:rPr lang="en-US" sz="2800" dirty="0">
                <a:solidFill>
                  <a:srgbClr val="FF0000"/>
                </a:solidFill>
                <a:latin typeface="Times New Roman" pitchFamily="18" charset="0"/>
                <a:cs typeface="Times New Roman" pitchFamily="18" charset="0"/>
              </a:rPr>
              <a:t>Discretization by Binning:</a:t>
            </a:r>
          </a:p>
          <a:p>
            <a:pPr algn="just"/>
            <a:r>
              <a:rPr lang="en-US" sz="2200" dirty="0">
                <a:latin typeface="Times New Roman" pitchFamily="18" charset="0"/>
                <a:cs typeface="Times New Roman" pitchFamily="18" charset="0"/>
              </a:rPr>
              <a:t>	Binning is a top-down splitting technique based on a specified number of bins.</a:t>
            </a:r>
          </a:p>
          <a:p>
            <a:pPr algn="just"/>
            <a:r>
              <a:rPr lang="en-US" sz="2200" b="1" dirty="0">
                <a:latin typeface="Times New Roman" pitchFamily="18" charset="0"/>
                <a:cs typeface="Times New Roman" pitchFamily="18" charset="0"/>
              </a:rPr>
              <a:t>Example:</a:t>
            </a:r>
            <a:r>
              <a:rPr lang="en-US" sz="2200" dirty="0">
                <a:latin typeface="Times New Roman" pitchFamily="18" charset="0"/>
                <a:cs typeface="Times New Roman" pitchFamily="18" charset="0"/>
              </a:rPr>
              <a:t> attribute values can be discretized by applying equal-width or equal-frequency binning, and then replacing each bin value by the bin mean or median, as in smoothing by bin means or smoothing by bin medians, respectively. These techniques can be applied recursively to the resulting partitions to generate concept hierarchies.</a:t>
            </a:r>
          </a:p>
          <a:p>
            <a:pPr algn="just"/>
            <a:r>
              <a:rPr lang="en-US" sz="2800" dirty="0">
                <a:solidFill>
                  <a:srgbClr val="FF0000"/>
                </a:solidFill>
                <a:latin typeface="Times New Roman" pitchFamily="18" charset="0"/>
                <a:cs typeface="Times New Roman" pitchFamily="18" charset="0"/>
              </a:rPr>
              <a:t>Discretization by Histogram Analysis:</a:t>
            </a:r>
          </a:p>
          <a:p>
            <a:pPr algn="just"/>
            <a:r>
              <a:rPr lang="en-US" sz="2200" dirty="0">
                <a:latin typeface="Times New Roman" pitchFamily="18" charset="0"/>
                <a:cs typeface="Times New Roman" pitchFamily="18" charset="0"/>
              </a:rPr>
              <a:t>	Histogram analysis is an unsupervised discretization technique because it does not use class information. A histogram partitions the values of an attribute, A, into disjoint ranges called buckets or bins. </a:t>
            </a:r>
          </a:p>
          <a:p>
            <a:pPr algn="just"/>
            <a:r>
              <a:rPr lang="en-US" sz="2200" dirty="0">
                <a:solidFill>
                  <a:srgbClr val="0070C0"/>
                </a:solidFill>
                <a:latin typeface="Times New Roman" pitchFamily="18" charset="0"/>
                <a:cs typeface="Times New Roman" pitchFamily="18" charset="0"/>
              </a:rPr>
              <a:t>Various partitioning rules can be used to define histograms: </a:t>
            </a:r>
          </a:p>
          <a:p>
            <a:pPr algn="just"/>
            <a:r>
              <a:rPr lang="en-US" sz="2200" dirty="0">
                <a:solidFill>
                  <a:srgbClr val="00B050"/>
                </a:solidFill>
                <a:latin typeface="Times New Roman" pitchFamily="18" charset="0"/>
                <a:cs typeface="Times New Roman" pitchFamily="18" charset="0"/>
              </a:rPr>
              <a:t>Equal-width histogram: </a:t>
            </a:r>
            <a:r>
              <a:rPr lang="en-US" sz="2200" dirty="0">
                <a:latin typeface="Times New Roman" pitchFamily="18" charset="0"/>
                <a:cs typeface="Times New Roman" pitchFamily="18" charset="0"/>
              </a:rPr>
              <a:t>The values are partitioned into equal-size partitions or ranges. </a:t>
            </a:r>
          </a:p>
          <a:p>
            <a:pPr algn="just"/>
            <a:r>
              <a:rPr lang="en-US" sz="2200" dirty="0">
                <a:solidFill>
                  <a:srgbClr val="00B050"/>
                </a:solidFill>
                <a:latin typeface="Times New Roman" pitchFamily="18" charset="0"/>
                <a:cs typeface="Times New Roman" pitchFamily="18" charset="0"/>
              </a:rPr>
              <a:t>Equal-frequency histogram: </a:t>
            </a:r>
            <a:r>
              <a:rPr lang="en-US" sz="2200" dirty="0">
                <a:latin typeface="Times New Roman" pitchFamily="18" charset="0"/>
                <a:cs typeface="Times New Roman" pitchFamily="18" charset="0"/>
              </a:rPr>
              <a:t>The values are partitioned so that, ideally, each partition contains the same number of data tuples. </a:t>
            </a:r>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val="49028477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152400"/>
            <a:ext cx="8839200" cy="5724644"/>
          </a:xfrm>
          <a:prstGeom prst="rect">
            <a:avLst/>
          </a:prstGeom>
        </p:spPr>
        <p:txBody>
          <a:bodyPr wrap="square">
            <a:spAutoFit/>
          </a:bodyPr>
          <a:lstStyle/>
          <a:p>
            <a:pPr algn="just"/>
            <a:r>
              <a:rPr lang="en-US" sz="2200" dirty="0">
                <a:latin typeface="Times New Roman" pitchFamily="18" charset="0"/>
                <a:cs typeface="Times New Roman" pitchFamily="18" charset="0"/>
              </a:rPr>
              <a:t>	The histogram analysis algorithm can be applied recursively to each partition in order to automatically generate a multilevel concept hierarchy, with the procedure terminating once a pre-specified number of concept levels has been reached. A minimum interval size can also be used per level to control the recursive procedure. This specifies the minimum width of a partition, or the minimum number of values for each partition at each level. Histograms can also be partitioned based on cluster analysis of the data distribution.</a:t>
            </a:r>
          </a:p>
          <a:p>
            <a:pPr algn="just"/>
            <a:endParaRPr lang="en-US" sz="2200" dirty="0">
              <a:latin typeface="Times New Roman" pitchFamily="18" charset="0"/>
              <a:cs typeface="Times New Roman" pitchFamily="18" charset="0"/>
            </a:endParaRPr>
          </a:p>
          <a:p>
            <a:pPr algn="just"/>
            <a:r>
              <a:rPr lang="en-US" sz="2800" dirty="0">
                <a:solidFill>
                  <a:srgbClr val="FF0000"/>
                </a:solidFill>
                <a:latin typeface="Times New Roman" pitchFamily="18" charset="0"/>
                <a:cs typeface="Times New Roman" pitchFamily="18" charset="0"/>
              </a:rPr>
              <a:t>Discretization by Cluster, Decision Tree, and Correlation Analyses:</a:t>
            </a:r>
          </a:p>
          <a:p>
            <a:pPr algn="just"/>
            <a:r>
              <a:rPr lang="en-US" sz="2400" u="sng" dirty="0">
                <a:solidFill>
                  <a:srgbClr val="00B050"/>
                </a:solidFill>
                <a:latin typeface="Times New Roman" pitchFamily="18" charset="0"/>
                <a:cs typeface="Times New Roman" pitchFamily="18" charset="0"/>
              </a:rPr>
              <a:t>Cluster:</a:t>
            </a:r>
          </a:p>
          <a:p>
            <a:pPr algn="just"/>
            <a:r>
              <a:rPr lang="en-US" sz="2200" dirty="0">
                <a:latin typeface="Times New Roman" pitchFamily="18" charset="0"/>
                <a:cs typeface="Times New Roman" pitchFamily="18" charset="0"/>
              </a:rPr>
              <a:t>	A clustering algorithm can be applied to discretize a numeric attribute, A, by partitioning the values of A into clusters or groups. Clustering takes the distribution of A into consideration, as well as the closeness of data points, and therefore is able to produce high-quality discretization results. </a:t>
            </a:r>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val="192203028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152400"/>
            <a:ext cx="8763000" cy="6217087"/>
          </a:xfrm>
          <a:prstGeom prst="rect">
            <a:avLst/>
          </a:prstGeom>
        </p:spPr>
        <p:txBody>
          <a:bodyPr wrap="square">
            <a:spAutoFit/>
          </a:bodyPr>
          <a:lstStyle/>
          <a:p>
            <a:pPr algn="just"/>
            <a:r>
              <a:rPr lang="en-US" sz="2200" dirty="0">
                <a:latin typeface="Times New Roman" pitchFamily="18" charset="0"/>
                <a:cs typeface="Times New Roman" pitchFamily="18" charset="0"/>
              </a:rPr>
              <a:t>	Clustering can be used to generate a concept hierarchy for A by following either a </a:t>
            </a:r>
            <a:r>
              <a:rPr lang="en-US" sz="2200" dirty="0">
                <a:solidFill>
                  <a:srgbClr val="00B050"/>
                </a:solidFill>
                <a:latin typeface="Times New Roman" pitchFamily="18" charset="0"/>
                <a:cs typeface="Times New Roman" pitchFamily="18" charset="0"/>
              </a:rPr>
              <a:t>top-down</a:t>
            </a:r>
            <a:r>
              <a:rPr lang="en-US" sz="2200" dirty="0">
                <a:latin typeface="Times New Roman" pitchFamily="18" charset="0"/>
                <a:cs typeface="Times New Roman" pitchFamily="18" charset="0"/>
              </a:rPr>
              <a:t> splitting strategy or a </a:t>
            </a:r>
            <a:r>
              <a:rPr lang="en-US" sz="2200" dirty="0">
                <a:solidFill>
                  <a:srgbClr val="00B050"/>
                </a:solidFill>
                <a:latin typeface="Times New Roman" pitchFamily="18" charset="0"/>
                <a:cs typeface="Times New Roman" pitchFamily="18" charset="0"/>
              </a:rPr>
              <a:t>bottom-up</a:t>
            </a:r>
            <a:r>
              <a:rPr lang="en-US" sz="2200" dirty="0">
                <a:latin typeface="Times New Roman" pitchFamily="18" charset="0"/>
                <a:cs typeface="Times New Roman" pitchFamily="18" charset="0"/>
              </a:rPr>
              <a:t> merging strategy, where each cluster forms a node of the concept hierarchy. In the </a:t>
            </a:r>
            <a:r>
              <a:rPr lang="en-US" sz="2200" dirty="0">
                <a:solidFill>
                  <a:srgbClr val="FF0000"/>
                </a:solidFill>
                <a:latin typeface="Times New Roman" pitchFamily="18" charset="0"/>
                <a:cs typeface="Times New Roman" pitchFamily="18" charset="0"/>
              </a:rPr>
              <a:t>former,</a:t>
            </a:r>
            <a:r>
              <a:rPr lang="en-US" sz="2200" dirty="0">
                <a:latin typeface="Times New Roman" pitchFamily="18" charset="0"/>
                <a:cs typeface="Times New Roman" pitchFamily="18" charset="0"/>
              </a:rPr>
              <a:t> </a:t>
            </a:r>
            <a:r>
              <a:rPr lang="en-US" sz="2200" dirty="0">
                <a:solidFill>
                  <a:srgbClr val="00B050"/>
                </a:solidFill>
                <a:latin typeface="Times New Roman" pitchFamily="18" charset="0"/>
                <a:cs typeface="Times New Roman" pitchFamily="18" charset="0"/>
              </a:rPr>
              <a:t>each initial cluster or partition may be further decomposed into several </a:t>
            </a:r>
            <a:r>
              <a:rPr lang="en-US" sz="2200" dirty="0" err="1">
                <a:solidFill>
                  <a:srgbClr val="00B050"/>
                </a:solidFill>
                <a:latin typeface="Times New Roman" pitchFamily="18" charset="0"/>
                <a:cs typeface="Times New Roman" pitchFamily="18" charset="0"/>
              </a:rPr>
              <a:t>subclusters</a:t>
            </a:r>
            <a:r>
              <a:rPr lang="en-US" sz="2200" dirty="0">
                <a:solidFill>
                  <a:srgbClr val="00B050"/>
                </a:solidFill>
                <a:latin typeface="Times New Roman" pitchFamily="18" charset="0"/>
                <a:cs typeface="Times New Roman" pitchFamily="18" charset="0"/>
              </a:rPr>
              <a:t>, forming a lower level of the hierarchy</a:t>
            </a:r>
            <a:r>
              <a:rPr lang="en-US" sz="2200" dirty="0">
                <a:latin typeface="Times New Roman" pitchFamily="18" charset="0"/>
                <a:cs typeface="Times New Roman" pitchFamily="18" charset="0"/>
              </a:rPr>
              <a:t>. In the </a:t>
            </a:r>
            <a:r>
              <a:rPr lang="en-US" sz="2200" dirty="0">
                <a:solidFill>
                  <a:srgbClr val="FF0000"/>
                </a:solidFill>
                <a:latin typeface="Times New Roman" pitchFamily="18" charset="0"/>
                <a:cs typeface="Times New Roman" pitchFamily="18" charset="0"/>
              </a:rPr>
              <a:t>latter,</a:t>
            </a:r>
            <a:r>
              <a:rPr lang="en-US" sz="2200" dirty="0">
                <a:latin typeface="Times New Roman" pitchFamily="18" charset="0"/>
                <a:cs typeface="Times New Roman" pitchFamily="18" charset="0"/>
              </a:rPr>
              <a:t> </a:t>
            </a:r>
            <a:r>
              <a:rPr lang="en-US" sz="2200" dirty="0">
                <a:solidFill>
                  <a:srgbClr val="002060"/>
                </a:solidFill>
                <a:latin typeface="Times New Roman" pitchFamily="18" charset="0"/>
                <a:cs typeface="Times New Roman" pitchFamily="18" charset="0"/>
              </a:rPr>
              <a:t>clusters are formed by repeatedly grouping neighboring clusters in order to form higher-level concepts</a:t>
            </a:r>
            <a:r>
              <a:rPr lang="en-US" sz="2200" dirty="0">
                <a:latin typeface="Times New Roman" pitchFamily="18" charset="0"/>
                <a:cs typeface="Times New Roman" pitchFamily="18" charset="0"/>
              </a:rPr>
              <a:t>. </a:t>
            </a:r>
          </a:p>
          <a:p>
            <a:pPr algn="just"/>
            <a:endParaRPr lang="en-US" sz="2200" dirty="0">
              <a:latin typeface="Times New Roman" pitchFamily="18" charset="0"/>
              <a:cs typeface="Times New Roman" pitchFamily="18" charset="0"/>
            </a:endParaRPr>
          </a:p>
          <a:p>
            <a:pPr algn="just"/>
            <a:r>
              <a:rPr lang="en-US" sz="2400" dirty="0">
                <a:solidFill>
                  <a:srgbClr val="00B050"/>
                </a:solidFill>
                <a:latin typeface="Times New Roman" pitchFamily="18" charset="0"/>
                <a:cs typeface="Times New Roman" pitchFamily="18" charset="0"/>
              </a:rPr>
              <a:t>Decision trees:</a:t>
            </a:r>
          </a:p>
          <a:p>
            <a:pPr algn="just"/>
            <a:r>
              <a:rPr lang="en-US" sz="2200" dirty="0">
                <a:latin typeface="Times New Roman" pitchFamily="18" charset="0"/>
                <a:cs typeface="Times New Roman" pitchFamily="18" charset="0"/>
              </a:rPr>
              <a:t>	Different techniques to generate decision trees for classification can be applied to discretization. Such techniques employ a top-down splitting approach. Decision tree approaches to discretization are supervised, that is, they make use of class label information. </a:t>
            </a:r>
          </a:p>
          <a:p>
            <a:pPr algn="just"/>
            <a:r>
              <a:rPr lang="en-US" sz="2200" dirty="0">
                <a:latin typeface="Times New Roman" pitchFamily="18" charset="0"/>
                <a:cs typeface="Times New Roman" pitchFamily="18" charset="0"/>
              </a:rPr>
              <a:t>	For example, we may have a data set of patient symptoms where each patient has an associated diagnosis class label. Class distribution information is used in the calculation and determination of split-points. Intuitively, the main idea is to select split-points so that a given resulting partition contains as many tuples of the same class as possible.</a:t>
            </a:r>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val="401787310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090F5851-F4E4-4C02-9DD6-687E292C6733}"/>
              </a:ext>
            </a:extLst>
          </p:cNvPr>
          <p:cNvGraphicFramePr>
            <a:graphicFrameLocks noGrp="1"/>
          </p:cNvGraphicFramePr>
          <p:nvPr>
            <p:extLst>
              <p:ext uri="{D42A27DB-BD31-4B8C-83A1-F6EECF244321}">
                <p14:modId xmlns:p14="http://schemas.microsoft.com/office/powerpoint/2010/main" val="1734763781"/>
              </p:ext>
            </p:extLst>
          </p:nvPr>
        </p:nvGraphicFramePr>
        <p:xfrm>
          <a:off x="228600" y="381000"/>
          <a:ext cx="8458200" cy="3428999"/>
        </p:xfrm>
        <a:graphic>
          <a:graphicData uri="http://schemas.openxmlformats.org/drawingml/2006/table">
            <a:tbl>
              <a:tblPr firstRow="1" firstCol="1" bandRow="1">
                <a:tableStyleId>{5C22544A-7EE6-4342-B048-85BDC9FD1C3A}</a:tableStyleId>
              </a:tblPr>
              <a:tblGrid>
                <a:gridCol w="4229100">
                  <a:extLst>
                    <a:ext uri="{9D8B030D-6E8A-4147-A177-3AD203B41FA5}">
                      <a16:colId xmlns:a16="http://schemas.microsoft.com/office/drawing/2014/main" val="3955371048"/>
                    </a:ext>
                  </a:extLst>
                </a:gridCol>
                <a:gridCol w="4229100">
                  <a:extLst>
                    <a:ext uri="{9D8B030D-6E8A-4147-A177-3AD203B41FA5}">
                      <a16:colId xmlns:a16="http://schemas.microsoft.com/office/drawing/2014/main" val="3294871926"/>
                    </a:ext>
                  </a:extLst>
                </a:gridCol>
              </a:tblGrid>
              <a:tr h="489857">
                <a:tc>
                  <a:txBody>
                    <a:bodyPr/>
                    <a:lstStyle/>
                    <a:p>
                      <a:pPr algn="ctr">
                        <a:lnSpc>
                          <a:spcPct val="107000"/>
                        </a:lnSpc>
                        <a:spcAft>
                          <a:spcPts val="800"/>
                        </a:spcAft>
                      </a:pPr>
                      <a:r>
                        <a:rPr lang="en-IN" sz="2400" dirty="0">
                          <a:effectLst/>
                          <a:latin typeface="Times New Roman" panose="02020603050405020304" pitchFamily="18" charset="0"/>
                          <a:cs typeface="Times New Roman" panose="02020603050405020304" pitchFamily="18" charset="0"/>
                        </a:rPr>
                        <a:t>Age</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07000"/>
                        </a:lnSpc>
                        <a:spcAft>
                          <a:spcPts val="800"/>
                        </a:spcAft>
                      </a:pPr>
                      <a:r>
                        <a:rPr lang="en-IN" sz="2400">
                          <a:effectLst/>
                          <a:latin typeface="Times New Roman" panose="02020603050405020304" pitchFamily="18" charset="0"/>
                          <a:cs typeface="Times New Roman" panose="02020603050405020304" pitchFamily="18" charset="0"/>
                        </a:rPr>
                        <a:t>Diagnosis</a:t>
                      </a:r>
                      <a:endParaRPr lang="en-IN"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892180152"/>
                  </a:ext>
                </a:extLst>
              </a:tr>
              <a:tr h="489857">
                <a:tc>
                  <a:txBody>
                    <a:bodyPr/>
                    <a:lstStyle/>
                    <a:p>
                      <a:pPr>
                        <a:lnSpc>
                          <a:spcPct val="107000"/>
                        </a:lnSpc>
                        <a:spcAft>
                          <a:spcPts val="800"/>
                        </a:spcAft>
                      </a:pPr>
                      <a:r>
                        <a:rPr lang="en-IN" sz="2400" dirty="0">
                          <a:effectLst/>
                          <a:latin typeface="Times New Roman" panose="02020603050405020304" pitchFamily="18" charset="0"/>
                          <a:cs typeface="Times New Roman" panose="02020603050405020304" pitchFamily="18" charset="0"/>
                        </a:rPr>
                        <a:t>22</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2400">
                          <a:effectLst/>
                          <a:latin typeface="Times New Roman" panose="02020603050405020304" pitchFamily="18" charset="0"/>
                          <a:cs typeface="Times New Roman" panose="02020603050405020304" pitchFamily="18" charset="0"/>
                        </a:rPr>
                        <a:t>Healthy</a:t>
                      </a:r>
                      <a:endParaRPr lang="en-IN"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070674682"/>
                  </a:ext>
                </a:extLst>
              </a:tr>
              <a:tr h="489857">
                <a:tc>
                  <a:txBody>
                    <a:bodyPr/>
                    <a:lstStyle/>
                    <a:p>
                      <a:pPr>
                        <a:lnSpc>
                          <a:spcPct val="107000"/>
                        </a:lnSpc>
                        <a:spcAft>
                          <a:spcPts val="800"/>
                        </a:spcAft>
                      </a:pPr>
                      <a:r>
                        <a:rPr lang="en-IN" sz="2400" dirty="0">
                          <a:effectLst/>
                          <a:latin typeface="Times New Roman" panose="02020603050405020304" pitchFamily="18" charset="0"/>
                          <a:cs typeface="Times New Roman" panose="02020603050405020304" pitchFamily="18" charset="0"/>
                        </a:rPr>
                        <a:t>25</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2400">
                          <a:effectLst/>
                          <a:latin typeface="Times New Roman" panose="02020603050405020304" pitchFamily="18" charset="0"/>
                          <a:cs typeface="Times New Roman" panose="02020603050405020304" pitchFamily="18" charset="0"/>
                        </a:rPr>
                        <a:t>Healthy</a:t>
                      </a:r>
                      <a:endParaRPr lang="en-IN"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054926276"/>
                  </a:ext>
                </a:extLst>
              </a:tr>
              <a:tr h="489857">
                <a:tc>
                  <a:txBody>
                    <a:bodyPr/>
                    <a:lstStyle/>
                    <a:p>
                      <a:pPr>
                        <a:lnSpc>
                          <a:spcPct val="107000"/>
                        </a:lnSpc>
                        <a:spcAft>
                          <a:spcPts val="800"/>
                        </a:spcAft>
                      </a:pPr>
                      <a:r>
                        <a:rPr lang="en-IN" sz="2400" dirty="0">
                          <a:effectLst/>
                          <a:latin typeface="Times New Roman" panose="02020603050405020304" pitchFamily="18" charset="0"/>
                          <a:cs typeface="Times New Roman" panose="02020603050405020304" pitchFamily="18" charset="0"/>
                        </a:rPr>
                        <a:t>30</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2400">
                          <a:effectLst/>
                          <a:latin typeface="Times New Roman" panose="02020603050405020304" pitchFamily="18" charset="0"/>
                          <a:cs typeface="Times New Roman" panose="02020603050405020304" pitchFamily="18" charset="0"/>
                        </a:rPr>
                        <a:t>Healthy</a:t>
                      </a:r>
                      <a:endParaRPr lang="en-IN"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734369164"/>
                  </a:ext>
                </a:extLst>
              </a:tr>
              <a:tr h="489857">
                <a:tc>
                  <a:txBody>
                    <a:bodyPr/>
                    <a:lstStyle/>
                    <a:p>
                      <a:pPr>
                        <a:lnSpc>
                          <a:spcPct val="107000"/>
                        </a:lnSpc>
                        <a:spcAft>
                          <a:spcPts val="800"/>
                        </a:spcAft>
                      </a:pPr>
                      <a:r>
                        <a:rPr lang="en-IN" sz="2400" dirty="0">
                          <a:effectLst/>
                          <a:latin typeface="Times New Roman" panose="02020603050405020304" pitchFamily="18" charset="0"/>
                          <a:cs typeface="Times New Roman" panose="02020603050405020304" pitchFamily="18" charset="0"/>
                        </a:rPr>
                        <a:t>45</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2400" dirty="0">
                          <a:effectLst/>
                          <a:latin typeface="Times New Roman" panose="02020603050405020304" pitchFamily="18" charset="0"/>
                          <a:cs typeface="Times New Roman" panose="02020603050405020304" pitchFamily="18" charset="0"/>
                        </a:rPr>
                        <a:t>Diabetes</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15293348"/>
                  </a:ext>
                </a:extLst>
              </a:tr>
              <a:tr h="489857">
                <a:tc>
                  <a:txBody>
                    <a:bodyPr/>
                    <a:lstStyle/>
                    <a:p>
                      <a:pPr>
                        <a:lnSpc>
                          <a:spcPct val="107000"/>
                        </a:lnSpc>
                        <a:spcAft>
                          <a:spcPts val="800"/>
                        </a:spcAft>
                      </a:pPr>
                      <a:r>
                        <a:rPr lang="en-IN" sz="2400">
                          <a:effectLst/>
                          <a:latin typeface="Times New Roman" panose="02020603050405020304" pitchFamily="18" charset="0"/>
                          <a:cs typeface="Times New Roman" panose="02020603050405020304" pitchFamily="18" charset="0"/>
                        </a:rPr>
                        <a:t>50</a:t>
                      </a:r>
                      <a:endParaRPr lang="en-IN"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2400" dirty="0">
                          <a:effectLst/>
                          <a:latin typeface="Times New Roman" panose="02020603050405020304" pitchFamily="18" charset="0"/>
                          <a:cs typeface="Times New Roman" panose="02020603050405020304" pitchFamily="18" charset="0"/>
                        </a:rPr>
                        <a:t>Diabetes</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565101913"/>
                  </a:ext>
                </a:extLst>
              </a:tr>
              <a:tr h="489857">
                <a:tc>
                  <a:txBody>
                    <a:bodyPr/>
                    <a:lstStyle/>
                    <a:p>
                      <a:pPr>
                        <a:lnSpc>
                          <a:spcPct val="107000"/>
                        </a:lnSpc>
                        <a:spcAft>
                          <a:spcPts val="800"/>
                        </a:spcAft>
                      </a:pPr>
                      <a:r>
                        <a:rPr lang="en-IN" sz="2400">
                          <a:effectLst/>
                          <a:latin typeface="Times New Roman" panose="02020603050405020304" pitchFamily="18" charset="0"/>
                          <a:cs typeface="Times New Roman" panose="02020603050405020304" pitchFamily="18" charset="0"/>
                        </a:rPr>
                        <a:t>60</a:t>
                      </a:r>
                      <a:endParaRPr lang="en-IN"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2400" dirty="0">
                          <a:effectLst/>
                          <a:latin typeface="Times New Roman" panose="02020603050405020304" pitchFamily="18" charset="0"/>
                          <a:cs typeface="Times New Roman" panose="02020603050405020304" pitchFamily="18" charset="0"/>
                        </a:rPr>
                        <a:t>Diabetes</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328408642"/>
                  </a:ext>
                </a:extLst>
              </a:tr>
            </a:tbl>
          </a:graphicData>
        </a:graphic>
      </p:graphicFrame>
      <p:sp>
        <p:nvSpPr>
          <p:cNvPr id="3" name="Rectangle 1">
            <a:extLst>
              <a:ext uri="{FF2B5EF4-FFF2-40B4-BE49-F238E27FC236}">
                <a16:creationId xmlns:a16="http://schemas.microsoft.com/office/drawing/2014/main" id="{D05BEC71-8207-4456-AA0E-5BFB78528DD8}"/>
              </a:ext>
            </a:extLst>
          </p:cNvPr>
          <p:cNvSpPr>
            <a:spLocks noChangeArrowheads="1"/>
          </p:cNvSpPr>
          <p:nvPr/>
        </p:nvSpPr>
        <p:spPr bwMode="auto">
          <a:xfrm>
            <a:off x="1143000" y="3834817"/>
            <a:ext cx="213360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Here, the class label is </a:t>
            </a:r>
            <a:r>
              <a:rPr kumimoji="0" lang="en-US" altLang="en-US" sz="2000"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Diagnosis</a:t>
            </a:r>
            <a:r>
              <a:rPr kumimoji="0" lang="en-US" altLang="en-US" sz="12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Rectangle 3">
            <a:extLst>
              <a:ext uri="{FF2B5EF4-FFF2-40B4-BE49-F238E27FC236}">
                <a16:creationId xmlns:a16="http://schemas.microsoft.com/office/drawing/2014/main" id="{35D57E31-3615-453F-AD42-1C2A0401A6E8}"/>
              </a:ext>
            </a:extLst>
          </p:cNvPr>
          <p:cNvSpPr/>
          <p:nvPr/>
        </p:nvSpPr>
        <p:spPr>
          <a:xfrm>
            <a:off x="3581400" y="4151088"/>
            <a:ext cx="4876800" cy="1535613"/>
          </a:xfrm>
          <a:prstGeom prst="rect">
            <a:avLst/>
          </a:prstGeom>
        </p:spPr>
        <p:txBody>
          <a:bodyPr wrap="square">
            <a:spAutoFit/>
          </a:bodyPr>
          <a:lstStyle/>
          <a:p>
            <a:r>
              <a:rPr lang="en-IN" dirty="0">
                <a:latin typeface="Times New Roman" panose="02020603050405020304" pitchFamily="18" charset="0"/>
                <a:ea typeface="Times New Roman" panose="02020603050405020304" pitchFamily="18" charset="0"/>
              </a:rPr>
              <a:t>The algorithm searches for a split point that separates the classes as clearly as possible.</a:t>
            </a:r>
          </a:p>
          <a:p>
            <a:r>
              <a:rPr lang="en-IN" dirty="0">
                <a:latin typeface="Times New Roman" panose="02020603050405020304" pitchFamily="18" charset="0"/>
                <a:ea typeface="Times New Roman" panose="02020603050405020304" pitchFamily="18" charset="0"/>
              </a:rPr>
              <a:t>A split at </a:t>
            </a:r>
            <a:r>
              <a:rPr lang="en-IN" b="1" dirty="0">
                <a:latin typeface="Times New Roman" panose="02020603050405020304" pitchFamily="18" charset="0"/>
                <a:ea typeface="Times New Roman" panose="02020603050405020304" pitchFamily="18" charset="0"/>
              </a:rPr>
              <a:t>Age = 37.5</a:t>
            </a:r>
            <a:r>
              <a:rPr lang="en-IN" dirty="0">
                <a:latin typeface="Times New Roman" panose="02020603050405020304" pitchFamily="18" charset="0"/>
                <a:ea typeface="Times New Roman" panose="02020603050405020304" pitchFamily="18" charset="0"/>
              </a:rPr>
              <a:t> produces:</a:t>
            </a:r>
          </a:p>
          <a:p>
            <a:pPr marL="342900" lvl="0" indent="-342900">
              <a:lnSpc>
                <a:spcPct val="107000"/>
              </a:lnSpc>
              <a:spcAft>
                <a:spcPts val="800"/>
              </a:spcAft>
              <a:buSzPts val="1000"/>
              <a:buFont typeface="Symbol" panose="05050102010706020507" pitchFamily="18" charset="2"/>
              <a:buChar char=""/>
              <a:tabLst>
                <a:tab pos="457200" algn="l"/>
              </a:tabLst>
            </a:pPr>
            <a:r>
              <a:rPr lang="en-IN" sz="1600" b="1" dirty="0">
                <a:latin typeface="Calibri" panose="020F0502020204030204" pitchFamily="34" charset="0"/>
                <a:ea typeface="Calibri" panose="020F0502020204030204" pitchFamily="34" charset="0"/>
                <a:cs typeface="Times New Roman" panose="02020603050405020304" pitchFamily="18" charset="0"/>
              </a:rPr>
              <a:t>Age ≤ 37.5</a:t>
            </a:r>
            <a:r>
              <a:rPr lang="en-IN" sz="1600" dirty="0">
                <a:latin typeface="Calibri" panose="020F0502020204030204" pitchFamily="34" charset="0"/>
                <a:ea typeface="Calibri" panose="020F0502020204030204" pitchFamily="34" charset="0"/>
                <a:cs typeface="Times New Roman" panose="02020603050405020304" pitchFamily="18" charset="0"/>
              </a:rPr>
              <a:t> → Mostly Healthy </a:t>
            </a:r>
          </a:p>
          <a:p>
            <a:r>
              <a:rPr lang="en-IN" sz="1600" b="1" dirty="0">
                <a:latin typeface="Calibri" panose="020F0502020204030204" pitchFamily="34" charset="0"/>
                <a:ea typeface="Calibri" panose="020F0502020204030204" pitchFamily="34" charset="0"/>
                <a:cs typeface="Times New Roman" panose="02020603050405020304" pitchFamily="18" charset="0"/>
              </a:rPr>
              <a:t>Age &gt; 37.5</a:t>
            </a:r>
            <a:r>
              <a:rPr lang="en-IN" sz="1600" dirty="0">
                <a:latin typeface="Calibri" panose="020F0502020204030204" pitchFamily="34" charset="0"/>
                <a:ea typeface="Calibri" panose="020F0502020204030204" pitchFamily="34" charset="0"/>
                <a:cs typeface="Times New Roman" panose="02020603050405020304" pitchFamily="18" charset="0"/>
              </a:rPr>
              <a:t> → Mostly Diabetes </a:t>
            </a:r>
            <a:endParaRPr lang="en-IN" dirty="0"/>
          </a:p>
        </p:txBody>
      </p:sp>
    </p:spTree>
    <p:extLst>
      <p:ext uri="{BB962C8B-B14F-4D97-AF65-F5344CB8AC3E}">
        <p14:creationId xmlns:p14="http://schemas.microsoft.com/office/powerpoint/2010/main" val="377195159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7F8BB7-B2CA-49CE-945A-C9E9BC8D2B7B}"/>
              </a:ext>
            </a:extLst>
          </p:cNvPr>
          <p:cNvSpPr/>
          <p:nvPr/>
        </p:nvSpPr>
        <p:spPr>
          <a:xfrm>
            <a:off x="381000" y="381000"/>
            <a:ext cx="6477000" cy="6731202"/>
          </a:xfrm>
          <a:prstGeom prst="rect">
            <a:avLst/>
          </a:prstGeom>
        </p:spPr>
        <p:txBody>
          <a:bodyPr wrap="square">
            <a:spAutoFit/>
          </a:bodyPr>
          <a:lstStyle/>
          <a:p>
            <a:pPr>
              <a:lnSpc>
                <a:spcPct val="107000"/>
              </a:lnSpc>
              <a:spcAft>
                <a:spcPts val="800"/>
              </a:spcAft>
            </a:pPr>
            <a:r>
              <a:rPr lang="en-IN" sz="2400" b="1" dirty="0">
                <a:latin typeface="Times New Roman" panose="02020603050405020304" pitchFamily="18" charset="0"/>
                <a:ea typeface="Times New Roman" panose="02020603050405020304" pitchFamily="18" charset="0"/>
                <a:cs typeface="Times New Roman" panose="02020603050405020304" pitchFamily="18" charset="0"/>
              </a:rPr>
              <a:t>Entropy</a:t>
            </a:r>
            <a:r>
              <a:rPr lang="en-IN" sz="2400" dirty="0">
                <a:latin typeface="Times New Roman" panose="02020603050405020304" pitchFamily="18" charset="0"/>
                <a:ea typeface="Times New Roman" panose="02020603050405020304" pitchFamily="18" charset="0"/>
                <a:cs typeface="Times New Roman" panose="02020603050405020304" pitchFamily="18" charset="0"/>
              </a:rPr>
              <a:t> is the most commonly used measure for selecting the best split point during decision tree-based discretization. It measures the </a:t>
            </a:r>
            <a:r>
              <a:rPr lang="en-IN" sz="2400" b="1" dirty="0">
                <a:latin typeface="Times New Roman" panose="02020603050405020304" pitchFamily="18" charset="0"/>
                <a:ea typeface="Times New Roman" panose="02020603050405020304" pitchFamily="18" charset="0"/>
                <a:cs typeface="Times New Roman" panose="02020603050405020304" pitchFamily="18" charset="0"/>
              </a:rPr>
              <a:t>impurity</a:t>
            </a:r>
            <a:r>
              <a:rPr lang="en-IN" sz="2400" dirty="0">
                <a:latin typeface="Times New Roman" panose="02020603050405020304" pitchFamily="18" charset="0"/>
                <a:ea typeface="Times New Roman" panose="02020603050405020304" pitchFamily="18" charset="0"/>
                <a:cs typeface="Times New Roman" panose="02020603050405020304" pitchFamily="18" charset="0"/>
              </a:rPr>
              <a:t> or </a:t>
            </a:r>
            <a:r>
              <a:rPr lang="en-IN" sz="2400" b="1" dirty="0">
                <a:latin typeface="Times New Roman" panose="02020603050405020304" pitchFamily="18" charset="0"/>
                <a:ea typeface="Times New Roman" panose="02020603050405020304" pitchFamily="18" charset="0"/>
                <a:cs typeface="Times New Roman" panose="02020603050405020304" pitchFamily="18" charset="0"/>
              </a:rPr>
              <a:t>uncertainty</a:t>
            </a:r>
            <a:r>
              <a:rPr lang="en-IN" sz="2400" dirty="0">
                <a:latin typeface="Times New Roman" panose="02020603050405020304" pitchFamily="18" charset="0"/>
                <a:ea typeface="Times New Roman" panose="02020603050405020304" pitchFamily="18" charset="0"/>
                <a:cs typeface="Times New Roman" panose="02020603050405020304" pitchFamily="18" charset="0"/>
              </a:rPr>
              <a:t> of the data.</a:t>
            </a:r>
            <a:endParaRPr lang="en-IN" sz="2400" dirty="0">
              <a:latin typeface="Times New Roman" panose="02020603050405020304" pitchFamily="18" charset="0"/>
              <a:ea typeface="Calibri" panose="020F0502020204030204" pitchFamily="34" charset="0"/>
              <a:cs typeface="Times New Roman" panose="02020603050405020304" pitchFamily="18" charset="0"/>
            </a:endParaRPr>
          </a:p>
          <a:p>
            <a:pPr lvl="0">
              <a:lnSpc>
                <a:spcPct val="107000"/>
              </a:lnSpc>
              <a:spcAft>
                <a:spcPts val="800"/>
              </a:spcAft>
              <a:buSzPts val="1000"/>
              <a:tabLst>
                <a:tab pos="457200" algn="l"/>
              </a:tabLst>
            </a:pPr>
            <a:r>
              <a:rPr lang="en-IN" sz="2400" b="1" dirty="0">
                <a:latin typeface="Times New Roman" panose="02020603050405020304" pitchFamily="18" charset="0"/>
                <a:ea typeface="Times New Roman" panose="02020603050405020304" pitchFamily="18" charset="0"/>
                <a:cs typeface="Times New Roman" panose="02020603050405020304" pitchFamily="18" charset="0"/>
              </a:rPr>
              <a:t>Low entropy</a:t>
            </a:r>
            <a:r>
              <a:rPr lang="en-IN" sz="2400" dirty="0">
                <a:latin typeface="Times New Roman" panose="02020603050405020304" pitchFamily="18" charset="0"/>
                <a:ea typeface="Times New Roman" panose="02020603050405020304" pitchFamily="18" charset="0"/>
                <a:cs typeface="Times New Roman" panose="02020603050405020304" pitchFamily="18" charset="0"/>
              </a:rPr>
              <a:t> → Most records belong to the same class (high purity). </a:t>
            </a:r>
            <a:endParaRPr lang="en-IN" sz="2400" dirty="0">
              <a:latin typeface="Times New Roman" panose="02020603050405020304" pitchFamily="18" charset="0"/>
              <a:ea typeface="Calibri" panose="020F0502020204030204" pitchFamily="34" charset="0"/>
              <a:cs typeface="Times New Roman" panose="02020603050405020304" pitchFamily="18" charset="0"/>
            </a:endParaRPr>
          </a:p>
          <a:p>
            <a:r>
              <a:rPr lang="en-IN" sz="2400" b="1" dirty="0">
                <a:latin typeface="Times New Roman" panose="02020603050405020304" pitchFamily="18" charset="0"/>
                <a:ea typeface="Times New Roman" panose="02020603050405020304" pitchFamily="18" charset="0"/>
                <a:cs typeface="Times New Roman" panose="02020603050405020304" pitchFamily="18" charset="0"/>
              </a:rPr>
              <a:t>High entropy</a:t>
            </a:r>
            <a:r>
              <a:rPr lang="en-IN" sz="2400" dirty="0">
                <a:latin typeface="Times New Roman" panose="02020603050405020304" pitchFamily="18" charset="0"/>
                <a:ea typeface="Times New Roman" panose="02020603050405020304" pitchFamily="18" charset="0"/>
                <a:cs typeface="Times New Roman" panose="02020603050405020304" pitchFamily="18" charset="0"/>
              </a:rPr>
              <a:t> → Records belong to different classes (high impurity). </a:t>
            </a:r>
            <a:r>
              <a:rPr lang="en-IN" sz="2400" dirty="0">
                <a:latin typeface="Times New Roman" panose="02020603050405020304" pitchFamily="18" charset="0"/>
                <a:cs typeface="Times New Roman" panose="02020603050405020304" pitchFamily="18" charset="0"/>
              </a:rPr>
              <a:t>Possible split points are between adjacent values.</a:t>
            </a:r>
          </a:p>
          <a:p>
            <a:r>
              <a:rPr lang="en-IN" sz="2400" dirty="0">
                <a:latin typeface="Times New Roman" panose="02020603050405020304" pitchFamily="18" charset="0"/>
                <a:cs typeface="Times New Roman" panose="02020603050405020304" pitchFamily="18" charset="0"/>
              </a:rPr>
              <a:t>For example:</a:t>
            </a:r>
          </a:p>
          <a:p>
            <a:pPr lvl="0"/>
            <a:r>
              <a:rPr lang="en-IN" sz="2400" dirty="0">
                <a:latin typeface="Times New Roman" panose="02020603050405020304" pitchFamily="18" charset="0"/>
                <a:cs typeface="Times New Roman" panose="02020603050405020304" pitchFamily="18" charset="0"/>
              </a:rPr>
              <a:t>22.5 </a:t>
            </a:r>
          </a:p>
          <a:p>
            <a:pPr lvl="0"/>
            <a:r>
              <a:rPr lang="en-IN" sz="2400" dirty="0">
                <a:latin typeface="Times New Roman" panose="02020603050405020304" pitchFamily="18" charset="0"/>
                <a:cs typeface="Times New Roman" panose="02020603050405020304" pitchFamily="18" charset="0"/>
              </a:rPr>
              <a:t>27.5 </a:t>
            </a:r>
          </a:p>
          <a:p>
            <a:pPr lvl="0"/>
            <a:r>
              <a:rPr lang="en-IN" sz="2400" dirty="0">
                <a:latin typeface="Times New Roman" panose="02020603050405020304" pitchFamily="18" charset="0"/>
                <a:cs typeface="Times New Roman" panose="02020603050405020304" pitchFamily="18" charset="0"/>
              </a:rPr>
              <a:t>35 </a:t>
            </a:r>
          </a:p>
          <a:p>
            <a:pPr lvl="0"/>
            <a:r>
              <a:rPr lang="en-IN" sz="2400" dirty="0">
                <a:latin typeface="Times New Roman" panose="02020603050405020304" pitchFamily="18" charset="0"/>
                <a:cs typeface="Times New Roman" panose="02020603050405020304" pitchFamily="18" charset="0"/>
              </a:rPr>
              <a:t>42.5 </a:t>
            </a:r>
          </a:p>
          <a:p>
            <a:pPr lvl="0"/>
            <a:r>
              <a:rPr lang="en-IN" sz="2400" dirty="0">
                <a:latin typeface="Times New Roman" panose="02020603050405020304" pitchFamily="18" charset="0"/>
                <a:cs typeface="Times New Roman" panose="02020603050405020304" pitchFamily="18" charset="0"/>
              </a:rPr>
              <a:t>47.5</a:t>
            </a:r>
          </a:p>
          <a:p>
            <a:endParaRPr lang="en-GB"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C2CD37B0-4433-4C2E-AF7B-E035F7402200}"/>
              </a:ext>
            </a:extLst>
          </p:cNvPr>
          <p:cNvGraphicFramePr>
            <a:graphicFrameLocks noGrp="1"/>
          </p:cNvGraphicFramePr>
          <p:nvPr>
            <p:extLst>
              <p:ext uri="{D42A27DB-BD31-4B8C-83A1-F6EECF244321}">
                <p14:modId xmlns:p14="http://schemas.microsoft.com/office/powerpoint/2010/main" val="4159343706"/>
              </p:ext>
            </p:extLst>
          </p:nvPr>
        </p:nvGraphicFramePr>
        <p:xfrm>
          <a:off x="4038600" y="3810000"/>
          <a:ext cx="4495800" cy="2819397"/>
        </p:xfrm>
        <a:graphic>
          <a:graphicData uri="http://schemas.openxmlformats.org/drawingml/2006/table">
            <a:tbl>
              <a:tblPr/>
              <a:tblGrid>
                <a:gridCol w="2247900">
                  <a:extLst>
                    <a:ext uri="{9D8B030D-6E8A-4147-A177-3AD203B41FA5}">
                      <a16:colId xmlns:a16="http://schemas.microsoft.com/office/drawing/2014/main" val="3714511612"/>
                    </a:ext>
                  </a:extLst>
                </a:gridCol>
                <a:gridCol w="2247900">
                  <a:extLst>
                    <a:ext uri="{9D8B030D-6E8A-4147-A177-3AD203B41FA5}">
                      <a16:colId xmlns:a16="http://schemas.microsoft.com/office/drawing/2014/main" val="2183347692"/>
                    </a:ext>
                  </a:extLst>
                </a:gridCol>
              </a:tblGrid>
              <a:tr h="402771">
                <a:tc>
                  <a:txBody>
                    <a:bodyPr/>
                    <a:lstStyle/>
                    <a:p>
                      <a:r>
                        <a:rPr lang="en-IN"/>
                        <a:t>Age</a:t>
                      </a:r>
                    </a:p>
                  </a:txBody>
                  <a:tcPr anchor="ctr">
                    <a:lnL>
                      <a:noFill/>
                    </a:lnL>
                    <a:lnR>
                      <a:noFill/>
                    </a:lnR>
                    <a:lnT>
                      <a:noFill/>
                    </a:lnT>
                    <a:lnB>
                      <a:noFill/>
                    </a:lnB>
                  </a:tcPr>
                </a:tc>
                <a:tc>
                  <a:txBody>
                    <a:bodyPr/>
                    <a:lstStyle/>
                    <a:p>
                      <a:r>
                        <a:rPr lang="en-IN"/>
                        <a:t>Class</a:t>
                      </a:r>
                    </a:p>
                  </a:txBody>
                  <a:tcPr anchor="ctr">
                    <a:lnL>
                      <a:noFill/>
                    </a:lnL>
                    <a:lnR>
                      <a:noFill/>
                    </a:lnR>
                    <a:lnT>
                      <a:noFill/>
                    </a:lnT>
                    <a:lnB>
                      <a:noFill/>
                    </a:lnB>
                  </a:tcPr>
                </a:tc>
                <a:extLst>
                  <a:ext uri="{0D108BD9-81ED-4DB2-BD59-A6C34878D82A}">
                    <a16:rowId xmlns:a16="http://schemas.microsoft.com/office/drawing/2014/main" val="2502712245"/>
                  </a:ext>
                </a:extLst>
              </a:tr>
              <a:tr h="402771">
                <a:tc>
                  <a:txBody>
                    <a:bodyPr/>
                    <a:lstStyle/>
                    <a:p>
                      <a:r>
                        <a:rPr lang="en-IN"/>
                        <a:t>20</a:t>
                      </a:r>
                    </a:p>
                  </a:txBody>
                  <a:tcPr anchor="ctr">
                    <a:lnL>
                      <a:noFill/>
                    </a:lnL>
                    <a:lnR>
                      <a:noFill/>
                    </a:lnR>
                    <a:lnT>
                      <a:noFill/>
                    </a:lnT>
                    <a:lnB>
                      <a:noFill/>
                    </a:lnB>
                  </a:tcPr>
                </a:tc>
                <a:tc>
                  <a:txBody>
                    <a:bodyPr/>
                    <a:lstStyle/>
                    <a:p>
                      <a:r>
                        <a:rPr lang="en-IN"/>
                        <a:t>Healthy</a:t>
                      </a:r>
                    </a:p>
                  </a:txBody>
                  <a:tcPr anchor="ctr">
                    <a:lnL>
                      <a:noFill/>
                    </a:lnL>
                    <a:lnR>
                      <a:noFill/>
                    </a:lnR>
                    <a:lnT>
                      <a:noFill/>
                    </a:lnT>
                    <a:lnB>
                      <a:noFill/>
                    </a:lnB>
                  </a:tcPr>
                </a:tc>
                <a:extLst>
                  <a:ext uri="{0D108BD9-81ED-4DB2-BD59-A6C34878D82A}">
                    <a16:rowId xmlns:a16="http://schemas.microsoft.com/office/drawing/2014/main" val="1670376849"/>
                  </a:ext>
                </a:extLst>
              </a:tr>
              <a:tr h="402771">
                <a:tc>
                  <a:txBody>
                    <a:bodyPr/>
                    <a:lstStyle/>
                    <a:p>
                      <a:r>
                        <a:rPr lang="en-IN"/>
                        <a:t>25</a:t>
                      </a:r>
                    </a:p>
                  </a:txBody>
                  <a:tcPr anchor="ctr">
                    <a:lnL>
                      <a:noFill/>
                    </a:lnL>
                    <a:lnR>
                      <a:noFill/>
                    </a:lnR>
                    <a:lnT>
                      <a:noFill/>
                    </a:lnT>
                    <a:lnB>
                      <a:noFill/>
                    </a:lnB>
                  </a:tcPr>
                </a:tc>
                <a:tc>
                  <a:txBody>
                    <a:bodyPr/>
                    <a:lstStyle/>
                    <a:p>
                      <a:r>
                        <a:rPr lang="en-IN"/>
                        <a:t>Healthy</a:t>
                      </a:r>
                    </a:p>
                  </a:txBody>
                  <a:tcPr anchor="ctr">
                    <a:lnL>
                      <a:noFill/>
                    </a:lnL>
                    <a:lnR>
                      <a:noFill/>
                    </a:lnR>
                    <a:lnT>
                      <a:noFill/>
                    </a:lnT>
                    <a:lnB>
                      <a:noFill/>
                    </a:lnB>
                  </a:tcPr>
                </a:tc>
                <a:extLst>
                  <a:ext uri="{0D108BD9-81ED-4DB2-BD59-A6C34878D82A}">
                    <a16:rowId xmlns:a16="http://schemas.microsoft.com/office/drawing/2014/main" val="1222547787"/>
                  </a:ext>
                </a:extLst>
              </a:tr>
              <a:tr h="402771">
                <a:tc>
                  <a:txBody>
                    <a:bodyPr/>
                    <a:lstStyle/>
                    <a:p>
                      <a:r>
                        <a:rPr lang="en-IN"/>
                        <a:t>30</a:t>
                      </a:r>
                    </a:p>
                  </a:txBody>
                  <a:tcPr anchor="ctr">
                    <a:lnL>
                      <a:noFill/>
                    </a:lnL>
                    <a:lnR>
                      <a:noFill/>
                    </a:lnR>
                    <a:lnT>
                      <a:noFill/>
                    </a:lnT>
                    <a:lnB>
                      <a:noFill/>
                    </a:lnB>
                  </a:tcPr>
                </a:tc>
                <a:tc>
                  <a:txBody>
                    <a:bodyPr/>
                    <a:lstStyle/>
                    <a:p>
                      <a:r>
                        <a:rPr lang="en-IN"/>
                        <a:t>Healthy</a:t>
                      </a:r>
                    </a:p>
                  </a:txBody>
                  <a:tcPr anchor="ctr">
                    <a:lnL>
                      <a:noFill/>
                    </a:lnL>
                    <a:lnR>
                      <a:noFill/>
                    </a:lnR>
                    <a:lnT>
                      <a:noFill/>
                    </a:lnT>
                    <a:lnB>
                      <a:noFill/>
                    </a:lnB>
                  </a:tcPr>
                </a:tc>
                <a:extLst>
                  <a:ext uri="{0D108BD9-81ED-4DB2-BD59-A6C34878D82A}">
                    <a16:rowId xmlns:a16="http://schemas.microsoft.com/office/drawing/2014/main" val="1448344381"/>
                  </a:ext>
                </a:extLst>
              </a:tr>
              <a:tr h="402771">
                <a:tc>
                  <a:txBody>
                    <a:bodyPr/>
                    <a:lstStyle/>
                    <a:p>
                      <a:r>
                        <a:rPr lang="en-IN"/>
                        <a:t>40</a:t>
                      </a:r>
                    </a:p>
                  </a:txBody>
                  <a:tcPr anchor="ctr">
                    <a:lnL>
                      <a:noFill/>
                    </a:lnL>
                    <a:lnR>
                      <a:noFill/>
                    </a:lnR>
                    <a:lnT>
                      <a:noFill/>
                    </a:lnT>
                    <a:lnB>
                      <a:noFill/>
                    </a:lnB>
                  </a:tcPr>
                </a:tc>
                <a:tc>
                  <a:txBody>
                    <a:bodyPr/>
                    <a:lstStyle/>
                    <a:p>
                      <a:r>
                        <a:rPr lang="en-IN"/>
                        <a:t>Diabetes</a:t>
                      </a:r>
                    </a:p>
                  </a:txBody>
                  <a:tcPr anchor="ctr">
                    <a:lnL>
                      <a:noFill/>
                    </a:lnL>
                    <a:lnR>
                      <a:noFill/>
                    </a:lnR>
                    <a:lnT>
                      <a:noFill/>
                    </a:lnT>
                    <a:lnB>
                      <a:noFill/>
                    </a:lnB>
                  </a:tcPr>
                </a:tc>
                <a:extLst>
                  <a:ext uri="{0D108BD9-81ED-4DB2-BD59-A6C34878D82A}">
                    <a16:rowId xmlns:a16="http://schemas.microsoft.com/office/drawing/2014/main" val="898278859"/>
                  </a:ext>
                </a:extLst>
              </a:tr>
              <a:tr h="402771">
                <a:tc>
                  <a:txBody>
                    <a:bodyPr/>
                    <a:lstStyle/>
                    <a:p>
                      <a:r>
                        <a:rPr lang="en-IN"/>
                        <a:t>45</a:t>
                      </a:r>
                    </a:p>
                  </a:txBody>
                  <a:tcPr anchor="ctr">
                    <a:lnL>
                      <a:noFill/>
                    </a:lnL>
                    <a:lnR>
                      <a:noFill/>
                    </a:lnR>
                    <a:lnT>
                      <a:noFill/>
                    </a:lnT>
                    <a:lnB>
                      <a:noFill/>
                    </a:lnB>
                  </a:tcPr>
                </a:tc>
                <a:tc>
                  <a:txBody>
                    <a:bodyPr/>
                    <a:lstStyle/>
                    <a:p>
                      <a:r>
                        <a:rPr lang="en-IN"/>
                        <a:t>Diabetes</a:t>
                      </a:r>
                    </a:p>
                  </a:txBody>
                  <a:tcPr anchor="ctr">
                    <a:lnL>
                      <a:noFill/>
                    </a:lnL>
                    <a:lnR>
                      <a:noFill/>
                    </a:lnR>
                    <a:lnT>
                      <a:noFill/>
                    </a:lnT>
                    <a:lnB>
                      <a:noFill/>
                    </a:lnB>
                  </a:tcPr>
                </a:tc>
                <a:extLst>
                  <a:ext uri="{0D108BD9-81ED-4DB2-BD59-A6C34878D82A}">
                    <a16:rowId xmlns:a16="http://schemas.microsoft.com/office/drawing/2014/main" val="3203826375"/>
                  </a:ext>
                </a:extLst>
              </a:tr>
              <a:tr h="402771">
                <a:tc>
                  <a:txBody>
                    <a:bodyPr/>
                    <a:lstStyle/>
                    <a:p>
                      <a:r>
                        <a:rPr lang="en-IN"/>
                        <a:t>50</a:t>
                      </a:r>
                    </a:p>
                  </a:txBody>
                  <a:tcPr anchor="ctr">
                    <a:lnL>
                      <a:noFill/>
                    </a:lnL>
                    <a:lnR>
                      <a:noFill/>
                    </a:lnR>
                    <a:lnT>
                      <a:noFill/>
                    </a:lnT>
                    <a:lnB>
                      <a:noFill/>
                    </a:lnB>
                  </a:tcPr>
                </a:tc>
                <a:tc>
                  <a:txBody>
                    <a:bodyPr/>
                    <a:lstStyle/>
                    <a:p>
                      <a:r>
                        <a:rPr lang="en-IN" dirty="0"/>
                        <a:t>Diabetes</a:t>
                      </a:r>
                    </a:p>
                  </a:txBody>
                  <a:tcPr anchor="ctr">
                    <a:lnL>
                      <a:noFill/>
                    </a:lnL>
                    <a:lnR>
                      <a:noFill/>
                    </a:lnR>
                    <a:lnT>
                      <a:noFill/>
                    </a:lnT>
                    <a:lnB>
                      <a:noFill/>
                    </a:lnB>
                  </a:tcPr>
                </a:tc>
                <a:extLst>
                  <a:ext uri="{0D108BD9-81ED-4DB2-BD59-A6C34878D82A}">
                    <a16:rowId xmlns:a16="http://schemas.microsoft.com/office/drawing/2014/main" val="4114878474"/>
                  </a:ext>
                </a:extLst>
              </a:tr>
            </a:tbl>
          </a:graphicData>
        </a:graphic>
      </p:graphicFrame>
    </p:spTree>
    <p:extLst>
      <p:ext uri="{BB962C8B-B14F-4D97-AF65-F5344CB8AC3E}">
        <p14:creationId xmlns:p14="http://schemas.microsoft.com/office/powerpoint/2010/main" val="24090628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139E9F1E-FB09-4D6C-82F5-3BE98B05E9BB}"/>
              </a:ext>
            </a:extLst>
          </p:cNvPr>
          <p:cNvGraphicFramePr>
            <a:graphicFrameLocks noGrp="1"/>
          </p:cNvGraphicFramePr>
          <p:nvPr>
            <p:extLst>
              <p:ext uri="{D42A27DB-BD31-4B8C-83A1-F6EECF244321}">
                <p14:modId xmlns:p14="http://schemas.microsoft.com/office/powerpoint/2010/main" val="2023462015"/>
              </p:ext>
            </p:extLst>
          </p:nvPr>
        </p:nvGraphicFramePr>
        <p:xfrm>
          <a:off x="457200" y="3910012"/>
          <a:ext cx="4876800" cy="2643188"/>
        </p:xfrm>
        <a:graphic>
          <a:graphicData uri="http://schemas.openxmlformats.org/drawingml/2006/table">
            <a:tbl>
              <a:tblPr firstRow="1" firstCol="1" bandRow="1">
                <a:tableStyleId>{5C22544A-7EE6-4342-B048-85BDC9FD1C3A}</a:tableStyleId>
              </a:tblPr>
              <a:tblGrid>
                <a:gridCol w="2438400">
                  <a:extLst>
                    <a:ext uri="{9D8B030D-6E8A-4147-A177-3AD203B41FA5}">
                      <a16:colId xmlns:a16="http://schemas.microsoft.com/office/drawing/2014/main" val="3064704389"/>
                    </a:ext>
                  </a:extLst>
                </a:gridCol>
                <a:gridCol w="2438400">
                  <a:extLst>
                    <a:ext uri="{9D8B030D-6E8A-4147-A177-3AD203B41FA5}">
                      <a16:colId xmlns:a16="http://schemas.microsoft.com/office/drawing/2014/main" val="1812320006"/>
                    </a:ext>
                  </a:extLst>
                </a:gridCol>
              </a:tblGrid>
              <a:tr h="660797">
                <a:tc>
                  <a:txBody>
                    <a:bodyPr/>
                    <a:lstStyle/>
                    <a:p>
                      <a:pPr algn="ctr">
                        <a:lnSpc>
                          <a:spcPct val="107000"/>
                        </a:lnSpc>
                        <a:spcAft>
                          <a:spcPts val="0"/>
                        </a:spcAft>
                      </a:pPr>
                      <a:r>
                        <a:rPr lang="en-IN" sz="2000">
                          <a:effectLst/>
                          <a:latin typeface="Times New Roman" panose="02020603050405020304" pitchFamily="18" charset="0"/>
                          <a:cs typeface="Times New Roman" panose="02020603050405020304" pitchFamily="18" charset="0"/>
                        </a:rPr>
                        <a:t>Age</a:t>
                      </a:r>
                      <a:endParaRPr lang="en-IN"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07000"/>
                        </a:lnSpc>
                        <a:spcAft>
                          <a:spcPts val="0"/>
                        </a:spcAft>
                      </a:pPr>
                      <a:r>
                        <a:rPr lang="en-IN" sz="2000">
                          <a:effectLst/>
                          <a:latin typeface="Times New Roman" panose="02020603050405020304" pitchFamily="18" charset="0"/>
                          <a:cs typeface="Times New Roman" panose="02020603050405020304" pitchFamily="18" charset="0"/>
                        </a:rPr>
                        <a:t>Class</a:t>
                      </a:r>
                      <a:endParaRPr lang="en-IN"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237926210"/>
                  </a:ext>
                </a:extLst>
              </a:tr>
              <a:tr h="660797">
                <a:tc>
                  <a:txBody>
                    <a:bodyPr/>
                    <a:lstStyle/>
                    <a:p>
                      <a:pPr>
                        <a:lnSpc>
                          <a:spcPct val="107000"/>
                        </a:lnSpc>
                        <a:spcAft>
                          <a:spcPts val="0"/>
                        </a:spcAft>
                      </a:pPr>
                      <a:r>
                        <a:rPr lang="en-IN" sz="2000" dirty="0">
                          <a:effectLst/>
                          <a:latin typeface="Times New Roman" panose="02020603050405020304" pitchFamily="18" charset="0"/>
                          <a:cs typeface="Times New Roman" panose="02020603050405020304" pitchFamily="18" charset="0"/>
                        </a:rPr>
                        <a:t>20</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IN" sz="2000">
                          <a:effectLst/>
                          <a:latin typeface="Times New Roman" panose="02020603050405020304" pitchFamily="18" charset="0"/>
                          <a:cs typeface="Times New Roman" panose="02020603050405020304" pitchFamily="18" charset="0"/>
                        </a:rPr>
                        <a:t>Healthy</a:t>
                      </a:r>
                      <a:endParaRPr lang="en-IN"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571362561"/>
                  </a:ext>
                </a:extLst>
              </a:tr>
              <a:tr h="660797">
                <a:tc>
                  <a:txBody>
                    <a:bodyPr/>
                    <a:lstStyle/>
                    <a:p>
                      <a:pPr>
                        <a:lnSpc>
                          <a:spcPct val="107000"/>
                        </a:lnSpc>
                        <a:spcAft>
                          <a:spcPts val="0"/>
                        </a:spcAft>
                      </a:pPr>
                      <a:r>
                        <a:rPr lang="en-IN" sz="2000">
                          <a:effectLst/>
                          <a:latin typeface="Times New Roman" panose="02020603050405020304" pitchFamily="18" charset="0"/>
                          <a:cs typeface="Times New Roman" panose="02020603050405020304" pitchFamily="18" charset="0"/>
                        </a:rPr>
                        <a:t>25</a:t>
                      </a:r>
                      <a:endParaRPr lang="en-IN"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IN" sz="2000">
                          <a:effectLst/>
                          <a:latin typeface="Times New Roman" panose="02020603050405020304" pitchFamily="18" charset="0"/>
                          <a:cs typeface="Times New Roman" panose="02020603050405020304" pitchFamily="18" charset="0"/>
                        </a:rPr>
                        <a:t>Healthy</a:t>
                      </a:r>
                      <a:endParaRPr lang="en-IN"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365123951"/>
                  </a:ext>
                </a:extLst>
              </a:tr>
              <a:tr h="660797">
                <a:tc>
                  <a:txBody>
                    <a:bodyPr/>
                    <a:lstStyle/>
                    <a:p>
                      <a:pPr>
                        <a:lnSpc>
                          <a:spcPct val="107000"/>
                        </a:lnSpc>
                        <a:spcAft>
                          <a:spcPts val="0"/>
                        </a:spcAft>
                      </a:pPr>
                      <a:r>
                        <a:rPr lang="en-IN" sz="2000">
                          <a:effectLst/>
                          <a:latin typeface="Times New Roman" panose="02020603050405020304" pitchFamily="18" charset="0"/>
                          <a:cs typeface="Times New Roman" panose="02020603050405020304" pitchFamily="18" charset="0"/>
                        </a:rPr>
                        <a:t>30</a:t>
                      </a:r>
                      <a:endParaRPr lang="en-IN"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IN" sz="2000" dirty="0">
                          <a:effectLst/>
                          <a:latin typeface="Times New Roman" panose="02020603050405020304" pitchFamily="18" charset="0"/>
                          <a:cs typeface="Times New Roman" panose="02020603050405020304" pitchFamily="18" charset="0"/>
                        </a:rPr>
                        <a:t>Healthy</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593034189"/>
                  </a:ext>
                </a:extLst>
              </a:tr>
            </a:tbl>
          </a:graphicData>
        </a:graphic>
      </p:graphicFrame>
      <p:graphicFrame>
        <p:nvGraphicFramePr>
          <p:cNvPr id="3" name="Table 2">
            <a:extLst>
              <a:ext uri="{FF2B5EF4-FFF2-40B4-BE49-F238E27FC236}">
                <a16:creationId xmlns:a16="http://schemas.microsoft.com/office/drawing/2014/main" id="{92EF99F0-78D4-46D6-BFE3-2E0BDB1E8686}"/>
              </a:ext>
            </a:extLst>
          </p:cNvPr>
          <p:cNvGraphicFramePr>
            <a:graphicFrameLocks noGrp="1"/>
          </p:cNvGraphicFramePr>
          <p:nvPr>
            <p:extLst>
              <p:ext uri="{D42A27DB-BD31-4B8C-83A1-F6EECF244321}">
                <p14:modId xmlns:p14="http://schemas.microsoft.com/office/powerpoint/2010/main" val="3143785434"/>
              </p:ext>
            </p:extLst>
          </p:nvPr>
        </p:nvGraphicFramePr>
        <p:xfrm>
          <a:off x="457200" y="304800"/>
          <a:ext cx="4724400" cy="2286000"/>
        </p:xfrm>
        <a:graphic>
          <a:graphicData uri="http://schemas.openxmlformats.org/drawingml/2006/table">
            <a:tbl>
              <a:tblPr firstRow="1" firstCol="1" bandRow="1">
                <a:tableStyleId>{5C22544A-7EE6-4342-B048-85BDC9FD1C3A}</a:tableStyleId>
              </a:tblPr>
              <a:tblGrid>
                <a:gridCol w="2362200">
                  <a:extLst>
                    <a:ext uri="{9D8B030D-6E8A-4147-A177-3AD203B41FA5}">
                      <a16:colId xmlns:a16="http://schemas.microsoft.com/office/drawing/2014/main" val="674609117"/>
                    </a:ext>
                  </a:extLst>
                </a:gridCol>
                <a:gridCol w="2362200">
                  <a:extLst>
                    <a:ext uri="{9D8B030D-6E8A-4147-A177-3AD203B41FA5}">
                      <a16:colId xmlns:a16="http://schemas.microsoft.com/office/drawing/2014/main" val="3187785460"/>
                    </a:ext>
                  </a:extLst>
                </a:gridCol>
              </a:tblGrid>
              <a:tr h="571500">
                <a:tc>
                  <a:txBody>
                    <a:bodyPr/>
                    <a:lstStyle/>
                    <a:p>
                      <a:pPr algn="ctr">
                        <a:lnSpc>
                          <a:spcPct val="107000"/>
                        </a:lnSpc>
                        <a:spcAft>
                          <a:spcPts val="0"/>
                        </a:spcAft>
                      </a:pPr>
                      <a:r>
                        <a:rPr lang="en-IN" sz="2000" dirty="0">
                          <a:effectLst/>
                          <a:latin typeface="Times New Roman" panose="02020603050405020304" pitchFamily="18" charset="0"/>
                          <a:cs typeface="Times New Roman" panose="02020603050405020304" pitchFamily="18" charset="0"/>
                        </a:rPr>
                        <a:t>Age</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07000"/>
                        </a:lnSpc>
                        <a:spcAft>
                          <a:spcPts val="0"/>
                        </a:spcAft>
                      </a:pPr>
                      <a:r>
                        <a:rPr lang="en-IN" sz="2000">
                          <a:effectLst/>
                          <a:latin typeface="Times New Roman" panose="02020603050405020304" pitchFamily="18" charset="0"/>
                          <a:cs typeface="Times New Roman" panose="02020603050405020304" pitchFamily="18" charset="0"/>
                        </a:rPr>
                        <a:t>Class</a:t>
                      </a:r>
                      <a:endParaRPr lang="en-IN"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288792188"/>
                  </a:ext>
                </a:extLst>
              </a:tr>
              <a:tr h="571500">
                <a:tc>
                  <a:txBody>
                    <a:bodyPr/>
                    <a:lstStyle/>
                    <a:p>
                      <a:pPr>
                        <a:lnSpc>
                          <a:spcPct val="107000"/>
                        </a:lnSpc>
                        <a:spcAft>
                          <a:spcPts val="0"/>
                        </a:spcAft>
                      </a:pPr>
                      <a:r>
                        <a:rPr lang="en-IN" sz="2000" dirty="0">
                          <a:effectLst/>
                          <a:latin typeface="Times New Roman" panose="02020603050405020304" pitchFamily="18" charset="0"/>
                          <a:cs typeface="Times New Roman" panose="02020603050405020304" pitchFamily="18" charset="0"/>
                        </a:rPr>
                        <a:t>40</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IN" sz="2000" dirty="0">
                          <a:effectLst/>
                          <a:latin typeface="Times New Roman" panose="02020603050405020304" pitchFamily="18" charset="0"/>
                          <a:cs typeface="Times New Roman" panose="02020603050405020304" pitchFamily="18" charset="0"/>
                        </a:rPr>
                        <a:t>Diabetes</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235146431"/>
                  </a:ext>
                </a:extLst>
              </a:tr>
              <a:tr h="571500">
                <a:tc>
                  <a:txBody>
                    <a:bodyPr/>
                    <a:lstStyle/>
                    <a:p>
                      <a:pPr>
                        <a:lnSpc>
                          <a:spcPct val="107000"/>
                        </a:lnSpc>
                        <a:spcAft>
                          <a:spcPts val="0"/>
                        </a:spcAft>
                      </a:pPr>
                      <a:r>
                        <a:rPr lang="en-IN" sz="2000">
                          <a:effectLst/>
                          <a:latin typeface="Times New Roman" panose="02020603050405020304" pitchFamily="18" charset="0"/>
                          <a:cs typeface="Times New Roman" panose="02020603050405020304" pitchFamily="18" charset="0"/>
                        </a:rPr>
                        <a:t>45</a:t>
                      </a:r>
                      <a:endParaRPr lang="en-IN"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IN" sz="2000" dirty="0">
                          <a:effectLst/>
                          <a:latin typeface="Times New Roman" panose="02020603050405020304" pitchFamily="18" charset="0"/>
                          <a:cs typeface="Times New Roman" panose="02020603050405020304" pitchFamily="18" charset="0"/>
                        </a:rPr>
                        <a:t>Diabetes</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863697048"/>
                  </a:ext>
                </a:extLst>
              </a:tr>
              <a:tr h="571500">
                <a:tc>
                  <a:txBody>
                    <a:bodyPr/>
                    <a:lstStyle/>
                    <a:p>
                      <a:pPr>
                        <a:lnSpc>
                          <a:spcPct val="107000"/>
                        </a:lnSpc>
                        <a:spcAft>
                          <a:spcPts val="0"/>
                        </a:spcAft>
                      </a:pPr>
                      <a:r>
                        <a:rPr lang="en-IN" sz="2000">
                          <a:effectLst/>
                          <a:latin typeface="Times New Roman" panose="02020603050405020304" pitchFamily="18" charset="0"/>
                          <a:cs typeface="Times New Roman" panose="02020603050405020304" pitchFamily="18" charset="0"/>
                        </a:rPr>
                        <a:t>50</a:t>
                      </a:r>
                      <a:endParaRPr lang="en-IN"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IN" sz="2000" dirty="0">
                          <a:effectLst/>
                          <a:latin typeface="Times New Roman" panose="02020603050405020304" pitchFamily="18" charset="0"/>
                          <a:cs typeface="Times New Roman" panose="02020603050405020304" pitchFamily="18" charset="0"/>
                        </a:rPr>
                        <a:t>Diabetes</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243448778"/>
                  </a:ext>
                </a:extLst>
              </a:tr>
            </a:tbl>
          </a:graphicData>
        </a:graphic>
      </p:graphicFrame>
      <p:sp>
        <p:nvSpPr>
          <p:cNvPr id="4" name="Rectangle 1">
            <a:extLst>
              <a:ext uri="{FF2B5EF4-FFF2-40B4-BE49-F238E27FC236}">
                <a16:creationId xmlns:a16="http://schemas.microsoft.com/office/drawing/2014/main" id="{5FE39B81-E2C9-432C-ADDD-B5644ECB5F00}"/>
              </a:ext>
            </a:extLst>
          </p:cNvPr>
          <p:cNvSpPr>
            <a:spLocks noChangeArrowheads="1"/>
          </p:cNvSpPr>
          <p:nvPr/>
        </p:nvSpPr>
        <p:spPr bwMode="auto">
          <a:xfrm>
            <a:off x="5715000" y="1687086"/>
            <a:ext cx="3124200"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Left partition:</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Entropy = </a:t>
            </a:r>
            <a:r>
              <a:rPr kumimoji="0" lang="en-US" altLang="en-US" sz="2000"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0</a:t>
            </a:r>
            <a: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(all belong to the same class)</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Right partition:</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Entropy = </a:t>
            </a:r>
            <a:r>
              <a:rPr kumimoji="0" lang="en-US" altLang="en-US" sz="2000"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0</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Overall entropy = </a:t>
            </a:r>
            <a:r>
              <a:rPr kumimoji="0" lang="en-US" altLang="en-US" sz="2000"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0</a:t>
            </a:r>
            <a: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which is the minimum possible value.</a:t>
            </a:r>
          </a:p>
          <a:p>
            <a:pPr eaLnBrk="0" fontAlgn="base" hangingPunct="0">
              <a:spcBef>
                <a:spcPct val="0"/>
              </a:spcBef>
              <a:spcAft>
                <a:spcPct val="0"/>
              </a:spcAft>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Suppose the split is </a:t>
            </a: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Age = 35</a:t>
            </a: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a:t>
            </a:r>
            <a:endParaRPr lang="en-US" altLang="en-US" sz="20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Therefore,</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Age = 35</a:t>
            </a:r>
            <a: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is selected as the </a:t>
            </a:r>
            <a:r>
              <a:rPr kumimoji="0" lang="en-US" altLang="en-US" sz="2000"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best split point</a:t>
            </a:r>
            <a: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4566959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228600"/>
            <a:ext cx="8763000" cy="6586418"/>
          </a:xfrm>
          <a:prstGeom prst="rect">
            <a:avLst/>
          </a:prstGeom>
        </p:spPr>
        <p:txBody>
          <a:bodyPr wrap="square">
            <a:spAutoFit/>
          </a:bodyPr>
          <a:lstStyle/>
          <a:p>
            <a:pPr algn="just"/>
            <a:r>
              <a:rPr lang="en-US" dirty="0"/>
              <a:t>	</a:t>
            </a:r>
            <a:r>
              <a:rPr lang="en-US" sz="2200" dirty="0">
                <a:latin typeface="Times New Roman" pitchFamily="18" charset="0"/>
                <a:cs typeface="Times New Roman" pitchFamily="18" charset="0"/>
              </a:rPr>
              <a:t>Entropy is the most commonly used measure for this purpose. To discretize a numeric attribute, A, the method selects the value of A that has the minimum entropy as a split-point, and recursively partitions the resulting intervals to arrive at a hierarchical discretization. Such discretization forms a concept hierarchy for A. </a:t>
            </a:r>
          </a:p>
          <a:p>
            <a:pPr algn="just"/>
            <a:r>
              <a:rPr lang="en-US" sz="2200" dirty="0">
                <a:latin typeface="Times New Roman" pitchFamily="18" charset="0"/>
                <a:cs typeface="Times New Roman" pitchFamily="18" charset="0"/>
              </a:rPr>
              <a:t>	Because decision tree–based discretization uses class information, it is more likely that the interval boundaries (split-points) are defined to occur in places that may help improve classification accuracy.</a:t>
            </a:r>
          </a:p>
          <a:p>
            <a:pPr algn="just"/>
            <a:r>
              <a:rPr lang="en-IN" sz="2400" dirty="0">
                <a:solidFill>
                  <a:srgbClr val="00B050"/>
                </a:solidFill>
                <a:latin typeface="Times New Roman" pitchFamily="18" charset="0"/>
                <a:cs typeface="Times New Roman" pitchFamily="18" charset="0"/>
              </a:rPr>
              <a:t>Correlation Analyses:</a:t>
            </a:r>
          </a:p>
          <a:p>
            <a:pPr algn="just"/>
            <a:r>
              <a:rPr lang="en-US" sz="2200" dirty="0">
                <a:latin typeface="Times New Roman" pitchFamily="18" charset="0"/>
                <a:cs typeface="Times New Roman" pitchFamily="18" charset="0"/>
              </a:rPr>
              <a:t>	Measures of correlation can be used for discretization. </a:t>
            </a:r>
            <a:r>
              <a:rPr lang="en-US" sz="2200" dirty="0" err="1">
                <a:latin typeface="Times New Roman" pitchFamily="18" charset="0"/>
                <a:cs typeface="Times New Roman" pitchFamily="18" charset="0"/>
              </a:rPr>
              <a:t>ChiMerge</a:t>
            </a:r>
            <a:r>
              <a:rPr lang="en-US" sz="2200" dirty="0">
                <a:latin typeface="Times New Roman" pitchFamily="18" charset="0"/>
                <a:cs typeface="Times New Roman" pitchFamily="18" charset="0"/>
              </a:rPr>
              <a:t> is a                  discretization method, which employs a bottom-up approach by finding the best neighboring intervals and then merging them to form larger intervals, recursively.</a:t>
            </a:r>
            <a:r>
              <a:rPr lang="en-US" sz="2400" dirty="0"/>
              <a:t> </a:t>
            </a:r>
          </a:p>
          <a:p>
            <a:pPr algn="just"/>
            <a:r>
              <a:rPr lang="en-US" sz="2200" dirty="0">
                <a:latin typeface="Times New Roman" pitchFamily="18" charset="0"/>
                <a:cs typeface="Times New Roman" pitchFamily="18" charset="0"/>
              </a:rPr>
              <a:t>	As with decision tree analysis, </a:t>
            </a:r>
            <a:r>
              <a:rPr lang="en-US" sz="2200" dirty="0" err="1">
                <a:latin typeface="Times New Roman" pitchFamily="18" charset="0"/>
                <a:cs typeface="Times New Roman" pitchFamily="18" charset="0"/>
              </a:rPr>
              <a:t>ChiMerge</a:t>
            </a:r>
            <a:r>
              <a:rPr lang="en-US" sz="2200" dirty="0">
                <a:latin typeface="Times New Roman" pitchFamily="18" charset="0"/>
                <a:cs typeface="Times New Roman" pitchFamily="18" charset="0"/>
              </a:rPr>
              <a:t> is supervised in that it uses class information. The basic notion is that for accurate discretization, the relative class frequencies should be fairly consistent within an interval. Therefore, if two adjacent intervals have a very similar distribution of classes, then the intervals can be merged. Otherwise, they should remain separate.</a:t>
            </a:r>
            <a:endParaRPr lang="en-IN" sz="2200" dirty="0">
              <a:latin typeface="Times New Roman" pitchFamily="18" charset="0"/>
              <a:cs typeface="Times New Roman" pitchFamily="18" charset="0"/>
            </a:endParaRP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3694042"/>
            <a:ext cx="1066800" cy="3517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5487466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228601"/>
            <a:ext cx="8686800" cy="6524863"/>
          </a:xfrm>
          <a:prstGeom prst="rect">
            <a:avLst/>
          </a:prstGeom>
        </p:spPr>
        <p:txBody>
          <a:bodyPr wrap="square">
            <a:spAutoFit/>
          </a:bodyPr>
          <a:lstStyle/>
          <a:p>
            <a:pPr algn="just"/>
            <a:r>
              <a:rPr lang="en-US" sz="2200" dirty="0" err="1">
                <a:solidFill>
                  <a:srgbClr val="00B050"/>
                </a:solidFill>
                <a:latin typeface="Times New Roman" pitchFamily="18" charset="0"/>
                <a:cs typeface="Times New Roman" pitchFamily="18" charset="0"/>
              </a:rPr>
              <a:t>ChiMerge</a:t>
            </a:r>
            <a:r>
              <a:rPr lang="en-US" sz="2200" dirty="0">
                <a:solidFill>
                  <a:srgbClr val="00B050"/>
                </a:solidFill>
                <a:latin typeface="Times New Roman" pitchFamily="18" charset="0"/>
                <a:cs typeface="Times New Roman" pitchFamily="18" charset="0"/>
              </a:rPr>
              <a:t> proceeds as follows:</a:t>
            </a:r>
            <a:r>
              <a:rPr lang="en-US" sz="2200" dirty="0">
                <a:latin typeface="Times New Roman" pitchFamily="18" charset="0"/>
                <a:cs typeface="Times New Roman" pitchFamily="18" charset="0"/>
              </a:rPr>
              <a:t> </a:t>
            </a:r>
          </a:p>
          <a:p>
            <a:pPr algn="just"/>
            <a:r>
              <a:rPr lang="en-US" sz="2200" dirty="0">
                <a:latin typeface="Times New Roman" pitchFamily="18" charset="0"/>
                <a:cs typeface="Times New Roman" pitchFamily="18" charset="0"/>
              </a:rPr>
              <a:t>	Initially, each distinct value of a numeric attribute A is considered to be one interval.               are performed for every pair of adjacent intervals. Adjacent intervals with the least              are merged together, because low               for a pair indicate similar class distributions. This merging process proceeds recursively until a predefined stopping criterion is met.</a:t>
            </a:r>
          </a:p>
          <a:p>
            <a:pPr algn="just"/>
            <a:endParaRPr lang="en-US" sz="2200" dirty="0">
              <a:latin typeface="Times New Roman" pitchFamily="18" charset="0"/>
              <a:cs typeface="Times New Roman" pitchFamily="18" charset="0"/>
            </a:endParaRPr>
          </a:p>
          <a:p>
            <a:pPr algn="just"/>
            <a:r>
              <a:rPr lang="en-US" sz="2200" b="1" dirty="0">
                <a:solidFill>
                  <a:srgbClr val="00B050"/>
                </a:solidFill>
                <a:latin typeface="Times New Roman" pitchFamily="18" charset="0"/>
                <a:cs typeface="Times New Roman" pitchFamily="18" charset="0"/>
              </a:rPr>
              <a:t>Concept Hierarchy Generation for Nominal Data:</a:t>
            </a:r>
          </a:p>
          <a:p>
            <a:pPr algn="just"/>
            <a:r>
              <a:rPr lang="en-US" sz="2200" dirty="0">
                <a:latin typeface="Times New Roman" pitchFamily="18" charset="0"/>
                <a:cs typeface="Times New Roman" pitchFamily="18" charset="0"/>
              </a:rPr>
              <a:t>	Nominal attributes have a finite number of distinct values, with no ordering among the values. </a:t>
            </a:r>
          </a:p>
          <a:p>
            <a:pPr algn="just"/>
            <a:r>
              <a:rPr lang="en-US" sz="2200" b="1" dirty="0">
                <a:latin typeface="Times New Roman" pitchFamily="18" charset="0"/>
                <a:cs typeface="Times New Roman" pitchFamily="18" charset="0"/>
              </a:rPr>
              <a:t>Ex:</a:t>
            </a:r>
            <a:r>
              <a:rPr lang="en-US" sz="2200" dirty="0">
                <a:latin typeface="Times New Roman" pitchFamily="18" charset="0"/>
                <a:cs typeface="Times New Roman" pitchFamily="18" charset="0"/>
              </a:rPr>
              <a:t> Geographic location, job category, and item type. </a:t>
            </a:r>
          </a:p>
          <a:p>
            <a:pPr algn="just"/>
            <a:r>
              <a:rPr lang="en-US" sz="2200" dirty="0">
                <a:latin typeface="Times New Roman" pitchFamily="18" charset="0"/>
                <a:cs typeface="Times New Roman" pitchFamily="18" charset="0"/>
              </a:rPr>
              <a:t>	Four methods for the generation of concept hierarchies for nominal data, as follows:</a:t>
            </a:r>
            <a:endParaRPr lang="en-US" sz="2200" b="1" dirty="0">
              <a:solidFill>
                <a:srgbClr val="00B050"/>
              </a:solidFill>
              <a:latin typeface="Times New Roman" pitchFamily="18" charset="0"/>
              <a:cs typeface="Times New Roman" pitchFamily="18" charset="0"/>
            </a:endParaRPr>
          </a:p>
          <a:p>
            <a:pPr marL="457200" indent="-457200" algn="just">
              <a:buAutoNum type="arabicPeriod"/>
            </a:pPr>
            <a:r>
              <a:rPr lang="en-US" sz="2200" dirty="0">
                <a:latin typeface="Times New Roman" pitchFamily="18" charset="0"/>
                <a:cs typeface="Times New Roman" pitchFamily="18" charset="0"/>
              </a:rPr>
              <a:t>Specification of a partial ordering of attributes explicitly at the schema level by users or experts.</a:t>
            </a:r>
          </a:p>
          <a:p>
            <a:pPr marL="457200" indent="-457200" algn="just">
              <a:buAutoNum type="arabicPeriod"/>
            </a:pPr>
            <a:r>
              <a:rPr lang="en-US" sz="2200" dirty="0">
                <a:latin typeface="Times New Roman" pitchFamily="18" charset="0"/>
                <a:cs typeface="Times New Roman" pitchFamily="18" charset="0"/>
              </a:rPr>
              <a:t>Specification of a portion of a hierarchy by explicit data grouping.</a:t>
            </a:r>
          </a:p>
          <a:p>
            <a:pPr marL="457200" indent="-457200" algn="just">
              <a:buAutoNum type="arabicPeriod"/>
            </a:pPr>
            <a:r>
              <a:rPr lang="en-US" sz="2200" dirty="0">
                <a:latin typeface="Times New Roman" pitchFamily="18" charset="0"/>
                <a:cs typeface="Times New Roman" pitchFamily="18" charset="0"/>
              </a:rPr>
              <a:t>Specification of a set of attributes, but not of their partial ordering.</a:t>
            </a:r>
          </a:p>
          <a:p>
            <a:pPr marL="457200" indent="-457200" algn="just">
              <a:buAutoNum type="arabicPeriod"/>
            </a:pPr>
            <a:r>
              <a:rPr lang="en-US" sz="2200" dirty="0">
                <a:latin typeface="Times New Roman" pitchFamily="18" charset="0"/>
                <a:cs typeface="Times New Roman" pitchFamily="18" charset="0"/>
              </a:rPr>
              <a:t>Specification of only a partial set of attributes.</a:t>
            </a: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0800" y="990600"/>
            <a:ext cx="13716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57800" y="1378527"/>
            <a:ext cx="1066800" cy="3155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4525" y="1648983"/>
            <a:ext cx="1057275" cy="3127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1636519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6200" y="76200"/>
            <a:ext cx="8991600" cy="6309420"/>
          </a:xfrm>
          <a:prstGeom prst="rect">
            <a:avLst/>
          </a:prstGeom>
        </p:spPr>
        <p:txBody>
          <a:bodyPr wrap="square">
            <a:spAutoFit/>
          </a:bodyPr>
          <a:lstStyle/>
          <a:p>
            <a:pPr algn="just"/>
            <a:r>
              <a:rPr lang="en-US" sz="2200" dirty="0">
                <a:solidFill>
                  <a:srgbClr val="00B050"/>
                </a:solidFill>
                <a:latin typeface="Times New Roman" pitchFamily="18" charset="0"/>
                <a:cs typeface="Times New Roman" pitchFamily="18" charset="0"/>
              </a:rPr>
              <a:t>Concept hierarchy generation based on the number of distinct values per attribute: </a:t>
            </a:r>
          </a:p>
          <a:p>
            <a:pPr algn="just"/>
            <a:r>
              <a:rPr lang="en-US" sz="2000" dirty="0">
                <a:latin typeface="Times New Roman" pitchFamily="18" charset="0"/>
                <a:cs typeface="Times New Roman" pitchFamily="18" charset="0"/>
              </a:rPr>
              <a:t>	Suppose a user selects a set of location-oriented attributes—street, country, province or state, and city—from the </a:t>
            </a:r>
            <a:r>
              <a:rPr lang="en-US" sz="2000" dirty="0" err="1">
                <a:latin typeface="Times New Roman" pitchFamily="18" charset="0"/>
                <a:cs typeface="Times New Roman" pitchFamily="18" charset="0"/>
              </a:rPr>
              <a:t>AllElectronics</a:t>
            </a:r>
            <a:r>
              <a:rPr lang="en-US" sz="2000" dirty="0">
                <a:latin typeface="Times New Roman" pitchFamily="18" charset="0"/>
                <a:cs typeface="Times New Roman" pitchFamily="18" charset="0"/>
              </a:rPr>
              <a:t> database, but does not specify the hierarchical ordering among the attributes. A concept hierarchy for location can be generated automatically, as illustrated in Following Figure. </a:t>
            </a:r>
          </a:p>
          <a:p>
            <a:pPr algn="just"/>
            <a:endParaRPr lang="en-US" sz="2000" dirty="0">
              <a:latin typeface="Times New Roman" pitchFamily="18" charset="0"/>
              <a:cs typeface="Times New Roman" pitchFamily="18" charset="0"/>
            </a:endParaRPr>
          </a:p>
          <a:p>
            <a:pPr algn="just"/>
            <a:r>
              <a:rPr lang="en-US" sz="2000" dirty="0">
                <a:latin typeface="Times New Roman" pitchFamily="18" charset="0"/>
                <a:cs typeface="Times New Roman" pitchFamily="18" charset="0"/>
              </a:rPr>
              <a:t>	First, sort the attributes in ascending order based on the number of distinct values in each attribute. country (15), province or state (365), city (3567), and street (674,339). </a:t>
            </a:r>
          </a:p>
          <a:p>
            <a:pPr algn="just"/>
            <a:r>
              <a:rPr lang="en-US" sz="2000" dirty="0">
                <a:latin typeface="Times New Roman" pitchFamily="18" charset="0"/>
                <a:cs typeface="Times New Roman" pitchFamily="18" charset="0"/>
              </a:rPr>
              <a:t>	Second, generate the hierarchy from the top down according to the sorted order, with the first attribute at the top level and the last attribute at the bottom level. </a:t>
            </a:r>
          </a:p>
          <a:p>
            <a:pPr algn="just"/>
            <a:r>
              <a:rPr lang="en-US" sz="2000" dirty="0">
                <a:latin typeface="Times New Roman" pitchFamily="18" charset="0"/>
                <a:cs typeface="Times New Roman" pitchFamily="18" charset="0"/>
              </a:rPr>
              <a:t>Finally, the user can examine the generated hierarchy, and when necessary, modify it to reflect desired semantic relationships among the attributes. </a:t>
            </a:r>
          </a:p>
          <a:p>
            <a:pPr algn="just"/>
            <a:endParaRPr lang="en-US" sz="2000" dirty="0">
              <a:latin typeface="Times New Roman" pitchFamily="18" charset="0"/>
              <a:cs typeface="Times New Roman" pitchFamily="18" charset="0"/>
            </a:endParaRPr>
          </a:p>
          <a:p>
            <a:pPr algn="just"/>
            <a:r>
              <a:rPr lang="en-US" sz="2000" dirty="0">
                <a:latin typeface="Times New Roman" pitchFamily="18" charset="0"/>
                <a:cs typeface="Times New Roman" pitchFamily="18" charset="0"/>
              </a:rPr>
              <a:t>	In this example, it is obvious that there is no need to modify the generated hierarchy. Note that this heuristic rule is not foolproof. For example, a time dimension in a database may contain 20 distinct years, 12 distinct months, and 7 distinct days of the week. However, this does not suggest that the time hierarchy should be “year &lt; month &lt; days of the week,” with days of the week at the top of the hierarchy.</a:t>
            </a:r>
            <a:endParaRPr lang="en-IN" sz="2000" dirty="0">
              <a:latin typeface="Times New Roman" pitchFamily="18" charset="0"/>
              <a:cs typeface="Times New Roman" pitchFamily="18" charset="0"/>
            </a:endParaRPr>
          </a:p>
        </p:txBody>
      </p:sp>
    </p:spTree>
    <p:extLst>
      <p:ext uri="{BB962C8B-B14F-4D97-AF65-F5344CB8AC3E}">
        <p14:creationId xmlns:p14="http://schemas.microsoft.com/office/powerpoint/2010/main" val="421545103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304800"/>
            <a:ext cx="8153400" cy="640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607268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3853</TotalTime>
  <Words>4580</Words>
  <Application>Microsoft Office PowerPoint</Application>
  <PresentationFormat>On-screen Show (4:3)</PresentationFormat>
  <Paragraphs>324</Paragraphs>
  <Slides>52</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52</vt:i4>
      </vt:variant>
    </vt:vector>
  </HeadingPairs>
  <TitlesOfParts>
    <vt:vector size="59" baseType="lpstr">
      <vt:lpstr>Arial</vt:lpstr>
      <vt:lpstr>Calibri</vt:lpstr>
      <vt:lpstr>Calibri Light</vt:lpstr>
      <vt:lpstr>Symbol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india</dc:creator>
  <cp:lastModifiedBy>Lenovo</cp:lastModifiedBy>
  <cp:revision>155</cp:revision>
  <dcterms:created xsi:type="dcterms:W3CDTF">2006-08-16T00:00:00Z</dcterms:created>
  <dcterms:modified xsi:type="dcterms:W3CDTF">2026-08-06T13:18:09Z</dcterms:modified>
</cp:coreProperties>
</file>