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308" r:id="rId33"/>
    <p:sldId id="309" r:id="rId34"/>
    <p:sldId id="310" r:id="rId35"/>
    <p:sldId id="311" r:id="rId36"/>
    <p:sldId id="313" r:id="rId37"/>
    <p:sldId id="315" r:id="rId38"/>
    <p:sldId id="314" r:id="rId39"/>
    <p:sldId id="288" r:id="rId40"/>
    <p:sldId id="289" r:id="rId41"/>
    <p:sldId id="290" r:id="rId42"/>
    <p:sldId id="291" r:id="rId43"/>
    <p:sldId id="292" r:id="rId44"/>
    <p:sldId id="293" r:id="rId45"/>
    <p:sldId id="294" r:id="rId46"/>
    <p:sldId id="295" r:id="rId47"/>
    <p:sldId id="307" r:id="rId48"/>
    <p:sldId id="296" r:id="rId49"/>
    <p:sldId id="297" r:id="rId50"/>
    <p:sldId id="298" r:id="rId51"/>
    <p:sldId id="299" r:id="rId52"/>
    <p:sldId id="300" r:id="rId53"/>
    <p:sldId id="301" r:id="rId54"/>
    <p:sldId id="302" r:id="rId55"/>
    <p:sldId id="304" r:id="rId5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9" d="100"/>
          <a:sy n="69" d="100"/>
        </p:scale>
        <p:origin x="-1416" y="-9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22.wmf"/><Relationship Id="rId1" Type="http://schemas.openxmlformats.org/officeDocument/2006/relationships/image" Target="../media/image21.wmf"/></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7/21/2025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7/21/2025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7/21/2025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7/21/2025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7/21/2025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7/21/2025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7/21/2025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7/21/2025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7/21/2025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7/21/2025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7.xml"/><Relationship Id="rId1" Type="http://schemas.openxmlformats.org/officeDocument/2006/relationships/vmlDrawing" Target="../drawings/vmlDrawing1.vml"/><Relationship Id="rId6" Type="http://schemas.openxmlformats.org/officeDocument/2006/relationships/image" Target="../media/image22.wmf"/><Relationship Id="rId5" Type="http://schemas.openxmlformats.org/officeDocument/2006/relationships/oleObject" Target="../embeddings/oleObject2.bin"/><Relationship Id="rId4" Type="http://schemas.openxmlformats.org/officeDocument/2006/relationships/image" Target="../media/image21.wmf"/></Relationships>
</file>

<file path=ppt/slides/_rels/slide3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304800" y="228600"/>
            <a:ext cx="8534400" cy="5016758"/>
          </a:xfrm>
          <a:prstGeom prst="rect">
            <a:avLst/>
          </a:prstGeom>
        </p:spPr>
        <p:txBody>
          <a:bodyPr wrap="square">
            <a:spAutoFit/>
          </a:bodyPr>
          <a:lstStyle/>
          <a:p>
            <a:pPr algn="ctr"/>
            <a:r>
              <a:rPr lang="en-IN" sz="3200" b="1" u="sng" dirty="0" smtClean="0">
                <a:latin typeface="Times New Roman" pitchFamily="18" charset="0"/>
                <a:cs typeface="Times New Roman" pitchFamily="18" charset="0"/>
              </a:rPr>
              <a:t>UNIT–I</a:t>
            </a:r>
          </a:p>
          <a:p>
            <a:pPr algn="just"/>
            <a:endParaRPr lang="en-IN" sz="2400" dirty="0">
              <a:latin typeface="Times New Roman" pitchFamily="18" charset="0"/>
              <a:cs typeface="Times New Roman" pitchFamily="18" charset="0"/>
            </a:endParaRPr>
          </a:p>
          <a:p>
            <a:pPr algn="just"/>
            <a:r>
              <a:rPr lang="en-IN" sz="2400" dirty="0" smtClean="0">
                <a:latin typeface="Times New Roman" pitchFamily="18" charset="0"/>
                <a:cs typeface="Times New Roman" pitchFamily="18" charset="0"/>
              </a:rPr>
              <a:t>	Data </a:t>
            </a:r>
            <a:r>
              <a:rPr lang="en-IN" sz="2400" dirty="0">
                <a:latin typeface="Times New Roman" pitchFamily="18" charset="0"/>
                <a:cs typeface="Times New Roman" pitchFamily="18" charset="0"/>
              </a:rPr>
              <a:t>Warehousing and Online Analytical Processing: Basic concepts</a:t>
            </a:r>
            <a:r>
              <a:rPr lang="en-IN" sz="2400" dirty="0" smtClean="0">
                <a:latin typeface="Times New Roman" pitchFamily="18" charset="0"/>
                <a:cs typeface="Times New Roman" pitchFamily="18" charset="0"/>
              </a:rPr>
              <a:t>, Data </a:t>
            </a:r>
            <a:r>
              <a:rPr lang="en-IN" sz="2400" dirty="0">
                <a:latin typeface="Times New Roman" pitchFamily="18" charset="0"/>
                <a:cs typeface="Times New Roman" pitchFamily="18" charset="0"/>
              </a:rPr>
              <a:t>Warehouse </a:t>
            </a:r>
            <a:r>
              <a:rPr lang="en-IN" sz="2400" dirty="0" smtClean="0">
                <a:latin typeface="Times New Roman" pitchFamily="18" charset="0"/>
                <a:cs typeface="Times New Roman" pitchFamily="18" charset="0"/>
              </a:rPr>
              <a:t>Modelling</a:t>
            </a:r>
            <a:r>
              <a:rPr lang="en-IN" sz="2400" dirty="0">
                <a:latin typeface="Times New Roman" pitchFamily="18" charset="0"/>
                <a:cs typeface="Times New Roman" pitchFamily="18" charset="0"/>
              </a:rPr>
              <a:t>: Data Cube and OLAP, Data Warehouse Design </a:t>
            </a:r>
            <a:r>
              <a:rPr lang="en-IN" sz="2400" dirty="0" smtClean="0">
                <a:latin typeface="Times New Roman" pitchFamily="18" charset="0"/>
                <a:cs typeface="Times New Roman" pitchFamily="18" charset="0"/>
              </a:rPr>
              <a:t>and Usage</a:t>
            </a:r>
            <a:r>
              <a:rPr lang="en-IN" sz="2400" dirty="0">
                <a:latin typeface="Times New Roman" pitchFamily="18" charset="0"/>
                <a:cs typeface="Times New Roman" pitchFamily="18" charset="0"/>
              </a:rPr>
              <a:t>, Data Warehouse Implementation, Cloud Data </a:t>
            </a:r>
            <a:r>
              <a:rPr lang="en-IN" sz="2400" dirty="0" smtClean="0">
                <a:latin typeface="Times New Roman" pitchFamily="18" charset="0"/>
                <a:cs typeface="Times New Roman" pitchFamily="18" charset="0"/>
              </a:rPr>
              <a:t>Warehouse</a:t>
            </a:r>
            <a:r>
              <a:rPr lang="en-IN" sz="2400" dirty="0">
                <a:latin typeface="Times New Roman" pitchFamily="18" charset="0"/>
                <a:cs typeface="Times New Roman" pitchFamily="18" charset="0"/>
              </a:rPr>
              <a:t>.</a:t>
            </a:r>
            <a:endParaRPr lang="en-IN" sz="2400" dirty="0" smtClean="0">
              <a:latin typeface="Times New Roman" pitchFamily="18" charset="0"/>
              <a:cs typeface="Times New Roman" pitchFamily="18" charset="0"/>
            </a:endParaRPr>
          </a:p>
          <a:p>
            <a:pPr algn="just"/>
            <a:endParaRPr lang="en-IN" sz="2400" dirty="0">
              <a:latin typeface="Times New Roman" pitchFamily="18" charset="0"/>
              <a:cs typeface="Times New Roman" pitchFamily="18" charset="0"/>
            </a:endParaRPr>
          </a:p>
          <a:p>
            <a:pPr algn="just"/>
            <a:r>
              <a:rPr lang="en-IN" sz="2400" dirty="0" smtClean="0">
                <a:latin typeface="Times New Roman" pitchFamily="18" charset="0"/>
                <a:cs typeface="Times New Roman" pitchFamily="18" charset="0"/>
              </a:rPr>
              <a:t>	Data Mining and </a:t>
            </a:r>
            <a:r>
              <a:rPr lang="en-IN" sz="2400" dirty="0">
                <a:latin typeface="Times New Roman" pitchFamily="18" charset="0"/>
                <a:cs typeface="Times New Roman" pitchFamily="18" charset="0"/>
              </a:rPr>
              <a:t>Patten Mining, Technologies, Applications, Major </a:t>
            </a:r>
            <a:r>
              <a:rPr lang="en-IN" sz="2400" dirty="0" smtClean="0">
                <a:latin typeface="Times New Roman" pitchFamily="18" charset="0"/>
                <a:cs typeface="Times New Roman" pitchFamily="18" charset="0"/>
              </a:rPr>
              <a:t>issues</a:t>
            </a:r>
            <a:r>
              <a:rPr lang="en-IN" sz="2400" dirty="0">
                <a:latin typeface="Times New Roman" pitchFamily="18" charset="0"/>
                <a:cs typeface="Times New Roman" pitchFamily="18" charset="0"/>
              </a:rPr>
              <a:t>.</a:t>
            </a:r>
            <a:endParaRPr lang="en-IN" sz="2400" dirty="0" smtClean="0">
              <a:latin typeface="Times New Roman" pitchFamily="18" charset="0"/>
              <a:cs typeface="Times New Roman" pitchFamily="18" charset="0"/>
            </a:endParaRPr>
          </a:p>
          <a:p>
            <a:pPr algn="just"/>
            <a:endParaRPr lang="en-IN" sz="2400" dirty="0">
              <a:latin typeface="Times New Roman" pitchFamily="18" charset="0"/>
              <a:cs typeface="Times New Roman" pitchFamily="18" charset="0"/>
            </a:endParaRPr>
          </a:p>
          <a:p>
            <a:pPr algn="just"/>
            <a:r>
              <a:rPr lang="en-IN" sz="2400" dirty="0" smtClean="0">
                <a:latin typeface="Times New Roman" pitchFamily="18" charset="0"/>
                <a:cs typeface="Times New Roman" pitchFamily="18" charset="0"/>
              </a:rPr>
              <a:t>	Data </a:t>
            </a:r>
            <a:r>
              <a:rPr lang="en-IN" sz="2400" dirty="0">
                <a:latin typeface="Times New Roman" pitchFamily="18" charset="0"/>
                <a:cs typeface="Times New Roman" pitchFamily="18" charset="0"/>
              </a:rPr>
              <a:t>Objects &amp;Attribute Types, Basic Statistical Descriptions of Data, Data Visualization</a:t>
            </a:r>
            <a:r>
              <a:rPr lang="en-IN" sz="2400" dirty="0" smtClean="0">
                <a:latin typeface="Times New Roman" pitchFamily="18" charset="0"/>
                <a:cs typeface="Times New Roman" pitchFamily="18" charset="0"/>
              </a:rPr>
              <a:t>, Measuring </a:t>
            </a:r>
            <a:r>
              <a:rPr lang="en-IN" sz="2400" dirty="0">
                <a:latin typeface="Times New Roman" pitchFamily="18" charset="0"/>
                <a:cs typeface="Times New Roman" pitchFamily="18" charset="0"/>
              </a:rPr>
              <a:t>Data Similarity and Dissimilarity.</a:t>
            </a:r>
          </a:p>
        </p:txBody>
      </p:sp>
    </p:spTree>
    <p:extLst>
      <p:ext uri="{BB962C8B-B14F-4D97-AF65-F5344CB8AC3E}">
        <p14:creationId xmlns:p14="http://schemas.microsoft.com/office/powerpoint/2010/main" val="26741352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6200" y="228600"/>
            <a:ext cx="8915400" cy="3117777"/>
          </a:xfrm>
          <a:prstGeom prst="rect">
            <a:avLst/>
          </a:prstGeom>
        </p:spPr>
        <p:txBody>
          <a:bodyPr wrap="square">
            <a:spAutoFit/>
          </a:bodyPr>
          <a:lstStyle/>
          <a:p>
            <a:pPr algn="just"/>
            <a:r>
              <a:rPr lang="en-US" sz="2200" i="1" dirty="0" smtClean="0">
                <a:solidFill>
                  <a:schemeClr val="tx2"/>
                </a:solidFill>
                <a:latin typeface="Times New Roman" pitchFamily="18" charset="0"/>
                <a:cs typeface="Times New Roman" pitchFamily="18" charset="0"/>
              </a:rPr>
              <a:t>“Data Mining also </a:t>
            </a:r>
            <a:r>
              <a:rPr lang="en-US" sz="2200" i="1" dirty="0">
                <a:solidFill>
                  <a:schemeClr val="tx2"/>
                </a:solidFill>
                <a:latin typeface="Times New Roman" pitchFamily="18" charset="0"/>
                <a:cs typeface="Times New Roman" pitchFamily="18" charset="0"/>
              </a:rPr>
              <a:t>known as knowledge discovery from </a:t>
            </a:r>
            <a:r>
              <a:rPr lang="en-US" sz="2200" i="1" dirty="0" smtClean="0">
                <a:solidFill>
                  <a:schemeClr val="tx2"/>
                </a:solidFill>
                <a:latin typeface="Times New Roman" pitchFamily="18" charset="0"/>
                <a:cs typeface="Times New Roman" pitchFamily="18" charset="0"/>
              </a:rPr>
              <a:t>data </a:t>
            </a:r>
            <a:r>
              <a:rPr lang="en-US" sz="2200" i="1" dirty="0">
                <a:solidFill>
                  <a:schemeClr val="tx2"/>
                </a:solidFill>
                <a:latin typeface="Times New Roman" pitchFamily="18" charset="0"/>
                <a:cs typeface="Times New Roman" pitchFamily="18" charset="0"/>
              </a:rPr>
              <a:t>or </a:t>
            </a:r>
            <a:r>
              <a:rPr lang="en-US" sz="2200" i="1" dirty="0" smtClean="0">
                <a:solidFill>
                  <a:schemeClr val="tx2"/>
                </a:solidFill>
                <a:latin typeface="Times New Roman" pitchFamily="18" charset="0"/>
                <a:cs typeface="Times New Roman" pitchFamily="18" charset="0"/>
              </a:rPr>
              <a:t>KDD”</a:t>
            </a:r>
          </a:p>
          <a:p>
            <a:pPr algn="just"/>
            <a:r>
              <a:rPr lang="en-US" altLang="en-US" sz="3600" dirty="0" smtClean="0">
                <a:solidFill>
                  <a:srgbClr val="FF0000"/>
                </a:solidFill>
              </a:rPr>
              <a:t>What </a:t>
            </a:r>
            <a:r>
              <a:rPr lang="en-US" altLang="en-US" sz="3600" dirty="0">
                <a:solidFill>
                  <a:srgbClr val="FF0000"/>
                </a:solidFill>
              </a:rPr>
              <a:t>is Data Mining</a:t>
            </a:r>
            <a:r>
              <a:rPr lang="en-US" altLang="en-US" sz="3600" dirty="0" smtClean="0">
                <a:solidFill>
                  <a:srgbClr val="FF0000"/>
                </a:solidFill>
              </a:rPr>
              <a:t>?</a:t>
            </a:r>
            <a:endParaRPr lang="en-US" altLang="en-US" sz="2400" dirty="0" smtClean="0">
              <a:solidFill>
                <a:srgbClr val="FF0000"/>
              </a:solidFill>
            </a:endParaRPr>
          </a:p>
          <a:p>
            <a:pPr marL="285750" indent="-285750" algn="just">
              <a:lnSpc>
                <a:spcPct val="95000"/>
              </a:lnSpc>
              <a:spcBef>
                <a:spcPct val="20000"/>
              </a:spcBef>
            </a:pPr>
            <a:r>
              <a:rPr lang="en-US" altLang="en-US" sz="2200" dirty="0" smtClean="0">
                <a:solidFill>
                  <a:srgbClr val="002060"/>
                </a:solidFill>
                <a:latin typeface="Times New Roman" pitchFamily="18" charset="0"/>
                <a:cs typeface="Times New Roman" pitchFamily="18" charset="0"/>
              </a:rPr>
              <a:t>Many Definitions..</a:t>
            </a:r>
          </a:p>
          <a:p>
            <a:pPr marL="285750" indent="-285750" algn="just">
              <a:lnSpc>
                <a:spcPct val="95000"/>
              </a:lnSpc>
              <a:spcBef>
                <a:spcPct val="20000"/>
              </a:spcBef>
            </a:pPr>
            <a:r>
              <a:rPr lang="en-US" altLang="en-US" sz="2200" dirty="0" smtClean="0">
                <a:latin typeface="Times New Roman" pitchFamily="18" charset="0"/>
                <a:cs typeface="Times New Roman" pitchFamily="18" charset="0"/>
              </a:rPr>
              <a:t>- Non-trivial </a:t>
            </a:r>
            <a:r>
              <a:rPr lang="en-US" altLang="en-US" sz="2200" dirty="0">
                <a:latin typeface="Times New Roman" pitchFamily="18" charset="0"/>
                <a:cs typeface="Times New Roman" pitchFamily="18" charset="0"/>
              </a:rPr>
              <a:t>extraction of implicit, previously unknown and </a:t>
            </a:r>
            <a:r>
              <a:rPr lang="en-US" altLang="en-US" sz="2200" dirty="0" smtClean="0">
                <a:latin typeface="Times New Roman" pitchFamily="18" charset="0"/>
                <a:cs typeface="Times New Roman" pitchFamily="18" charset="0"/>
              </a:rPr>
              <a:t> potentially </a:t>
            </a:r>
            <a:r>
              <a:rPr lang="en-US" altLang="en-US" sz="2200" dirty="0">
                <a:latin typeface="Times New Roman" pitchFamily="18" charset="0"/>
                <a:cs typeface="Times New Roman" pitchFamily="18" charset="0"/>
              </a:rPr>
              <a:t>useful information from </a:t>
            </a:r>
            <a:r>
              <a:rPr lang="en-US" altLang="en-US" sz="2200" dirty="0" smtClean="0">
                <a:latin typeface="Times New Roman" pitchFamily="18" charset="0"/>
                <a:cs typeface="Times New Roman" pitchFamily="18" charset="0"/>
              </a:rPr>
              <a:t>data.</a:t>
            </a:r>
          </a:p>
          <a:p>
            <a:pPr marL="285750" indent="-285750" algn="just">
              <a:lnSpc>
                <a:spcPct val="95000"/>
              </a:lnSpc>
              <a:spcBef>
                <a:spcPct val="20000"/>
              </a:spcBef>
            </a:pPr>
            <a:r>
              <a:rPr lang="en-US" altLang="en-US" sz="2200" dirty="0" smtClean="0">
                <a:latin typeface="Times New Roman" pitchFamily="18" charset="0"/>
                <a:cs typeface="Times New Roman" pitchFamily="18" charset="0"/>
              </a:rPr>
              <a:t>- Exploration </a:t>
            </a:r>
            <a:r>
              <a:rPr lang="en-US" altLang="en-US" sz="2200" dirty="0">
                <a:latin typeface="Times New Roman" pitchFamily="18" charset="0"/>
                <a:cs typeface="Times New Roman" pitchFamily="18" charset="0"/>
              </a:rPr>
              <a:t>&amp; analysis, by automatic or semi-automatic means, of large quantities of data in order to discover </a:t>
            </a:r>
            <a:br>
              <a:rPr lang="en-US" altLang="en-US" sz="2200" dirty="0">
                <a:latin typeface="Times New Roman" pitchFamily="18" charset="0"/>
                <a:cs typeface="Times New Roman" pitchFamily="18" charset="0"/>
              </a:rPr>
            </a:br>
            <a:r>
              <a:rPr lang="en-US" altLang="en-US" sz="2200" dirty="0">
                <a:latin typeface="Times New Roman" pitchFamily="18" charset="0"/>
                <a:cs typeface="Times New Roman" pitchFamily="18" charset="0"/>
              </a:rPr>
              <a:t>meaningful </a:t>
            </a:r>
            <a:r>
              <a:rPr lang="en-US" altLang="en-US" sz="2200" dirty="0" smtClean="0">
                <a:latin typeface="Times New Roman" pitchFamily="18" charset="0"/>
                <a:cs typeface="Times New Roman" pitchFamily="18" charset="0"/>
              </a:rPr>
              <a:t>patterns.</a:t>
            </a:r>
            <a:endParaRPr lang="en-IN" sz="2200" dirty="0" smtClean="0">
              <a:latin typeface="Times New Roman" pitchFamily="18" charset="0"/>
              <a:cs typeface="Times New Roman" pitchFamily="18" charset="0"/>
            </a:endParaRPr>
          </a:p>
        </p:txBody>
      </p:sp>
      <p:pic>
        <p:nvPicPr>
          <p:cNvPr id="3" name="Picture 8">
            <a:extLst>
              <a:ext uri="{FF2B5EF4-FFF2-40B4-BE49-F238E27FC236}">
                <a16:creationId xmlns:a16="http://schemas.microsoft.com/office/drawing/2014/main" xmlns="" id="{A993B859-5AF4-4464-BEB1-380222F27F6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3581400"/>
            <a:ext cx="8534400" cy="2743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Tree>
    <p:extLst>
      <p:ext uri="{BB962C8B-B14F-4D97-AF65-F5344CB8AC3E}">
        <p14:creationId xmlns:p14="http://schemas.microsoft.com/office/powerpoint/2010/main" val="28897011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6200" y="228600"/>
            <a:ext cx="8915400" cy="1015663"/>
          </a:xfrm>
          <a:prstGeom prst="rect">
            <a:avLst/>
          </a:prstGeom>
        </p:spPr>
        <p:txBody>
          <a:bodyPr wrap="square">
            <a:spAutoFit/>
          </a:bodyPr>
          <a:lstStyle/>
          <a:p>
            <a:pPr algn="just"/>
            <a:r>
              <a:rPr lang="en-US" altLang="en-US" sz="3600" u="sng" dirty="0">
                <a:solidFill>
                  <a:srgbClr val="FF0000"/>
                </a:solidFill>
              </a:rPr>
              <a:t>Origins of Data </a:t>
            </a:r>
            <a:r>
              <a:rPr lang="en-US" altLang="en-US" sz="3600" u="sng" dirty="0" smtClean="0">
                <a:solidFill>
                  <a:srgbClr val="FF0000"/>
                </a:solidFill>
              </a:rPr>
              <a:t>Mining:</a:t>
            </a:r>
          </a:p>
          <a:p>
            <a:pPr algn="just"/>
            <a:endParaRPr lang="en-US" altLang="en-US" sz="2400" dirty="0">
              <a:latin typeface="Times New Roman" pitchFamily="18" charset="0"/>
              <a:cs typeface="Times New Roman" pitchFamily="18" charset="0"/>
            </a:endParaRP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 y="920155"/>
            <a:ext cx="8865363" cy="57092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989107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 y="228600"/>
            <a:ext cx="8686800" cy="3231654"/>
          </a:xfrm>
          <a:prstGeom prst="rect">
            <a:avLst/>
          </a:prstGeom>
        </p:spPr>
        <p:txBody>
          <a:bodyPr wrap="square">
            <a:spAutoFit/>
          </a:bodyPr>
          <a:lstStyle/>
          <a:p>
            <a:r>
              <a:rPr lang="en-US" altLang="en-US" sz="3200" u="sng" dirty="0">
                <a:solidFill>
                  <a:srgbClr val="FF0000"/>
                </a:solidFill>
              </a:rPr>
              <a:t>Data Mining </a:t>
            </a:r>
            <a:r>
              <a:rPr lang="en-US" altLang="en-US" sz="3200" u="sng" dirty="0" smtClean="0">
                <a:solidFill>
                  <a:srgbClr val="FF0000"/>
                </a:solidFill>
              </a:rPr>
              <a:t>Tasks:</a:t>
            </a:r>
            <a:endParaRPr lang="en-US" altLang="en-US" u="sng" dirty="0" smtClean="0">
              <a:solidFill>
                <a:srgbClr val="FF0000"/>
              </a:solidFill>
            </a:endParaRPr>
          </a:p>
          <a:p>
            <a:endParaRPr lang="en-US" altLang="en-US" dirty="0"/>
          </a:p>
          <a:p>
            <a:pPr algn="just"/>
            <a:r>
              <a:rPr lang="en-US" altLang="en-US" sz="2200" b="1" dirty="0" smtClean="0">
                <a:latin typeface="Times New Roman" pitchFamily="18" charset="0"/>
                <a:cs typeface="Times New Roman" pitchFamily="18" charset="0"/>
              </a:rPr>
              <a:t>Prediction Methods:</a:t>
            </a:r>
            <a:endParaRPr lang="en-US" altLang="en-US" sz="2200" b="1" dirty="0">
              <a:latin typeface="Times New Roman" pitchFamily="18" charset="0"/>
              <a:cs typeface="Times New Roman" pitchFamily="18" charset="0"/>
            </a:endParaRPr>
          </a:p>
          <a:p>
            <a:pPr lvl="1" algn="just"/>
            <a:r>
              <a:rPr lang="en-US" altLang="en-US" sz="2200" dirty="0">
                <a:latin typeface="Times New Roman" pitchFamily="18" charset="0"/>
                <a:cs typeface="Times New Roman" pitchFamily="18" charset="0"/>
              </a:rPr>
              <a:t>Use some variables to predict unknown or future values of other variables.</a:t>
            </a:r>
          </a:p>
          <a:p>
            <a:pPr lvl="2" algn="just">
              <a:buFont typeface="Wingdings" panose="05000000000000000000" pitchFamily="2" charset="2"/>
              <a:buNone/>
            </a:pPr>
            <a:endParaRPr lang="en-US" altLang="en-US" sz="2200" dirty="0">
              <a:latin typeface="Times New Roman" pitchFamily="18" charset="0"/>
              <a:cs typeface="Times New Roman" pitchFamily="18" charset="0"/>
            </a:endParaRPr>
          </a:p>
          <a:p>
            <a:pPr algn="just"/>
            <a:r>
              <a:rPr lang="en-US" altLang="en-US" sz="2200" b="1" dirty="0">
                <a:latin typeface="Times New Roman" pitchFamily="18" charset="0"/>
                <a:cs typeface="Times New Roman" pitchFamily="18" charset="0"/>
              </a:rPr>
              <a:t>Description </a:t>
            </a:r>
            <a:r>
              <a:rPr lang="en-US" altLang="en-US" sz="2200" b="1" dirty="0" smtClean="0">
                <a:latin typeface="Times New Roman" pitchFamily="18" charset="0"/>
                <a:cs typeface="Times New Roman" pitchFamily="18" charset="0"/>
              </a:rPr>
              <a:t>Methods:</a:t>
            </a:r>
            <a:endParaRPr lang="en-US" altLang="en-US" sz="2200" b="1" dirty="0">
              <a:latin typeface="Times New Roman" pitchFamily="18" charset="0"/>
              <a:cs typeface="Times New Roman" pitchFamily="18" charset="0"/>
            </a:endParaRPr>
          </a:p>
          <a:p>
            <a:pPr lvl="1" algn="just"/>
            <a:r>
              <a:rPr lang="en-US" altLang="en-US" sz="2200" dirty="0">
                <a:latin typeface="Times New Roman" pitchFamily="18" charset="0"/>
                <a:cs typeface="Times New Roman" pitchFamily="18" charset="0"/>
              </a:rPr>
              <a:t>Find human-interpretable patterns that describe the data</a:t>
            </a:r>
            <a:r>
              <a:rPr lang="en-US" altLang="en-US" sz="2200" dirty="0" smtClean="0">
                <a:latin typeface="Times New Roman" pitchFamily="18" charset="0"/>
                <a:cs typeface="Times New Roman" pitchFamily="18" charset="0"/>
              </a:rPr>
              <a:t>.</a:t>
            </a:r>
          </a:p>
          <a:p>
            <a:pPr lvl="1" algn="just"/>
            <a:endParaRPr lang="en-US" altLang="en-US" sz="2200" dirty="0">
              <a:latin typeface="Times New Roman" pitchFamily="18" charset="0"/>
              <a:cs typeface="Times New Roman" pitchFamily="18" charset="0"/>
            </a:endParaRPr>
          </a:p>
        </p:txBody>
      </p:sp>
    </p:spTree>
    <p:extLst>
      <p:ext uri="{BB962C8B-B14F-4D97-AF65-F5344CB8AC3E}">
        <p14:creationId xmlns:p14="http://schemas.microsoft.com/office/powerpoint/2010/main" val="29189092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800" y="152400"/>
            <a:ext cx="8686800" cy="646331"/>
          </a:xfrm>
          <a:prstGeom prst="rect">
            <a:avLst/>
          </a:prstGeom>
        </p:spPr>
        <p:txBody>
          <a:bodyPr wrap="square">
            <a:spAutoFit/>
          </a:bodyPr>
          <a:lstStyle/>
          <a:p>
            <a:pPr algn="ctr"/>
            <a:r>
              <a:rPr lang="en-US" sz="3600" u="sng" dirty="0">
                <a:solidFill>
                  <a:srgbClr val="FF0000"/>
                </a:solidFill>
              </a:rPr>
              <a:t>Data Mining Processes</a:t>
            </a:r>
            <a:endParaRPr lang="en-IN" u="sng" dirty="0">
              <a:solidFill>
                <a:srgbClr val="FF0000"/>
              </a:solidFill>
            </a:endParaRPr>
          </a:p>
        </p:txBody>
      </p:sp>
      <p:pic>
        <p:nvPicPr>
          <p:cNvPr id="3" name="Content Placeholder 5" descr="https://www.wideskills.com/sites/default/files/subjects/Data%20Mining%20Tutorial/04/image1.jpeg"/>
          <p:cNvPicPr>
            <a:picLocks/>
          </p:cNvPicPr>
          <p:nvPr/>
        </p:nvPicPr>
        <p:blipFill>
          <a:blip r:embed="rId2"/>
          <a:srcRect/>
          <a:stretch>
            <a:fillRect/>
          </a:stretch>
        </p:blipFill>
        <p:spPr bwMode="auto">
          <a:xfrm>
            <a:off x="214282" y="914400"/>
            <a:ext cx="8624918" cy="5791200"/>
          </a:xfrm>
          <a:prstGeom prst="rect">
            <a:avLst/>
          </a:prstGeom>
          <a:noFill/>
          <a:ln w="9525">
            <a:noFill/>
            <a:miter lim="800000"/>
            <a:headEnd/>
            <a:tailEnd/>
          </a:ln>
        </p:spPr>
      </p:pic>
    </p:spTree>
    <p:extLst>
      <p:ext uri="{BB962C8B-B14F-4D97-AF65-F5344CB8AC3E}">
        <p14:creationId xmlns:p14="http://schemas.microsoft.com/office/powerpoint/2010/main" val="25600171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 y="228600"/>
            <a:ext cx="8686800" cy="553998"/>
          </a:xfrm>
          <a:prstGeom prst="rect">
            <a:avLst/>
          </a:prstGeom>
        </p:spPr>
        <p:txBody>
          <a:bodyPr wrap="square">
            <a:spAutoFit/>
          </a:bodyPr>
          <a:lstStyle/>
          <a:p>
            <a:pPr algn="ctr">
              <a:lnSpc>
                <a:spcPts val="3600"/>
              </a:lnSpc>
              <a:spcBef>
                <a:spcPct val="0"/>
              </a:spcBef>
              <a:spcAft>
                <a:spcPct val="0"/>
              </a:spcAft>
              <a:buClrTx/>
              <a:buSzTx/>
              <a:buFontTx/>
              <a:buNone/>
            </a:pPr>
            <a:r>
              <a:rPr lang="en-US" altLang="en-US" sz="3200" u="sng" dirty="0">
                <a:solidFill>
                  <a:srgbClr val="FF0000"/>
                </a:solidFill>
                <a:latin typeface="Times New Roman" pitchFamily="18" charset="0"/>
                <a:cs typeface="Times New Roman" pitchFamily="18" charset="0"/>
              </a:rPr>
              <a:t>Data Mining Tasks …</a:t>
            </a:r>
            <a:endParaRPr lang="en-US" altLang="en-US" sz="2000" u="sng" dirty="0">
              <a:solidFill>
                <a:srgbClr val="FF0000"/>
              </a:solidFill>
              <a:latin typeface="Times New Roman" pitchFamily="18" charset="0"/>
              <a:cs typeface="Times New Roman" pitchFamily="18" charset="0"/>
            </a:endParaRP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782598"/>
            <a:ext cx="8686800" cy="58468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30384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6200" y="76200"/>
            <a:ext cx="8839200" cy="2554545"/>
          </a:xfrm>
          <a:prstGeom prst="rect">
            <a:avLst/>
          </a:prstGeom>
        </p:spPr>
        <p:txBody>
          <a:bodyPr wrap="square">
            <a:spAutoFit/>
          </a:bodyPr>
          <a:lstStyle/>
          <a:p>
            <a:pPr algn="just"/>
            <a:r>
              <a:rPr lang="en-US" sz="2800" dirty="0">
                <a:solidFill>
                  <a:srgbClr val="FF0000"/>
                </a:solidFill>
                <a:latin typeface="Times New Roman" pitchFamily="18" charset="0"/>
                <a:cs typeface="Times New Roman" pitchFamily="18" charset="0"/>
              </a:rPr>
              <a:t>Data Mining as the Evolution of Information </a:t>
            </a:r>
            <a:r>
              <a:rPr lang="en-US" sz="2800" dirty="0" smtClean="0">
                <a:solidFill>
                  <a:srgbClr val="FF0000"/>
                </a:solidFill>
                <a:latin typeface="Times New Roman" pitchFamily="18" charset="0"/>
                <a:cs typeface="Times New Roman" pitchFamily="18" charset="0"/>
              </a:rPr>
              <a:t>Technology:</a:t>
            </a:r>
            <a:r>
              <a:rPr lang="en-US" sz="2200" dirty="0" smtClean="0">
                <a:latin typeface="Times New Roman" pitchFamily="18" charset="0"/>
                <a:cs typeface="Times New Roman" pitchFamily="18" charset="0"/>
              </a:rPr>
              <a:t> </a:t>
            </a:r>
          </a:p>
          <a:p>
            <a:pPr algn="just"/>
            <a:r>
              <a:rPr lang="en-US" sz="2200" dirty="0" smtClean="0">
                <a:latin typeface="Times New Roman" pitchFamily="18" charset="0"/>
                <a:cs typeface="Times New Roman" pitchFamily="18" charset="0"/>
              </a:rPr>
              <a:t>	Data </a:t>
            </a:r>
            <a:r>
              <a:rPr lang="en-US" sz="2200" dirty="0">
                <a:latin typeface="Times New Roman" pitchFamily="18" charset="0"/>
                <a:cs typeface="Times New Roman" pitchFamily="18" charset="0"/>
              </a:rPr>
              <a:t>mining can be viewed as a result of the natural evolution of information </a:t>
            </a:r>
            <a:r>
              <a:rPr lang="en-US" sz="2200" dirty="0" smtClean="0">
                <a:latin typeface="Times New Roman" pitchFamily="18" charset="0"/>
                <a:cs typeface="Times New Roman" pitchFamily="18" charset="0"/>
              </a:rPr>
              <a:t>technology</a:t>
            </a:r>
            <a:r>
              <a:rPr lang="en-US" sz="2200" dirty="0">
                <a:latin typeface="Times New Roman" pitchFamily="18" charset="0"/>
                <a:cs typeface="Times New Roman" pitchFamily="18" charset="0"/>
              </a:rPr>
              <a:t>. The database and data management industry evolved in the development of several critical functionalities (Figure 1.1): data collection and database creation, data </a:t>
            </a:r>
            <a:r>
              <a:rPr lang="en-US" sz="2200" dirty="0" smtClean="0">
                <a:latin typeface="Times New Roman" pitchFamily="18" charset="0"/>
                <a:cs typeface="Times New Roman" pitchFamily="18" charset="0"/>
              </a:rPr>
              <a:t>management, </a:t>
            </a:r>
            <a:r>
              <a:rPr lang="en-US" sz="2200" dirty="0">
                <a:latin typeface="Times New Roman" pitchFamily="18" charset="0"/>
                <a:cs typeface="Times New Roman" pitchFamily="18" charset="0"/>
              </a:rPr>
              <a:t>and advanced data </a:t>
            </a:r>
            <a:r>
              <a:rPr lang="en-US" sz="2200" dirty="0" smtClean="0">
                <a:latin typeface="Times New Roman" pitchFamily="18" charset="0"/>
                <a:cs typeface="Times New Roman" pitchFamily="18" charset="0"/>
              </a:rPr>
              <a:t>analysis.</a:t>
            </a:r>
          </a:p>
          <a:p>
            <a:pPr algn="just"/>
            <a:endParaRPr lang="en-IN" sz="2200" dirty="0">
              <a:latin typeface="Times New Roman" pitchFamily="18" charset="0"/>
              <a:cs typeface="Times New Roman" pitchFamily="18" charset="0"/>
            </a:endParaRPr>
          </a:p>
        </p:txBody>
      </p:sp>
    </p:spTree>
    <p:extLst>
      <p:ext uri="{BB962C8B-B14F-4D97-AF65-F5344CB8AC3E}">
        <p14:creationId xmlns:p14="http://schemas.microsoft.com/office/powerpoint/2010/main" val="38369287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272385"/>
            <a:ext cx="8458200" cy="59975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9783095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9"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228600"/>
            <a:ext cx="8610600" cy="6400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827615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400" y="152400"/>
            <a:ext cx="8839200" cy="5170646"/>
          </a:xfrm>
          <a:prstGeom prst="rect">
            <a:avLst/>
          </a:prstGeom>
        </p:spPr>
        <p:txBody>
          <a:bodyPr wrap="square">
            <a:spAutoFit/>
          </a:bodyPr>
          <a:lstStyle/>
          <a:p>
            <a:pPr algn="just"/>
            <a:r>
              <a:rPr lang="en-US" dirty="0" smtClean="0"/>
              <a:t>	</a:t>
            </a:r>
            <a:r>
              <a:rPr lang="en-US" sz="2200" dirty="0" smtClean="0">
                <a:latin typeface="Times New Roman" pitchFamily="18" charset="0"/>
                <a:cs typeface="Times New Roman" pitchFamily="18" charset="0"/>
              </a:rPr>
              <a:t>One </a:t>
            </a:r>
            <a:r>
              <a:rPr lang="en-US" sz="2200" dirty="0">
                <a:latin typeface="Times New Roman" pitchFamily="18" charset="0"/>
                <a:cs typeface="Times New Roman" pitchFamily="18" charset="0"/>
              </a:rPr>
              <a:t>emerging data repository architecture is the data </a:t>
            </a:r>
            <a:r>
              <a:rPr lang="en-US" sz="2200" dirty="0" smtClean="0">
                <a:latin typeface="Times New Roman" pitchFamily="18" charset="0"/>
                <a:cs typeface="Times New Roman" pitchFamily="18" charset="0"/>
              </a:rPr>
              <a:t>warehouse. </a:t>
            </a:r>
            <a:r>
              <a:rPr lang="en-US" sz="2200" dirty="0">
                <a:latin typeface="Times New Roman" pitchFamily="18" charset="0"/>
                <a:cs typeface="Times New Roman" pitchFamily="18" charset="0"/>
              </a:rPr>
              <a:t>This is a repository of multiple heterogeneous data sources organized under a </a:t>
            </a:r>
            <a:r>
              <a:rPr lang="en-US" sz="2200" dirty="0" smtClean="0">
                <a:latin typeface="Times New Roman" pitchFamily="18" charset="0"/>
                <a:cs typeface="Times New Roman" pitchFamily="18" charset="0"/>
              </a:rPr>
              <a:t>unified </a:t>
            </a:r>
            <a:r>
              <a:rPr lang="en-US" sz="2200" dirty="0">
                <a:latin typeface="Times New Roman" pitchFamily="18" charset="0"/>
                <a:cs typeface="Times New Roman" pitchFamily="18" charset="0"/>
              </a:rPr>
              <a:t>schema at a single site to facilitate management decision making. Data warehouse technology includes data cleaning, data integration, and online analytical processing (</a:t>
            </a:r>
            <a:r>
              <a:rPr lang="en-US" sz="2200" dirty="0" smtClean="0">
                <a:latin typeface="Times New Roman" pitchFamily="18" charset="0"/>
                <a:cs typeface="Times New Roman" pitchFamily="18" charset="0"/>
              </a:rPr>
              <a:t>OLAP) - that </a:t>
            </a:r>
            <a:r>
              <a:rPr lang="en-US" sz="2200" dirty="0">
                <a:latin typeface="Times New Roman" pitchFamily="18" charset="0"/>
                <a:cs typeface="Times New Roman" pitchFamily="18" charset="0"/>
              </a:rPr>
              <a:t>is, analysis techniques with functionalities such as summarization, </a:t>
            </a:r>
            <a:r>
              <a:rPr lang="en-US" sz="2200" dirty="0" smtClean="0">
                <a:latin typeface="Times New Roman" pitchFamily="18" charset="0"/>
                <a:cs typeface="Times New Roman" pitchFamily="18" charset="0"/>
              </a:rPr>
              <a:t>consolidation</a:t>
            </a:r>
            <a:r>
              <a:rPr lang="en-US" sz="2200" dirty="0">
                <a:latin typeface="Times New Roman" pitchFamily="18" charset="0"/>
                <a:cs typeface="Times New Roman" pitchFamily="18" charset="0"/>
              </a:rPr>
              <a:t>, and aggregation, as well as the ability to view information from different angles. Although OLAP tools support multidimensional analysis and decision making, additional data analysis tools are required for in-depth </a:t>
            </a:r>
            <a:r>
              <a:rPr lang="en-US" sz="2200" dirty="0" smtClean="0">
                <a:latin typeface="Times New Roman" pitchFamily="18" charset="0"/>
                <a:cs typeface="Times New Roman" pitchFamily="18" charset="0"/>
              </a:rPr>
              <a:t>analysis.</a:t>
            </a:r>
          </a:p>
          <a:p>
            <a:pPr algn="just"/>
            <a:r>
              <a:rPr lang="en-US" sz="2200" dirty="0" smtClean="0">
                <a:latin typeface="Times New Roman" pitchFamily="18" charset="0"/>
                <a:cs typeface="Times New Roman" pitchFamily="18" charset="0"/>
              </a:rPr>
              <a:t>for example:  Data </a:t>
            </a:r>
            <a:r>
              <a:rPr lang="en-US" sz="2200" dirty="0">
                <a:latin typeface="Times New Roman" pitchFamily="18" charset="0"/>
                <a:cs typeface="Times New Roman" pitchFamily="18" charset="0"/>
              </a:rPr>
              <a:t>M</a:t>
            </a:r>
            <a:r>
              <a:rPr lang="en-US" sz="2200" dirty="0" smtClean="0">
                <a:latin typeface="Times New Roman" pitchFamily="18" charset="0"/>
                <a:cs typeface="Times New Roman" pitchFamily="18" charset="0"/>
              </a:rPr>
              <a:t>ining </a:t>
            </a:r>
            <a:r>
              <a:rPr lang="en-US" sz="2200" dirty="0">
                <a:latin typeface="Times New Roman" pitchFamily="18" charset="0"/>
                <a:cs typeface="Times New Roman" pitchFamily="18" charset="0"/>
              </a:rPr>
              <a:t>tools that provide data classification, clustering, outlier/anomaly detection, and the characterization of changes in data over time</a:t>
            </a:r>
            <a:r>
              <a:rPr lang="en-US" sz="2200" dirty="0" smtClean="0">
                <a:latin typeface="Times New Roman" pitchFamily="18" charset="0"/>
                <a:cs typeface="Times New Roman" pitchFamily="18" charset="0"/>
              </a:rPr>
              <a:t>.</a:t>
            </a:r>
          </a:p>
          <a:p>
            <a:pPr algn="just"/>
            <a:r>
              <a:rPr lang="en-US" sz="2200" dirty="0" smtClean="0">
                <a:latin typeface="Times New Roman" pitchFamily="18" charset="0"/>
                <a:cs typeface="Times New Roman" pitchFamily="18" charset="0"/>
              </a:rPr>
              <a:t>	Huge </a:t>
            </a:r>
            <a:r>
              <a:rPr lang="en-US" sz="2200" dirty="0">
                <a:latin typeface="Times New Roman" pitchFamily="18" charset="0"/>
                <a:cs typeface="Times New Roman" pitchFamily="18" charset="0"/>
              </a:rPr>
              <a:t>volumes of data have been accumulated beyond databases and data ware houses. During the 1990s, the World Wide Web and web-based databases (e.g., XML databases) began to appear. </a:t>
            </a:r>
            <a:endParaRPr lang="en-IN" sz="2200" dirty="0">
              <a:latin typeface="Times New Roman" pitchFamily="18" charset="0"/>
              <a:cs typeface="Times New Roman" pitchFamily="18" charset="0"/>
            </a:endParaRPr>
          </a:p>
        </p:txBody>
      </p:sp>
    </p:spTree>
    <p:extLst>
      <p:ext uri="{BB962C8B-B14F-4D97-AF65-F5344CB8AC3E}">
        <p14:creationId xmlns:p14="http://schemas.microsoft.com/office/powerpoint/2010/main" val="13811014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1981199"/>
            <a:ext cx="8534399" cy="4571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ectangle 1"/>
          <p:cNvSpPr/>
          <p:nvPr/>
        </p:nvSpPr>
        <p:spPr>
          <a:xfrm>
            <a:off x="152400" y="76201"/>
            <a:ext cx="8839200" cy="2123658"/>
          </a:xfrm>
          <a:prstGeom prst="rect">
            <a:avLst/>
          </a:prstGeom>
        </p:spPr>
        <p:txBody>
          <a:bodyPr wrap="square">
            <a:spAutoFit/>
          </a:bodyPr>
          <a:lstStyle/>
          <a:p>
            <a:pPr algn="just"/>
            <a:r>
              <a:rPr lang="en-US" sz="2200" dirty="0">
                <a:latin typeface="Times New Roman" pitchFamily="18" charset="0"/>
                <a:cs typeface="Times New Roman" pitchFamily="18" charset="0"/>
              </a:rPr>
              <a:t>Internet-based global information bases, such as the WWW and various kinds of interconnected, heterogeneous databases, have emerged and play a vital role in the information industry. The effective and efficient analysis of data from such different forms of data by integration of information retrieval, data mining, and information network analysis technologies is a challenging task. </a:t>
            </a:r>
            <a:endParaRPr lang="en-IN" sz="2200" dirty="0">
              <a:latin typeface="Times New Roman" pitchFamily="18" charset="0"/>
              <a:cs typeface="Times New Roman" pitchFamily="18" charset="0"/>
            </a:endParaRPr>
          </a:p>
        </p:txBody>
      </p:sp>
    </p:spTree>
    <p:extLst>
      <p:ext uri="{BB962C8B-B14F-4D97-AF65-F5344CB8AC3E}">
        <p14:creationId xmlns:p14="http://schemas.microsoft.com/office/powerpoint/2010/main" val="556369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1123950"/>
            <a:ext cx="8458199" cy="5505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ectangle 1"/>
          <p:cNvSpPr/>
          <p:nvPr/>
        </p:nvSpPr>
        <p:spPr>
          <a:xfrm>
            <a:off x="914400" y="228600"/>
            <a:ext cx="5715000" cy="646331"/>
          </a:xfrm>
          <a:prstGeom prst="rect">
            <a:avLst/>
          </a:prstGeom>
        </p:spPr>
        <p:txBody>
          <a:bodyPr wrap="square">
            <a:spAutoFit/>
          </a:bodyPr>
          <a:lstStyle/>
          <a:p>
            <a:pPr algn="just"/>
            <a:r>
              <a:rPr lang="en-US" altLang="en-US" sz="3600" dirty="0">
                <a:solidFill>
                  <a:srgbClr val="FF0000"/>
                </a:solidFill>
              </a:rPr>
              <a:t>What is Data Mining?</a:t>
            </a:r>
            <a:endParaRPr lang="en-US" altLang="en-US" sz="2400" dirty="0">
              <a:solidFill>
                <a:srgbClr val="FF0000"/>
              </a:solidFill>
            </a:endParaRPr>
          </a:p>
        </p:txBody>
      </p:sp>
    </p:spTree>
    <p:extLst>
      <p:ext uri="{BB962C8B-B14F-4D97-AF65-F5344CB8AC3E}">
        <p14:creationId xmlns:p14="http://schemas.microsoft.com/office/powerpoint/2010/main" val="38535301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3"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76200"/>
            <a:ext cx="6553200" cy="662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553352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 y="152400"/>
            <a:ext cx="8763000" cy="5509200"/>
          </a:xfrm>
          <a:prstGeom prst="rect">
            <a:avLst/>
          </a:prstGeom>
        </p:spPr>
        <p:txBody>
          <a:bodyPr wrap="square">
            <a:spAutoFit/>
          </a:bodyPr>
          <a:lstStyle/>
          <a:p>
            <a:pPr algn="just"/>
            <a:r>
              <a:rPr lang="en-US" sz="2200" dirty="0" smtClean="0">
                <a:latin typeface="Times New Roman" pitchFamily="18" charset="0"/>
                <a:cs typeface="Times New Roman" pitchFamily="18" charset="0"/>
              </a:rPr>
              <a:t>	The </a:t>
            </a:r>
            <a:r>
              <a:rPr lang="en-US" sz="2200" dirty="0">
                <a:latin typeface="Times New Roman" pitchFamily="18" charset="0"/>
                <a:cs typeface="Times New Roman" pitchFamily="18" charset="0"/>
              </a:rPr>
              <a:t>knowledge discovery process is shown in </a:t>
            </a:r>
            <a:r>
              <a:rPr lang="en-US" sz="2200" dirty="0" smtClean="0">
                <a:latin typeface="Times New Roman" pitchFamily="18" charset="0"/>
                <a:cs typeface="Times New Roman" pitchFamily="18" charset="0"/>
              </a:rPr>
              <a:t>above Fig. </a:t>
            </a:r>
            <a:r>
              <a:rPr lang="en-US" sz="2200" dirty="0">
                <a:latin typeface="Times New Roman" pitchFamily="18" charset="0"/>
                <a:cs typeface="Times New Roman" pitchFamily="18" charset="0"/>
              </a:rPr>
              <a:t>as an iterative sequence of the following steps: </a:t>
            </a:r>
            <a:endParaRPr lang="en-US" sz="2200" dirty="0" smtClean="0">
              <a:latin typeface="Times New Roman" pitchFamily="18" charset="0"/>
              <a:cs typeface="Times New Roman" pitchFamily="18" charset="0"/>
            </a:endParaRPr>
          </a:p>
          <a:p>
            <a:pPr algn="just"/>
            <a:endParaRPr lang="en-US" sz="2200" dirty="0" smtClean="0">
              <a:latin typeface="Times New Roman" pitchFamily="18" charset="0"/>
              <a:cs typeface="Times New Roman" pitchFamily="18" charset="0"/>
            </a:endParaRPr>
          </a:p>
          <a:p>
            <a:pPr algn="just"/>
            <a:r>
              <a:rPr lang="en-US" sz="2200" dirty="0" smtClean="0">
                <a:latin typeface="Times New Roman" pitchFamily="18" charset="0"/>
                <a:cs typeface="Times New Roman" pitchFamily="18" charset="0"/>
              </a:rPr>
              <a:t>1</a:t>
            </a:r>
            <a:r>
              <a:rPr lang="en-US" sz="2200" b="1" dirty="0">
                <a:latin typeface="Times New Roman" pitchFamily="18" charset="0"/>
                <a:cs typeface="Times New Roman" pitchFamily="18" charset="0"/>
              </a:rPr>
              <a:t>. </a:t>
            </a:r>
            <a:r>
              <a:rPr lang="en-US" sz="2200" b="1" dirty="0" smtClean="0">
                <a:latin typeface="Times New Roman" pitchFamily="18" charset="0"/>
                <a:cs typeface="Times New Roman" pitchFamily="18" charset="0"/>
              </a:rPr>
              <a:t>Data cleaning </a:t>
            </a:r>
            <a:r>
              <a:rPr lang="en-US" sz="2200" dirty="0">
                <a:latin typeface="Times New Roman" pitchFamily="18" charset="0"/>
                <a:cs typeface="Times New Roman" pitchFamily="18" charset="0"/>
              </a:rPr>
              <a:t>(to remove noise and inconsistent data) </a:t>
            </a:r>
            <a:r>
              <a:rPr lang="en-US" sz="2200" dirty="0" smtClean="0">
                <a:latin typeface="Times New Roman" pitchFamily="18" charset="0"/>
                <a:cs typeface="Times New Roman" pitchFamily="18" charset="0"/>
              </a:rPr>
              <a:t> </a:t>
            </a:r>
          </a:p>
          <a:p>
            <a:pPr algn="just"/>
            <a:r>
              <a:rPr lang="en-US" sz="2200" dirty="0" smtClean="0">
                <a:latin typeface="Times New Roman" pitchFamily="18" charset="0"/>
                <a:cs typeface="Times New Roman" pitchFamily="18" charset="0"/>
              </a:rPr>
              <a:t>2</a:t>
            </a:r>
            <a:r>
              <a:rPr lang="en-US" sz="2200" b="1" dirty="0">
                <a:latin typeface="Times New Roman" pitchFamily="18" charset="0"/>
                <a:cs typeface="Times New Roman" pitchFamily="18" charset="0"/>
              </a:rPr>
              <a:t>. Data integration </a:t>
            </a:r>
            <a:r>
              <a:rPr lang="en-US" sz="2200" dirty="0">
                <a:latin typeface="Times New Roman" pitchFamily="18" charset="0"/>
                <a:cs typeface="Times New Roman" pitchFamily="18" charset="0"/>
              </a:rPr>
              <a:t>(where multiple data sources may be combined</a:t>
            </a:r>
            <a:r>
              <a:rPr lang="en-US" sz="2200" dirty="0" smtClean="0">
                <a:latin typeface="Times New Roman" pitchFamily="18" charset="0"/>
                <a:cs typeface="Times New Roman" pitchFamily="18" charset="0"/>
              </a:rPr>
              <a:t>)</a:t>
            </a:r>
          </a:p>
          <a:p>
            <a:pPr algn="just"/>
            <a:r>
              <a:rPr lang="en-US" sz="2200" dirty="0">
                <a:latin typeface="Times New Roman" pitchFamily="18" charset="0"/>
                <a:cs typeface="Times New Roman" pitchFamily="18" charset="0"/>
              </a:rPr>
              <a:t>3. </a:t>
            </a:r>
            <a:r>
              <a:rPr lang="en-US" sz="2200" b="1" dirty="0">
                <a:latin typeface="Times New Roman" pitchFamily="18" charset="0"/>
                <a:cs typeface="Times New Roman" pitchFamily="18" charset="0"/>
              </a:rPr>
              <a:t>Data selection </a:t>
            </a:r>
            <a:r>
              <a:rPr lang="en-US" sz="2200" dirty="0">
                <a:latin typeface="Times New Roman" pitchFamily="18" charset="0"/>
                <a:cs typeface="Times New Roman" pitchFamily="18" charset="0"/>
              </a:rPr>
              <a:t>(where data relevant to the analysis task are retrieved from the database) </a:t>
            </a:r>
            <a:endParaRPr lang="en-US" sz="2200" dirty="0" smtClean="0">
              <a:latin typeface="Times New Roman" pitchFamily="18" charset="0"/>
              <a:cs typeface="Times New Roman" pitchFamily="18" charset="0"/>
            </a:endParaRPr>
          </a:p>
          <a:p>
            <a:pPr algn="just"/>
            <a:r>
              <a:rPr lang="en-US" sz="2200" dirty="0" smtClean="0">
                <a:latin typeface="Times New Roman" pitchFamily="18" charset="0"/>
                <a:cs typeface="Times New Roman" pitchFamily="18" charset="0"/>
              </a:rPr>
              <a:t>4</a:t>
            </a:r>
            <a:r>
              <a:rPr lang="en-US" sz="2200" dirty="0">
                <a:latin typeface="Times New Roman" pitchFamily="18" charset="0"/>
                <a:cs typeface="Times New Roman" pitchFamily="18" charset="0"/>
              </a:rPr>
              <a:t>. </a:t>
            </a:r>
            <a:r>
              <a:rPr lang="en-US" sz="2200" b="1" dirty="0">
                <a:latin typeface="Times New Roman" pitchFamily="18" charset="0"/>
                <a:cs typeface="Times New Roman" pitchFamily="18" charset="0"/>
              </a:rPr>
              <a:t>Data transformation </a:t>
            </a:r>
            <a:r>
              <a:rPr lang="en-US" sz="2200" dirty="0">
                <a:latin typeface="Times New Roman" pitchFamily="18" charset="0"/>
                <a:cs typeface="Times New Roman" pitchFamily="18" charset="0"/>
              </a:rPr>
              <a:t>(where data are transformed and consolidated into forms appropriate for mining by performing summary or aggregation </a:t>
            </a:r>
            <a:r>
              <a:rPr lang="en-US" sz="2200" dirty="0" smtClean="0">
                <a:latin typeface="Times New Roman" pitchFamily="18" charset="0"/>
                <a:cs typeface="Times New Roman" pitchFamily="18" charset="0"/>
              </a:rPr>
              <a:t>operations)</a:t>
            </a:r>
          </a:p>
          <a:p>
            <a:pPr algn="just"/>
            <a:r>
              <a:rPr lang="en-US" sz="2200" dirty="0" smtClean="0">
                <a:latin typeface="Times New Roman" pitchFamily="18" charset="0"/>
                <a:cs typeface="Times New Roman" pitchFamily="18" charset="0"/>
              </a:rPr>
              <a:t>5</a:t>
            </a:r>
            <a:r>
              <a:rPr lang="en-US" sz="2200" dirty="0">
                <a:latin typeface="Times New Roman" pitchFamily="18" charset="0"/>
                <a:cs typeface="Times New Roman" pitchFamily="18" charset="0"/>
              </a:rPr>
              <a:t>. </a:t>
            </a:r>
            <a:r>
              <a:rPr lang="en-US" sz="2200" b="1" dirty="0">
                <a:latin typeface="Times New Roman" pitchFamily="18" charset="0"/>
                <a:cs typeface="Times New Roman" pitchFamily="18" charset="0"/>
              </a:rPr>
              <a:t>Data mining </a:t>
            </a:r>
            <a:r>
              <a:rPr lang="en-US" sz="2200" dirty="0">
                <a:latin typeface="Times New Roman" pitchFamily="18" charset="0"/>
                <a:cs typeface="Times New Roman" pitchFamily="18" charset="0"/>
              </a:rPr>
              <a:t>(an essential process where intelligent methods are applied to extract data patterns) </a:t>
            </a:r>
            <a:endParaRPr lang="en-US" sz="2200" dirty="0" smtClean="0">
              <a:latin typeface="Times New Roman" pitchFamily="18" charset="0"/>
              <a:cs typeface="Times New Roman" pitchFamily="18" charset="0"/>
            </a:endParaRPr>
          </a:p>
          <a:p>
            <a:pPr algn="just"/>
            <a:r>
              <a:rPr lang="en-US" sz="2200" dirty="0" smtClean="0">
                <a:latin typeface="Times New Roman" pitchFamily="18" charset="0"/>
                <a:cs typeface="Times New Roman" pitchFamily="18" charset="0"/>
              </a:rPr>
              <a:t>6</a:t>
            </a:r>
            <a:r>
              <a:rPr lang="en-US" sz="2200" dirty="0">
                <a:latin typeface="Times New Roman" pitchFamily="18" charset="0"/>
                <a:cs typeface="Times New Roman" pitchFamily="18" charset="0"/>
              </a:rPr>
              <a:t>. </a:t>
            </a:r>
            <a:r>
              <a:rPr lang="en-US" sz="2200" b="1" dirty="0" smtClean="0">
                <a:latin typeface="Times New Roman" pitchFamily="18" charset="0"/>
                <a:cs typeface="Times New Roman" pitchFamily="18" charset="0"/>
              </a:rPr>
              <a:t>Pattern evaluation </a:t>
            </a:r>
            <a:r>
              <a:rPr lang="en-US" sz="2200" dirty="0">
                <a:latin typeface="Times New Roman" pitchFamily="18" charset="0"/>
                <a:cs typeface="Times New Roman" pitchFamily="18" charset="0"/>
              </a:rPr>
              <a:t>(to identify the truly interesting patterns representing knowledge based on interestingness </a:t>
            </a:r>
            <a:r>
              <a:rPr lang="en-US" sz="2200" dirty="0" smtClean="0">
                <a:latin typeface="Times New Roman" pitchFamily="18" charset="0"/>
                <a:cs typeface="Times New Roman" pitchFamily="18" charset="0"/>
              </a:rPr>
              <a:t>measures) </a:t>
            </a:r>
          </a:p>
          <a:p>
            <a:pPr algn="just"/>
            <a:r>
              <a:rPr lang="en-US" sz="2200" dirty="0" smtClean="0">
                <a:latin typeface="Times New Roman" pitchFamily="18" charset="0"/>
                <a:cs typeface="Times New Roman" pitchFamily="18" charset="0"/>
              </a:rPr>
              <a:t>7</a:t>
            </a:r>
            <a:r>
              <a:rPr lang="en-US" sz="2200" dirty="0">
                <a:latin typeface="Times New Roman" pitchFamily="18" charset="0"/>
                <a:cs typeface="Times New Roman" pitchFamily="18" charset="0"/>
              </a:rPr>
              <a:t>. </a:t>
            </a:r>
            <a:r>
              <a:rPr lang="en-US" sz="2200" b="1" dirty="0">
                <a:latin typeface="Times New Roman" pitchFamily="18" charset="0"/>
                <a:cs typeface="Times New Roman" pitchFamily="18" charset="0"/>
              </a:rPr>
              <a:t>Knowledge presentation </a:t>
            </a:r>
            <a:r>
              <a:rPr lang="en-US" sz="2200" dirty="0">
                <a:latin typeface="Times New Roman" pitchFamily="18" charset="0"/>
                <a:cs typeface="Times New Roman" pitchFamily="18" charset="0"/>
              </a:rPr>
              <a:t>(where visualization and knowledge representation </a:t>
            </a:r>
            <a:r>
              <a:rPr lang="en-US" sz="2200" dirty="0" smtClean="0">
                <a:latin typeface="Times New Roman" pitchFamily="18" charset="0"/>
                <a:cs typeface="Times New Roman" pitchFamily="18" charset="0"/>
              </a:rPr>
              <a:t>techniques </a:t>
            </a:r>
            <a:r>
              <a:rPr lang="en-US" sz="2200" dirty="0">
                <a:latin typeface="Times New Roman" pitchFamily="18" charset="0"/>
                <a:cs typeface="Times New Roman" pitchFamily="18" charset="0"/>
              </a:rPr>
              <a:t>are used to present mined knowledge to users)</a:t>
            </a:r>
            <a:endParaRPr lang="en-IN" sz="2200" dirty="0">
              <a:latin typeface="Times New Roman" pitchFamily="18" charset="0"/>
              <a:cs typeface="Times New Roman" pitchFamily="18" charset="0"/>
            </a:endParaRPr>
          </a:p>
        </p:txBody>
      </p:sp>
    </p:spTree>
    <p:extLst>
      <p:ext uri="{BB962C8B-B14F-4D97-AF65-F5344CB8AC3E}">
        <p14:creationId xmlns:p14="http://schemas.microsoft.com/office/powerpoint/2010/main" val="42081950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400" y="152400"/>
            <a:ext cx="8839200" cy="5539978"/>
          </a:xfrm>
          <a:prstGeom prst="rect">
            <a:avLst/>
          </a:prstGeom>
        </p:spPr>
        <p:txBody>
          <a:bodyPr wrap="square">
            <a:spAutoFit/>
          </a:bodyPr>
          <a:lstStyle/>
          <a:p>
            <a:pPr algn="just"/>
            <a:r>
              <a:rPr lang="en-US" sz="2400" dirty="0" smtClean="0">
                <a:solidFill>
                  <a:srgbClr val="FF0000"/>
                </a:solidFill>
                <a:latin typeface="Times New Roman" pitchFamily="18" charset="0"/>
                <a:cs typeface="Times New Roman" pitchFamily="18" charset="0"/>
              </a:rPr>
              <a:t>What Kinds of </a:t>
            </a:r>
            <a:r>
              <a:rPr lang="en-US" sz="2400" dirty="0">
                <a:solidFill>
                  <a:srgbClr val="FF0000"/>
                </a:solidFill>
                <a:latin typeface="Times New Roman" pitchFamily="18" charset="0"/>
                <a:cs typeface="Times New Roman" pitchFamily="18" charset="0"/>
              </a:rPr>
              <a:t>Data Can Be Mined</a:t>
            </a:r>
            <a:r>
              <a:rPr lang="en-US" sz="2400" dirty="0" smtClean="0">
                <a:solidFill>
                  <a:srgbClr val="FF0000"/>
                </a:solidFill>
                <a:latin typeface="Times New Roman" pitchFamily="18" charset="0"/>
                <a:cs typeface="Times New Roman" pitchFamily="18" charset="0"/>
              </a:rPr>
              <a:t>?</a:t>
            </a:r>
          </a:p>
          <a:p>
            <a:pPr algn="just"/>
            <a:r>
              <a:rPr lang="en-US" sz="2200" dirty="0" smtClean="0">
                <a:latin typeface="Times New Roman" pitchFamily="18" charset="0"/>
                <a:cs typeface="Times New Roman" pitchFamily="18" charset="0"/>
              </a:rPr>
              <a:t>	The </a:t>
            </a:r>
            <a:r>
              <a:rPr lang="en-US" sz="2200" dirty="0">
                <a:latin typeface="Times New Roman" pitchFamily="18" charset="0"/>
                <a:cs typeface="Times New Roman" pitchFamily="18" charset="0"/>
              </a:rPr>
              <a:t>most basic forms of data for mining applications are database </a:t>
            </a:r>
            <a:r>
              <a:rPr lang="en-US" sz="2200" dirty="0" smtClean="0">
                <a:latin typeface="Times New Roman" pitchFamily="18" charset="0"/>
                <a:cs typeface="Times New Roman" pitchFamily="18" charset="0"/>
              </a:rPr>
              <a:t>data, </a:t>
            </a:r>
            <a:r>
              <a:rPr lang="en-US" sz="2200" dirty="0">
                <a:latin typeface="Times New Roman" pitchFamily="18" charset="0"/>
                <a:cs typeface="Times New Roman" pitchFamily="18" charset="0"/>
              </a:rPr>
              <a:t>data warehouse </a:t>
            </a:r>
            <a:r>
              <a:rPr lang="en-US" sz="2200" dirty="0" smtClean="0">
                <a:latin typeface="Times New Roman" pitchFamily="18" charset="0"/>
                <a:cs typeface="Times New Roman" pitchFamily="18" charset="0"/>
              </a:rPr>
              <a:t>data, </a:t>
            </a:r>
            <a:r>
              <a:rPr lang="en-US" sz="2200" dirty="0">
                <a:latin typeface="Times New Roman" pitchFamily="18" charset="0"/>
                <a:cs typeface="Times New Roman" pitchFamily="18" charset="0"/>
              </a:rPr>
              <a:t>and transactional </a:t>
            </a:r>
            <a:r>
              <a:rPr lang="en-US" sz="2200" dirty="0" smtClean="0">
                <a:latin typeface="Times New Roman" pitchFamily="18" charset="0"/>
                <a:cs typeface="Times New Roman" pitchFamily="18" charset="0"/>
              </a:rPr>
              <a:t>data.</a:t>
            </a:r>
          </a:p>
          <a:p>
            <a:pPr algn="just"/>
            <a:endParaRPr lang="en-US" sz="2200" dirty="0" smtClean="0">
              <a:latin typeface="Times New Roman" pitchFamily="18" charset="0"/>
              <a:cs typeface="Times New Roman" pitchFamily="18" charset="0"/>
            </a:endParaRPr>
          </a:p>
          <a:p>
            <a:pPr algn="just"/>
            <a:r>
              <a:rPr lang="en-US" sz="2400" b="1" u="sng" dirty="0">
                <a:latin typeface="Times New Roman" pitchFamily="18" charset="0"/>
                <a:cs typeface="Times New Roman" pitchFamily="18" charset="0"/>
              </a:rPr>
              <a:t>Database </a:t>
            </a:r>
            <a:r>
              <a:rPr lang="en-US" sz="2400" b="1" u="sng" dirty="0" smtClean="0">
                <a:latin typeface="Times New Roman" pitchFamily="18" charset="0"/>
                <a:cs typeface="Times New Roman" pitchFamily="18" charset="0"/>
              </a:rPr>
              <a:t>Data:</a:t>
            </a:r>
            <a:endParaRPr lang="en-US" sz="2200" b="1" u="sng" dirty="0" smtClean="0">
              <a:latin typeface="Times New Roman" pitchFamily="18" charset="0"/>
              <a:cs typeface="Times New Roman" pitchFamily="18" charset="0"/>
            </a:endParaRPr>
          </a:p>
          <a:p>
            <a:pPr algn="just"/>
            <a:r>
              <a:rPr lang="en-US" sz="2200" dirty="0" smtClean="0">
                <a:latin typeface="Times New Roman" pitchFamily="18" charset="0"/>
                <a:cs typeface="Times New Roman" pitchFamily="18" charset="0"/>
              </a:rPr>
              <a:t>	A </a:t>
            </a:r>
            <a:r>
              <a:rPr lang="en-US" sz="2200" dirty="0">
                <a:latin typeface="Times New Roman" pitchFamily="18" charset="0"/>
                <a:cs typeface="Times New Roman" pitchFamily="18" charset="0"/>
              </a:rPr>
              <a:t>database system, also called a database management system (DBMS), consists of a collection of interrelated data, known as a database, and a set of software programs to manage and access the data. </a:t>
            </a:r>
            <a:endParaRPr lang="en-US" sz="2200" dirty="0" smtClean="0">
              <a:latin typeface="Times New Roman" pitchFamily="18" charset="0"/>
              <a:cs typeface="Times New Roman" pitchFamily="18" charset="0"/>
            </a:endParaRPr>
          </a:p>
          <a:p>
            <a:pPr algn="just"/>
            <a:endParaRPr lang="en-US" sz="2200" dirty="0" smtClean="0">
              <a:latin typeface="Times New Roman" pitchFamily="18" charset="0"/>
              <a:cs typeface="Times New Roman" pitchFamily="18" charset="0"/>
            </a:endParaRPr>
          </a:p>
          <a:p>
            <a:pPr algn="just"/>
            <a:r>
              <a:rPr lang="en-US" sz="2200" dirty="0" smtClean="0">
                <a:latin typeface="Times New Roman" pitchFamily="18" charset="0"/>
                <a:cs typeface="Times New Roman" pitchFamily="18" charset="0"/>
              </a:rPr>
              <a:t>	A </a:t>
            </a:r>
            <a:r>
              <a:rPr lang="en-US" sz="2200" dirty="0">
                <a:latin typeface="Times New Roman" pitchFamily="18" charset="0"/>
                <a:cs typeface="Times New Roman" pitchFamily="18" charset="0"/>
              </a:rPr>
              <a:t>relational database is a collection of tables, each of which is assigned a unique name. Each table consists of a set of attributes (columns or fields) and usually stores a large set of tuples (records or rows). Each tuple in a relational table represents an object identified by a unique key and described by a set of attribute values. A semantic data model, such as an entity-relationship (ER) data model, is often constructed for relational databases.</a:t>
            </a:r>
            <a:endParaRPr lang="en-IN" sz="2200" dirty="0">
              <a:latin typeface="Times New Roman" pitchFamily="18" charset="0"/>
              <a:cs typeface="Times New Roman" pitchFamily="18" charset="0"/>
            </a:endParaRPr>
          </a:p>
        </p:txBody>
      </p:sp>
    </p:spTree>
    <p:extLst>
      <p:ext uri="{BB962C8B-B14F-4D97-AF65-F5344CB8AC3E}">
        <p14:creationId xmlns:p14="http://schemas.microsoft.com/office/powerpoint/2010/main" val="262612342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400" y="152400"/>
            <a:ext cx="8839200" cy="7171194"/>
          </a:xfrm>
          <a:prstGeom prst="rect">
            <a:avLst/>
          </a:prstGeom>
        </p:spPr>
        <p:txBody>
          <a:bodyPr wrap="square">
            <a:spAutoFit/>
          </a:bodyPr>
          <a:lstStyle/>
          <a:p>
            <a:pPr algn="just"/>
            <a:r>
              <a:rPr lang="en-US" sz="2400" b="1" u="sng" dirty="0">
                <a:latin typeface="Times New Roman" pitchFamily="18" charset="0"/>
                <a:cs typeface="Times New Roman" pitchFamily="18" charset="0"/>
              </a:rPr>
              <a:t>Data </a:t>
            </a:r>
            <a:r>
              <a:rPr lang="en-US" sz="2400" b="1" u="sng" dirty="0" smtClean="0">
                <a:latin typeface="Times New Roman" pitchFamily="18" charset="0"/>
                <a:cs typeface="Times New Roman" pitchFamily="18" charset="0"/>
              </a:rPr>
              <a:t>Warehouses:</a:t>
            </a:r>
            <a:endParaRPr lang="en-US" sz="2200" b="1" u="sng" dirty="0" smtClean="0">
              <a:latin typeface="Times New Roman" pitchFamily="18" charset="0"/>
              <a:cs typeface="Times New Roman" pitchFamily="18" charset="0"/>
            </a:endParaRPr>
          </a:p>
          <a:p>
            <a:pPr algn="just"/>
            <a:r>
              <a:rPr lang="en-US" sz="2200" dirty="0">
                <a:latin typeface="Times New Roman" pitchFamily="18" charset="0"/>
                <a:cs typeface="Times New Roman" pitchFamily="18" charset="0"/>
              </a:rPr>
              <a:t>	</a:t>
            </a:r>
            <a:r>
              <a:rPr lang="en-US" sz="2200" dirty="0" smtClean="0">
                <a:latin typeface="Times New Roman" pitchFamily="18" charset="0"/>
                <a:cs typeface="Times New Roman" pitchFamily="18" charset="0"/>
              </a:rPr>
              <a:t>Suppose </a:t>
            </a:r>
            <a:r>
              <a:rPr lang="en-US" sz="2200" dirty="0">
                <a:latin typeface="Times New Roman" pitchFamily="18" charset="0"/>
                <a:cs typeface="Times New Roman" pitchFamily="18" charset="0"/>
              </a:rPr>
              <a:t>that </a:t>
            </a:r>
            <a:r>
              <a:rPr lang="en-US" sz="2200" dirty="0" err="1">
                <a:latin typeface="Times New Roman" pitchFamily="18" charset="0"/>
                <a:cs typeface="Times New Roman" pitchFamily="18" charset="0"/>
              </a:rPr>
              <a:t>AllElectronics</a:t>
            </a:r>
            <a:r>
              <a:rPr lang="en-US" sz="2200" dirty="0">
                <a:latin typeface="Times New Roman" pitchFamily="18" charset="0"/>
                <a:cs typeface="Times New Roman" pitchFamily="18" charset="0"/>
              </a:rPr>
              <a:t> is a successful international company with branches around the world. Each branch has its own set of databases. The president of </a:t>
            </a:r>
            <a:r>
              <a:rPr lang="en-US" sz="2200" dirty="0" err="1">
                <a:latin typeface="Times New Roman" pitchFamily="18" charset="0"/>
                <a:cs typeface="Times New Roman" pitchFamily="18" charset="0"/>
              </a:rPr>
              <a:t>AllElectronics</a:t>
            </a:r>
            <a:r>
              <a:rPr lang="en-US" sz="2200" dirty="0">
                <a:latin typeface="Times New Roman" pitchFamily="18" charset="0"/>
                <a:cs typeface="Times New Roman" pitchFamily="18" charset="0"/>
              </a:rPr>
              <a:t> has asked you to provide an analysis of the company’s sales per item type per branch for the third quarter. This is a difficult task, particularly since the relevant data are spread out over several databases physically located at numerous sites. If </a:t>
            </a:r>
            <a:r>
              <a:rPr lang="en-US" sz="2200" dirty="0" err="1">
                <a:latin typeface="Times New Roman" pitchFamily="18" charset="0"/>
                <a:cs typeface="Times New Roman" pitchFamily="18" charset="0"/>
              </a:rPr>
              <a:t>AllElectronics</a:t>
            </a:r>
            <a:r>
              <a:rPr lang="en-US" sz="2200" dirty="0">
                <a:latin typeface="Times New Roman" pitchFamily="18" charset="0"/>
                <a:cs typeface="Times New Roman" pitchFamily="18" charset="0"/>
              </a:rPr>
              <a:t> had a data warehouse, this task would be easy. </a:t>
            </a:r>
            <a:endParaRPr lang="en-IN" sz="2200" dirty="0" smtClean="0">
              <a:latin typeface="Times New Roman" pitchFamily="18" charset="0"/>
              <a:cs typeface="Times New Roman" pitchFamily="18" charset="0"/>
            </a:endParaRPr>
          </a:p>
          <a:p>
            <a:pPr algn="just"/>
            <a:r>
              <a:rPr lang="en-US" sz="2200" dirty="0" smtClean="0">
                <a:latin typeface="Times New Roman" pitchFamily="18" charset="0"/>
                <a:cs typeface="Times New Roman" pitchFamily="18" charset="0"/>
              </a:rPr>
              <a:t>	A </a:t>
            </a:r>
            <a:r>
              <a:rPr lang="en-US" sz="2200" dirty="0">
                <a:latin typeface="Times New Roman" pitchFamily="18" charset="0"/>
                <a:cs typeface="Times New Roman" pitchFamily="18" charset="0"/>
              </a:rPr>
              <a:t>data warehouse is a repository of information collected from multiple sources, stored under a unified schema, and usually residing at a single site. Data warehouses are constructed via a process of data cleaning, data integration, data transformation, data loading, and </a:t>
            </a:r>
            <a:r>
              <a:rPr lang="en-US" sz="2200" dirty="0" smtClean="0">
                <a:latin typeface="Times New Roman" pitchFamily="18" charset="0"/>
                <a:cs typeface="Times New Roman" pitchFamily="18" charset="0"/>
              </a:rPr>
              <a:t>periodic </a:t>
            </a:r>
            <a:r>
              <a:rPr lang="en-US" sz="2200" dirty="0">
                <a:latin typeface="Times New Roman" pitchFamily="18" charset="0"/>
                <a:cs typeface="Times New Roman" pitchFamily="18" charset="0"/>
              </a:rPr>
              <a:t>data refreshing</a:t>
            </a:r>
            <a:r>
              <a:rPr lang="en-US" sz="2200" dirty="0" smtClean="0">
                <a:latin typeface="Times New Roman" pitchFamily="18" charset="0"/>
                <a:cs typeface="Times New Roman" pitchFamily="18" charset="0"/>
              </a:rPr>
              <a:t>.</a:t>
            </a:r>
          </a:p>
          <a:p>
            <a:pPr algn="just"/>
            <a:r>
              <a:rPr lang="en-US" sz="2200" dirty="0" smtClean="0">
                <a:latin typeface="Times New Roman" pitchFamily="18" charset="0"/>
                <a:cs typeface="Times New Roman" pitchFamily="18" charset="0"/>
              </a:rPr>
              <a:t>	To </a:t>
            </a:r>
            <a:r>
              <a:rPr lang="en-US" sz="2200" dirty="0">
                <a:latin typeface="Times New Roman" pitchFamily="18" charset="0"/>
                <a:cs typeface="Times New Roman" pitchFamily="18" charset="0"/>
              </a:rPr>
              <a:t>facilitate decision making, the data in a data warehouse are organized around major subjects (e.g., customer, item, supplier, and activity). The data are stored to pro vide information from a historical perspective, such as in the past 6 to 12 months, and are typically summarized. For example, rather than storing the details of each sales </a:t>
            </a:r>
            <a:r>
              <a:rPr lang="en-US" sz="2200" dirty="0" smtClean="0">
                <a:latin typeface="Times New Roman" pitchFamily="18" charset="0"/>
                <a:cs typeface="Times New Roman" pitchFamily="18" charset="0"/>
              </a:rPr>
              <a:t>transaction</a:t>
            </a:r>
            <a:r>
              <a:rPr lang="en-US" sz="2200" dirty="0">
                <a:latin typeface="Times New Roman" pitchFamily="18" charset="0"/>
                <a:cs typeface="Times New Roman" pitchFamily="18" charset="0"/>
              </a:rPr>
              <a:t>, the data warehouse may store a summary of the transactions per item type for each store or, summarized to a higher level, for each sales region</a:t>
            </a:r>
            <a:r>
              <a:rPr lang="en-US" sz="2200" dirty="0" smtClean="0">
                <a:latin typeface="Times New Roman" pitchFamily="18" charset="0"/>
                <a:cs typeface="Times New Roman" pitchFamily="18" charset="0"/>
              </a:rPr>
              <a:t>.</a:t>
            </a:r>
          </a:p>
          <a:p>
            <a:endParaRPr lang="en-IN" dirty="0"/>
          </a:p>
        </p:txBody>
      </p:sp>
    </p:spTree>
    <p:extLst>
      <p:ext uri="{BB962C8B-B14F-4D97-AF65-F5344CB8AC3E}">
        <p14:creationId xmlns:p14="http://schemas.microsoft.com/office/powerpoint/2010/main" val="249126475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 y="152400"/>
            <a:ext cx="8763000" cy="2123658"/>
          </a:xfrm>
          <a:prstGeom prst="rect">
            <a:avLst/>
          </a:prstGeom>
        </p:spPr>
        <p:txBody>
          <a:bodyPr wrap="square">
            <a:spAutoFit/>
          </a:bodyPr>
          <a:lstStyle/>
          <a:p>
            <a:pPr algn="just"/>
            <a:r>
              <a:rPr lang="en-US" dirty="0" smtClean="0"/>
              <a:t>	</a:t>
            </a:r>
            <a:r>
              <a:rPr lang="en-US" sz="2200" dirty="0" smtClean="0">
                <a:latin typeface="Times New Roman" pitchFamily="18" charset="0"/>
                <a:cs typeface="Times New Roman" pitchFamily="18" charset="0"/>
              </a:rPr>
              <a:t>A </a:t>
            </a:r>
            <a:r>
              <a:rPr lang="en-US" sz="2200" dirty="0">
                <a:latin typeface="Times New Roman" pitchFamily="18" charset="0"/>
                <a:cs typeface="Times New Roman" pitchFamily="18" charset="0"/>
              </a:rPr>
              <a:t>data warehouse is usually modeled by a multidimensional data structure, called a data cube, in which each dimension corresponds to an attribute or a set of attributes in the schema, and each cell stores the value of some aggregate measure such as count or </a:t>
            </a:r>
            <a:r>
              <a:rPr lang="en-US" sz="2200" dirty="0" smtClean="0">
                <a:latin typeface="Times New Roman" pitchFamily="18" charset="0"/>
                <a:cs typeface="Times New Roman" pitchFamily="18" charset="0"/>
              </a:rPr>
              <a:t>sum (sales amount). </a:t>
            </a:r>
            <a:r>
              <a:rPr lang="en-US" sz="2200" dirty="0">
                <a:latin typeface="Times New Roman" pitchFamily="18" charset="0"/>
                <a:cs typeface="Times New Roman" pitchFamily="18" charset="0"/>
              </a:rPr>
              <a:t>A data cube provides a multidimensional view of data and allows the </a:t>
            </a:r>
            <a:r>
              <a:rPr lang="en-US" sz="2200" dirty="0" err="1">
                <a:latin typeface="Times New Roman" pitchFamily="18" charset="0"/>
                <a:cs typeface="Times New Roman" pitchFamily="18" charset="0"/>
              </a:rPr>
              <a:t>precomputation</a:t>
            </a:r>
            <a:r>
              <a:rPr lang="en-US" sz="2200" dirty="0">
                <a:latin typeface="Times New Roman" pitchFamily="18" charset="0"/>
                <a:cs typeface="Times New Roman" pitchFamily="18" charset="0"/>
              </a:rPr>
              <a:t> and fast access of summarized </a:t>
            </a:r>
            <a:r>
              <a:rPr lang="en-US" sz="2200" dirty="0" smtClean="0">
                <a:latin typeface="Times New Roman" pitchFamily="18" charset="0"/>
                <a:cs typeface="Times New Roman" pitchFamily="18" charset="0"/>
              </a:rPr>
              <a:t>data.</a:t>
            </a:r>
          </a:p>
        </p:txBody>
      </p:sp>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2514600"/>
            <a:ext cx="8762999" cy="419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865146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9200" y="838200"/>
            <a:ext cx="6934200" cy="5334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4562234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304800"/>
            <a:ext cx="8305800" cy="5038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ectangle 1"/>
          <p:cNvSpPr/>
          <p:nvPr/>
        </p:nvSpPr>
        <p:spPr>
          <a:xfrm>
            <a:off x="228600" y="5486400"/>
            <a:ext cx="8686800" cy="1200329"/>
          </a:xfrm>
          <a:prstGeom prst="rect">
            <a:avLst/>
          </a:prstGeom>
        </p:spPr>
        <p:txBody>
          <a:bodyPr wrap="square">
            <a:spAutoFit/>
          </a:bodyPr>
          <a:lstStyle/>
          <a:p>
            <a:pPr algn="just"/>
            <a:r>
              <a:rPr lang="en-US" dirty="0">
                <a:latin typeface="Times New Roman" pitchFamily="18" charset="0"/>
                <a:cs typeface="Times New Roman" pitchFamily="18" charset="0"/>
              </a:rPr>
              <a:t>Figure 1.7 A multidimensional data cube, commonly used for data warehousing, (a) showing </a:t>
            </a:r>
            <a:r>
              <a:rPr lang="en-US" dirty="0" smtClean="0">
                <a:latin typeface="Times New Roman" pitchFamily="18" charset="0"/>
                <a:cs typeface="Times New Roman" pitchFamily="18" charset="0"/>
              </a:rPr>
              <a:t>summarized </a:t>
            </a:r>
            <a:r>
              <a:rPr lang="en-US" dirty="0">
                <a:latin typeface="Times New Roman" pitchFamily="18" charset="0"/>
                <a:cs typeface="Times New Roman" pitchFamily="18" charset="0"/>
              </a:rPr>
              <a:t>data for </a:t>
            </a:r>
            <a:r>
              <a:rPr lang="en-US" dirty="0" err="1">
                <a:latin typeface="Times New Roman" pitchFamily="18" charset="0"/>
                <a:cs typeface="Times New Roman" pitchFamily="18" charset="0"/>
              </a:rPr>
              <a:t>AllElectronics</a:t>
            </a:r>
            <a:r>
              <a:rPr lang="en-US" dirty="0">
                <a:latin typeface="Times New Roman" pitchFamily="18" charset="0"/>
                <a:cs typeface="Times New Roman" pitchFamily="18" charset="0"/>
              </a:rPr>
              <a:t> and (b) showing summarized data resulting from drill-down and roll-up operations on the cube in (a). For improved readability, only some of the cube cell values are shown.</a:t>
            </a:r>
            <a:endParaRPr lang="en-IN" dirty="0">
              <a:latin typeface="Times New Roman" pitchFamily="18" charset="0"/>
              <a:cs typeface="Times New Roman" pitchFamily="18" charset="0"/>
            </a:endParaRPr>
          </a:p>
        </p:txBody>
      </p:sp>
    </p:spTree>
    <p:extLst>
      <p:ext uri="{BB962C8B-B14F-4D97-AF65-F5344CB8AC3E}">
        <p14:creationId xmlns:p14="http://schemas.microsoft.com/office/powerpoint/2010/main" val="305961145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 y="152400"/>
            <a:ext cx="8763000" cy="3570208"/>
          </a:xfrm>
          <a:prstGeom prst="rect">
            <a:avLst/>
          </a:prstGeom>
        </p:spPr>
        <p:txBody>
          <a:bodyPr wrap="square">
            <a:spAutoFit/>
          </a:bodyPr>
          <a:lstStyle/>
          <a:p>
            <a:pPr algn="just"/>
            <a:r>
              <a:rPr lang="en-US" sz="2800" b="1" u="sng" dirty="0">
                <a:latin typeface="Times New Roman" pitchFamily="18" charset="0"/>
                <a:cs typeface="Times New Roman" pitchFamily="18" charset="0"/>
              </a:rPr>
              <a:t>Transactional Data</a:t>
            </a:r>
            <a:r>
              <a:rPr lang="en-US" sz="2200" dirty="0">
                <a:latin typeface="Times New Roman" pitchFamily="18" charset="0"/>
                <a:cs typeface="Times New Roman" pitchFamily="18" charset="0"/>
              </a:rPr>
              <a:t> </a:t>
            </a:r>
            <a:endParaRPr lang="en-US" sz="2200" dirty="0" smtClean="0">
              <a:latin typeface="Times New Roman" pitchFamily="18" charset="0"/>
              <a:cs typeface="Times New Roman" pitchFamily="18" charset="0"/>
            </a:endParaRPr>
          </a:p>
          <a:p>
            <a:pPr algn="just"/>
            <a:r>
              <a:rPr lang="en-US" sz="2200" dirty="0">
                <a:latin typeface="Times New Roman" pitchFamily="18" charset="0"/>
                <a:cs typeface="Times New Roman" pitchFamily="18" charset="0"/>
              </a:rPr>
              <a:t>	</a:t>
            </a:r>
            <a:r>
              <a:rPr lang="en-US" sz="2200" dirty="0" smtClean="0">
                <a:latin typeface="Times New Roman" pitchFamily="18" charset="0"/>
                <a:cs typeface="Times New Roman" pitchFamily="18" charset="0"/>
              </a:rPr>
              <a:t>In </a:t>
            </a:r>
            <a:r>
              <a:rPr lang="en-US" sz="2200" dirty="0">
                <a:latin typeface="Times New Roman" pitchFamily="18" charset="0"/>
                <a:cs typeface="Times New Roman" pitchFamily="18" charset="0"/>
              </a:rPr>
              <a:t>general, each record in a transactional database captures a transaction, such as a customer’s purchase, a flight booking, or a user’s clicks on a web page. </a:t>
            </a:r>
            <a:r>
              <a:rPr lang="en-US" sz="2200" dirty="0" smtClean="0">
                <a:latin typeface="Times New Roman" pitchFamily="18" charset="0"/>
                <a:cs typeface="Times New Roman" pitchFamily="18" charset="0"/>
              </a:rPr>
              <a:t>A transaction typically </a:t>
            </a:r>
            <a:r>
              <a:rPr lang="en-US" sz="2200" dirty="0">
                <a:latin typeface="Times New Roman" pitchFamily="18" charset="0"/>
                <a:cs typeface="Times New Roman" pitchFamily="18" charset="0"/>
              </a:rPr>
              <a:t>includes a unique transaction identity number (trans ID) and a list of the items making up the transaction, such as the items purchased in the transaction. </a:t>
            </a:r>
            <a:endParaRPr lang="en-US" sz="2200" dirty="0" smtClean="0">
              <a:latin typeface="Times New Roman" pitchFamily="18" charset="0"/>
              <a:cs typeface="Times New Roman" pitchFamily="18" charset="0"/>
            </a:endParaRPr>
          </a:p>
          <a:p>
            <a:pPr algn="just"/>
            <a:endParaRPr lang="en-US" sz="2200" dirty="0" smtClean="0">
              <a:latin typeface="Times New Roman" pitchFamily="18" charset="0"/>
              <a:cs typeface="Times New Roman" pitchFamily="18" charset="0"/>
            </a:endParaRPr>
          </a:p>
          <a:p>
            <a:pPr algn="just"/>
            <a:r>
              <a:rPr lang="en-US" sz="2200" dirty="0" smtClean="0">
                <a:latin typeface="Times New Roman" pitchFamily="18" charset="0"/>
                <a:cs typeface="Times New Roman" pitchFamily="18" charset="0"/>
              </a:rPr>
              <a:t>	A transactional </a:t>
            </a:r>
            <a:r>
              <a:rPr lang="en-US" sz="2200" dirty="0">
                <a:latin typeface="Times New Roman" pitchFamily="18" charset="0"/>
                <a:cs typeface="Times New Roman" pitchFamily="18" charset="0"/>
              </a:rPr>
              <a:t>database for </a:t>
            </a:r>
            <a:r>
              <a:rPr lang="en-US" sz="2200" dirty="0" err="1">
                <a:latin typeface="Times New Roman" pitchFamily="18" charset="0"/>
                <a:cs typeface="Times New Roman" pitchFamily="18" charset="0"/>
              </a:rPr>
              <a:t>AllElectronics</a:t>
            </a:r>
            <a:r>
              <a:rPr lang="en-US" sz="2200" dirty="0">
                <a:latin typeface="Times New Roman" pitchFamily="18" charset="0"/>
                <a:cs typeface="Times New Roman" pitchFamily="18" charset="0"/>
              </a:rPr>
              <a:t>. Transactions can be stored in a table, with one record per transaction. A fragment of a transactional database for </a:t>
            </a:r>
            <a:r>
              <a:rPr lang="en-US" sz="2200" dirty="0" err="1">
                <a:latin typeface="Times New Roman" pitchFamily="18" charset="0"/>
                <a:cs typeface="Times New Roman" pitchFamily="18" charset="0"/>
              </a:rPr>
              <a:t>AllElectronics</a:t>
            </a:r>
            <a:r>
              <a:rPr lang="en-US" sz="2200" dirty="0">
                <a:latin typeface="Times New Roman" pitchFamily="18" charset="0"/>
                <a:cs typeface="Times New Roman" pitchFamily="18" charset="0"/>
              </a:rPr>
              <a:t> is shown in Figure 1.8.</a:t>
            </a:r>
            <a:endParaRPr lang="en-IN" sz="2200" dirty="0">
              <a:latin typeface="Times New Roman" pitchFamily="18" charset="0"/>
              <a:cs typeface="Times New Roman" pitchFamily="18" charset="0"/>
            </a:endParaRPr>
          </a:p>
        </p:txBody>
      </p:sp>
      <p:pic>
        <p:nvPicPr>
          <p:cNvPr id="1126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0722" y="3962400"/>
            <a:ext cx="8280878" cy="2047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01766543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 y="228600"/>
            <a:ext cx="8686800" cy="3508653"/>
          </a:xfrm>
          <a:prstGeom prst="rect">
            <a:avLst/>
          </a:prstGeom>
        </p:spPr>
        <p:txBody>
          <a:bodyPr wrap="square">
            <a:spAutoFit/>
          </a:bodyPr>
          <a:lstStyle/>
          <a:p>
            <a:r>
              <a:rPr lang="en-US" sz="2400" b="1" u="sng" dirty="0"/>
              <a:t>Other Kinds of </a:t>
            </a:r>
            <a:r>
              <a:rPr lang="en-US" sz="2400" b="1" u="sng" dirty="0" smtClean="0"/>
              <a:t>Data:</a:t>
            </a:r>
            <a:r>
              <a:rPr lang="en-US" dirty="0" smtClean="0"/>
              <a:t> </a:t>
            </a:r>
          </a:p>
          <a:p>
            <a:pPr algn="just"/>
            <a:r>
              <a:rPr lang="en-US" sz="2200" dirty="0" smtClean="0">
                <a:latin typeface="Times New Roman" pitchFamily="18" charset="0"/>
                <a:cs typeface="Times New Roman" pitchFamily="18" charset="0"/>
              </a:rPr>
              <a:t>	Besides </a:t>
            </a:r>
            <a:r>
              <a:rPr lang="en-US" sz="2200" dirty="0">
                <a:latin typeface="Times New Roman" pitchFamily="18" charset="0"/>
                <a:cs typeface="Times New Roman" pitchFamily="18" charset="0"/>
              </a:rPr>
              <a:t>relational database data, data warehouse data, and transaction data, there are many other kinds of data that have versatile forms and structures and rather different semantic meanings. Such kinds of data can be seen in many applications: time-related or sequence data (e.g., historical records, stock exchange data, and time-series and bio logical sequence data), data streams (e.g., video surveillance and sensor data, which are continuously transmitted), spatial data (e.g., maps), engineering design data (e.g., the design of buildings, system components, or integrated circuits</a:t>
            </a:r>
            <a:r>
              <a:rPr lang="en-US" sz="2200" dirty="0" smtClean="0">
                <a:latin typeface="Times New Roman" pitchFamily="18" charset="0"/>
                <a:cs typeface="Times New Roman" pitchFamily="18" charset="0"/>
              </a:rPr>
              <a:t>).</a:t>
            </a:r>
          </a:p>
        </p:txBody>
      </p:sp>
    </p:spTree>
    <p:extLst>
      <p:ext uri="{BB962C8B-B14F-4D97-AF65-F5344CB8AC3E}">
        <p14:creationId xmlns:p14="http://schemas.microsoft.com/office/powerpoint/2010/main" val="64355001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400" y="76201"/>
            <a:ext cx="8763000" cy="6555641"/>
          </a:xfrm>
          <a:prstGeom prst="rect">
            <a:avLst/>
          </a:prstGeom>
        </p:spPr>
        <p:txBody>
          <a:bodyPr wrap="square">
            <a:spAutoFit/>
          </a:bodyPr>
          <a:lstStyle/>
          <a:p>
            <a:pPr algn="ctr"/>
            <a:r>
              <a:rPr lang="en-US" sz="2800" u="sng" dirty="0" smtClean="0">
                <a:solidFill>
                  <a:srgbClr val="FF0000"/>
                </a:solidFill>
                <a:latin typeface="Times New Roman" pitchFamily="18" charset="0"/>
                <a:cs typeface="Times New Roman" pitchFamily="18" charset="0"/>
              </a:rPr>
              <a:t>Kinds of </a:t>
            </a:r>
            <a:r>
              <a:rPr lang="en-US" sz="2800" u="sng" dirty="0">
                <a:solidFill>
                  <a:srgbClr val="FF0000"/>
                </a:solidFill>
                <a:latin typeface="Times New Roman" pitchFamily="18" charset="0"/>
                <a:cs typeface="Times New Roman" pitchFamily="18" charset="0"/>
              </a:rPr>
              <a:t>Patterns Can Be </a:t>
            </a:r>
            <a:r>
              <a:rPr lang="en-US" sz="2800" u="sng" dirty="0" smtClean="0">
                <a:solidFill>
                  <a:srgbClr val="FF0000"/>
                </a:solidFill>
                <a:latin typeface="Times New Roman" pitchFamily="18" charset="0"/>
                <a:cs typeface="Times New Roman" pitchFamily="18" charset="0"/>
              </a:rPr>
              <a:t>Mined</a:t>
            </a:r>
          </a:p>
          <a:p>
            <a:pPr algn="just"/>
            <a:endParaRPr lang="en-US" sz="2200" dirty="0" smtClean="0">
              <a:latin typeface="Times New Roman" pitchFamily="18" charset="0"/>
              <a:cs typeface="Times New Roman" pitchFamily="18" charset="0"/>
            </a:endParaRPr>
          </a:p>
          <a:p>
            <a:pPr algn="just"/>
            <a:r>
              <a:rPr lang="en-US" sz="2200" dirty="0">
                <a:latin typeface="Times New Roman" pitchFamily="18" charset="0"/>
                <a:cs typeface="Times New Roman" pitchFamily="18" charset="0"/>
              </a:rPr>
              <a:t>	</a:t>
            </a:r>
            <a:r>
              <a:rPr lang="en-US" sz="2200" dirty="0" smtClean="0">
                <a:latin typeface="Times New Roman" pitchFamily="18" charset="0"/>
                <a:cs typeface="Times New Roman" pitchFamily="18" charset="0"/>
              </a:rPr>
              <a:t> </a:t>
            </a:r>
            <a:r>
              <a:rPr lang="en-US" sz="2200" dirty="0">
                <a:latin typeface="Times New Roman" pitchFamily="18" charset="0"/>
                <a:cs typeface="Times New Roman" pitchFamily="18" charset="0"/>
              </a:rPr>
              <a:t>There are a number of data mining functionalities. These include </a:t>
            </a:r>
            <a:endParaRPr lang="en-US" sz="2200" dirty="0" smtClean="0">
              <a:latin typeface="Times New Roman" pitchFamily="18" charset="0"/>
              <a:cs typeface="Times New Roman" pitchFamily="18" charset="0"/>
            </a:endParaRPr>
          </a:p>
          <a:p>
            <a:pPr marL="457200" indent="-457200" algn="just">
              <a:buFont typeface="+mj-lt"/>
              <a:buAutoNum type="arabicPeriod"/>
            </a:pPr>
            <a:r>
              <a:rPr lang="en-US" sz="2200" dirty="0">
                <a:latin typeface="Times New Roman" pitchFamily="18" charset="0"/>
                <a:cs typeface="Times New Roman" pitchFamily="18" charset="0"/>
              </a:rPr>
              <a:t>C</a:t>
            </a:r>
            <a:r>
              <a:rPr lang="en-US" sz="2200" dirty="0" smtClean="0">
                <a:latin typeface="Times New Roman" pitchFamily="18" charset="0"/>
                <a:cs typeface="Times New Roman" pitchFamily="18" charset="0"/>
              </a:rPr>
              <a:t>haracterization </a:t>
            </a:r>
            <a:r>
              <a:rPr lang="en-US" sz="2200" dirty="0">
                <a:latin typeface="Times New Roman" pitchFamily="18" charset="0"/>
                <a:cs typeface="Times New Roman" pitchFamily="18" charset="0"/>
              </a:rPr>
              <a:t>and </a:t>
            </a:r>
            <a:r>
              <a:rPr lang="en-US" sz="2200" dirty="0" smtClean="0">
                <a:latin typeface="Times New Roman" pitchFamily="18" charset="0"/>
                <a:cs typeface="Times New Roman" pitchFamily="18" charset="0"/>
              </a:rPr>
              <a:t>discrimination; </a:t>
            </a:r>
          </a:p>
          <a:p>
            <a:pPr marL="457200" indent="-457200" algn="just">
              <a:buFont typeface="+mj-lt"/>
              <a:buAutoNum type="arabicPeriod"/>
            </a:pPr>
            <a:r>
              <a:rPr lang="en-US" sz="2200" dirty="0" smtClean="0">
                <a:latin typeface="Times New Roman" pitchFamily="18" charset="0"/>
                <a:cs typeface="Times New Roman" pitchFamily="18" charset="0"/>
              </a:rPr>
              <a:t>The </a:t>
            </a:r>
            <a:r>
              <a:rPr lang="en-US" sz="2200" dirty="0">
                <a:latin typeface="Times New Roman" pitchFamily="18" charset="0"/>
                <a:cs typeface="Times New Roman" pitchFamily="18" charset="0"/>
              </a:rPr>
              <a:t>mining of frequent patterns, a</a:t>
            </a:r>
            <a:r>
              <a:rPr lang="en-US" sz="2200" dirty="0" smtClean="0">
                <a:latin typeface="Times New Roman" pitchFamily="18" charset="0"/>
                <a:cs typeface="Times New Roman" pitchFamily="18" charset="0"/>
              </a:rPr>
              <a:t>ssociations</a:t>
            </a:r>
            <a:r>
              <a:rPr lang="en-US" sz="2200" dirty="0">
                <a:latin typeface="Times New Roman" pitchFamily="18" charset="0"/>
                <a:cs typeface="Times New Roman" pitchFamily="18" charset="0"/>
              </a:rPr>
              <a:t>, and </a:t>
            </a:r>
            <a:r>
              <a:rPr lang="en-US" sz="2200" dirty="0" smtClean="0">
                <a:latin typeface="Times New Roman" pitchFamily="18" charset="0"/>
                <a:cs typeface="Times New Roman" pitchFamily="18" charset="0"/>
              </a:rPr>
              <a:t>correlations; </a:t>
            </a:r>
          </a:p>
          <a:p>
            <a:pPr marL="457200" indent="-457200" algn="just">
              <a:buFont typeface="+mj-lt"/>
              <a:buAutoNum type="arabicPeriod"/>
            </a:pPr>
            <a:r>
              <a:rPr lang="en-US" sz="2200" dirty="0" smtClean="0">
                <a:latin typeface="Times New Roman" pitchFamily="18" charset="0"/>
                <a:cs typeface="Times New Roman" pitchFamily="18" charset="0"/>
              </a:rPr>
              <a:t>Classification </a:t>
            </a:r>
            <a:r>
              <a:rPr lang="en-US" sz="2200" dirty="0">
                <a:latin typeface="Times New Roman" pitchFamily="18" charset="0"/>
                <a:cs typeface="Times New Roman" pitchFamily="18" charset="0"/>
              </a:rPr>
              <a:t>and </a:t>
            </a:r>
            <a:r>
              <a:rPr lang="en-US" sz="2200" dirty="0" smtClean="0">
                <a:latin typeface="Times New Roman" pitchFamily="18" charset="0"/>
                <a:cs typeface="Times New Roman" pitchFamily="18" charset="0"/>
              </a:rPr>
              <a:t>regression; </a:t>
            </a:r>
          </a:p>
          <a:p>
            <a:pPr marL="457200" indent="-457200" algn="just">
              <a:buFont typeface="+mj-lt"/>
              <a:buAutoNum type="arabicPeriod"/>
            </a:pPr>
            <a:r>
              <a:rPr lang="en-US" sz="2200" dirty="0" smtClean="0">
                <a:latin typeface="Times New Roman" pitchFamily="18" charset="0"/>
                <a:cs typeface="Times New Roman" pitchFamily="18" charset="0"/>
              </a:rPr>
              <a:t>Clustering analysis; </a:t>
            </a:r>
            <a:r>
              <a:rPr lang="en-US" sz="2200" dirty="0">
                <a:latin typeface="Times New Roman" pitchFamily="18" charset="0"/>
                <a:cs typeface="Times New Roman" pitchFamily="18" charset="0"/>
              </a:rPr>
              <a:t>and </a:t>
            </a:r>
          </a:p>
          <a:p>
            <a:pPr marL="457200" indent="-457200" algn="just">
              <a:buFont typeface="+mj-lt"/>
              <a:buAutoNum type="arabicPeriod"/>
            </a:pPr>
            <a:r>
              <a:rPr lang="en-US" sz="2200" dirty="0" smtClean="0">
                <a:latin typeface="Times New Roman" pitchFamily="18" charset="0"/>
                <a:cs typeface="Times New Roman" pitchFamily="18" charset="0"/>
              </a:rPr>
              <a:t>Outlier analysis. </a:t>
            </a:r>
          </a:p>
          <a:p>
            <a:pPr algn="just"/>
            <a:endParaRPr lang="en-US" sz="2200" dirty="0">
              <a:latin typeface="Times New Roman" pitchFamily="18" charset="0"/>
              <a:cs typeface="Times New Roman" pitchFamily="18" charset="0"/>
            </a:endParaRPr>
          </a:p>
          <a:p>
            <a:pPr algn="just"/>
            <a:r>
              <a:rPr lang="en-US" sz="2200" dirty="0" smtClean="0">
                <a:latin typeface="Times New Roman" pitchFamily="18" charset="0"/>
                <a:cs typeface="Times New Roman" pitchFamily="18" charset="0"/>
              </a:rPr>
              <a:t>	Data </a:t>
            </a:r>
            <a:r>
              <a:rPr lang="en-US" sz="2200" dirty="0">
                <a:latin typeface="Times New Roman" pitchFamily="18" charset="0"/>
                <a:cs typeface="Times New Roman" pitchFamily="18" charset="0"/>
              </a:rPr>
              <a:t>mining functionalities are used to specify the kinds of patterns to be found in data mining tasks. </a:t>
            </a:r>
            <a:r>
              <a:rPr lang="en-US" sz="2200" dirty="0" smtClean="0">
                <a:latin typeface="Times New Roman" pitchFamily="18" charset="0"/>
                <a:cs typeface="Times New Roman" pitchFamily="18" charset="0"/>
              </a:rPr>
              <a:t>Such </a:t>
            </a:r>
            <a:r>
              <a:rPr lang="en-US" sz="2200" dirty="0">
                <a:latin typeface="Times New Roman" pitchFamily="18" charset="0"/>
                <a:cs typeface="Times New Roman" pitchFamily="18" charset="0"/>
              </a:rPr>
              <a:t>tasks can be classified into two categories: </a:t>
            </a:r>
            <a:r>
              <a:rPr lang="en-US" sz="2200" dirty="0">
                <a:solidFill>
                  <a:srgbClr val="FF0000"/>
                </a:solidFill>
                <a:latin typeface="Times New Roman" pitchFamily="18" charset="0"/>
                <a:cs typeface="Times New Roman" pitchFamily="18" charset="0"/>
              </a:rPr>
              <a:t>descriptive and predictive. </a:t>
            </a:r>
            <a:endParaRPr lang="en-US" sz="2200" dirty="0" smtClean="0">
              <a:solidFill>
                <a:srgbClr val="FF0000"/>
              </a:solidFill>
              <a:latin typeface="Times New Roman" pitchFamily="18" charset="0"/>
              <a:cs typeface="Times New Roman" pitchFamily="18" charset="0"/>
            </a:endParaRPr>
          </a:p>
          <a:p>
            <a:pPr algn="just"/>
            <a:endParaRPr lang="en-US" sz="2200" dirty="0" smtClean="0">
              <a:latin typeface="Times New Roman" pitchFamily="18" charset="0"/>
              <a:cs typeface="Times New Roman" pitchFamily="18" charset="0"/>
            </a:endParaRPr>
          </a:p>
          <a:p>
            <a:pPr algn="just"/>
            <a:r>
              <a:rPr lang="en-US" sz="2200" dirty="0" smtClean="0">
                <a:solidFill>
                  <a:srgbClr val="FF0000"/>
                </a:solidFill>
                <a:latin typeface="Times New Roman" pitchFamily="18" charset="0"/>
                <a:cs typeface="Times New Roman" pitchFamily="18" charset="0"/>
              </a:rPr>
              <a:t>Descriptive mining </a:t>
            </a:r>
            <a:r>
              <a:rPr lang="en-US" sz="2200" dirty="0">
                <a:solidFill>
                  <a:srgbClr val="FF0000"/>
                </a:solidFill>
                <a:latin typeface="Times New Roman" pitchFamily="18" charset="0"/>
                <a:cs typeface="Times New Roman" pitchFamily="18" charset="0"/>
              </a:rPr>
              <a:t>tasks</a:t>
            </a:r>
            <a:r>
              <a:rPr lang="en-US" sz="2200" dirty="0">
                <a:latin typeface="Times New Roman" pitchFamily="18" charset="0"/>
                <a:cs typeface="Times New Roman" pitchFamily="18" charset="0"/>
              </a:rPr>
              <a:t> characterize properties of the data in a target data set. </a:t>
            </a:r>
            <a:endParaRPr lang="en-US" sz="2200" dirty="0" smtClean="0">
              <a:latin typeface="Times New Roman" pitchFamily="18" charset="0"/>
              <a:cs typeface="Times New Roman" pitchFamily="18" charset="0"/>
            </a:endParaRPr>
          </a:p>
          <a:p>
            <a:pPr algn="just"/>
            <a:endParaRPr lang="en-US" sz="2200" dirty="0" smtClean="0">
              <a:latin typeface="Times New Roman" pitchFamily="18" charset="0"/>
              <a:cs typeface="Times New Roman" pitchFamily="18" charset="0"/>
            </a:endParaRPr>
          </a:p>
          <a:p>
            <a:pPr algn="just"/>
            <a:r>
              <a:rPr lang="en-US" sz="2200" dirty="0" smtClean="0">
                <a:solidFill>
                  <a:srgbClr val="FF0000"/>
                </a:solidFill>
                <a:latin typeface="Times New Roman" pitchFamily="18" charset="0"/>
                <a:cs typeface="Times New Roman" pitchFamily="18" charset="0"/>
              </a:rPr>
              <a:t>Predictive </a:t>
            </a:r>
            <a:r>
              <a:rPr lang="en-US" sz="2200" dirty="0">
                <a:solidFill>
                  <a:srgbClr val="FF0000"/>
                </a:solidFill>
                <a:latin typeface="Times New Roman" pitchFamily="18" charset="0"/>
                <a:cs typeface="Times New Roman" pitchFamily="18" charset="0"/>
              </a:rPr>
              <a:t>mining tasks </a:t>
            </a:r>
            <a:r>
              <a:rPr lang="en-US" sz="2200" dirty="0">
                <a:latin typeface="Times New Roman" pitchFamily="18" charset="0"/>
                <a:cs typeface="Times New Roman" pitchFamily="18" charset="0"/>
              </a:rPr>
              <a:t>perform induction on the current data in order to make predictions</a:t>
            </a:r>
            <a:r>
              <a:rPr lang="en-US" sz="2200" dirty="0" smtClean="0">
                <a:latin typeface="Times New Roman" pitchFamily="18" charset="0"/>
                <a:cs typeface="Times New Roman" pitchFamily="18" charset="0"/>
              </a:rPr>
              <a:t>.</a:t>
            </a:r>
          </a:p>
          <a:p>
            <a:endParaRPr lang="en-IN" dirty="0"/>
          </a:p>
        </p:txBody>
      </p:sp>
    </p:spTree>
    <p:extLst>
      <p:ext uri="{BB962C8B-B14F-4D97-AF65-F5344CB8AC3E}">
        <p14:creationId xmlns:p14="http://schemas.microsoft.com/office/powerpoint/2010/main" val="7291811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400" y="152401"/>
            <a:ext cx="8839200" cy="6309420"/>
          </a:xfrm>
          <a:prstGeom prst="rect">
            <a:avLst/>
          </a:prstGeom>
        </p:spPr>
        <p:txBody>
          <a:bodyPr wrap="square">
            <a:spAutoFit/>
          </a:bodyPr>
          <a:lstStyle/>
          <a:p>
            <a:pPr algn="just"/>
            <a:r>
              <a:rPr lang="en-US" sz="2200" dirty="0">
                <a:latin typeface="Times New Roman" pitchFamily="18" charset="0"/>
                <a:cs typeface="Times New Roman" pitchFamily="18" charset="0"/>
              </a:rPr>
              <a:t>Class/Concept Description: Characterization and </a:t>
            </a:r>
            <a:r>
              <a:rPr lang="en-US" sz="2200" dirty="0" smtClean="0">
                <a:latin typeface="Times New Roman" pitchFamily="18" charset="0"/>
                <a:cs typeface="Times New Roman" pitchFamily="18" charset="0"/>
              </a:rPr>
              <a:t>Discrimination</a:t>
            </a:r>
          </a:p>
          <a:p>
            <a:pPr algn="just"/>
            <a:r>
              <a:rPr lang="en-US" sz="2200" dirty="0" smtClean="0">
                <a:latin typeface="Times New Roman" pitchFamily="18" charset="0"/>
                <a:cs typeface="Times New Roman" pitchFamily="18" charset="0"/>
              </a:rPr>
              <a:t>	Describe the </a:t>
            </a:r>
            <a:r>
              <a:rPr lang="en-US" sz="2200" dirty="0">
                <a:latin typeface="Times New Roman" pitchFamily="18" charset="0"/>
                <a:cs typeface="Times New Roman" pitchFamily="18" charset="0"/>
              </a:rPr>
              <a:t>individual classes and concepts in </a:t>
            </a:r>
            <a:r>
              <a:rPr lang="en-US" sz="2200" dirty="0" smtClean="0">
                <a:latin typeface="Times New Roman" pitchFamily="18" charset="0"/>
                <a:cs typeface="Times New Roman" pitchFamily="18" charset="0"/>
              </a:rPr>
              <a:t>summarized and concise way is called descriptions </a:t>
            </a:r>
            <a:r>
              <a:rPr lang="en-US" sz="2200" dirty="0">
                <a:latin typeface="Times New Roman" pitchFamily="18" charset="0"/>
                <a:cs typeface="Times New Roman" pitchFamily="18" charset="0"/>
              </a:rPr>
              <a:t>of a class or a </a:t>
            </a:r>
            <a:r>
              <a:rPr lang="en-US" sz="2200" dirty="0" smtClean="0">
                <a:latin typeface="Times New Roman" pitchFamily="18" charset="0"/>
                <a:cs typeface="Times New Roman" pitchFamily="18" charset="0"/>
              </a:rPr>
              <a:t>concept. </a:t>
            </a:r>
          </a:p>
          <a:p>
            <a:pPr algn="just"/>
            <a:r>
              <a:rPr lang="en-US" sz="2200" dirty="0" smtClean="0">
                <a:latin typeface="Times New Roman" pitchFamily="18" charset="0"/>
                <a:cs typeface="Times New Roman" pitchFamily="18" charset="0"/>
              </a:rPr>
              <a:t>These </a:t>
            </a:r>
            <a:r>
              <a:rPr lang="en-US" sz="2200" dirty="0">
                <a:latin typeface="Times New Roman" pitchFamily="18" charset="0"/>
                <a:cs typeface="Times New Roman" pitchFamily="18" charset="0"/>
              </a:rPr>
              <a:t>descriptions can be derived using </a:t>
            </a:r>
            <a:r>
              <a:rPr lang="en-US" sz="2200" dirty="0" smtClean="0">
                <a:latin typeface="Times New Roman" pitchFamily="18" charset="0"/>
                <a:cs typeface="Times New Roman" pitchFamily="18" charset="0"/>
              </a:rPr>
              <a:t>:</a:t>
            </a:r>
          </a:p>
          <a:p>
            <a:pPr marL="342900" indent="-342900" algn="just">
              <a:buAutoNum type="arabicParenBoth"/>
            </a:pPr>
            <a:r>
              <a:rPr lang="en-US" sz="2200" dirty="0">
                <a:latin typeface="Times New Roman" pitchFamily="18" charset="0"/>
                <a:cs typeface="Times New Roman" pitchFamily="18" charset="0"/>
              </a:rPr>
              <a:t>D</a:t>
            </a:r>
            <a:r>
              <a:rPr lang="en-US" sz="2200" dirty="0" smtClean="0">
                <a:latin typeface="Times New Roman" pitchFamily="18" charset="0"/>
                <a:cs typeface="Times New Roman" pitchFamily="18" charset="0"/>
              </a:rPr>
              <a:t>ata </a:t>
            </a:r>
            <a:r>
              <a:rPr lang="en-US" sz="2200" dirty="0">
                <a:latin typeface="Times New Roman" pitchFamily="18" charset="0"/>
                <a:cs typeface="Times New Roman" pitchFamily="18" charset="0"/>
              </a:rPr>
              <a:t>characterization, by summarizing the data of the </a:t>
            </a:r>
            <a:r>
              <a:rPr lang="en-US" sz="2200" dirty="0" smtClean="0">
                <a:latin typeface="Times New Roman" pitchFamily="18" charset="0"/>
                <a:cs typeface="Times New Roman" pitchFamily="18" charset="0"/>
              </a:rPr>
              <a:t>class, or </a:t>
            </a:r>
          </a:p>
          <a:p>
            <a:pPr marL="342900" indent="-342900" algn="just">
              <a:buAutoNum type="arabicParenBoth"/>
            </a:pPr>
            <a:r>
              <a:rPr lang="en-US" sz="2200" dirty="0">
                <a:latin typeface="Times New Roman" pitchFamily="18" charset="0"/>
                <a:cs typeface="Times New Roman" pitchFamily="18" charset="0"/>
              </a:rPr>
              <a:t>D</a:t>
            </a:r>
            <a:r>
              <a:rPr lang="en-US" sz="2200" dirty="0" smtClean="0">
                <a:latin typeface="Times New Roman" pitchFamily="18" charset="0"/>
                <a:cs typeface="Times New Roman" pitchFamily="18" charset="0"/>
              </a:rPr>
              <a:t>ata </a:t>
            </a:r>
            <a:r>
              <a:rPr lang="en-US" sz="2200" dirty="0">
                <a:latin typeface="Times New Roman" pitchFamily="18" charset="0"/>
                <a:cs typeface="Times New Roman" pitchFamily="18" charset="0"/>
              </a:rPr>
              <a:t>discrimination, by comparison of the target class with one or a set of comparative </a:t>
            </a:r>
            <a:r>
              <a:rPr lang="en-US" sz="2200" dirty="0" smtClean="0">
                <a:latin typeface="Times New Roman" pitchFamily="18" charset="0"/>
                <a:cs typeface="Times New Roman" pitchFamily="18" charset="0"/>
              </a:rPr>
              <a:t>classes, </a:t>
            </a:r>
            <a:r>
              <a:rPr lang="en-US" sz="2200" dirty="0">
                <a:latin typeface="Times New Roman" pitchFamily="18" charset="0"/>
                <a:cs typeface="Times New Roman" pitchFamily="18" charset="0"/>
              </a:rPr>
              <a:t>or </a:t>
            </a:r>
            <a:endParaRPr lang="en-US" sz="2200" dirty="0" smtClean="0">
              <a:latin typeface="Times New Roman" pitchFamily="18" charset="0"/>
              <a:cs typeface="Times New Roman" pitchFamily="18" charset="0"/>
            </a:endParaRPr>
          </a:p>
          <a:p>
            <a:pPr marL="342900" indent="-342900" algn="just">
              <a:buAutoNum type="arabicParenBoth"/>
            </a:pPr>
            <a:r>
              <a:rPr lang="en-US" sz="2200" dirty="0">
                <a:latin typeface="Times New Roman" pitchFamily="18" charset="0"/>
                <a:cs typeface="Times New Roman" pitchFamily="18" charset="0"/>
              </a:rPr>
              <a:t>B</a:t>
            </a:r>
            <a:r>
              <a:rPr lang="en-US" sz="2200" dirty="0" smtClean="0">
                <a:latin typeface="Times New Roman" pitchFamily="18" charset="0"/>
                <a:cs typeface="Times New Roman" pitchFamily="18" charset="0"/>
              </a:rPr>
              <a:t>oth </a:t>
            </a:r>
            <a:r>
              <a:rPr lang="en-US" sz="2200" dirty="0">
                <a:latin typeface="Times New Roman" pitchFamily="18" charset="0"/>
                <a:cs typeface="Times New Roman" pitchFamily="18" charset="0"/>
              </a:rPr>
              <a:t>data characterization and discrimination</a:t>
            </a:r>
            <a:r>
              <a:rPr lang="en-US" sz="2200" dirty="0" smtClean="0">
                <a:latin typeface="Times New Roman" pitchFamily="18" charset="0"/>
                <a:cs typeface="Times New Roman" pitchFamily="18" charset="0"/>
              </a:rPr>
              <a:t>.</a:t>
            </a:r>
          </a:p>
          <a:p>
            <a:pPr algn="just"/>
            <a:endParaRPr lang="en-US" sz="2200" dirty="0">
              <a:latin typeface="Times New Roman" pitchFamily="18" charset="0"/>
              <a:cs typeface="Times New Roman" pitchFamily="18" charset="0"/>
            </a:endParaRPr>
          </a:p>
          <a:p>
            <a:pPr algn="just"/>
            <a:r>
              <a:rPr lang="en-US" sz="2200" dirty="0" smtClean="0">
                <a:latin typeface="Times New Roman" pitchFamily="18" charset="0"/>
                <a:cs typeface="Times New Roman" pitchFamily="18" charset="0"/>
              </a:rPr>
              <a:t>	</a:t>
            </a:r>
            <a:r>
              <a:rPr lang="en-US" sz="2200" b="1" dirty="0" smtClean="0">
                <a:latin typeface="Times New Roman" pitchFamily="18" charset="0"/>
                <a:cs typeface="Times New Roman" pitchFamily="18" charset="0"/>
              </a:rPr>
              <a:t>Ex:</a:t>
            </a:r>
            <a:r>
              <a:rPr lang="en-US" sz="2200" dirty="0" smtClean="0">
                <a:latin typeface="Times New Roman" pitchFamily="18" charset="0"/>
                <a:cs typeface="Times New Roman" pitchFamily="18" charset="0"/>
              </a:rPr>
              <a:t> Data characterization</a:t>
            </a:r>
            <a:r>
              <a:rPr lang="en-US" sz="2200" dirty="0">
                <a:latin typeface="Times New Roman" pitchFamily="18" charset="0"/>
                <a:cs typeface="Times New Roman" pitchFamily="18" charset="0"/>
              </a:rPr>
              <a:t>. </a:t>
            </a:r>
            <a:r>
              <a:rPr lang="en-US" sz="2200" dirty="0" smtClean="0">
                <a:latin typeface="Times New Roman" pitchFamily="18" charset="0"/>
                <a:cs typeface="Times New Roman" pitchFamily="18" charset="0"/>
              </a:rPr>
              <a:t>A customer relationship </a:t>
            </a:r>
            <a:r>
              <a:rPr lang="en-US" sz="2200" dirty="0">
                <a:latin typeface="Times New Roman" pitchFamily="18" charset="0"/>
                <a:cs typeface="Times New Roman" pitchFamily="18" charset="0"/>
              </a:rPr>
              <a:t>manager </a:t>
            </a:r>
            <a:r>
              <a:rPr lang="en-US" sz="2200" dirty="0" smtClean="0">
                <a:latin typeface="Times New Roman" pitchFamily="18" charset="0"/>
                <a:cs typeface="Times New Roman" pitchFamily="18" charset="0"/>
              </a:rPr>
              <a:t>at </a:t>
            </a:r>
            <a:r>
              <a:rPr lang="en-US" sz="2200" dirty="0" err="1" smtClean="0">
                <a:latin typeface="Times New Roman" pitchFamily="18" charset="0"/>
                <a:cs typeface="Times New Roman" pitchFamily="18" charset="0"/>
              </a:rPr>
              <a:t>AllElectronics</a:t>
            </a:r>
            <a:r>
              <a:rPr lang="en-US" sz="2200" dirty="0" smtClean="0">
                <a:latin typeface="Times New Roman" pitchFamily="18" charset="0"/>
                <a:cs typeface="Times New Roman" pitchFamily="18" charset="0"/>
              </a:rPr>
              <a:t> </a:t>
            </a:r>
            <a:r>
              <a:rPr lang="en-US" sz="2200" dirty="0">
                <a:latin typeface="Times New Roman" pitchFamily="18" charset="0"/>
                <a:cs typeface="Times New Roman" pitchFamily="18" charset="0"/>
              </a:rPr>
              <a:t>may order the following data mining task: Summarize the characteristics of customers who spend more than $5000 a year at </a:t>
            </a:r>
            <a:r>
              <a:rPr lang="en-US" sz="2200" dirty="0" err="1">
                <a:latin typeface="Times New Roman" pitchFamily="18" charset="0"/>
                <a:cs typeface="Times New Roman" pitchFamily="18" charset="0"/>
              </a:rPr>
              <a:t>AllElectronics</a:t>
            </a:r>
            <a:r>
              <a:rPr lang="en-US" sz="2200" dirty="0">
                <a:latin typeface="Times New Roman" pitchFamily="18" charset="0"/>
                <a:cs typeface="Times New Roman" pitchFamily="18" charset="0"/>
              </a:rPr>
              <a:t>. The result is a general profile of these customers, such as that they are 40 to 50 years old, employed, and have excellent credit ratings</a:t>
            </a:r>
            <a:r>
              <a:rPr lang="en-US" sz="2200" dirty="0" smtClean="0">
                <a:latin typeface="Times New Roman" pitchFamily="18" charset="0"/>
                <a:cs typeface="Times New Roman" pitchFamily="18" charset="0"/>
              </a:rPr>
              <a:t>. </a:t>
            </a:r>
            <a:r>
              <a:rPr lang="en-US" sz="2200" dirty="0">
                <a:latin typeface="Times New Roman" pitchFamily="18" charset="0"/>
                <a:cs typeface="Times New Roman" pitchFamily="18" charset="0"/>
              </a:rPr>
              <a:t>The data mining system should allow the customer relationship manager to drill down on any dimension, such as on occupation to view these customers according to their type of employment.</a:t>
            </a:r>
            <a:endParaRPr lang="en-US" sz="2200" dirty="0" smtClean="0">
              <a:latin typeface="Times New Roman" pitchFamily="18" charset="0"/>
              <a:cs typeface="Times New Roman" pitchFamily="18" charset="0"/>
            </a:endParaRPr>
          </a:p>
          <a:p>
            <a:pPr algn="just"/>
            <a:endParaRPr lang="en-IN" sz="2200" dirty="0">
              <a:latin typeface="Times New Roman" pitchFamily="18" charset="0"/>
              <a:cs typeface="Times New Roman" pitchFamily="18" charset="0"/>
            </a:endParaRPr>
          </a:p>
        </p:txBody>
      </p:sp>
    </p:spTree>
    <p:extLst>
      <p:ext uri="{BB962C8B-B14F-4D97-AF65-F5344CB8AC3E}">
        <p14:creationId xmlns:p14="http://schemas.microsoft.com/office/powerpoint/2010/main" val="204197119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400" y="152401"/>
            <a:ext cx="8839200" cy="4154984"/>
          </a:xfrm>
          <a:prstGeom prst="rect">
            <a:avLst/>
          </a:prstGeom>
        </p:spPr>
        <p:txBody>
          <a:bodyPr wrap="square">
            <a:spAutoFit/>
          </a:bodyPr>
          <a:lstStyle/>
          <a:p>
            <a:pPr algn="just"/>
            <a:r>
              <a:rPr lang="en-US" sz="2200" b="1" dirty="0" smtClean="0">
                <a:latin typeface="Times New Roman" pitchFamily="18" charset="0"/>
                <a:cs typeface="Times New Roman" pitchFamily="18" charset="0"/>
              </a:rPr>
              <a:t>Ex-2:</a:t>
            </a:r>
            <a:r>
              <a:rPr lang="en-US" sz="2200" dirty="0" smtClean="0">
                <a:latin typeface="Times New Roman" pitchFamily="18" charset="0"/>
                <a:cs typeface="Times New Roman" pitchFamily="18" charset="0"/>
              </a:rPr>
              <a:t> </a:t>
            </a:r>
            <a:r>
              <a:rPr lang="en-US" sz="2200" dirty="0">
                <a:latin typeface="Times New Roman" pitchFamily="18" charset="0"/>
                <a:cs typeface="Times New Roman" pitchFamily="18" charset="0"/>
              </a:rPr>
              <a:t>Data discrimination. A customer relationship manager at </a:t>
            </a:r>
            <a:r>
              <a:rPr lang="en-US" sz="2200" dirty="0" err="1">
                <a:latin typeface="Times New Roman" pitchFamily="18" charset="0"/>
                <a:cs typeface="Times New Roman" pitchFamily="18" charset="0"/>
              </a:rPr>
              <a:t>AllElectronics</a:t>
            </a:r>
            <a:r>
              <a:rPr lang="en-US" sz="2200" dirty="0">
                <a:latin typeface="Times New Roman" pitchFamily="18" charset="0"/>
                <a:cs typeface="Times New Roman" pitchFamily="18" charset="0"/>
              </a:rPr>
              <a:t> may want to compare two groups of customers—those who shop for computer products regularly (e.g., more than twice a month) and those who rarely shop for such products (e.g., less than three times a year). The resulting description provides a general comparative profile of these customers, such as that 80% of the customers who frequently purchase computer products are between 20 and 40 years old and have a university education, whereas 60% of the customers who infrequently buy such products are either seniors or youths, and have no university degree. Drilling down on a dimension like occupation, or adding a new dimension like income level, may help to find even more discriminative features between the two classes</a:t>
            </a:r>
            <a:endParaRPr lang="en-IN" sz="2200" dirty="0">
              <a:latin typeface="Times New Roman" pitchFamily="18" charset="0"/>
              <a:cs typeface="Times New Roman" pitchFamily="18" charset="0"/>
            </a:endParaRPr>
          </a:p>
        </p:txBody>
      </p:sp>
    </p:spTree>
    <p:extLst>
      <p:ext uri="{BB962C8B-B14F-4D97-AF65-F5344CB8AC3E}">
        <p14:creationId xmlns:p14="http://schemas.microsoft.com/office/powerpoint/2010/main" val="282063676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400" y="228601"/>
            <a:ext cx="8763000" cy="6278642"/>
          </a:xfrm>
          <a:prstGeom prst="rect">
            <a:avLst/>
          </a:prstGeom>
        </p:spPr>
        <p:txBody>
          <a:bodyPr wrap="square">
            <a:spAutoFit/>
          </a:bodyPr>
          <a:lstStyle/>
          <a:p>
            <a:r>
              <a:rPr lang="en-US" sz="2800" dirty="0">
                <a:solidFill>
                  <a:srgbClr val="FF0000"/>
                </a:solidFill>
                <a:latin typeface="Times New Roman" pitchFamily="18" charset="0"/>
                <a:cs typeface="Times New Roman" pitchFamily="18" charset="0"/>
              </a:rPr>
              <a:t>Mining Frequent Patterns, Associations, and </a:t>
            </a:r>
            <a:r>
              <a:rPr lang="en-US" sz="2800" dirty="0" smtClean="0">
                <a:solidFill>
                  <a:srgbClr val="FF0000"/>
                </a:solidFill>
                <a:latin typeface="Times New Roman" pitchFamily="18" charset="0"/>
                <a:cs typeface="Times New Roman" pitchFamily="18" charset="0"/>
              </a:rPr>
              <a:t>Correlations:</a:t>
            </a:r>
          </a:p>
          <a:p>
            <a:pPr algn="just"/>
            <a:r>
              <a:rPr lang="en-US" sz="2200" dirty="0" smtClean="0">
                <a:latin typeface="Times New Roman" pitchFamily="18" charset="0"/>
                <a:cs typeface="Times New Roman" pitchFamily="18" charset="0"/>
              </a:rPr>
              <a:t>	There </a:t>
            </a:r>
            <a:r>
              <a:rPr lang="en-US" sz="2200" dirty="0">
                <a:latin typeface="Times New Roman" pitchFamily="18" charset="0"/>
                <a:cs typeface="Times New Roman" pitchFamily="18" charset="0"/>
              </a:rPr>
              <a:t>are many kinds of frequent patterns, including frequent </a:t>
            </a:r>
            <a:r>
              <a:rPr lang="en-US" sz="2200" dirty="0" err="1">
                <a:latin typeface="Times New Roman" pitchFamily="18" charset="0"/>
                <a:cs typeface="Times New Roman" pitchFamily="18" charset="0"/>
              </a:rPr>
              <a:t>itemsets</a:t>
            </a:r>
            <a:r>
              <a:rPr lang="en-US" sz="2200" dirty="0">
                <a:latin typeface="Times New Roman" pitchFamily="18" charset="0"/>
                <a:cs typeface="Times New Roman" pitchFamily="18" charset="0"/>
              </a:rPr>
              <a:t>, frequent sub </a:t>
            </a:r>
            <a:r>
              <a:rPr lang="en-US" sz="2200" dirty="0" smtClean="0">
                <a:latin typeface="Times New Roman" pitchFamily="18" charset="0"/>
                <a:cs typeface="Times New Roman" pitchFamily="18" charset="0"/>
              </a:rPr>
              <a:t>sequences and </a:t>
            </a:r>
            <a:r>
              <a:rPr lang="en-US" sz="2200" dirty="0">
                <a:latin typeface="Times New Roman" pitchFamily="18" charset="0"/>
                <a:cs typeface="Times New Roman" pitchFamily="18" charset="0"/>
              </a:rPr>
              <a:t>frequent substructures. </a:t>
            </a:r>
            <a:endParaRPr lang="en-US" sz="2200" dirty="0" smtClean="0">
              <a:latin typeface="Times New Roman" pitchFamily="18" charset="0"/>
              <a:cs typeface="Times New Roman" pitchFamily="18" charset="0"/>
            </a:endParaRPr>
          </a:p>
          <a:p>
            <a:pPr algn="just"/>
            <a:endParaRPr lang="en-US" sz="2200" dirty="0" smtClean="0">
              <a:latin typeface="Times New Roman" pitchFamily="18" charset="0"/>
              <a:cs typeface="Times New Roman" pitchFamily="18" charset="0"/>
            </a:endParaRPr>
          </a:p>
          <a:p>
            <a:pPr algn="just"/>
            <a:r>
              <a:rPr lang="en-US" sz="2200" dirty="0" smtClean="0">
                <a:latin typeface="Times New Roman" pitchFamily="18" charset="0"/>
                <a:cs typeface="Times New Roman" pitchFamily="18" charset="0"/>
              </a:rPr>
              <a:t>A </a:t>
            </a:r>
            <a:r>
              <a:rPr lang="en-US" sz="2200" dirty="0">
                <a:latin typeface="Times New Roman" pitchFamily="18" charset="0"/>
                <a:cs typeface="Times New Roman" pitchFamily="18" charset="0"/>
              </a:rPr>
              <a:t>frequent </a:t>
            </a:r>
            <a:r>
              <a:rPr lang="en-US" sz="2200" dirty="0" err="1">
                <a:latin typeface="Times New Roman" pitchFamily="18" charset="0"/>
                <a:cs typeface="Times New Roman" pitchFamily="18" charset="0"/>
              </a:rPr>
              <a:t>itemset</a:t>
            </a:r>
            <a:r>
              <a:rPr lang="en-US" sz="2200" dirty="0">
                <a:latin typeface="Times New Roman" pitchFamily="18" charset="0"/>
                <a:cs typeface="Times New Roman" pitchFamily="18" charset="0"/>
              </a:rPr>
              <a:t> typically refers to a set of items that often appear together in a transactional data set—for example, milk and bread, which are frequently bought together in </a:t>
            </a:r>
            <a:r>
              <a:rPr lang="en-US" sz="2200" dirty="0" smtClean="0">
                <a:latin typeface="Times New Roman" pitchFamily="18" charset="0"/>
                <a:cs typeface="Times New Roman" pitchFamily="18" charset="0"/>
              </a:rPr>
              <a:t>grocery </a:t>
            </a:r>
            <a:r>
              <a:rPr lang="en-US" sz="2200" dirty="0">
                <a:latin typeface="Times New Roman" pitchFamily="18" charset="0"/>
                <a:cs typeface="Times New Roman" pitchFamily="18" charset="0"/>
              </a:rPr>
              <a:t>stores by many customers. </a:t>
            </a:r>
            <a:endParaRPr lang="en-US" sz="2200" dirty="0" smtClean="0">
              <a:latin typeface="Times New Roman" pitchFamily="18" charset="0"/>
              <a:cs typeface="Times New Roman" pitchFamily="18" charset="0"/>
            </a:endParaRPr>
          </a:p>
          <a:p>
            <a:pPr algn="just"/>
            <a:endParaRPr lang="en-US" sz="2200" dirty="0" smtClean="0">
              <a:latin typeface="Times New Roman" pitchFamily="18" charset="0"/>
              <a:cs typeface="Times New Roman" pitchFamily="18" charset="0"/>
            </a:endParaRPr>
          </a:p>
          <a:p>
            <a:pPr algn="just"/>
            <a:r>
              <a:rPr lang="en-US" sz="2200" dirty="0" smtClean="0">
                <a:latin typeface="Times New Roman" pitchFamily="18" charset="0"/>
                <a:cs typeface="Times New Roman" pitchFamily="18" charset="0"/>
              </a:rPr>
              <a:t>A </a:t>
            </a:r>
            <a:r>
              <a:rPr lang="en-US" sz="2200" dirty="0">
                <a:latin typeface="Times New Roman" pitchFamily="18" charset="0"/>
                <a:cs typeface="Times New Roman" pitchFamily="18" charset="0"/>
              </a:rPr>
              <a:t>frequently occurring subsequence, such as the pattern that customers, tend to purchase first a laptop, followed by a digital camera, and then a memory card, is a (frequent) sequential pattern. </a:t>
            </a:r>
            <a:endParaRPr lang="en-US" sz="2200" dirty="0" smtClean="0">
              <a:latin typeface="Times New Roman" pitchFamily="18" charset="0"/>
              <a:cs typeface="Times New Roman" pitchFamily="18" charset="0"/>
            </a:endParaRPr>
          </a:p>
          <a:p>
            <a:pPr algn="just"/>
            <a:endParaRPr lang="en-US" sz="2200" dirty="0">
              <a:latin typeface="Times New Roman" pitchFamily="18" charset="0"/>
              <a:cs typeface="Times New Roman" pitchFamily="18" charset="0"/>
            </a:endParaRPr>
          </a:p>
          <a:p>
            <a:pPr algn="just"/>
            <a:r>
              <a:rPr lang="en-US" sz="2200" dirty="0" smtClean="0">
                <a:latin typeface="Times New Roman" pitchFamily="18" charset="0"/>
                <a:cs typeface="Times New Roman" pitchFamily="18" charset="0"/>
              </a:rPr>
              <a:t>A </a:t>
            </a:r>
            <a:r>
              <a:rPr lang="en-US" sz="2200" dirty="0">
                <a:latin typeface="Times New Roman" pitchFamily="18" charset="0"/>
                <a:cs typeface="Times New Roman" pitchFamily="18" charset="0"/>
              </a:rPr>
              <a:t>substructure can refer to different structural forms (e.g., graphs, trees, or lattices) that may be combined with </a:t>
            </a:r>
            <a:r>
              <a:rPr lang="en-US" sz="2200" dirty="0" err="1">
                <a:latin typeface="Times New Roman" pitchFamily="18" charset="0"/>
                <a:cs typeface="Times New Roman" pitchFamily="18" charset="0"/>
              </a:rPr>
              <a:t>itemsets</a:t>
            </a:r>
            <a:r>
              <a:rPr lang="en-US" sz="2200" dirty="0">
                <a:latin typeface="Times New Roman" pitchFamily="18" charset="0"/>
                <a:cs typeface="Times New Roman" pitchFamily="18" charset="0"/>
              </a:rPr>
              <a:t> or subsequences. If a substructure occurs frequently, it is called a (frequent) structured pattern</a:t>
            </a:r>
            <a:r>
              <a:rPr lang="en-US" sz="2200" dirty="0" smtClean="0">
                <a:latin typeface="Times New Roman" pitchFamily="18" charset="0"/>
                <a:cs typeface="Times New Roman" pitchFamily="18" charset="0"/>
              </a:rPr>
              <a:t>.</a:t>
            </a:r>
          </a:p>
          <a:p>
            <a:pPr algn="just"/>
            <a:endParaRPr lang="en-US" sz="2200" dirty="0">
              <a:latin typeface="Times New Roman" pitchFamily="18" charset="0"/>
              <a:cs typeface="Times New Roman" pitchFamily="18" charset="0"/>
            </a:endParaRPr>
          </a:p>
          <a:p>
            <a:pPr algn="just"/>
            <a:r>
              <a:rPr lang="en-US" sz="2200" dirty="0" smtClean="0">
                <a:latin typeface="Times New Roman" pitchFamily="18" charset="0"/>
                <a:cs typeface="Times New Roman" pitchFamily="18" charset="0"/>
              </a:rPr>
              <a:t>Mining </a:t>
            </a:r>
            <a:r>
              <a:rPr lang="en-US" sz="2200" dirty="0">
                <a:latin typeface="Times New Roman" pitchFamily="18" charset="0"/>
                <a:cs typeface="Times New Roman" pitchFamily="18" charset="0"/>
              </a:rPr>
              <a:t>frequent patterns leads to the discovery of interesting associations and correlations within data.</a:t>
            </a:r>
            <a:endParaRPr lang="en-US" sz="2200" dirty="0">
              <a:solidFill>
                <a:srgbClr val="FF0000"/>
              </a:solidFill>
              <a:latin typeface="Times New Roman" pitchFamily="18" charset="0"/>
              <a:cs typeface="Times New Roman" pitchFamily="18" charset="0"/>
            </a:endParaRPr>
          </a:p>
        </p:txBody>
      </p:sp>
    </p:spTree>
    <p:extLst>
      <p:ext uri="{BB962C8B-B14F-4D97-AF65-F5344CB8AC3E}">
        <p14:creationId xmlns:p14="http://schemas.microsoft.com/office/powerpoint/2010/main" val="185871792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400" y="152400"/>
            <a:ext cx="8839200" cy="6186309"/>
          </a:xfrm>
          <a:prstGeom prst="rect">
            <a:avLst/>
          </a:prstGeom>
        </p:spPr>
        <p:txBody>
          <a:bodyPr wrap="square">
            <a:spAutoFit/>
          </a:bodyPr>
          <a:lstStyle/>
          <a:p>
            <a:pPr algn="just"/>
            <a:r>
              <a:rPr lang="en-US" sz="2200" b="1" dirty="0" smtClean="0">
                <a:latin typeface="Times New Roman" pitchFamily="18" charset="0"/>
                <a:cs typeface="Times New Roman" pitchFamily="18" charset="0"/>
              </a:rPr>
              <a:t>Ex: </a:t>
            </a:r>
            <a:r>
              <a:rPr lang="en-US" sz="2200" dirty="0" smtClean="0">
                <a:latin typeface="Times New Roman" pitchFamily="18" charset="0"/>
                <a:cs typeface="Times New Roman" pitchFamily="18" charset="0"/>
              </a:rPr>
              <a:t>Suppose </a:t>
            </a:r>
            <a:r>
              <a:rPr lang="en-US" sz="2200" dirty="0">
                <a:latin typeface="Times New Roman" pitchFamily="18" charset="0"/>
                <a:cs typeface="Times New Roman" pitchFamily="18" charset="0"/>
              </a:rPr>
              <a:t>that, as a marketing manager at </a:t>
            </a:r>
            <a:r>
              <a:rPr lang="en-US" sz="2200" dirty="0" err="1">
                <a:latin typeface="Times New Roman" pitchFamily="18" charset="0"/>
                <a:cs typeface="Times New Roman" pitchFamily="18" charset="0"/>
              </a:rPr>
              <a:t>AllElectronics</a:t>
            </a:r>
            <a:r>
              <a:rPr lang="en-US" sz="2200" dirty="0">
                <a:latin typeface="Times New Roman" pitchFamily="18" charset="0"/>
                <a:cs typeface="Times New Roman" pitchFamily="18" charset="0"/>
              </a:rPr>
              <a:t>, you want to know which items are frequently purchased together (i.e., within the same </a:t>
            </a:r>
            <a:r>
              <a:rPr lang="en-US" sz="2200" dirty="0" smtClean="0">
                <a:latin typeface="Times New Roman" pitchFamily="18" charset="0"/>
                <a:cs typeface="Times New Roman" pitchFamily="18" charset="0"/>
              </a:rPr>
              <a:t>transaction</a:t>
            </a:r>
            <a:r>
              <a:rPr lang="en-US" sz="2200" dirty="0">
                <a:latin typeface="Times New Roman" pitchFamily="18" charset="0"/>
                <a:cs typeface="Times New Roman" pitchFamily="18" charset="0"/>
              </a:rPr>
              <a:t>). An example of </a:t>
            </a:r>
            <a:r>
              <a:rPr lang="en-US" sz="2200" dirty="0" smtClean="0">
                <a:latin typeface="Times New Roman" pitchFamily="18" charset="0"/>
                <a:cs typeface="Times New Roman" pitchFamily="18" charset="0"/>
              </a:rPr>
              <a:t>such a rule</a:t>
            </a:r>
            <a:r>
              <a:rPr lang="en-US" sz="2200" dirty="0">
                <a:latin typeface="Times New Roman" pitchFamily="18" charset="0"/>
                <a:cs typeface="Times New Roman" pitchFamily="18" charset="0"/>
              </a:rPr>
              <a:t>, </a:t>
            </a:r>
            <a:r>
              <a:rPr lang="en-US" sz="2200" dirty="0" smtClean="0">
                <a:latin typeface="Times New Roman" pitchFamily="18" charset="0"/>
                <a:cs typeface="Times New Roman" pitchFamily="18" charset="0"/>
              </a:rPr>
              <a:t>mined from the </a:t>
            </a:r>
            <a:r>
              <a:rPr lang="en-US" sz="2200" dirty="0" err="1" smtClean="0">
                <a:latin typeface="Times New Roman" pitchFamily="18" charset="0"/>
                <a:cs typeface="Times New Roman" pitchFamily="18" charset="0"/>
              </a:rPr>
              <a:t>AllElectronics</a:t>
            </a:r>
            <a:r>
              <a:rPr lang="en-US" sz="2200" dirty="0" smtClean="0">
                <a:latin typeface="Times New Roman" pitchFamily="18" charset="0"/>
                <a:cs typeface="Times New Roman" pitchFamily="18" charset="0"/>
              </a:rPr>
              <a:t> </a:t>
            </a:r>
            <a:r>
              <a:rPr lang="en-US" sz="2200" dirty="0">
                <a:latin typeface="Times New Roman" pitchFamily="18" charset="0"/>
                <a:cs typeface="Times New Roman" pitchFamily="18" charset="0"/>
              </a:rPr>
              <a:t>transactional database, </a:t>
            </a:r>
            <a:r>
              <a:rPr lang="en-US" sz="2200" dirty="0" smtClean="0">
                <a:latin typeface="Times New Roman" pitchFamily="18" charset="0"/>
                <a:cs typeface="Times New Roman" pitchFamily="18" charset="0"/>
              </a:rPr>
              <a:t>is:</a:t>
            </a:r>
          </a:p>
          <a:p>
            <a:pPr algn="just"/>
            <a:endParaRPr lang="en-US" sz="2200" dirty="0">
              <a:latin typeface="Times New Roman" pitchFamily="18" charset="0"/>
              <a:cs typeface="Times New Roman" pitchFamily="18" charset="0"/>
            </a:endParaRPr>
          </a:p>
          <a:p>
            <a:pPr algn="just"/>
            <a:r>
              <a:rPr lang="en-US" sz="2200" dirty="0">
                <a:latin typeface="Times New Roman" pitchFamily="18" charset="0"/>
                <a:cs typeface="Times New Roman" pitchFamily="18" charset="0"/>
              </a:rPr>
              <a:t>where X is a variable representing a customer. A confidence, or certainty, of 50% means that if a customer buys a computer, there is a 50% chance that she will buy software as well. A 1% support means that 1% of all the transactions under analysis show that computer and software are purchased together. This association rule involves a single attribute or predicate (i.e., buys) that repeats. </a:t>
            </a:r>
            <a:endParaRPr lang="en-US" sz="2200" dirty="0" smtClean="0">
              <a:latin typeface="Times New Roman" pitchFamily="18" charset="0"/>
              <a:cs typeface="Times New Roman" pitchFamily="18" charset="0"/>
            </a:endParaRPr>
          </a:p>
          <a:p>
            <a:pPr algn="just"/>
            <a:endParaRPr lang="en-US" sz="2200" dirty="0" smtClean="0">
              <a:latin typeface="Times New Roman" pitchFamily="18" charset="0"/>
              <a:cs typeface="Times New Roman" pitchFamily="18" charset="0"/>
            </a:endParaRPr>
          </a:p>
          <a:p>
            <a:pPr algn="just"/>
            <a:endParaRPr lang="en-US" sz="2200" dirty="0">
              <a:latin typeface="Times New Roman" pitchFamily="18" charset="0"/>
              <a:cs typeface="Times New Roman" pitchFamily="18" charset="0"/>
            </a:endParaRPr>
          </a:p>
          <a:p>
            <a:pPr algn="just"/>
            <a:endParaRPr lang="en-US" sz="2200" dirty="0" smtClean="0">
              <a:latin typeface="Times New Roman" pitchFamily="18" charset="0"/>
              <a:cs typeface="Times New Roman" pitchFamily="18" charset="0"/>
            </a:endParaRPr>
          </a:p>
          <a:p>
            <a:pPr algn="just"/>
            <a:r>
              <a:rPr lang="en-US" sz="2200" dirty="0" smtClean="0">
                <a:latin typeface="Times New Roman" pitchFamily="18" charset="0"/>
                <a:cs typeface="Times New Roman" pitchFamily="18" charset="0"/>
              </a:rPr>
              <a:t>	</a:t>
            </a:r>
          </a:p>
          <a:p>
            <a:pPr algn="just"/>
            <a:r>
              <a:rPr lang="en-US" sz="2200" dirty="0">
                <a:latin typeface="Times New Roman" pitchFamily="18" charset="0"/>
                <a:cs typeface="Times New Roman" pitchFamily="18" charset="0"/>
              </a:rPr>
              <a:t>	</a:t>
            </a:r>
            <a:r>
              <a:rPr lang="en-US" sz="2200" dirty="0" smtClean="0">
                <a:latin typeface="Times New Roman" pitchFamily="18" charset="0"/>
                <a:cs typeface="Times New Roman" pitchFamily="18" charset="0"/>
              </a:rPr>
              <a:t>The rule </a:t>
            </a:r>
            <a:r>
              <a:rPr lang="en-US" sz="2200" dirty="0">
                <a:latin typeface="Times New Roman" pitchFamily="18" charset="0"/>
                <a:cs typeface="Times New Roman" pitchFamily="18" charset="0"/>
              </a:rPr>
              <a:t>indicates that of the </a:t>
            </a:r>
            <a:r>
              <a:rPr lang="en-US" sz="2200" dirty="0" err="1">
                <a:latin typeface="Times New Roman" pitchFamily="18" charset="0"/>
                <a:cs typeface="Times New Roman" pitchFamily="18" charset="0"/>
              </a:rPr>
              <a:t>AllElectronics</a:t>
            </a:r>
            <a:r>
              <a:rPr lang="en-US" sz="2200" dirty="0">
                <a:latin typeface="Times New Roman" pitchFamily="18" charset="0"/>
                <a:cs typeface="Times New Roman" pitchFamily="18" charset="0"/>
              </a:rPr>
              <a:t> customers under study, 2% are 20 to 29 years old with an income of $40,000 to $49,000 and have purchased a laptop (computer) at </a:t>
            </a:r>
            <a:r>
              <a:rPr lang="en-US" sz="2200" dirty="0" err="1">
                <a:latin typeface="Times New Roman" pitchFamily="18" charset="0"/>
                <a:cs typeface="Times New Roman" pitchFamily="18" charset="0"/>
              </a:rPr>
              <a:t>AllElectronics</a:t>
            </a:r>
            <a:r>
              <a:rPr lang="en-US" sz="2200" dirty="0">
                <a:latin typeface="Times New Roman" pitchFamily="18" charset="0"/>
                <a:cs typeface="Times New Roman" pitchFamily="18" charset="0"/>
              </a:rPr>
              <a:t>. </a:t>
            </a:r>
            <a:endParaRPr lang="en-US" sz="2200" dirty="0" smtClean="0">
              <a:latin typeface="Times New Roman" pitchFamily="18" charset="0"/>
              <a:cs typeface="Times New Roman" pitchFamily="18" charset="0"/>
            </a:endParaRP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04900" y="1524001"/>
            <a:ext cx="6934200" cy="380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 y="4038600"/>
            <a:ext cx="822960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74161756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 y="228600"/>
            <a:ext cx="8763000" cy="5170646"/>
          </a:xfrm>
          <a:prstGeom prst="rect">
            <a:avLst/>
          </a:prstGeom>
        </p:spPr>
        <p:txBody>
          <a:bodyPr wrap="square">
            <a:spAutoFit/>
          </a:bodyPr>
          <a:lstStyle/>
          <a:p>
            <a:pPr algn="just"/>
            <a:r>
              <a:rPr lang="en-US" dirty="0" smtClean="0"/>
              <a:t>	</a:t>
            </a:r>
            <a:r>
              <a:rPr lang="en-US" sz="2200" dirty="0" smtClean="0">
                <a:latin typeface="Times New Roman" pitchFamily="18" charset="0"/>
                <a:cs typeface="Times New Roman" pitchFamily="18" charset="0"/>
              </a:rPr>
              <a:t>Classification </a:t>
            </a:r>
            <a:r>
              <a:rPr lang="en-US" sz="2200" dirty="0">
                <a:latin typeface="Times New Roman" pitchFamily="18" charset="0"/>
                <a:cs typeface="Times New Roman" pitchFamily="18" charset="0"/>
              </a:rPr>
              <a:t>and Regression for Predictive Analysis Classification is the process of finding a model (or function) that describes and </a:t>
            </a:r>
            <a:r>
              <a:rPr lang="en-US" sz="2200" dirty="0" smtClean="0">
                <a:latin typeface="Times New Roman" pitchFamily="18" charset="0"/>
                <a:cs typeface="Times New Roman" pitchFamily="18" charset="0"/>
              </a:rPr>
              <a:t>distinguishes </a:t>
            </a:r>
            <a:r>
              <a:rPr lang="en-US" sz="2200" dirty="0">
                <a:latin typeface="Times New Roman" pitchFamily="18" charset="0"/>
                <a:cs typeface="Times New Roman" pitchFamily="18" charset="0"/>
              </a:rPr>
              <a:t>data classes or concepts. The model are derived based on the analysis of a set of training data (i.e., data objects for which the class labels are known). </a:t>
            </a:r>
            <a:endParaRPr lang="en-US" sz="2200" dirty="0" smtClean="0">
              <a:latin typeface="Times New Roman" pitchFamily="18" charset="0"/>
              <a:cs typeface="Times New Roman" pitchFamily="18" charset="0"/>
            </a:endParaRPr>
          </a:p>
          <a:p>
            <a:pPr algn="just"/>
            <a:endParaRPr lang="en-US" dirty="0">
              <a:latin typeface="Times New Roman" pitchFamily="18" charset="0"/>
              <a:cs typeface="Times New Roman" pitchFamily="18" charset="0"/>
            </a:endParaRPr>
          </a:p>
          <a:p>
            <a:pPr algn="just"/>
            <a:r>
              <a:rPr lang="en-US" sz="2200" dirty="0">
                <a:latin typeface="Times New Roman" pitchFamily="18" charset="0"/>
                <a:cs typeface="Times New Roman" pitchFamily="18" charset="0"/>
              </a:rPr>
              <a:t>The model is used to predict the class label of objects for which the </a:t>
            </a:r>
            <a:r>
              <a:rPr lang="en-US" sz="2200" dirty="0" smtClean="0">
                <a:latin typeface="Times New Roman" pitchFamily="18" charset="0"/>
                <a:cs typeface="Times New Roman" pitchFamily="18" charset="0"/>
              </a:rPr>
              <a:t>class </a:t>
            </a:r>
            <a:r>
              <a:rPr lang="en-US" sz="2200" dirty="0">
                <a:latin typeface="Times New Roman" pitchFamily="18" charset="0"/>
                <a:cs typeface="Times New Roman" pitchFamily="18" charset="0"/>
              </a:rPr>
              <a:t>label is unknown. </a:t>
            </a:r>
            <a:endParaRPr lang="en-US" sz="2200" dirty="0" smtClean="0">
              <a:latin typeface="Times New Roman" pitchFamily="18" charset="0"/>
              <a:cs typeface="Times New Roman" pitchFamily="18" charset="0"/>
            </a:endParaRPr>
          </a:p>
          <a:p>
            <a:pPr algn="just"/>
            <a:r>
              <a:rPr lang="en-US" sz="2200" dirty="0">
                <a:latin typeface="Times New Roman" pitchFamily="18" charset="0"/>
                <a:cs typeface="Times New Roman" pitchFamily="18" charset="0"/>
              </a:rPr>
              <a:t> </a:t>
            </a:r>
            <a:r>
              <a:rPr lang="en-US" sz="2200" dirty="0" smtClean="0">
                <a:latin typeface="Times New Roman" pitchFamily="18" charset="0"/>
                <a:cs typeface="Times New Roman" pitchFamily="18" charset="0"/>
              </a:rPr>
              <a:t>       “</a:t>
            </a:r>
            <a:r>
              <a:rPr lang="en-US" sz="2200" dirty="0">
                <a:latin typeface="Times New Roman" pitchFamily="18" charset="0"/>
                <a:cs typeface="Times New Roman" pitchFamily="18" charset="0"/>
              </a:rPr>
              <a:t>How is the derived model presented?” The derived model may be represented in </a:t>
            </a:r>
            <a:r>
              <a:rPr lang="en-US" sz="2200" dirty="0" smtClean="0">
                <a:latin typeface="Times New Roman" pitchFamily="18" charset="0"/>
                <a:cs typeface="Times New Roman" pitchFamily="18" charset="0"/>
              </a:rPr>
              <a:t>various </a:t>
            </a:r>
            <a:r>
              <a:rPr lang="en-US" sz="2200" dirty="0">
                <a:latin typeface="Times New Roman" pitchFamily="18" charset="0"/>
                <a:cs typeface="Times New Roman" pitchFamily="18" charset="0"/>
              </a:rPr>
              <a:t>forms, such as classification rules (i.e., IF-THEN rules), decision trees, mathematical formulae</a:t>
            </a:r>
            <a:r>
              <a:rPr lang="en-US" sz="2200" dirty="0" smtClean="0">
                <a:latin typeface="Times New Roman" pitchFamily="18" charset="0"/>
                <a:cs typeface="Times New Roman" pitchFamily="18" charset="0"/>
              </a:rPr>
              <a:t>, or neural networks. A decision tree is a flow chart – like tree structure</a:t>
            </a:r>
            <a:r>
              <a:rPr lang="en-US" sz="2200" dirty="0">
                <a:latin typeface="Times New Roman" pitchFamily="18" charset="0"/>
                <a:cs typeface="Times New Roman" pitchFamily="18" charset="0"/>
              </a:rPr>
              <a:t>, </a:t>
            </a:r>
            <a:r>
              <a:rPr lang="en-US" sz="2200" dirty="0" smtClean="0">
                <a:latin typeface="Times New Roman" pitchFamily="18" charset="0"/>
                <a:cs typeface="Times New Roman" pitchFamily="18" charset="0"/>
              </a:rPr>
              <a:t>where each node denotes a test on an attribute value</a:t>
            </a:r>
            <a:r>
              <a:rPr lang="en-US" sz="2200" dirty="0">
                <a:latin typeface="Times New Roman" pitchFamily="18" charset="0"/>
                <a:cs typeface="Times New Roman" pitchFamily="18" charset="0"/>
              </a:rPr>
              <a:t>, each </a:t>
            </a:r>
            <a:r>
              <a:rPr lang="en-US" sz="2200" dirty="0" smtClean="0">
                <a:latin typeface="Times New Roman" pitchFamily="18" charset="0"/>
                <a:cs typeface="Times New Roman" pitchFamily="18" charset="0"/>
              </a:rPr>
              <a:t>branch represents </a:t>
            </a:r>
            <a:r>
              <a:rPr lang="en-US" sz="2200" dirty="0">
                <a:latin typeface="Times New Roman" pitchFamily="18" charset="0"/>
                <a:cs typeface="Times New Roman" pitchFamily="18" charset="0"/>
              </a:rPr>
              <a:t>an outcome of </a:t>
            </a:r>
            <a:r>
              <a:rPr lang="en-US" sz="2200" dirty="0" smtClean="0">
                <a:latin typeface="Times New Roman" pitchFamily="18" charset="0"/>
                <a:cs typeface="Times New Roman" pitchFamily="18" charset="0"/>
              </a:rPr>
              <a:t>the test</a:t>
            </a:r>
            <a:r>
              <a:rPr lang="en-US" sz="2200" dirty="0">
                <a:latin typeface="Times New Roman" pitchFamily="18" charset="0"/>
                <a:cs typeface="Times New Roman" pitchFamily="18" charset="0"/>
              </a:rPr>
              <a:t>, </a:t>
            </a:r>
            <a:r>
              <a:rPr lang="en-US" sz="2200" dirty="0" smtClean="0">
                <a:latin typeface="Times New Roman" pitchFamily="18" charset="0"/>
                <a:cs typeface="Times New Roman" pitchFamily="18" charset="0"/>
              </a:rPr>
              <a:t>and tree </a:t>
            </a:r>
            <a:r>
              <a:rPr lang="en-US" sz="2200" dirty="0">
                <a:latin typeface="Times New Roman" pitchFamily="18" charset="0"/>
                <a:cs typeface="Times New Roman" pitchFamily="18" charset="0"/>
              </a:rPr>
              <a:t>leaves represent classes or class distributions. </a:t>
            </a:r>
            <a:r>
              <a:rPr lang="en-IN" sz="2200" dirty="0">
                <a:latin typeface="Times New Roman" pitchFamily="18" charset="0"/>
                <a:cs typeface="Times New Roman" pitchFamily="18" charset="0"/>
              </a:rPr>
              <a:t>Decision trees can easily </a:t>
            </a:r>
            <a:r>
              <a:rPr lang="en-IN" sz="2200" dirty="0" smtClean="0">
                <a:latin typeface="Times New Roman" pitchFamily="18" charset="0"/>
                <a:cs typeface="Times New Roman" pitchFamily="18" charset="0"/>
              </a:rPr>
              <a:t>be converted to classification rules</a:t>
            </a:r>
            <a:r>
              <a:rPr lang="en-IN" sz="2200" dirty="0">
                <a:latin typeface="Times New Roman" pitchFamily="18" charset="0"/>
                <a:cs typeface="Times New Roman" pitchFamily="18" charset="0"/>
              </a:rPr>
              <a:t>.</a:t>
            </a: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0" y="5257800"/>
            <a:ext cx="7772400" cy="1447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01943969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304800"/>
            <a:ext cx="8686800" cy="62483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3272381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400" y="152401"/>
            <a:ext cx="8839200" cy="4585871"/>
          </a:xfrm>
          <a:prstGeom prst="rect">
            <a:avLst/>
          </a:prstGeom>
        </p:spPr>
        <p:txBody>
          <a:bodyPr wrap="square">
            <a:spAutoFit/>
          </a:bodyPr>
          <a:lstStyle/>
          <a:p>
            <a:pPr algn="just"/>
            <a:r>
              <a:rPr lang="en-US" sz="2200" dirty="0" smtClean="0">
                <a:latin typeface="Times New Roman" pitchFamily="18" charset="0"/>
                <a:cs typeface="Times New Roman" pitchFamily="18" charset="0"/>
              </a:rPr>
              <a:t>Ex: </a:t>
            </a:r>
            <a:r>
              <a:rPr lang="en-US" sz="2200" dirty="0">
                <a:latin typeface="Times New Roman" pitchFamily="18" charset="0"/>
                <a:cs typeface="Times New Roman" pitchFamily="18" charset="0"/>
              </a:rPr>
              <a:t>S</a:t>
            </a:r>
            <a:r>
              <a:rPr lang="en-US" sz="2200" dirty="0" smtClean="0">
                <a:latin typeface="Times New Roman" pitchFamily="18" charset="0"/>
                <a:cs typeface="Times New Roman" pitchFamily="18" charset="0"/>
              </a:rPr>
              <a:t>ales </a:t>
            </a:r>
            <a:r>
              <a:rPr lang="en-US" sz="2200" dirty="0">
                <a:latin typeface="Times New Roman" pitchFamily="18" charset="0"/>
                <a:cs typeface="Times New Roman" pitchFamily="18" charset="0"/>
              </a:rPr>
              <a:t>manager of </a:t>
            </a:r>
            <a:r>
              <a:rPr lang="en-US" sz="2200" dirty="0" err="1">
                <a:latin typeface="Times New Roman" pitchFamily="18" charset="0"/>
                <a:cs typeface="Times New Roman" pitchFamily="18" charset="0"/>
              </a:rPr>
              <a:t>AllElectronics</a:t>
            </a:r>
            <a:r>
              <a:rPr lang="en-US" sz="2200" dirty="0">
                <a:latin typeface="Times New Roman" pitchFamily="18" charset="0"/>
                <a:cs typeface="Times New Roman" pitchFamily="18" charset="0"/>
              </a:rPr>
              <a:t> </a:t>
            </a:r>
            <a:r>
              <a:rPr lang="en-US" sz="2200" dirty="0" smtClean="0">
                <a:latin typeface="Times New Roman" pitchFamily="18" charset="0"/>
                <a:cs typeface="Times New Roman" pitchFamily="18" charset="0"/>
              </a:rPr>
              <a:t>want to </a:t>
            </a:r>
            <a:r>
              <a:rPr lang="en-US" sz="2200" dirty="0">
                <a:latin typeface="Times New Roman" pitchFamily="18" charset="0"/>
                <a:cs typeface="Times New Roman" pitchFamily="18" charset="0"/>
              </a:rPr>
              <a:t>classify a large set of items in the store, based on three kinds of </a:t>
            </a:r>
            <a:r>
              <a:rPr lang="en-US" sz="2200" dirty="0" smtClean="0">
                <a:latin typeface="Times New Roman" pitchFamily="18" charset="0"/>
                <a:cs typeface="Times New Roman" pitchFamily="18" charset="0"/>
              </a:rPr>
              <a:t>responses </a:t>
            </a:r>
            <a:r>
              <a:rPr lang="en-US" sz="2200" dirty="0">
                <a:latin typeface="Times New Roman" pitchFamily="18" charset="0"/>
                <a:cs typeface="Times New Roman" pitchFamily="18" charset="0"/>
              </a:rPr>
              <a:t>to a sales </a:t>
            </a:r>
            <a:r>
              <a:rPr lang="en-US" sz="2200" dirty="0" smtClean="0">
                <a:latin typeface="Times New Roman" pitchFamily="18" charset="0"/>
                <a:cs typeface="Times New Roman" pitchFamily="18" charset="0"/>
              </a:rPr>
              <a:t>campaign</a:t>
            </a:r>
            <a:r>
              <a:rPr lang="en-US" sz="2200" dirty="0">
                <a:latin typeface="Times New Roman" pitchFamily="18" charset="0"/>
                <a:cs typeface="Times New Roman" pitchFamily="18" charset="0"/>
              </a:rPr>
              <a:t>: </a:t>
            </a:r>
            <a:r>
              <a:rPr lang="en-US" sz="2200" b="1" dirty="0">
                <a:latin typeface="Times New Roman" pitchFamily="18" charset="0"/>
                <a:cs typeface="Times New Roman" pitchFamily="18" charset="0"/>
              </a:rPr>
              <a:t>good response, mild response and no response</a:t>
            </a:r>
            <a:r>
              <a:rPr lang="en-US" sz="2200" dirty="0">
                <a:latin typeface="Times New Roman" pitchFamily="18" charset="0"/>
                <a:cs typeface="Times New Roman" pitchFamily="18" charset="0"/>
              </a:rPr>
              <a:t>. </a:t>
            </a:r>
            <a:endParaRPr lang="en-US" sz="2200" dirty="0" smtClean="0">
              <a:latin typeface="Times New Roman" pitchFamily="18" charset="0"/>
              <a:cs typeface="Times New Roman" pitchFamily="18" charset="0"/>
            </a:endParaRPr>
          </a:p>
          <a:p>
            <a:pPr algn="just"/>
            <a:r>
              <a:rPr lang="en-US" sz="2200" dirty="0">
                <a:latin typeface="Times New Roman" pitchFamily="18" charset="0"/>
                <a:cs typeface="Times New Roman" pitchFamily="18" charset="0"/>
              </a:rPr>
              <a:t>	</a:t>
            </a:r>
            <a:r>
              <a:rPr lang="en-US" sz="2200" dirty="0" smtClean="0">
                <a:latin typeface="Times New Roman" pitchFamily="18" charset="0"/>
                <a:cs typeface="Times New Roman" pitchFamily="18" charset="0"/>
              </a:rPr>
              <a:t>To </a:t>
            </a:r>
            <a:r>
              <a:rPr lang="en-US" sz="2200" dirty="0">
                <a:latin typeface="Times New Roman" pitchFamily="18" charset="0"/>
                <a:cs typeface="Times New Roman" pitchFamily="18" charset="0"/>
              </a:rPr>
              <a:t>derive a model for each of these three classes based on the descriptive features of the items, such as price, brand, place made, type, and category. </a:t>
            </a:r>
            <a:endParaRPr lang="en-US" sz="2200" dirty="0" smtClean="0">
              <a:latin typeface="Times New Roman" pitchFamily="18" charset="0"/>
              <a:cs typeface="Times New Roman" pitchFamily="18" charset="0"/>
            </a:endParaRPr>
          </a:p>
          <a:p>
            <a:pPr algn="just"/>
            <a:endParaRPr lang="en-US" sz="2200" dirty="0">
              <a:latin typeface="Times New Roman" pitchFamily="18" charset="0"/>
              <a:cs typeface="Times New Roman" pitchFamily="18" charset="0"/>
            </a:endParaRPr>
          </a:p>
          <a:p>
            <a:pPr algn="just"/>
            <a:r>
              <a:rPr lang="en-US" sz="2800" b="1" dirty="0">
                <a:solidFill>
                  <a:srgbClr val="FF0000"/>
                </a:solidFill>
                <a:latin typeface="Times New Roman" pitchFamily="18" charset="0"/>
                <a:cs typeface="Times New Roman" pitchFamily="18" charset="0"/>
              </a:rPr>
              <a:t>Cluster </a:t>
            </a:r>
            <a:r>
              <a:rPr lang="en-US" sz="2800" b="1" dirty="0" smtClean="0">
                <a:solidFill>
                  <a:srgbClr val="FF0000"/>
                </a:solidFill>
                <a:latin typeface="Times New Roman" pitchFamily="18" charset="0"/>
                <a:cs typeface="Times New Roman" pitchFamily="18" charset="0"/>
              </a:rPr>
              <a:t>Analysis: </a:t>
            </a:r>
            <a:endParaRPr lang="en-US" sz="2200" b="1" dirty="0" smtClean="0">
              <a:solidFill>
                <a:srgbClr val="FF0000"/>
              </a:solidFill>
              <a:latin typeface="Times New Roman" pitchFamily="18" charset="0"/>
              <a:cs typeface="Times New Roman" pitchFamily="18" charset="0"/>
            </a:endParaRPr>
          </a:p>
          <a:p>
            <a:pPr algn="just"/>
            <a:r>
              <a:rPr lang="en-US" sz="2200" dirty="0">
                <a:latin typeface="Times New Roman" pitchFamily="18" charset="0"/>
                <a:cs typeface="Times New Roman" pitchFamily="18" charset="0"/>
              </a:rPr>
              <a:t>	</a:t>
            </a:r>
            <a:r>
              <a:rPr lang="en-US" sz="2200" dirty="0" smtClean="0">
                <a:latin typeface="Times New Roman" pitchFamily="18" charset="0"/>
                <a:cs typeface="Times New Roman" pitchFamily="18" charset="0"/>
              </a:rPr>
              <a:t>Unlike </a:t>
            </a:r>
            <a:r>
              <a:rPr lang="en-US" sz="2200" dirty="0">
                <a:latin typeface="Times New Roman" pitchFamily="18" charset="0"/>
                <a:cs typeface="Times New Roman" pitchFamily="18" charset="0"/>
              </a:rPr>
              <a:t>classification and regression, which analyze class-labeled (training) data sets, clustering analyzes data objects without consulting class labels</a:t>
            </a:r>
            <a:r>
              <a:rPr lang="en-US" sz="2200" dirty="0" smtClean="0">
                <a:latin typeface="Times New Roman" pitchFamily="18" charset="0"/>
                <a:cs typeface="Times New Roman" pitchFamily="18" charset="0"/>
              </a:rPr>
              <a:t>. </a:t>
            </a:r>
            <a:r>
              <a:rPr lang="en-US" sz="2200" dirty="0">
                <a:latin typeface="Times New Roman" pitchFamily="18" charset="0"/>
                <a:cs typeface="Times New Roman" pitchFamily="18" charset="0"/>
              </a:rPr>
              <a:t>The objects are clustered or grouped based on the </a:t>
            </a:r>
            <a:r>
              <a:rPr lang="en-US" sz="2200" dirty="0" smtClean="0">
                <a:latin typeface="Times New Roman" pitchFamily="18" charset="0"/>
                <a:cs typeface="Times New Roman" pitchFamily="18" charset="0"/>
              </a:rPr>
              <a:t>principle </a:t>
            </a:r>
            <a:r>
              <a:rPr lang="en-US" sz="2200" dirty="0">
                <a:latin typeface="Times New Roman" pitchFamily="18" charset="0"/>
                <a:cs typeface="Times New Roman" pitchFamily="18" charset="0"/>
              </a:rPr>
              <a:t>of </a:t>
            </a:r>
            <a:r>
              <a:rPr lang="en-US" sz="2200" b="1" dirty="0" smtClean="0">
                <a:latin typeface="Times New Roman" pitchFamily="18" charset="0"/>
                <a:cs typeface="Times New Roman" pitchFamily="18" charset="0"/>
              </a:rPr>
              <a:t>maximizing the intra class </a:t>
            </a:r>
            <a:r>
              <a:rPr lang="en-US" sz="2200" b="1" dirty="0">
                <a:latin typeface="Times New Roman" pitchFamily="18" charset="0"/>
                <a:cs typeface="Times New Roman" pitchFamily="18" charset="0"/>
              </a:rPr>
              <a:t>similarity and minimizing the interclass similarity</a:t>
            </a:r>
            <a:r>
              <a:rPr lang="en-US" sz="2200" dirty="0">
                <a:latin typeface="Times New Roman" pitchFamily="18" charset="0"/>
                <a:cs typeface="Times New Roman" pitchFamily="18" charset="0"/>
              </a:rPr>
              <a:t>.</a:t>
            </a:r>
            <a:endParaRPr lang="en-IN" sz="2200" dirty="0">
              <a:latin typeface="Times New Roman" pitchFamily="18" charset="0"/>
              <a:cs typeface="Times New Roman" pitchFamily="18" charset="0"/>
            </a:endParaRPr>
          </a:p>
        </p:txBody>
      </p:sp>
    </p:spTree>
    <p:extLst>
      <p:ext uri="{BB962C8B-B14F-4D97-AF65-F5344CB8AC3E}">
        <p14:creationId xmlns:p14="http://schemas.microsoft.com/office/powerpoint/2010/main" val="263315628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76200"/>
            <a:ext cx="9144000" cy="6553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8053527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400" y="152400"/>
            <a:ext cx="8763000" cy="4862870"/>
          </a:xfrm>
          <a:prstGeom prst="rect">
            <a:avLst/>
          </a:prstGeom>
        </p:spPr>
        <p:txBody>
          <a:bodyPr wrap="square">
            <a:spAutoFit/>
          </a:bodyPr>
          <a:lstStyle/>
          <a:p>
            <a:pPr algn="just"/>
            <a:r>
              <a:rPr lang="en-US" sz="2800" b="1" dirty="0" smtClean="0">
                <a:solidFill>
                  <a:srgbClr val="FF0000"/>
                </a:solidFill>
                <a:latin typeface="Times New Roman" pitchFamily="18" charset="0"/>
                <a:cs typeface="Times New Roman" pitchFamily="18" charset="0"/>
              </a:rPr>
              <a:t>Outlier Analysis:</a:t>
            </a:r>
            <a:endParaRPr lang="en-US" sz="2200" b="1" dirty="0" smtClean="0">
              <a:solidFill>
                <a:srgbClr val="FF0000"/>
              </a:solidFill>
              <a:latin typeface="Times New Roman" pitchFamily="18" charset="0"/>
              <a:cs typeface="Times New Roman" pitchFamily="18" charset="0"/>
            </a:endParaRPr>
          </a:p>
          <a:p>
            <a:pPr algn="just"/>
            <a:r>
              <a:rPr lang="en-US" sz="2200" dirty="0">
                <a:solidFill>
                  <a:srgbClr val="FF0000"/>
                </a:solidFill>
                <a:latin typeface="Times New Roman" pitchFamily="18" charset="0"/>
                <a:cs typeface="Times New Roman" pitchFamily="18" charset="0"/>
              </a:rPr>
              <a:t>	</a:t>
            </a:r>
            <a:r>
              <a:rPr lang="en-US" sz="2200" dirty="0" smtClean="0">
                <a:latin typeface="Times New Roman" pitchFamily="18" charset="0"/>
                <a:cs typeface="Times New Roman" pitchFamily="18" charset="0"/>
              </a:rPr>
              <a:t>A </a:t>
            </a:r>
            <a:r>
              <a:rPr lang="en-US" sz="2200" dirty="0">
                <a:latin typeface="Times New Roman" pitchFamily="18" charset="0"/>
                <a:cs typeface="Times New Roman" pitchFamily="18" charset="0"/>
              </a:rPr>
              <a:t>data set may contain objects that do not comply with the general behavior or model of the data. These data objects are outliers. Many data mining methods discard outliers as noise or exceptions. </a:t>
            </a:r>
            <a:endParaRPr lang="en-US" sz="2200" dirty="0" smtClean="0">
              <a:latin typeface="Times New Roman" pitchFamily="18" charset="0"/>
              <a:cs typeface="Times New Roman" pitchFamily="18" charset="0"/>
            </a:endParaRPr>
          </a:p>
          <a:p>
            <a:pPr algn="just"/>
            <a:r>
              <a:rPr lang="en-US" sz="2200" dirty="0">
                <a:latin typeface="Times New Roman" pitchFamily="18" charset="0"/>
                <a:cs typeface="Times New Roman" pitchFamily="18" charset="0"/>
              </a:rPr>
              <a:t>	</a:t>
            </a:r>
            <a:r>
              <a:rPr lang="en-US" sz="2200" dirty="0" smtClean="0">
                <a:latin typeface="Times New Roman" pitchFamily="18" charset="0"/>
                <a:cs typeface="Times New Roman" pitchFamily="18" charset="0"/>
              </a:rPr>
              <a:t>In </a:t>
            </a:r>
            <a:r>
              <a:rPr lang="en-US" sz="2200" dirty="0">
                <a:latin typeface="Times New Roman" pitchFamily="18" charset="0"/>
                <a:cs typeface="Times New Roman" pitchFamily="18" charset="0"/>
              </a:rPr>
              <a:t>some applications (e.g., fraud detection) the rare events can be more interesting than the more regularly occurring ones. The analysis of outlier data is referred to as outlier analysis or anomaly mining</a:t>
            </a:r>
            <a:r>
              <a:rPr lang="en-US" sz="2200" dirty="0" smtClean="0">
                <a:latin typeface="Times New Roman" pitchFamily="18" charset="0"/>
                <a:cs typeface="Times New Roman" pitchFamily="18" charset="0"/>
              </a:rPr>
              <a:t>.</a:t>
            </a:r>
          </a:p>
          <a:p>
            <a:pPr algn="just"/>
            <a:endParaRPr lang="en-US" sz="2200" dirty="0" smtClean="0"/>
          </a:p>
          <a:p>
            <a:pPr algn="just"/>
            <a:r>
              <a:rPr lang="en-US" sz="2200" dirty="0" smtClean="0">
                <a:solidFill>
                  <a:srgbClr val="FF0000"/>
                </a:solidFill>
                <a:latin typeface="Times New Roman" pitchFamily="18" charset="0"/>
                <a:cs typeface="Times New Roman" pitchFamily="18" charset="0"/>
              </a:rPr>
              <a:t>Ex:</a:t>
            </a:r>
            <a:r>
              <a:rPr lang="en-US" sz="2200" dirty="0" smtClean="0">
                <a:latin typeface="Times New Roman" pitchFamily="18" charset="0"/>
                <a:cs typeface="Times New Roman" pitchFamily="18" charset="0"/>
              </a:rPr>
              <a:t> Outlier </a:t>
            </a:r>
            <a:r>
              <a:rPr lang="en-US" sz="2200" dirty="0">
                <a:latin typeface="Times New Roman" pitchFamily="18" charset="0"/>
                <a:cs typeface="Times New Roman" pitchFamily="18" charset="0"/>
              </a:rPr>
              <a:t>analysis may uncover fraudulent usage of credit cards by detecting purchases of unusually large amounts for a given account number in </a:t>
            </a:r>
            <a:r>
              <a:rPr lang="en-US" sz="2200" dirty="0" smtClean="0">
                <a:latin typeface="Times New Roman" pitchFamily="18" charset="0"/>
                <a:cs typeface="Times New Roman" pitchFamily="18" charset="0"/>
              </a:rPr>
              <a:t>comparison </a:t>
            </a:r>
            <a:r>
              <a:rPr lang="en-US" sz="2200" dirty="0">
                <a:latin typeface="Times New Roman" pitchFamily="18" charset="0"/>
                <a:cs typeface="Times New Roman" pitchFamily="18" charset="0"/>
              </a:rPr>
              <a:t>to regular charges incurred by the same account. Outlier values may also be detected with respect to the locations and types of purchase, or the purchase frequency.</a:t>
            </a:r>
            <a:endParaRPr lang="en-US" sz="2200" dirty="0" smtClean="0">
              <a:latin typeface="Times New Roman" pitchFamily="18" charset="0"/>
              <a:cs typeface="Times New Roman" pitchFamily="18" charset="0"/>
            </a:endParaRPr>
          </a:p>
          <a:p>
            <a:pPr algn="just"/>
            <a:r>
              <a:rPr lang="en-US" dirty="0" smtClean="0"/>
              <a:t>	</a:t>
            </a:r>
            <a:endParaRPr lang="en-IN" sz="2200" dirty="0">
              <a:latin typeface="Times New Roman" pitchFamily="18" charset="0"/>
              <a:cs typeface="Times New Roman" pitchFamily="18" charset="0"/>
            </a:endParaRPr>
          </a:p>
        </p:txBody>
      </p:sp>
    </p:spTree>
    <p:extLst>
      <p:ext uri="{BB962C8B-B14F-4D97-AF65-F5344CB8AC3E}">
        <p14:creationId xmlns:p14="http://schemas.microsoft.com/office/powerpoint/2010/main" val="38964658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 y="228600"/>
            <a:ext cx="8763000" cy="5601533"/>
          </a:xfrm>
          <a:prstGeom prst="rect">
            <a:avLst/>
          </a:prstGeom>
        </p:spPr>
        <p:txBody>
          <a:bodyPr wrap="square">
            <a:spAutoFit/>
          </a:bodyPr>
          <a:lstStyle/>
          <a:p>
            <a:pPr algn="just"/>
            <a:r>
              <a:rPr lang="en-US" sz="2800" dirty="0" smtClean="0">
                <a:solidFill>
                  <a:srgbClr val="FF0000"/>
                </a:solidFill>
                <a:latin typeface="Times New Roman" pitchFamily="18" charset="0"/>
                <a:cs typeface="Times New Roman" pitchFamily="18" charset="0"/>
              </a:rPr>
              <a:t>Support:</a:t>
            </a:r>
          </a:p>
          <a:p>
            <a:pPr algn="just"/>
            <a:r>
              <a:rPr lang="en-US" sz="2200" dirty="0" smtClean="0">
                <a:latin typeface="Times New Roman" pitchFamily="18" charset="0"/>
                <a:cs typeface="Times New Roman" pitchFamily="18" charset="0"/>
              </a:rPr>
              <a:t>Support </a:t>
            </a:r>
            <a:r>
              <a:rPr lang="en-US" sz="2200" dirty="0">
                <a:latin typeface="Times New Roman" pitchFamily="18" charset="0"/>
                <a:cs typeface="Times New Roman" pitchFamily="18" charset="0"/>
              </a:rPr>
              <a:t>measures </a:t>
            </a:r>
            <a:r>
              <a:rPr lang="en-US" sz="2200" b="1" dirty="0">
                <a:latin typeface="Times New Roman" pitchFamily="18" charset="0"/>
                <a:cs typeface="Times New Roman" pitchFamily="18" charset="0"/>
              </a:rPr>
              <a:t>how frequently an </a:t>
            </a:r>
            <a:r>
              <a:rPr lang="en-US" sz="2200" b="1" dirty="0" err="1">
                <a:latin typeface="Times New Roman" pitchFamily="18" charset="0"/>
                <a:cs typeface="Times New Roman" pitchFamily="18" charset="0"/>
              </a:rPr>
              <a:t>itemset</a:t>
            </a:r>
            <a:r>
              <a:rPr lang="en-US" sz="2200" b="1" dirty="0">
                <a:latin typeface="Times New Roman" pitchFamily="18" charset="0"/>
                <a:cs typeface="Times New Roman" pitchFamily="18" charset="0"/>
              </a:rPr>
              <a:t> appears in the dataset</a:t>
            </a:r>
            <a:r>
              <a:rPr lang="en-US" sz="2200" dirty="0">
                <a:latin typeface="Times New Roman" pitchFamily="18" charset="0"/>
                <a:cs typeface="Times New Roman" pitchFamily="18" charset="0"/>
              </a:rPr>
              <a:t>. </a:t>
            </a:r>
            <a:endParaRPr lang="en-US" sz="2200" dirty="0" smtClean="0">
              <a:latin typeface="Times New Roman" pitchFamily="18" charset="0"/>
              <a:cs typeface="Times New Roman" pitchFamily="18" charset="0"/>
            </a:endParaRPr>
          </a:p>
          <a:p>
            <a:pPr algn="just"/>
            <a:endParaRPr lang="en-US" sz="2200" dirty="0">
              <a:latin typeface="Times New Roman" pitchFamily="18" charset="0"/>
              <a:cs typeface="Times New Roman" pitchFamily="18" charset="0"/>
            </a:endParaRPr>
          </a:p>
          <a:p>
            <a:pPr algn="just"/>
            <a:r>
              <a:rPr lang="en-US" sz="2200" b="1" dirty="0">
                <a:latin typeface="Times New Roman" pitchFamily="18" charset="0"/>
                <a:cs typeface="Times New Roman" pitchFamily="18" charset="0"/>
              </a:rPr>
              <a:t>Mathematically</a:t>
            </a:r>
            <a:r>
              <a:rPr lang="en-US" sz="2200" b="1" dirty="0" smtClean="0">
                <a:latin typeface="Times New Roman" pitchFamily="18" charset="0"/>
                <a:cs typeface="Times New Roman" pitchFamily="18" charset="0"/>
              </a:rPr>
              <a:t>:</a:t>
            </a:r>
          </a:p>
          <a:p>
            <a:pPr algn="just"/>
            <a:endParaRPr lang="en-US" sz="2200" b="1" dirty="0">
              <a:latin typeface="Times New Roman" pitchFamily="18" charset="0"/>
              <a:cs typeface="Times New Roman" pitchFamily="18" charset="0"/>
            </a:endParaRPr>
          </a:p>
          <a:p>
            <a:pPr algn="just"/>
            <a:endParaRPr lang="en-US" sz="2200" b="1" dirty="0" smtClean="0">
              <a:latin typeface="Times New Roman" pitchFamily="18" charset="0"/>
              <a:cs typeface="Times New Roman" pitchFamily="18" charset="0"/>
            </a:endParaRPr>
          </a:p>
          <a:p>
            <a:pPr algn="just"/>
            <a:endParaRPr lang="en-US" sz="2200" b="1" dirty="0">
              <a:latin typeface="Times New Roman" pitchFamily="18" charset="0"/>
              <a:cs typeface="Times New Roman" pitchFamily="18" charset="0"/>
            </a:endParaRPr>
          </a:p>
          <a:p>
            <a:pPr algn="just"/>
            <a:endParaRPr lang="en-US" sz="2200" b="1" dirty="0" smtClean="0">
              <a:latin typeface="Times New Roman" pitchFamily="18" charset="0"/>
              <a:cs typeface="Times New Roman" pitchFamily="18" charset="0"/>
            </a:endParaRPr>
          </a:p>
          <a:p>
            <a:pPr algn="just"/>
            <a:r>
              <a:rPr lang="en-IN" sz="2200" b="1" dirty="0">
                <a:latin typeface="Times New Roman" pitchFamily="18" charset="0"/>
                <a:cs typeface="Times New Roman" pitchFamily="18" charset="0"/>
              </a:rPr>
              <a:t>Example:</a:t>
            </a:r>
            <a:endParaRPr lang="en-IN" sz="2200" dirty="0">
              <a:latin typeface="Times New Roman" pitchFamily="18" charset="0"/>
              <a:cs typeface="Times New Roman" pitchFamily="18" charset="0"/>
            </a:endParaRPr>
          </a:p>
          <a:p>
            <a:pPr algn="just"/>
            <a:r>
              <a:rPr lang="en-IN" sz="2200" dirty="0">
                <a:latin typeface="Times New Roman" pitchFamily="18" charset="0"/>
                <a:cs typeface="Times New Roman" pitchFamily="18" charset="0"/>
              </a:rPr>
              <a:t>Suppose </a:t>
            </a:r>
            <a:r>
              <a:rPr lang="en-IN" sz="2200" dirty="0" smtClean="0">
                <a:latin typeface="Times New Roman" pitchFamily="18" charset="0"/>
                <a:cs typeface="Times New Roman" pitchFamily="18" charset="0"/>
              </a:rPr>
              <a:t>we have </a:t>
            </a:r>
            <a:r>
              <a:rPr lang="en-IN" sz="2200" dirty="0">
                <a:latin typeface="Times New Roman" pitchFamily="18" charset="0"/>
                <a:cs typeface="Times New Roman" pitchFamily="18" charset="0"/>
              </a:rPr>
              <a:t>1,000 transactions in a supermarket.</a:t>
            </a:r>
          </a:p>
          <a:p>
            <a:pPr algn="just"/>
            <a:r>
              <a:rPr lang="en-IN" sz="2200" dirty="0">
                <a:latin typeface="Times New Roman" pitchFamily="18" charset="0"/>
                <a:cs typeface="Times New Roman" pitchFamily="18" charset="0"/>
              </a:rPr>
              <a:t>The </a:t>
            </a:r>
            <a:r>
              <a:rPr lang="en-IN" sz="2200" dirty="0" err="1">
                <a:latin typeface="Times New Roman" pitchFamily="18" charset="0"/>
                <a:cs typeface="Times New Roman" pitchFamily="18" charset="0"/>
              </a:rPr>
              <a:t>itemset</a:t>
            </a:r>
            <a:r>
              <a:rPr lang="en-IN" sz="2200" dirty="0">
                <a:latin typeface="Times New Roman" pitchFamily="18" charset="0"/>
                <a:cs typeface="Times New Roman" pitchFamily="18" charset="0"/>
              </a:rPr>
              <a:t> {Milk, Bread} appears in 100 transactions.</a:t>
            </a:r>
          </a:p>
          <a:p>
            <a:pPr algn="just"/>
            <a:r>
              <a:rPr lang="en-IN" sz="2200" dirty="0">
                <a:latin typeface="Times New Roman" pitchFamily="18" charset="0"/>
                <a:cs typeface="Times New Roman" pitchFamily="18" charset="0"/>
              </a:rPr>
              <a:t>Then,</a:t>
            </a:r>
          </a:p>
          <a:p>
            <a:pPr algn="just"/>
            <a:r>
              <a:rPr lang="en-IN" sz="2200" dirty="0">
                <a:latin typeface="Times New Roman" pitchFamily="18" charset="0"/>
                <a:cs typeface="Times New Roman" pitchFamily="18" charset="0"/>
              </a:rPr>
              <a:t>Support({Milk</a:t>
            </a:r>
            <a:r>
              <a:rPr lang="en-IN" sz="2200" dirty="0" smtClean="0">
                <a:latin typeface="Times New Roman" pitchFamily="18" charset="0"/>
                <a:cs typeface="Times New Roman" pitchFamily="18" charset="0"/>
              </a:rPr>
              <a:t>, Bread})= 100 / 1000 = 0.1 = 10%</a:t>
            </a:r>
          </a:p>
          <a:p>
            <a:pPr algn="just"/>
            <a:r>
              <a:rPr lang="en-IN" sz="2200" dirty="0" smtClean="0">
                <a:latin typeface="Times New Roman" pitchFamily="18" charset="0"/>
                <a:cs typeface="Times New Roman" pitchFamily="18" charset="0"/>
              </a:rPr>
              <a:t>So</a:t>
            </a:r>
            <a:r>
              <a:rPr lang="en-IN" sz="2200" dirty="0">
                <a:latin typeface="Times New Roman" pitchFamily="18" charset="0"/>
                <a:cs typeface="Times New Roman" pitchFamily="18" charset="0"/>
              </a:rPr>
              <a:t>, 10% of all transactions contain both milk and bread.</a:t>
            </a:r>
          </a:p>
          <a:p>
            <a:pPr algn="just"/>
            <a:endParaRPr lang="en-US" sz="2200" b="1" dirty="0">
              <a:latin typeface="Times New Roman" pitchFamily="18" charset="0"/>
              <a:cs typeface="Times New Roman" pitchFamily="18" charset="0"/>
            </a:endParaRPr>
          </a:p>
          <a:p>
            <a:pPr algn="just"/>
            <a:endParaRPr lang="en-US" sz="2200" dirty="0">
              <a:latin typeface="Times New Roman" pitchFamily="18" charset="0"/>
              <a:cs typeface="Times New Roman" pitchFamily="18" charset="0"/>
            </a:endParaRP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28863" y="1752601"/>
            <a:ext cx="6281737" cy="1142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56343125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 y="304800"/>
            <a:ext cx="8686800" cy="6278642"/>
          </a:xfrm>
          <a:prstGeom prst="rect">
            <a:avLst/>
          </a:prstGeom>
        </p:spPr>
        <p:txBody>
          <a:bodyPr wrap="square">
            <a:spAutoFit/>
          </a:bodyPr>
          <a:lstStyle/>
          <a:p>
            <a:pPr algn="just"/>
            <a:r>
              <a:rPr lang="en-US" sz="2800" dirty="0" smtClean="0">
                <a:solidFill>
                  <a:srgbClr val="FF0000"/>
                </a:solidFill>
                <a:latin typeface="Times New Roman" pitchFamily="18" charset="0"/>
                <a:cs typeface="Times New Roman" pitchFamily="18" charset="0"/>
              </a:rPr>
              <a:t>Confidence:</a:t>
            </a:r>
            <a:endParaRPr lang="en-US" sz="2200" dirty="0" smtClean="0">
              <a:solidFill>
                <a:srgbClr val="FF0000"/>
              </a:solidFill>
              <a:latin typeface="Times New Roman" pitchFamily="18" charset="0"/>
              <a:cs typeface="Times New Roman" pitchFamily="18" charset="0"/>
            </a:endParaRPr>
          </a:p>
          <a:p>
            <a:pPr algn="just"/>
            <a:r>
              <a:rPr lang="en-US" sz="2200" dirty="0" smtClean="0">
                <a:latin typeface="Times New Roman" pitchFamily="18" charset="0"/>
                <a:cs typeface="Times New Roman" pitchFamily="18" charset="0"/>
              </a:rPr>
              <a:t>	Confidence </a:t>
            </a:r>
            <a:r>
              <a:rPr lang="en-US" sz="2200" dirty="0">
                <a:latin typeface="Times New Roman" pitchFamily="18" charset="0"/>
                <a:cs typeface="Times New Roman" pitchFamily="18" charset="0"/>
              </a:rPr>
              <a:t>measures how often items in Y appear in transactions that contain X. It shows the likelihood of Y being purchased when X is purchased</a:t>
            </a:r>
            <a:r>
              <a:rPr lang="en-US" sz="2200" dirty="0" smtClean="0">
                <a:latin typeface="Times New Roman" pitchFamily="18" charset="0"/>
                <a:cs typeface="Times New Roman" pitchFamily="18" charset="0"/>
              </a:rPr>
              <a:t>.</a:t>
            </a:r>
          </a:p>
          <a:p>
            <a:pPr algn="just"/>
            <a:endParaRPr lang="en-US" sz="2200" dirty="0">
              <a:latin typeface="Times New Roman" pitchFamily="18" charset="0"/>
              <a:cs typeface="Times New Roman" pitchFamily="18" charset="0"/>
            </a:endParaRPr>
          </a:p>
          <a:p>
            <a:pPr algn="just"/>
            <a:r>
              <a:rPr lang="en-US" sz="2200" dirty="0">
                <a:latin typeface="Times New Roman" pitchFamily="18" charset="0"/>
                <a:cs typeface="Times New Roman" pitchFamily="18" charset="0"/>
              </a:rPr>
              <a:t>Mathematically</a:t>
            </a:r>
            <a:r>
              <a:rPr lang="en-US" sz="2200" dirty="0" smtClean="0">
                <a:latin typeface="Times New Roman" pitchFamily="18" charset="0"/>
                <a:cs typeface="Times New Roman" pitchFamily="18" charset="0"/>
              </a:rPr>
              <a:t>:</a:t>
            </a:r>
          </a:p>
          <a:p>
            <a:pPr algn="just"/>
            <a:endParaRPr lang="en-US" sz="2200" dirty="0">
              <a:latin typeface="Times New Roman" pitchFamily="18" charset="0"/>
              <a:cs typeface="Times New Roman" pitchFamily="18" charset="0"/>
            </a:endParaRPr>
          </a:p>
          <a:p>
            <a:pPr algn="just"/>
            <a:r>
              <a:rPr lang="en-IN" sz="2200" dirty="0">
                <a:latin typeface="Times New Roman" pitchFamily="18" charset="0"/>
                <a:cs typeface="Times New Roman" pitchFamily="18" charset="0"/>
              </a:rPr>
              <a:t>It’s the </a:t>
            </a:r>
            <a:r>
              <a:rPr lang="en-IN" sz="2200" b="1" dirty="0">
                <a:latin typeface="Times New Roman" pitchFamily="18" charset="0"/>
                <a:cs typeface="Times New Roman" pitchFamily="18" charset="0"/>
              </a:rPr>
              <a:t>conditional probability</a:t>
            </a:r>
            <a:r>
              <a:rPr lang="en-IN" sz="2200" dirty="0">
                <a:latin typeface="Times New Roman" pitchFamily="18" charset="0"/>
                <a:cs typeface="Times New Roman" pitchFamily="18" charset="0"/>
              </a:rPr>
              <a:t> of Y given X.</a:t>
            </a:r>
          </a:p>
          <a:p>
            <a:pPr algn="just"/>
            <a:endParaRPr lang="en-IN" sz="2200" b="1" dirty="0" smtClean="0">
              <a:latin typeface="Times New Roman" pitchFamily="18" charset="0"/>
              <a:cs typeface="Times New Roman" pitchFamily="18" charset="0"/>
            </a:endParaRPr>
          </a:p>
          <a:p>
            <a:pPr algn="just"/>
            <a:r>
              <a:rPr lang="en-IN" sz="2200" b="1" dirty="0" smtClean="0">
                <a:latin typeface="Times New Roman" pitchFamily="18" charset="0"/>
                <a:cs typeface="Times New Roman" pitchFamily="18" charset="0"/>
              </a:rPr>
              <a:t>Example</a:t>
            </a:r>
            <a:r>
              <a:rPr lang="en-IN" sz="2200" b="1" dirty="0">
                <a:latin typeface="Times New Roman" pitchFamily="18" charset="0"/>
                <a:cs typeface="Times New Roman" pitchFamily="18" charset="0"/>
              </a:rPr>
              <a:t>:</a:t>
            </a:r>
            <a:endParaRPr lang="en-IN" sz="2200" dirty="0">
              <a:latin typeface="Times New Roman" pitchFamily="18" charset="0"/>
              <a:cs typeface="Times New Roman" pitchFamily="18" charset="0"/>
            </a:endParaRPr>
          </a:p>
          <a:p>
            <a:pPr algn="just"/>
            <a:r>
              <a:rPr lang="en-IN" sz="2200" dirty="0">
                <a:latin typeface="Times New Roman" pitchFamily="18" charset="0"/>
                <a:cs typeface="Times New Roman" pitchFamily="18" charset="0"/>
              </a:rPr>
              <a:t>Again, out of 1,000 transactions:</a:t>
            </a:r>
          </a:p>
          <a:p>
            <a:pPr lvl="1" algn="just"/>
            <a:r>
              <a:rPr lang="en-IN" sz="2200" dirty="0">
                <a:latin typeface="Times New Roman" pitchFamily="18" charset="0"/>
                <a:cs typeface="Times New Roman" pitchFamily="18" charset="0"/>
              </a:rPr>
              <a:t>{Milk} appears in 200 transactions.</a:t>
            </a:r>
          </a:p>
          <a:p>
            <a:pPr lvl="1" algn="just"/>
            <a:r>
              <a:rPr lang="en-IN" sz="2200" dirty="0">
                <a:latin typeface="Times New Roman" pitchFamily="18" charset="0"/>
                <a:cs typeface="Times New Roman" pitchFamily="18" charset="0"/>
              </a:rPr>
              <a:t>{Milk, Bread} appears in 100 transactions.</a:t>
            </a:r>
          </a:p>
          <a:p>
            <a:pPr algn="just"/>
            <a:r>
              <a:rPr lang="en-IN" sz="2200" dirty="0">
                <a:latin typeface="Times New Roman" pitchFamily="18" charset="0"/>
                <a:cs typeface="Times New Roman" pitchFamily="18" charset="0"/>
              </a:rPr>
              <a:t>Then,</a:t>
            </a:r>
          </a:p>
          <a:p>
            <a:pPr algn="just"/>
            <a:r>
              <a:rPr lang="en-IN" sz="2200" dirty="0">
                <a:latin typeface="Times New Roman" pitchFamily="18" charset="0"/>
                <a:cs typeface="Times New Roman" pitchFamily="18" charset="0"/>
              </a:rPr>
              <a:t>Confidence({Milk}⇒{Bread</a:t>
            </a:r>
            <a:r>
              <a:rPr lang="en-IN" sz="2200" dirty="0" smtClean="0">
                <a:latin typeface="Times New Roman" pitchFamily="18" charset="0"/>
                <a:cs typeface="Times New Roman" pitchFamily="18" charset="0"/>
              </a:rPr>
              <a:t>})= 100 / 200 = 0.5 = 50%</a:t>
            </a:r>
          </a:p>
          <a:p>
            <a:pPr algn="just"/>
            <a:r>
              <a:rPr lang="en-IN" sz="2200" dirty="0" smtClean="0">
                <a:latin typeface="Times New Roman" pitchFamily="18" charset="0"/>
                <a:cs typeface="Times New Roman" pitchFamily="18" charset="0"/>
              </a:rPr>
              <a:t>This </a:t>
            </a:r>
            <a:r>
              <a:rPr lang="en-IN" sz="2200" dirty="0">
                <a:latin typeface="Times New Roman" pitchFamily="18" charset="0"/>
                <a:cs typeface="Times New Roman" pitchFamily="18" charset="0"/>
              </a:rPr>
              <a:t>means that </a:t>
            </a:r>
            <a:r>
              <a:rPr lang="en-IN" sz="2200" b="1" dirty="0">
                <a:latin typeface="Times New Roman" pitchFamily="18" charset="0"/>
                <a:cs typeface="Times New Roman" pitchFamily="18" charset="0"/>
              </a:rPr>
              <a:t>50% of the transactions that contain milk also contain bread</a:t>
            </a:r>
            <a:r>
              <a:rPr lang="en-IN" sz="2200" dirty="0">
                <a:latin typeface="Times New Roman" pitchFamily="18" charset="0"/>
                <a:cs typeface="Times New Roman" pitchFamily="18" charset="0"/>
              </a:rPr>
              <a:t>.</a:t>
            </a:r>
          </a:p>
          <a:p>
            <a:pPr algn="just"/>
            <a:endParaRPr lang="en-US" sz="2200" dirty="0">
              <a:latin typeface="Times New Roman" pitchFamily="18" charset="0"/>
              <a:cs typeface="Times New Roman" pitchFamily="18" charset="0"/>
            </a:endParaRP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67024" y="1828801"/>
            <a:ext cx="5895975" cy="957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9262854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2365100154"/>
              </p:ext>
            </p:extLst>
          </p:nvPr>
        </p:nvGraphicFramePr>
        <p:xfrm>
          <a:off x="228600" y="228599"/>
          <a:ext cx="8686800" cy="2362200"/>
        </p:xfrm>
        <a:graphic>
          <a:graphicData uri="http://schemas.openxmlformats.org/drawingml/2006/table">
            <a:tbl>
              <a:tblPr/>
              <a:tblGrid>
                <a:gridCol w="4343400"/>
                <a:gridCol w="4343400"/>
              </a:tblGrid>
              <a:tr h="393700">
                <a:tc>
                  <a:txBody>
                    <a:bodyPr/>
                    <a:lstStyle/>
                    <a:p>
                      <a:r>
                        <a:rPr lang="en-IN" dirty="0"/>
                        <a:t>Transaction ID</a:t>
                      </a:r>
                    </a:p>
                  </a:txBody>
                  <a:tcPr anchor="ctr">
                    <a:lnL>
                      <a:noFill/>
                    </a:lnL>
                    <a:lnR>
                      <a:noFill/>
                    </a:lnR>
                    <a:lnT>
                      <a:noFill/>
                    </a:lnT>
                    <a:lnB>
                      <a:noFill/>
                    </a:lnB>
                  </a:tcPr>
                </a:tc>
                <a:tc>
                  <a:txBody>
                    <a:bodyPr/>
                    <a:lstStyle/>
                    <a:p>
                      <a:r>
                        <a:rPr lang="en-IN"/>
                        <a:t>Items Purchased</a:t>
                      </a:r>
                    </a:p>
                  </a:txBody>
                  <a:tcPr anchor="ctr">
                    <a:lnL>
                      <a:noFill/>
                    </a:lnL>
                    <a:lnR>
                      <a:noFill/>
                    </a:lnR>
                    <a:lnT>
                      <a:noFill/>
                    </a:lnT>
                    <a:lnB>
                      <a:noFill/>
                    </a:lnB>
                  </a:tcPr>
                </a:tc>
              </a:tr>
              <a:tr h="393700">
                <a:tc>
                  <a:txBody>
                    <a:bodyPr/>
                    <a:lstStyle/>
                    <a:p>
                      <a:r>
                        <a:rPr lang="en-IN"/>
                        <a:t>T1</a:t>
                      </a:r>
                    </a:p>
                  </a:txBody>
                  <a:tcPr anchor="ctr">
                    <a:lnL>
                      <a:noFill/>
                    </a:lnL>
                    <a:lnR>
                      <a:noFill/>
                    </a:lnR>
                    <a:lnT>
                      <a:noFill/>
                    </a:lnT>
                    <a:lnB>
                      <a:noFill/>
                    </a:lnB>
                  </a:tcPr>
                </a:tc>
                <a:tc>
                  <a:txBody>
                    <a:bodyPr/>
                    <a:lstStyle/>
                    <a:p>
                      <a:r>
                        <a:rPr lang="en-IN"/>
                        <a:t>Milk, Bread, Butter</a:t>
                      </a:r>
                    </a:p>
                  </a:txBody>
                  <a:tcPr anchor="ctr">
                    <a:lnL>
                      <a:noFill/>
                    </a:lnL>
                    <a:lnR>
                      <a:noFill/>
                    </a:lnR>
                    <a:lnT>
                      <a:noFill/>
                    </a:lnT>
                    <a:lnB>
                      <a:noFill/>
                    </a:lnB>
                  </a:tcPr>
                </a:tc>
              </a:tr>
              <a:tr h="393700">
                <a:tc>
                  <a:txBody>
                    <a:bodyPr/>
                    <a:lstStyle/>
                    <a:p>
                      <a:r>
                        <a:rPr lang="en-IN"/>
                        <a:t>T2</a:t>
                      </a:r>
                    </a:p>
                  </a:txBody>
                  <a:tcPr anchor="ctr">
                    <a:lnL>
                      <a:noFill/>
                    </a:lnL>
                    <a:lnR>
                      <a:noFill/>
                    </a:lnR>
                    <a:lnT>
                      <a:noFill/>
                    </a:lnT>
                    <a:lnB>
                      <a:noFill/>
                    </a:lnB>
                  </a:tcPr>
                </a:tc>
                <a:tc>
                  <a:txBody>
                    <a:bodyPr/>
                    <a:lstStyle/>
                    <a:p>
                      <a:r>
                        <a:rPr lang="en-IN" dirty="0"/>
                        <a:t>Beer, Diapers, Bread, Milk</a:t>
                      </a:r>
                    </a:p>
                  </a:txBody>
                  <a:tcPr anchor="ctr">
                    <a:lnL>
                      <a:noFill/>
                    </a:lnL>
                    <a:lnR>
                      <a:noFill/>
                    </a:lnR>
                    <a:lnT>
                      <a:noFill/>
                    </a:lnT>
                    <a:lnB>
                      <a:noFill/>
                    </a:lnB>
                  </a:tcPr>
                </a:tc>
              </a:tr>
              <a:tr h="393700">
                <a:tc>
                  <a:txBody>
                    <a:bodyPr/>
                    <a:lstStyle/>
                    <a:p>
                      <a:r>
                        <a:rPr lang="en-IN"/>
                        <a:t>T3</a:t>
                      </a:r>
                    </a:p>
                  </a:txBody>
                  <a:tcPr anchor="ctr">
                    <a:lnL>
                      <a:noFill/>
                    </a:lnL>
                    <a:lnR>
                      <a:noFill/>
                    </a:lnR>
                    <a:lnT>
                      <a:noFill/>
                    </a:lnT>
                    <a:lnB>
                      <a:noFill/>
                    </a:lnB>
                  </a:tcPr>
                </a:tc>
                <a:tc>
                  <a:txBody>
                    <a:bodyPr/>
                    <a:lstStyle/>
                    <a:p>
                      <a:r>
                        <a:rPr lang="en-IN" dirty="0"/>
                        <a:t>Milk, Diapers, Bread, Butter</a:t>
                      </a:r>
                    </a:p>
                  </a:txBody>
                  <a:tcPr anchor="ctr">
                    <a:lnL>
                      <a:noFill/>
                    </a:lnL>
                    <a:lnR>
                      <a:noFill/>
                    </a:lnR>
                    <a:lnT>
                      <a:noFill/>
                    </a:lnT>
                    <a:lnB>
                      <a:noFill/>
                    </a:lnB>
                  </a:tcPr>
                </a:tc>
              </a:tr>
              <a:tr h="393700">
                <a:tc>
                  <a:txBody>
                    <a:bodyPr/>
                    <a:lstStyle/>
                    <a:p>
                      <a:r>
                        <a:rPr lang="en-IN"/>
                        <a:t>T4</a:t>
                      </a:r>
                    </a:p>
                  </a:txBody>
                  <a:tcPr anchor="ctr">
                    <a:lnL>
                      <a:noFill/>
                    </a:lnL>
                    <a:lnR>
                      <a:noFill/>
                    </a:lnR>
                    <a:lnT>
                      <a:noFill/>
                    </a:lnT>
                    <a:lnB>
                      <a:noFill/>
                    </a:lnB>
                  </a:tcPr>
                </a:tc>
                <a:tc>
                  <a:txBody>
                    <a:bodyPr/>
                    <a:lstStyle/>
                    <a:p>
                      <a:r>
                        <a:rPr lang="en-IN" dirty="0"/>
                        <a:t>Bread, Butter</a:t>
                      </a:r>
                    </a:p>
                  </a:txBody>
                  <a:tcPr anchor="ctr">
                    <a:lnL>
                      <a:noFill/>
                    </a:lnL>
                    <a:lnR>
                      <a:noFill/>
                    </a:lnR>
                    <a:lnT>
                      <a:noFill/>
                    </a:lnT>
                    <a:lnB>
                      <a:noFill/>
                    </a:lnB>
                  </a:tcPr>
                </a:tc>
              </a:tr>
              <a:tr h="393700">
                <a:tc>
                  <a:txBody>
                    <a:bodyPr/>
                    <a:lstStyle/>
                    <a:p>
                      <a:r>
                        <a:rPr lang="en-IN"/>
                        <a:t>T5</a:t>
                      </a:r>
                    </a:p>
                  </a:txBody>
                  <a:tcPr anchor="ctr">
                    <a:lnL>
                      <a:noFill/>
                    </a:lnL>
                    <a:lnR>
                      <a:noFill/>
                    </a:lnR>
                    <a:lnT>
                      <a:noFill/>
                    </a:lnT>
                    <a:lnB>
                      <a:noFill/>
                    </a:lnB>
                  </a:tcPr>
                </a:tc>
                <a:tc>
                  <a:txBody>
                    <a:bodyPr/>
                    <a:lstStyle/>
                    <a:p>
                      <a:r>
                        <a:rPr lang="en-IN" dirty="0"/>
                        <a:t>Beer, Bread</a:t>
                      </a:r>
                    </a:p>
                  </a:txBody>
                  <a:tcPr anchor="ctr">
                    <a:lnL>
                      <a:noFill/>
                    </a:lnL>
                    <a:lnR>
                      <a:noFill/>
                    </a:lnR>
                    <a:lnT>
                      <a:noFill/>
                    </a:lnT>
                    <a:lnB>
                      <a:noFill/>
                    </a:lnB>
                  </a:tcPr>
                </a:tc>
              </a:tr>
            </a:tbl>
          </a:graphicData>
        </a:graphic>
      </p:graphicFrame>
      <p:sp>
        <p:nvSpPr>
          <p:cNvPr id="3" name="Rectangle 2"/>
          <p:cNvSpPr/>
          <p:nvPr/>
        </p:nvSpPr>
        <p:spPr>
          <a:xfrm>
            <a:off x="228600" y="3124200"/>
            <a:ext cx="8305800" cy="3477875"/>
          </a:xfrm>
          <a:prstGeom prst="rect">
            <a:avLst/>
          </a:prstGeom>
        </p:spPr>
        <p:txBody>
          <a:bodyPr wrap="square">
            <a:spAutoFit/>
          </a:bodyPr>
          <a:lstStyle/>
          <a:p>
            <a:pPr algn="just"/>
            <a:r>
              <a:rPr lang="en-IN" sz="2200" b="1" dirty="0">
                <a:latin typeface="Times New Roman" pitchFamily="18" charset="0"/>
                <a:cs typeface="Times New Roman" pitchFamily="18" charset="0"/>
              </a:rPr>
              <a:t>Rule:</a:t>
            </a:r>
            <a:r>
              <a:rPr lang="en-IN" sz="2200" dirty="0">
                <a:latin typeface="Times New Roman" pitchFamily="18" charset="0"/>
                <a:cs typeface="Times New Roman" pitchFamily="18" charset="0"/>
              </a:rPr>
              <a:t> {Milk} ⇒ {Bread}</a:t>
            </a:r>
          </a:p>
          <a:p>
            <a:pPr algn="just"/>
            <a:r>
              <a:rPr lang="en-IN" sz="2200" dirty="0">
                <a:latin typeface="Times New Roman" pitchFamily="18" charset="0"/>
                <a:cs typeface="Times New Roman" pitchFamily="18" charset="0"/>
              </a:rPr>
              <a:t>Total transactions = 5</a:t>
            </a:r>
          </a:p>
          <a:p>
            <a:pPr algn="just"/>
            <a:r>
              <a:rPr lang="en-IN" sz="2200" dirty="0">
                <a:latin typeface="Times New Roman" pitchFamily="18" charset="0"/>
                <a:cs typeface="Times New Roman" pitchFamily="18" charset="0"/>
              </a:rPr>
              <a:t>Transactions containing {Milk} = T1, T2, T3 → 3</a:t>
            </a:r>
          </a:p>
          <a:p>
            <a:pPr algn="just"/>
            <a:r>
              <a:rPr lang="en-IN" sz="2200" dirty="0">
                <a:latin typeface="Times New Roman" pitchFamily="18" charset="0"/>
                <a:cs typeface="Times New Roman" pitchFamily="18" charset="0"/>
              </a:rPr>
              <a:t>Transactions containing {Milk, Bread} = T1, T2, T3 → 3</a:t>
            </a:r>
          </a:p>
          <a:p>
            <a:pPr algn="just"/>
            <a:r>
              <a:rPr lang="en-IN" sz="2200" dirty="0" smtClean="0">
                <a:latin typeface="Times New Roman" pitchFamily="18" charset="0"/>
                <a:cs typeface="Times New Roman" pitchFamily="18" charset="0"/>
              </a:rPr>
              <a:t>So, </a:t>
            </a:r>
          </a:p>
          <a:p>
            <a:pPr algn="just"/>
            <a:r>
              <a:rPr lang="en-IN" sz="2200" dirty="0" smtClean="0">
                <a:latin typeface="Times New Roman" pitchFamily="18" charset="0"/>
                <a:cs typeface="Times New Roman" pitchFamily="18" charset="0"/>
              </a:rPr>
              <a:t>Support</a:t>
            </a:r>
            <a:r>
              <a:rPr lang="en-IN" sz="2200" dirty="0">
                <a:latin typeface="Times New Roman" pitchFamily="18" charset="0"/>
                <a:cs typeface="Times New Roman" pitchFamily="18" charset="0"/>
              </a:rPr>
              <a:t>({Milk</a:t>
            </a:r>
            <a:r>
              <a:rPr lang="en-IN" sz="2200" dirty="0" smtClean="0">
                <a:latin typeface="Times New Roman" pitchFamily="18" charset="0"/>
                <a:cs typeface="Times New Roman" pitchFamily="18" charset="0"/>
              </a:rPr>
              <a:t>, Bread</a:t>
            </a:r>
            <a:r>
              <a:rPr lang="en-IN" sz="2200" dirty="0">
                <a:latin typeface="Times New Roman" pitchFamily="18" charset="0"/>
                <a:cs typeface="Times New Roman" pitchFamily="18" charset="0"/>
              </a:rPr>
              <a:t>})=</a:t>
            </a:r>
            <a:r>
              <a:rPr lang="en-IN" sz="2200" dirty="0" smtClean="0">
                <a:latin typeface="Times New Roman" pitchFamily="18" charset="0"/>
                <a:cs typeface="Times New Roman" pitchFamily="18" charset="0"/>
              </a:rPr>
              <a:t>3/5=60%</a:t>
            </a:r>
          </a:p>
          <a:p>
            <a:pPr algn="just"/>
            <a:r>
              <a:rPr lang="en-IN" sz="2200" dirty="0" smtClean="0">
                <a:latin typeface="Times New Roman" pitchFamily="18" charset="0"/>
                <a:cs typeface="Times New Roman" pitchFamily="18" charset="0"/>
              </a:rPr>
              <a:t>Confidence</a:t>
            </a:r>
            <a:r>
              <a:rPr lang="en-IN" sz="2200" dirty="0">
                <a:latin typeface="Times New Roman" pitchFamily="18" charset="0"/>
                <a:cs typeface="Times New Roman" pitchFamily="18" charset="0"/>
              </a:rPr>
              <a:t>({Milk}⇒{Bread})=</a:t>
            </a:r>
            <a:r>
              <a:rPr lang="en-IN" sz="2200" dirty="0" smtClean="0">
                <a:latin typeface="Times New Roman" pitchFamily="18" charset="0"/>
                <a:cs typeface="Times New Roman" pitchFamily="18" charset="0"/>
              </a:rPr>
              <a:t>3/3=100%</a:t>
            </a:r>
          </a:p>
          <a:p>
            <a:pPr algn="just"/>
            <a:r>
              <a:rPr lang="en-IN" sz="2200" dirty="0" smtClean="0">
                <a:latin typeface="Times New Roman" pitchFamily="18" charset="0"/>
                <a:cs typeface="Times New Roman" pitchFamily="18" charset="0"/>
              </a:rPr>
              <a:t>This </a:t>
            </a:r>
            <a:r>
              <a:rPr lang="en-IN" sz="2200" dirty="0">
                <a:latin typeface="Times New Roman" pitchFamily="18" charset="0"/>
                <a:cs typeface="Times New Roman" pitchFamily="18" charset="0"/>
              </a:rPr>
              <a:t>means:</a:t>
            </a:r>
          </a:p>
          <a:p>
            <a:pPr algn="just"/>
            <a:r>
              <a:rPr lang="en-IN" sz="2200" dirty="0">
                <a:latin typeface="Times New Roman" pitchFamily="18" charset="0"/>
                <a:cs typeface="Times New Roman" pitchFamily="18" charset="0"/>
              </a:rPr>
              <a:t>60% of transactions include both Milk and Bread.</a:t>
            </a:r>
          </a:p>
          <a:p>
            <a:pPr algn="just"/>
            <a:r>
              <a:rPr lang="en-IN" sz="2200" dirty="0">
                <a:latin typeface="Times New Roman" pitchFamily="18" charset="0"/>
                <a:cs typeface="Times New Roman" pitchFamily="18" charset="0"/>
              </a:rPr>
              <a:t>If a customer buys Milk, there’s a 100% chance they also buy </a:t>
            </a:r>
            <a:r>
              <a:rPr lang="en-IN" sz="2200" dirty="0" smtClean="0">
                <a:latin typeface="Times New Roman" pitchFamily="18" charset="0"/>
                <a:cs typeface="Times New Roman" pitchFamily="18" charset="0"/>
              </a:rPr>
              <a:t>Bread</a:t>
            </a:r>
            <a:r>
              <a:rPr lang="en-IN" dirty="0" smtClean="0"/>
              <a:t>.</a:t>
            </a:r>
            <a:endParaRPr lang="en-IN" dirty="0"/>
          </a:p>
        </p:txBody>
      </p:sp>
    </p:spTree>
    <p:extLst>
      <p:ext uri="{BB962C8B-B14F-4D97-AF65-F5344CB8AC3E}">
        <p14:creationId xmlns:p14="http://schemas.microsoft.com/office/powerpoint/2010/main" val="275655771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 y="152400"/>
            <a:ext cx="8762999" cy="1871025"/>
          </a:xfrm>
          <a:prstGeom prst="rect">
            <a:avLst/>
          </a:prstGeom>
        </p:spPr>
        <p:txBody>
          <a:bodyPr wrap="square">
            <a:spAutoFit/>
          </a:bodyPr>
          <a:lstStyle/>
          <a:p>
            <a:pPr algn="just">
              <a:lnSpc>
                <a:spcPts val="3600"/>
              </a:lnSpc>
              <a:spcBef>
                <a:spcPct val="0"/>
              </a:spcBef>
              <a:spcAft>
                <a:spcPct val="0"/>
              </a:spcAft>
              <a:buClrTx/>
              <a:buSzTx/>
              <a:buFontTx/>
              <a:buNone/>
            </a:pPr>
            <a:r>
              <a:rPr lang="en-US" altLang="en-US" sz="2400" dirty="0">
                <a:solidFill>
                  <a:srgbClr val="FF0000"/>
                </a:solidFill>
                <a:latin typeface="Times New Roman" pitchFamily="18" charset="0"/>
                <a:cs typeface="Times New Roman" pitchFamily="18" charset="0"/>
              </a:rPr>
              <a:t>Predictive Modeling: </a:t>
            </a:r>
            <a:r>
              <a:rPr lang="en-US" altLang="en-US" sz="2400" dirty="0" smtClean="0">
                <a:solidFill>
                  <a:srgbClr val="FF0000"/>
                </a:solidFill>
                <a:latin typeface="Times New Roman" pitchFamily="18" charset="0"/>
                <a:cs typeface="Times New Roman" pitchFamily="18" charset="0"/>
              </a:rPr>
              <a:t>Classification:</a:t>
            </a:r>
          </a:p>
          <a:p>
            <a:pPr algn="just">
              <a:lnSpc>
                <a:spcPts val="3600"/>
              </a:lnSpc>
              <a:spcBef>
                <a:spcPct val="0"/>
              </a:spcBef>
              <a:spcAft>
                <a:spcPct val="0"/>
              </a:spcAft>
            </a:pPr>
            <a:r>
              <a:rPr lang="en-US" altLang="en-US" sz="2400" dirty="0">
                <a:latin typeface="Times New Roman" pitchFamily="18" charset="0"/>
                <a:cs typeface="Times New Roman" pitchFamily="18" charset="0"/>
              </a:rPr>
              <a:t>Find a model  for class attribute as a function of the values of other attributes</a:t>
            </a:r>
          </a:p>
          <a:p>
            <a:pPr>
              <a:lnSpc>
                <a:spcPts val="3600"/>
              </a:lnSpc>
              <a:spcBef>
                <a:spcPct val="0"/>
              </a:spcBef>
              <a:spcAft>
                <a:spcPct val="0"/>
              </a:spcAft>
              <a:buClrTx/>
              <a:buSzTx/>
              <a:buFontTx/>
              <a:buNone/>
            </a:pPr>
            <a:endParaRPr lang="en-US" altLang="en-US" dirty="0">
              <a:latin typeface="Tahoma" panose="020B0604030504040204" pitchFamily="34" charset="0"/>
            </a:endParaRPr>
          </a:p>
        </p:txBody>
      </p:sp>
      <p:graphicFrame>
        <p:nvGraphicFramePr>
          <p:cNvPr id="3" name="Object 2"/>
          <p:cNvGraphicFramePr>
            <a:graphicFrameLocks noChangeAspect="1"/>
          </p:cNvGraphicFramePr>
          <p:nvPr>
            <p:extLst>
              <p:ext uri="{D42A27DB-BD31-4B8C-83A1-F6EECF244321}">
                <p14:modId xmlns:p14="http://schemas.microsoft.com/office/powerpoint/2010/main" val="3161203168"/>
              </p:ext>
            </p:extLst>
          </p:nvPr>
        </p:nvGraphicFramePr>
        <p:xfrm>
          <a:off x="228600" y="2762250"/>
          <a:ext cx="4438650" cy="1962150"/>
        </p:xfrm>
        <a:graphic>
          <a:graphicData uri="http://schemas.openxmlformats.org/presentationml/2006/ole">
            <mc:AlternateContent xmlns:mc="http://schemas.openxmlformats.org/markup-compatibility/2006">
              <mc:Choice xmlns:v="urn:schemas-microsoft-com:vml" Requires="v">
                <p:oleObj spid="_x0000_s1032" name="Document" r:id="rId3" imgW="51273075" imgH="22717125" progId="">
                  <p:embed/>
                </p:oleObj>
              </mc:Choice>
              <mc:Fallback>
                <p:oleObj name="Document" r:id="rId3" imgW="51273075" imgH="22717125" progId="">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8600" y="2762250"/>
                        <a:ext cx="4438650" cy="196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 name="Text Box 6">
            <a:extLst>
              <a:ext uri="{FF2B5EF4-FFF2-40B4-BE49-F238E27FC236}">
                <a16:creationId xmlns="" xmlns:a16="http://schemas.microsoft.com/office/drawing/2014/main" id="{219E7121-71B5-41EB-B2EB-8B387E48A096}"/>
              </a:ext>
            </a:extLst>
          </p:cNvPr>
          <p:cNvSpPr txBox="1">
            <a:spLocks noChangeArrowheads="1"/>
          </p:cNvSpPr>
          <p:nvPr/>
        </p:nvSpPr>
        <p:spPr bwMode="auto">
          <a:xfrm>
            <a:off x="3733800" y="2381250"/>
            <a:ext cx="990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spcBef>
                <a:spcPct val="50000"/>
              </a:spcBef>
              <a:spcAft>
                <a:spcPct val="0"/>
              </a:spcAft>
              <a:buClrTx/>
              <a:buSzTx/>
              <a:buFontTx/>
              <a:buNone/>
            </a:pPr>
            <a:r>
              <a:rPr lang="en-US" altLang="en-US" sz="2000" dirty="0">
                <a:solidFill>
                  <a:srgbClr val="2A8487"/>
                </a:solidFill>
              </a:rPr>
              <a:t>Class</a:t>
            </a:r>
          </a:p>
        </p:txBody>
      </p:sp>
      <p:sp>
        <p:nvSpPr>
          <p:cNvPr id="5" name="Text Box 5">
            <a:extLst>
              <a:ext uri="{FF2B5EF4-FFF2-40B4-BE49-F238E27FC236}">
                <a16:creationId xmlns="" xmlns:a16="http://schemas.microsoft.com/office/drawing/2014/main" id="{7EA61E12-6C1A-4680-B093-55666A4C6214}"/>
              </a:ext>
            </a:extLst>
          </p:cNvPr>
          <p:cNvSpPr txBox="1">
            <a:spLocks noChangeArrowheads="1"/>
          </p:cNvSpPr>
          <p:nvPr/>
        </p:nvSpPr>
        <p:spPr bwMode="auto">
          <a:xfrm>
            <a:off x="5943600" y="1600200"/>
            <a:ext cx="30480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rIns="0">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ct val="50000"/>
              </a:spcBef>
              <a:spcAft>
                <a:spcPct val="0"/>
              </a:spcAft>
              <a:buClrTx/>
              <a:buSzTx/>
              <a:buFontTx/>
              <a:buNone/>
            </a:pPr>
            <a:r>
              <a:rPr lang="en-US" altLang="en-US" sz="1800" dirty="0">
                <a:solidFill>
                  <a:srgbClr val="FF0000"/>
                </a:solidFill>
              </a:rPr>
              <a:t>Model for predicting credit worthiness</a:t>
            </a:r>
          </a:p>
        </p:txBody>
      </p:sp>
      <p:graphicFrame>
        <p:nvGraphicFramePr>
          <p:cNvPr id="6" name="Object 5"/>
          <p:cNvGraphicFramePr>
            <a:graphicFrameLocks noChangeAspect="1"/>
          </p:cNvGraphicFramePr>
          <p:nvPr/>
        </p:nvGraphicFramePr>
        <p:xfrm>
          <a:off x="4953000" y="2343150"/>
          <a:ext cx="4114800" cy="4133850"/>
        </p:xfrm>
        <a:graphic>
          <a:graphicData uri="http://schemas.openxmlformats.org/presentationml/2006/ole">
            <mc:AlternateContent xmlns:mc="http://schemas.openxmlformats.org/markup-compatibility/2006">
              <mc:Choice xmlns:v="urn:schemas-microsoft-com:vml" Requires="v">
                <p:oleObj spid="_x0000_s1033" name="VISIO" r:id="rId5" imgW="44300775" imgH="44529375" progId="">
                  <p:embed/>
                </p:oleObj>
              </mc:Choice>
              <mc:Fallback>
                <p:oleObj name="VISIO" r:id="rId5" imgW="44300775" imgH="44529375" progId="">
                  <p:embed/>
                  <p:pic>
                    <p:nvPicPr>
                      <p:cNvPr id="0"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953000" y="2343150"/>
                        <a:ext cx="4114800" cy="4133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255238839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3602" y="838200"/>
            <a:ext cx="8526332" cy="5562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Rectangle 2"/>
          <p:cNvSpPr/>
          <p:nvPr/>
        </p:nvSpPr>
        <p:spPr>
          <a:xfrm>
            <a:off x="381000" y="228600"/>
            <a:ext cx="8534400" cy="523220"/>
          </a:xfrm>
          <a:prstGeom prst="rect">
            <a:avLst/>
          </a:prstGeom>
        </p:spPr>
        <p:txBody>
          <a:bodyPr wrap="square">
            <a:spAutoFit/>
          </a:bodyPr>
          <a:lstStyle/>
          <a:p>
            <a:r>
              <a:rPr lang="en-US" altLang="en-US" sz="2800" dirty="0">
                <a:solidFill>
                  <a:srgbClr val="FF0000"/>
                </a:solidFill>
                <a:latin typeface="Times New Roman" pitchFamily="18" charset="0"/>
                <a:cs typeface="Times New Roman" pitchFamily="18" charset="0"/>
              </a:rPr>
              <a:t>Classification Example</a:t>
            </a:r>
            <a:endParaRPr lang="en-IN" sz="2800" dirty="0">
              <a:solidFill>
                <a:srgbClr val="FF0000"/>
              </a:solidFill>
              <a:latin typeface="Times New Roman" pitchFamily="18" charset="0"/>
              <a:cs typeface="Times New Roman" pitchFamily="18" charset="0"/>
            </a:endParaRPr>
          </a:p>
        </p:txBody>
      </p:sp>
    </p:spTree>
    <p:extLst>
      <p:ext uri="{BB962C8B-B14F-4D97-AF65-F5344CB8AC3E}">
        <p14:creationId xmlns:p14="http://schemas.microsoft.com/office/powerpoint/2010/main" val="401354792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1066801"/>
            <a:ext cx="8763000" cy="5562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Rectangle 41">
            <a:extLst>
              <a:ext uri="{FF2B5EF4-FFF2-40B4-BE49-F238E27FC236}">
                <a16:creationId xmlns="" xmlns:a16="http://schemas.microsoft.com/office/drawing/2014/main" id="{14D13B94-1986-4C71-86E1-ADA3AFCD1BCF}"/>
              </a:ext>
            </a:extLst>
          </p:cNvPr>
          <p:cNvSpPr>
            <a:spLocks noChangeArrowheads="1"/>
          </p:cNvSpPr>
          <p:nvPr/>
        </p:nvSpPr>
        <p:spPr bwMode="auto">
          <a:xfrm>
            <a:off x="381000" y="152400"/>
            <a:ext cx="82804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nchor="b"/>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nSpc>
                <a:spcPts val="3600"/>
              </a:lnSpc>
              <a:spcBef>
                <a:spcPct val="0"/>
              </a:spcBef>
              <a:spcAft>
                <a:spcPct val="0"/>
              </a:spcAft>
              <a:buClrTx/>
              <a:buSzTx/>
              <a:buFontTx/>
              <a:buNone/>
            </a:pPr>
            <a:r>
              <a:rPr lang="en-US" altLang="en-US" dirty="0" smtClean="0">
                <a:solidFill>
                  <a:srgbClr val="FF0000"/>
                </a:solidFill>
                <a:latin typeface="Times New Roman" pitchFamily="18" charset="0"/>
                <a:cs typeface="Times New Roman" pitchFamily="18" charset="0"/>
              </a:rPr>
              <a:t>Clustering:</a:t>
            </a:r>
            <a:endParaRPr lang="en-US" altLang="en-US" dirty="0">
              <a:solidFill>
                <a:srgbClr val="FF0000"/>
              </a:solidFill>
              <a:latin typeface="Times New Roman" pitchFamily="18" charset="0"/>
              <a:cs typeface="Times New Roman" pitchFamily="18" charset="0"/>
            </a:endParaRPr>
          </a:p>
        </p:txBody>
      </p:sp>
    </p:spTree>
    <p:extLst>
      <p:ext uri="{BB962C8B-B14F-4D97-AF65-F5344CB8AC3E}">
        <p14:creationId xmlns:p14="http://schemas.microsoft.com/office/powerpoint/2010/main" val="14179204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400" y="152400"/>
            <a:ext cx="8763000" cy="6617196"/>
          </a:xfrm>
          <a:prstGeom prst="rect">
            <a:avLst/>
          </a:prstGeom>
        </p:spPr>
        <p:txBody>
          <a:bodyPr wrap="square">
            <a:spAutoFit/>
          </a:bodyPr>
          <a:lstStyle/>
          <a:p>
            <a:pPr algn="just"/>
            <a:r>
              <a:rPr lang="en-US" sz="2800" dirty="0" smtClean="0">
                <a:solidFill>
                  <a:srgbClr val="FF0000"/>
                </a:solidFill>
                <a:latin typeface="Times New Roman" pitchFamily="18" charset="0"/>
                <a:cs typeface="Times New Roman" pitchFamily="18" charset="0"/>
              </a:rPr>
              <a:t>Are </a:t>
            </a:r>
            <a:r>
              <a:rPr lang="en-US" sz="2800" dirty="0">
                <a:solidFill>
                  <a:srgbClr val="FF0000"/>
                </a:solidFill>
                <a:latin typeface="Times New Roman" pitchFamily="18" charset="0"/>
                <a:cs typeface="Times New Roman" pitchFamily="18" charset="0"/>
              </a:rPr>
              <a:t>All Patterns Interesting? </a:t>
            </a:r>
            <a:endParaRPr lang="en-US" sz="2800" dirty="0" smtClean="0">
              <a:solidFill>
                <a:srgbClr val="FF0000"/>
              </a:solidFill>
              <a:latin typeface="Times New Roman" pitchFamily="18" charset="0"/>
              <a:cs typeface="Times New Roman" pitchFamily="18" charset="0"/>
            </a:endParaRPr>
          </a:p>
          <a:p>
            <a:pPr algn="just"/>
            <a:r>
              <a:rPr lang="en-US" sz="2200" dirty="0">
                <a:latin typeface="Times New Roman" pitchFamily="18" charset="0"/>
                <a:cs typeface="Times New Roman" pitchFamily="18" charset="0"/>
              </a:rPr>
              <a:t>	</a:t>
            </a:r>
            <a:r>
              <a:rPr lang="en-US" sz="2200" dirty="0" smtClean="0">
                <a:latin typeface="Times New Roman" pitchFamily="18" charset="0"/>
                <a:cs typeface="Times New Roman" pitchFamily="18" charset="0"/>
              </a:rPr>
              <a:t>A </a:t>
            </a:r>
            <a:r>
              <a:rPr lang="en-US" sz="2200" dirty="0">
                <a:latin typeface="Times New Roman" pitchFamily="18" charset="0"/>
                <a:cs typeface="Times New Roman" pitchFamily="18" charset="0"/>
              </a:rPr>
              <a:t>data mining system has the potential to generate thousands or even millions of patterns, or rules. Typically, </a:t>
            </a:r>
            <a:r>
              <a:rPr lang="en-US" sz="2200" dirty="0" smtClean="0">
                <a:latin typeface="Times New Roman" pitchFamily="18" charset="0"/>
                <a:cs typeface="Times New Roman" pitchFamily="18" charset="0"/>
              </a:rPr>
              <a:t>all </a:t>
            </a:r>
            <a:r>
              <a:rPr lang="en-US" sz="2200" dirty="0">
                <a:latin typeface="Times New Roman" pitchFamily="18" charset="0"/>
                <a:cs typeface="Times New Roman" pitchFamily="18" charset="0"/>
              </a:rPr>
              <a:t>of the </a:t>
            </a:r>
            <a:r>
              <a:rPr lang="en-US" sz="2200" dirty="0" smtClean="0">
                <a:latin typeface="Times New Roman" pitchFamily="18" charset="0"/>
                <a:cs typeface="Times New Roman" pitchFamily="18" charset="0"/>
              </a:rPr>
              <a:t>patterns are not  interesting and only </a:t>
            </a:r>
            <a:r>
              <a:rPr lang="en-US" sz="2200" dirty="0">
                <a:latin typeface="Times New Roman" pitchFamily="18" charset="0"/>
                <a:cs typeface="Times New Roman" pitchFamily="18" charset="0"/>
              </a:rPr>
              <a:t>a small fraction of the patterns potentially generated would actually be of interest to a given user</a:t>
            </a:r>
            <a:r>
              <a:rPr lang="en-US" sz="2200" dirty="0" smtClean="0">
                <a:latin typeface="Times New Roman" pitchFamily="18" charset="0"/>
                <a:cs typeface="Times New Roman" pitchFamily="18" charset="0"/>
              </a:rPr>
              <a:t>.</a:t>
            </a:r>
          </a:p>
          <a:p>
            <a:pPr algn="just"/>
            <a:endParaRPr lang="en-US" sz="2200" dirty="0" smtClean="0">
              <a:latin typeface="Times New Roman" pitchFamily="18" charset="0"/>
              <a:cs typeface="Times New Roman" pitchFamily="18" charset="0"/>
            </a:endParaRPr>
          </a:p>
          <a:p>
            <a:pPr algn="just"/>
            <a:r>
              <a:rPr lang="en-US" sz="2200" dirty="0" smtClean="0">
                <a:latin typeface="Times New Roman" pitchFamily="18" charset="0"/>
                <a:cs typeface="Times New Roman" pitchFamily="18" charset="0"/>
              </a:rPr>
              <a:t>	</a:t>
            </a:r>
            <a:r>
              <a:rPr lang="en-US" sz="2200" dirty="0" smtClean="0">
                <a:solidFill>
                  <a:srgbClr val="002060"/>
                </a:solidFill>
                <a:latin typeface="Times New Roman" pitchFamily="18" charset="0"/>
                <a:cs typeface="Times New Roman" pitchFamily="18" charset="0"/>
              </a:rPr>
              <a:t>This </a:t>
            </a:r>
            <a:r>
              <a:rPr lang="en-US" sz="2200" dirty="0">
                <a:solidFill>
                  <a:srgbClr val="002060"/>
                </a:solidFill>
                <a:latin typeface="Times New Roman" pitchFamily="18" charset="0"/>
                <a:cs typeface="Times New Roman" pitchFamily="18" charset="0"/>
              </a:rPr>
              <a:t>raises some serious questions for data mining. </a:t>
            </a:r>
            <a:endParaRPr lang="en-US" sz="2200" dirty="0" smtClean="0">
              <a:solidFill>
                <a:srgbClr val="002060"/>
              </a:solidFill>
              <a:latin typeface="Times New Roman" pitchFamily="18" charset="0"/>
              <a:cs typeface="Times New Roman" pitchFamily="18" charset="0"/>
            </a:endParaRPr>
          </a:p>
          <a:p>
            <a:pPr marL="457200" indent="-457200" algn="just">
              <a:buAutoNum type="arabicPeriod"/>
            </a:pPr>
            <a:r>
              <a:rPr lang="en-US" sz="2200" dirty="0" smtClean="0">
                <a:latin typeface="Times New Roman" pitchFamily="18" charset="0"/>
                <a:cs typeface="Times New Roman" pitchFamily="18" charset="0"/>
              </a:rPr>
              <a:t>What </a:t>
            </a:r>
            <a:r>
              <a:rPr lang="en-US" sz="2200" dirty="0">
                <a:latin typeface="Times New Roman" pitchFamily="18" charset="0"/>
                <a:cs typeface="Times New Roman" pitchFamily="18" charset="0"/>
              </a:rPr>
              <a:t>makes a pattern interesting? </a:t>
            </a:r>
            <a:endParaRPr lang="en-US" sz="2200" dirty="0" smtClean="0">
              <a:latin typeface="Times New Roman" pitchFamily="18" charset="0"/>
              <a:cs typeface="Times New Roman" pitchFamily="18" charset="0"/>
            </a:endParaRPr>
          </a:p>
          <a:p>
            <a:pPr marL="457200" indent="-457200" algn="just">
              <a:buAutoNum type="arabicPeriod"/>
            </a:pPr>
            <a:r>
              <a:rPr lang="en-US" sz="2200" dirty="0" smtClean="0">
                <a:latin typeface="Times New Roman" pitchFamily="18" charset="0"/>
                <a:cs typeface="Times New Roman" pitchFamily="18" charset="0"/>
              </a:rPr>
              <a:t>Can </a:t>
            </a:r>
            <a:r>
              <a:rPr lang="en-US" sz="2200" dirty="0">
                <a:latin typeface="Times New Roman" pitchFamily="18" charset="0"/>
                <a:cs typeface="Times New Roman" pitchFamily="18" charset="0"/>
              </a:rPr>
              <a:t>a data mining system generate all of the interesting patterns? </a:t>
            </a:r>
            <a:r>
              <a:rPr lang="en-US" sz="2200" dirty="0" smtClean="0">
                <a:latin typeface="Times New Roman" pitchFamily="18" charset="0"/>
                <a:cs typeface="Times New Roman" pitchFamily="18" charset="0"/>
              </a:rPr>
              <a:t>Or,</a:t>
            </a:r>
          </a:p>
          <a:p>
            <a:pPr marL="457200" indent="-457200" algn="just">
              <a:buAutoNum type="arabicPeriod"/>
            </a:pPr>
            <a:r>
              <a:rPr lang="en-US" sz="2200" dirty="0" smtClean="0">
                <a:latin typeface="Times New Roman" pitchFamily="18" charset="0"/>
                <a:cs typeface="Times New Roman" pitchFamily="18" charset="0"/>
              </a:rPr>
              <a:t>Can </a:t>
            </a:r>
            <a:r>
              <a:rPr lang="en-US" sz="2200" dirty="0">
                <a:latin typeface="Times New Roman" pitchFamily="18" charset="0"/>
                <a:cs typeface="Times New Roman" pitchFamily="18" charset="0"/>
              </a:rPr>
              <a:t>the system generate only the interesting ones</a:t>
            </a:r>
            <a:r>
              <a:rPr lang="en-US" sz="2200" dirty="0" smtClean="0">
                <a:latin typeface="Times New Roman" pitchFamily="18" charset="0"/>
                <a:cs typeface="Times New Roman" pitchFamily="18" charset="0"/>
              </a:rPr>
              <a:t>? </a:t>
            </a:r>
          </a:p>
          <a:p>
            <a:pPr algn="just"/>
            <a:endParaRPr lang="en-US" sz="2200" dirty="0" smtClean="0">
              <a:latin typeface="Times New Roman" pitchFamily="18" charset="0"/>
              <a:cs typeface="Times New Roman" pitchFamily="18" charset="0"/>
            </a:endParaRPr>
          </a:p>
          <a:p>
            <a:pPr algn="just"/>
            <a:r>
              <a:rPr lang="en-US" sz="2200" dirty="0" smtClean="0">
                <a:latin typeface="Times New Roman" pitchFamily="18" charset="0"/>
                <a:cs typeface="Times New Roman" pitchFamily="18" charset="0"/>
              </a:rPr>
              <a:t>	</a:t>
            </a:r>
            <a:r>
              <a:rPr lang="en-US" sz="2200" dirty="0" smtClean="0">
                <a:solidFill>
                  <a:srgbClr val="002060"/>
                </a:solidFill>
                <a:latin typeface="Times New Roman" pitchFamily="18" charset="0"/>
                <a:cs typeface="Times New Roman" pitchFamily="18" charset="0"/>
              </a:rPr>
              <a:t>To </a:t>
            </a:r>
            <a:r>
              <a:rPr lang="en-US" sz="2200" dirty="0">
                <a:solidFill>
                  <a:srgbClr val="002060"/>
                </a:solidFill>
                <a:latin typeface="Times New Roman" pitchFamily="18" charset="0"/>
                <a:cs typeface="Times New Roman" pitchFamily="18" charset="0"/>
              </a:rPr>
              <a:t>answer the first question, a pattern is interesting if it is </a:t>
            </a:r>
            <a:endParaRPr lang="en-US" sz="2200" dirty="0" smtClean="0">
              <a:solidFill>
                <a:srgbClr val="002060"/>
              </a:solidFill>
              <a:latin typeface="Times New Roman" pitchFamily="18" charset="0"/>
              <a:cs typeface="Times New Roman" pitchFamily="18" charset="0"/>
            </a:endParaRPr>
          </a:p>
          <a:p>
            <a:pPr marL="457200" indent="-457200" algn="just">
              <a:buAutoNum type="arabicParenBoth"/>
            </a:pPr>
            <a:r>
              <a:rPr lang="en-US" sz="2200" dirty="0" smtClean="0">
                <a:latin typeface="Times New Roman" pitchFamily="18" charset="0"/>
                <a:cs typeface="Times New Roman" pitchFamily="18" charset="0"/>
              </a:rPr>
              <a:t>easily </a:t>
            </a:r>
            <a:r>
              <a:rPr lang="en-US" sz="2200" dirty="0">
                <a:latin typeface="Times New Roman" pitchFamily="18" charset="0"/>
                <a:cs typeface="Times New Roman" pitchFamily="18" charset="0"/>
              </a:rPr>
              <a:t>understood by humans, </a:t>
            </a:r>
            <a:endParaRPr lang="en-US" sz="2200" dirty="0" smtClean="0">
              <a:latin typeface="Times New Roman" pitchFamily="18" charset="0"/>
              <a:cs typeface="Times New Roman" pitchFamily="18" charset="0"/>
            </a:endParaRPr>
          </a:p>
          <a:p>
            <a:pPr marL="457200" indent="-457200" algn="just">
              <a:buAutoNum type="arabicParenBoth"/>
            </a:pPr>
            <a:r>
              <a:rPr lang="en-US" sz="2200" dirty="0">
                <a:latin typeface="Times New Roman" pitchFamily="18" charset="0"/>
                <a:cs typeface="Times New Roman" pitchFamily="18" charset="0"/>
              </a:rPr>
              <a:t>V</a:t>
            </a:r>
            <a:r>
              <a:rPr lang="en-US" sz="2200" dirty="0" smtClean="0">
                <a:latin typeface="Times New Roman" pitchFamily="18" charset="0"/>
                <a:cs typeface="Times New Roman" pitchFamily="18" charset="0"/>
              </a:rPr>
              <a:t>alid </a:t>
            </a:r>
            <a:r>
              <a:rPr lang="en-US" sz="2200" dirty="0">
                <a:latin typeface="Times New Roman" pitchFamily="18" charset="0"/>
                <a:cs typeface="Times New Roman" pitchFamily="18" charset="0"/>
              </a:rPr>
              <a:t>on new or test data with some degree of certainty, </a:t>
            </a:r>
            <a:endParaRPr lang="en-US" sz="2200" dirty="0" smtClean="0">
              <a:latin typeface="Times New Roman" pitchFamily="18" charset="0"/>
              <a:cs typeface="Times New Roman" pitchFamily="18" charset="0"/>
            </a:endParaRPr>
          </a:p>
          <a:p>
            <a:pPr marL="457200" indent="-457200" algn="just">
              <a:buAutoNum type="arabicParenBoth"/>
            </a:pPr>
            <a:r>
              <a:rPr lang="en-US" sz="2200" dirty="0" smtClean="0">
                <a:latin typeface="Times New Roman" pitchFamily="18" charset="0"/>
                <a:cs typeface="Times New Roman" pitchFamily="18" charset="0"/>
              </a:rPr>
              <a:t>Potentially </a:t>
            </a:r>
            <a:r>
              <a:rPr lang="en-US" sz="2200" dirty="0">
                <a:latin typeface="Times New Roman" pitchFamily="18" charset="0"/>
                <a:cs typeface="Times New Roman" pitchFamily="18" charset="0"/>
              </a:rPr>
              <a:t>useful, and </a:t>
            </a:r>
            <a:endParaRPr lang="en-US" sz="2200" dirty="0" smtClean="0">
              <a:latin typeface="Times New Roman" pitchFamily="18" charset="0"/>
              <a:cs typeface="Times New Roman" pitchFamily="18" charset="0"/>
            </a:endParaRPr>
          </a:p>
          <a:p>
            <a:pPr marL="457200" indent="-457200" algn="just">
              <a:buAutoNum type="arabicParenBoth"/>
            </a:pPr>
            <a:r>
              <a:rPr lang="en-US" sz="2200" dirty="0" smtClean="0">
                <a:latin typeface="Times New Roman" pitchFamily="18" charset="0"/>
                <a:cs typeface="Times New Roman" pitchFamily="18" charset="0"/>
              </a:rPr>
              <a:t>Novel</a:t>
            </a:r>
            <a:r>
              <a:rPr lang="en-US" sz="2200" dirty="0">
                <a:latin typeface="Times New Roman" pitchFamily="18" charset="0"/>
                <a:cs typeface="Times New Roman" pitchFamily="18" charset="0"/>
              </a:rPr>
              <a:t>. </a:t>
            </a:r>
            <a:endParaRPr lang="en-US" sz="2200" dirty="0" smtClean="0">
              <a:latin typeface="Times New Roman" pitchFamily="18" charset="0"/>
              <a:cs typeface="Times New Roman" pitchFamily="18" charset="0"/>
            </a:endParaRPr>
          </a:p>
          <a:p>
            <a:pPr algn="just"/>
            <a:endParaRPr lang="en-US" sz="2200" dirty="0" smtClean="0">
              <a:latin typeface="Times New Roman" pitchFamily="18" charset="0"/>
              <a:cs typeface="Times New Roman" pitchFamily="18" charset="0"/>
            </a:endParaRPr>
          </a:p>
          <a:p>
            <a:pPr algn="just"/>
            <a:r>
              <a:rPr lang="en-US" sz="2200" dirty="0">
                <a:latin typeface="Times New Roman" pitchFamily="18" charset="0"/>
                <a:cs typeface="Times New Roman" pitchFamily="18" charset="0"/>
              </a:rPr>
              <a:t>	</a:t>
            </a:r>
            <a:r>
              <a:rPr lang="en-US" sz="2200" dirty="0" smtClean="0">
                <a:latin typeface="Times New Roman" pitchFamily="18" charset="0"/>
                <a:cs typeface="Times New Roman" pitchFamily="18" charset="0"/>
              </a:rPr>
              <a:t>A </a:t>
            </a:r>
            <a:r>
              <a:rPr lang="en-US" sz="2200" dirty="0">
                <a:latin typeface="Times New Roman" pitchFamily="18" charset="0"/>
                <a:cs typeface="Times New Roman" pitchFamily="18" charset="0"/>
              </a:rPr>
              <a:t>pattern is also interesting if it validates a hypothesis that the user sought to confirm. An interesting pattern represents knowledge.</a:t>
            </a:r>
            <a:endParaRPr lang="en-IN" sz="2200" dirty="0">
              <a:latin typeface="Times New Roman" pitchFamily="18" charset="0"/>
              <a:cs typeface="Times New Roman" pitchFamily="18" charset="0"/>
            </a:endParaRPr>
          </a:p>
        </p:txBody>
      </p:sp>
    </p:spTree>
    <p:extLst>
      <p:ext uri="{BB962C8B-B14F-4D97-AF65-F5344CB8AC3E}">
        <p14:creationId xmlns:p14="http://schemas.microsoft.com/office/powerpoint/2010/main" val="350422055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400" y="152400"/>
            <a:ext cx="8763000" cy="5847755"/>
          </a:xfrm>
          <a:prstGeom prst="rect">
            <a:avLst/>
          </a:prstGeom>
        </p:spPr>
        <p:txBody>
          <a:bodyPr wrap="square">
            <a:spAutoFit/>
          </a:bodyPr>
          <a:lstStyle/>
          <a:p>
            <a:pPr algn="just"/>
            <a:r>
              <a:rPr lang="en-US" sz="2200" dirty="0" smtClean="0">
                <a:solidFill>
                  <a:srgbClr val="002060"/>
                </a:solidFill>
                <a:latin typeface="Times New Roman" pitchFamily="18" charset="0"/>
                <a:cs typeface="Times New Roman" pitchFamily="18" charset="0"/>
              </a:rPr>
              <a:t>To answer the </a:t>
            </a:r>
            <a:r>
              <a:rPr lang="en-US" sz="2200" dirty="0">
                <a:solidFill>
                  <a:srgbClr val="002060"/>
                </a:solidFill>
                <a:latin typeface="Times New Roman" pitchFamily="18" charset="0"/>
                <a:cs typeface="Times New Roman" pitchFamily="18" charset="0"/>
              </a:rPr>
              <a:t>second </a:t>
            </a:r>
            <a:r>
              <a:rPr lang="en-US" sz="2200" dirty="0" smtClean="0">
                <a:solidFill>
                  <a:srgbClr val="002060"/>
                </a:solidFill>
                <a:latin typeface="Times New Roman" pitchFamily="18" charset="0"/>
                <a:cs typeface="Times New Roman" pitchFamily="18" charset="0"/>
              </a:rPr>
              <a:t>question: </a:t>
            </a:r>
          </a:p>
          <a:p>
            <a:pPr algn="just"/>
            <a:r>
              <a:rPr lang="en-US" sz="2200" dirty="0">
                <a:latin typeface="Times New Roman" pitchFamily="18" charset="0"/>
                <a:cs typeface="Times New Roman" pitchFamily="18" charset="0"/>
              </a:rPr>
              <a:t>	R</a:t>
            </a:r>
            <a:r>
              <a:rPr lang="en-US" sz="2200" dirty="0" smtClean="0">
                <a:latin typeface="Times New Roman" pitchFamily="18" charset="0"/>
                <a:cs typeface="Times New Roman" pitchFamily="18" charset="0"/>
              </a:rPr>
              <a:t>efers </a:t>
            </a:r>
            <a:r>
              <a:rPr lang="en-US" sz="2200" dirty="0">
                <a:latin typeface="Times New Roman" pitchFamily="18" charset="0"/>
                <a:cs typeface="Times New Roman" pitchFamily="18" charset="0"/>
              </a:rPr>
              <a:t>to the completeness of a data mining algorithm. It is often unrealistic and inefficient for data mining systems to generate all possible patterns. Instead, user provided constraints and interestingness measures should be used to focus the search. For some mining tasks, such as association, this is often sufficient to ensure the </a:t>
            </a:r>
            <a:r>
              <a:rPr lang="en-US" sz="2200" dirty="0" smtClean="0">
                <a:latin typeface="Times New Roman" pitchFamily="18" charset="0"/>
                <a:cs typeface="Times New Roman" pitchFamily="18" charset="0"/>
              </a:rPr>
              <a:t>completeness </a:t>
            </a:r>
            <a:r>
              <a:rPr lang="en-US" sz="2200" dirty="0">
                <a:latin typeface="Times New Roman" pitchFamily="18" charset="0"/>
                <a:cs typeface="Times New Roman" pitchFamily="18" charset="0"/>
              </a:rPr>
              <a:t>of the algorithm. Association rule mining is an example where the use of constraints and interestingness measures can ensure the completeness of mining</a:t>
            </a:r>
            <a:r>
              <a:rPr lang="en-US" sz="2200" dirty="0" smtClean="0">
                <a:latin typeface="Times New Roman" pitchFamily="18" charset="0"/>
                <a:cs typeface="Times New Roman" pitchFamily="18" charset="0"/>
              </a:rPr>
              <a:t>.</a:t>
            </a:r>
          </a:p>
          <a:p>
            <a:pPr algn="just"/>
            <a:endParaRPr lang="en-US" sz="2200" dirty="0">
              <a:latin typeface="Times New Roman" pitchFamily="18" charset="0"/>
              <a:cs typeface="Times New Roman" pitchFamily="18" charset="0"/>
            </a:endParaRPr>
          </a:p>
          <a:p>
            <a:pPr algn="just"/>
            <a:r>
              <a:rPr lang="en-US" sz="2200" dirty="0" smtClean="0">
                <a:solidFill>
                  <a:srgbClr val="002060"/>
                </a:solidFill>
                <a:latin typeface="Times New Roman" pitchFamily="18" charset="0"/>
                <a:cs typeface="Times New Roman" pitchFamily="18" charset="0"/>
              </a:rPr>
              <a:t>Finally</a:t>
            </a:r>
            <a:r>
              <a:rPr lang="en-US" sz="2200" dirty="0">
                <a:solidFill>
                  <a:srgbClr val="002060"/>
                </a:solidFill>
                <a:latin typeface="Times New Roman" pitchFamily="18" charset="0"/>
                <a:cs typeface="Times New Roman" pitchFamily="18" charset="0"/>
              </a:rPr>
              <a:t>, the third </a:t>
            </a:r>
            <a:r>
              <a:rPr lang="en-US" sz="2200" dirty="0" smtClean="0">
                <a:solidFill>
                  <a:srgbClr val="002060"/>
                </a:solidFill>
                <a:latin typeface="Times New Roman" pitchFamily="18" charset="0"/>
                <a:cs typeface="Times New Roman" pitchFamily="18" charset="0"/>
              </a:rPr>
              <a:t>question:</a:t>
            </a:r>
          </a:p>
          <a:p>
            <a:pPr algn="just"/>
            <a:r>
              <a:rPr lang="en-US" sz="2200" dirty="0">
                <a:latin typeface="Times New Roman" pitchFamily="18" charset="0"/>
                <a:cs typeface="Times New Roman" pitchFamily="18" charset="0"/>
              </a:rPr>
              <a:t>	</a:t>
            </a:r>
            <a:r>
              <a:rPr lang="en-US" sz="2200" dirty="0" smtClean="0">
                <a:latin typeface="Times New Roman" pitchFamily="18" charset="0"/>
                <a:cs typeface="Times New Roman" pitchFamily="18" charset="0"/>
              </a:rPr>
              <a:t>It is </a:t>
            </a:r>
            <a:r>
              <a:rPr lang="en-US" sz="2200" dirty="0">
                <a:latin typeface="Times New Roman" pitchFamily="18" charset="0"/>
                <a:cs typeface="Times New Roman" pitchFamily="18" charset="0"/>
              </a:rPr>
              <a:t>an optimization problem in data mining. It is highly desirable for data mining systems to generate only interesting patterns. This would be efficient for users </a:t>
            </a:r>
            <a:r>
              <a:rPr lang="en-US" sz="2200" dirty="0" smtClean="0">
                <a:latin typeface="Times New Roman" pitchFamily="18" charset="0"/>
                <a:cs typeface="Times New Roman" pitchFamily="18" charset="0"/>
              </a:rPr>
              <a:t>and data mining systems because neither would have to search through the patterns generated </a:t>
            </a:r>
            <a:r>
              <a:rPr lang="en-US" sz="2200" dirty="0">
                <a:latin typeface="Times New Roman" pitchFamily="18" charset="0"/>
                <a:cs typeface="Times New Roman" pitchFamily="18" charset="0"/>
              </a:rPr>
              <a:t>to identify the truly interesting ones. Progress has been made in this direction; however, such optimization remains a challenging issue in data mining.</a:t>
            </a:r>
            <a:endParaRPr lang="en-IN" sz="2200" dirty="0">
              <a:latin typeface="Times New Roman" pitchFamily="18" charset="0"/>
              <a:cs typeface="Times New Roman" pitchFamily="18" charset="0"/>
            </a:endParaRPr>
          </a:p>
        </p:txBody>
      </p:sp>
    </p:spTree>
    <p:extLst>
      <p:ext uri="{BB962C8B-B14F-4D97-AF65-F5344CB8AC3E}">
        <p14:creationId xmlns:p14="http://schemas.microsoft.com/office/powerpoint/2010/main" val="68655259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400" y="152400"/>
            <a:ext cx="8839200" cy="5970865"/>
          </a:xfrm>
          <a:prstGeom prst="rect">
            <a:avLst/>
          </a:prstGeom>
        </p:spPr>
        <p:txBody>
          <a:bodyPr wrap="square">
            <a:spAutoFit/>
          </a:bodyPr>
          <a:lstStyle/>
          <a:p>
            <a:pPr algn="ctr"/>
            <a:r>
              <a:rPr lang="en-IN" sz="2800" b="1" u="sng" dirty="0">
                <a:solidFill>
                  <a:srgbClr val="FF0000"/>
                </a:solidFill>
                <a:latin typeface="Times New Roman" pitchFamily="18" charset="0"/>
                <a:cs typeface="Times New Roman" pitchFamily="18" charset="0"/>
              </a:rPr>
              <a:t>Technologies </a:t>
            </a:r>
            <a:r>
              <a:rPr lang="en-IN" sz="2800" b="1" u="sng" dirty="0" smtClean="0">
                <a:solidFill>
                  <a:srgbClr val="FF0000"/>
                </a:solidFill>
                <a:latin typeface="Times New Roman" pitchFamily="18" charset="0"/>
                <a:cs typeface="Times New Roman" pitchFamily="18" charset="0"/>
              </a:rPr>
              <a:t>Used</a:t>
            </a:r>
            <a:endParaRPr lang="en-US" sz="2800" b="1" u="sng" dirty="0" smtClean="0">
              <a:solidFill>
                <a:srgbClr val="FF0000"/>
              </a:solidFill>
              <a:latin typeface="Times New Roman" pitchFamily="18" charset="0"/>
              <a:cs typeface="Times New Roman" pitchFamily="18" charset="0"/>
            </a:endParaRPr>
          </a:p>
          <a:p>
            <a:pPr algn="just"/>
            <a:endParaRPr lang="en-US" sz="2200" dirty="0">
              <a:latin typeface="Times New Roman" pitchFamily="18" charset="0"/>
              <a:cs typeface="Times New Roman" pitchFamily="18" charset="0"/>
            </a:endParaRPr>
          </a:p>
          <a:p>
            <a:pPr algn="just"/>
            <a:r>
              <a:rPr lang="en-US" sz="2200" dirty="0" smtClean="0">
                <a:latin typeface="Times New Roman" pitchFamily="18" charset="0"/>
                <a:cs typeface="Times New Roman" pitchFamily="18" charset="0"/>
              </a:rPr>
              <a:t>	Data </a:t>
            </a:r>
            <a:r>
              <a:rPr lang="en-US" sz="2200" dirty="0">
                <a:latin typeface="Times New Roman" pitchFamily="18" charset="0"/>
                <a:cs typeface="Times New Roman" pitchFamily="18" charset="0"/>
              </a:rPr>
              <a:t>mining has incorporated many techniques from other domains such as statistics, machine learning, pattern recognition, database and data warehouse systems, information retrieval, visualization, algorithms, high performance computing, and many application </a:t>
            </a:r>
            <a:r>
              <a:rPr lang="en-US" sz="2200" dirty="0" smtClean="0">
                <a:latin typeface="Times New Roman" pitchFamily="18" charset="0"/>
                <a:cs typeface="Times New Roman" pitchFamily="18" charset="0"/>
              </a:rPr>
              <a:t>domains.</a:t>
            </a:r>
          </a:p>
          <a:p>
            <a:pPr algn="just"/>
            <a:endParaRPr lang="en-US" sz="2200" dirty="0">
              <a:latin typeface="Times New Roman" pitchFamily="18" charset="0"/>
              <a:cs typeface="Times New Roman" pitchFamily="18" charset="0"/>
            </a:endParaRPr>
          </a:p>
          <a:p>
            <a:pPr algn="just"/>
            <a:r>
              <a:rPr lang="en-US" sz="2400" u="sng" dirty="0" smtClean="0">
                <a:solidFill>
                  <a:srgbClr val="FF0000"/>
                </a:solidFill>
                <a:latin typeface="Times New Roman" pitchFamily="18" charset="0"/>
                <a:cs typeface="Times New Roman" pitchFamily="18" charset="0"/>
              </a:rPr>
              <a:t>Statistics:</a:t>
            </a:r>
            <a:endParaRPr lang="en-US" sz="2200" u="sng" dirty="0" smtClean="0">
              <a:solidFill>
                <a:srgbClr val="FF0000"/>
              </a:solidFill>
              <a:latin typeface="Times New Roman" pitchFamily="18" charset="0"/>
              <a:cs typeface="Times New Roman" pitchFamily="18" charset="0"/>
            </a:endParaRPr>
          </a:p>
          <a:p>
            <a:pPr algn="just"/>
            <a:r>
              <a:rPr lang="en-US" sz="2200" dirty="0" smtClean="0">
                <a:latin typeface="Times New Roman" pitchFamily="18" charset="0"/>
                <a:cs typeface="Times New Roman" pitchFamily="18" charset="0"/>
              </a:rPr>
              <a:t>	Statistics </a:t>
            </a:r>
            <a:r>
              <a:rPr lang="en-US" sz="2200" dirty="0">
                <a:latin typeface="Times New Roman" pitchFamily="18" charset="0"/>
                <a:cs typeface="Times New Roman" pitchFamily="18" charset="0"/>
              </a:rPr>
              <a:t>studies the collection, analysis, interpretation or explanation, and presentation of data. Data mining has an inherent connection with statistics. </a:t>
            </a:r>
            <a:endParaRPr lang="en-US" sz="2200" dirty="0" smtClean="0">
              <a:latin typeface="Times New Roman" pitchFamily="18" charset="0"/>
              <a:cs typeface="Times New Roman" pitchFamily="18" charset="0"/>
            </a:endParaRPr>
          </a:p>
          <a:p>
            <a:pPr algn="just"/>
            <a:r>
              <a:rPr lang="en-US" sz="2200" dirty="0">
                <a:latin typeface="Times New Roman" pitchFamily="18" charset="0"/>
                <a:cs typeface="Times New Roman" pitchFamily="18" charset="0"/>
              </a:rPr>
              <a:t>	</a:t>
            </a:r>
            <a:r>
              <a:rPr lang="en-US" sz="2200" dirty="0" smtClean="0">
                <a:latin typeface="Times New Roman" pitchFamily="18" charset="0"/>
                <a:cs typeface="Times New Roman" pitchFamily="18" charset="0"/>
              </a:rPr>
              <a:t>A </a:t>
            </a:r>
            <a:r>
              <a:rPr lang="en-US" sz="2200" dirty="0">
                <a:latin typeface="Times New Roman" pitchFamily="18" charset="0"/>
                <a:cs typeface="Times New Roman" pitchFamily="18" charset="0"/>
              </a:rPr>
              <a:t>statistical model is a set of mathematical functions that describe the behavior of the objects in a target class in terms of random variables and their associated </a:t>
            </a:r>
            <a:r>
              <a:rPr lang="en-US" sz="2200" dirty="0" smtClean="0">
                <a:latin typeface="Times New Roman" pitchFamily="18" charset="0"/>
                <a:cs typeface="Times New Roman" pitchFamily="18" charset="0"/>
              </a:rPr>
              <a:t>probability </a:t>
            </a:r>
            <a:r>
              <a:rPr lang="en-US" sz="2200" dirty="0">
                <a:latin typeface="Times New Roman" pitchFamily="18" charset="0"/>
                <a:cs typeface="Times New Roman" pitchFamily="18" charset="0"/>
              </a:rPr>
              <a:t>distributions. </a:t>
            </a:r>
            <a:r>
              <a:rPr lang="en-US" sz="2200" dirty="0" smtClean="0">
                <a:latin typeface="Times New Roman" pitchFamily="18" charset="0"/>
                <a:cs typeface="Times New Roman" pitchFamily="18" charset="0"/>
              </a:rPr>
              <a:t>These are </a:t>
            </a:r>
            <a:r>
              <a:rPr lang="en-US" sz="2200" dirty="0">
                <a:latin typeface="Times New Roman" pitchFamily="18" charset="0"/>
                <a:cs typeface="Times New Roman" pitchFamily="18" charset="0"/>
              </a:rPr>
              <a:t>widely used to model data and data classes. </a:t>
            </a:r>
            <a:endParaRPr lang="en-US" sz="2200" dirty="0" smtClean="0">
              <a:latin typeface="Times New Roman" pitchFamily="18" charset="0"/>
              <a:cs typeface="Times New Roman" pitchFamily="18" charset="0"/>
            </a:endParaRPr>
          </a:p>
          <a:p>
            <a:pPr algn="just"/>
            <a:r>
              <a:rPr lang="en-US" sz="2200" dirty="0">
                <a:latin typeface="Times New Roman" pitchFamily="18" charset="0"/>
                <a:cs typeface="Times New Roman" pitchFamily="18" charset="0"/>
              </a:rPr>
              <a:t>	</a:t>
            </a:r>
            <a:r>
              <a:rPr lang="en-US" sz="2200" dirty="0" smtClean="0">
                <a:latin typeface="Times New Roman" pitchFamily="18" charset="0"/>
                <a:cs typeface="Times New Roman" pitchFamily="18" charset="0"/>
              </a:rPr>
              <a:t>For </a:t>
            </a:r>
            <a:r>
              <a:rPr lang="en-US" sz="2200" dirty="0">
                <a:latin typeface="Times New Roman" pitchFamily="18" charset="0"/>
                <a:cs typeface="Times New Roman" pitchFamily="18" charset="0"/>
              </a:rPr>
              <a:t>example, in data mining tasks like data characterization and classification, statistical models of target classes can be built. </a:t>
            </a:r>
            <a:endParaRPr lang="en-IN" sz="2200" dirty="0">
              <a:latin typeface="Times New Roman" pitchFamily="18" charset="0"/>
              <a:cs typeface="Times New Roman" pitchFamily="18" charset="0"/>
            </a:endParaRPr>
          </a:p>
        </p:txBody>
      </p:sp>
    </p:spTree>
    <p:extLst>
      <p:ext uri="{BB962C8B-B14F-4D97-AF65-F5344CB8AC3E}">
        <p14:creationId xmlns:p14="http://schemas.microsoft.com/office/powerpoint/2010/main" val="70633678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1" y="152401"/>
            <a:ext cx="8763000" cy="6400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33011762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400" y="152400"/>
            <a:ext cx="8839200" cy="6555641"/>
          </a:xfrm>
          <a:prstGeom prst="rect">
            <a:avLst/>
          </a:prstGeom>
        </p:spPr>
        <p:txBody>
          <a:bodyPr wrap="square">
            <a:spAutoFit/>
          </a:bodyPr>
          <a:lstStyle/>
          <a:p>
            <a:pPr algn="just"/>
            <a:r>
              <a:rPr lang="en-US" sz="2400" b="1" u="sng" dirty="0">
                <a:solidFill>
                  <a:srgbClr val="FF0000"/>
                </a:solidFill>
                <a:latin typeface="Times New Roman" pitchFamily="18" charset="0"/>
                <a:cs typeface="Times New Roman" pitchFamily="18" charset="0"/>
              </a:rPr>
              <a:t>Machine Learning </a:t>
            </a:r>
            <a:endParaRPr lang="en-US" sz="2200" b="1" u="sng" dirty="0" smtClean="0">
              <a:solidFill>
                <a:srgbClr val="FF0000"/>
              </a:solidFill>
              <a:latin typeface="Times New Roman" pitchFamily="18" charset="0"/>
              <a:cs typeface="Times New Roman" pitchFamily="18" charset="0"/>
            </a:endParaRPr>
          </a:p>
          <a:p>
            <a:pPr algn="just"/>
            <a:r>
              <a:rPr lang="en-US" sz="2200" dirty="0" smtClean="0">
                <a:latin typeface="Times New Roman" pitchFamily="18" charset="0"/>
                <a:cs typeface="Times New Roman" pitchFamily="18" charset="0"/>
              </a:rPr>
              <a:t>	Machine learning investigates how computers can learn (or improve their performance</a:t>
            </a:r>
            <a:r>
              <a:rPr lang="en-US" sz="2200" dirty="0">
                <a:latin typeface="Times New Roman" pitchFamily="18" charset="0"/>
                <a:cs typeface="Times New Roman" pitchFamily="18" charset="0"/>
              </a:rPr>
              <a:t>) based on data. A main research area is for computer programs to automatically learn to recognize complex patterns and </a:t>
            </a:r>
            <a:r>
              <a:rPr lang="en-US" sz="2200" dirty="0" smtClean="0">
                <a:latin typeface="Times New Roman" pitchFamily="18" charset="0"/>
                <a:cs typeface="Times New Roman" pitchFamily="18" charset="0"/>
              </a:rPr>
              <a:t>make intelligent </a:t>
            </a:r>
            <a:r>
              <a:rPr lang="en-US" sz="2200" dirty="0">
                <a:latin typeface="Times New Roman" pitchFamily="18" charset="0"/>
                <a:cs typeface="Times New Roman" pitchFamily="18" charset="0"/>
              </a:rPr>
              <a:t>decisions based on data. </a:t>
            </a:r>
            <a:endParaRPr lang="en-US" sz="2200" dirty="0" smtClean="0">
              <a:latin typeface="Times New Roman" pitchFamily="18" charset="0"/>
              <a:cs typeface="Times New Roman" pitchFamily="18" charset="0"/>
            </a:endParaRPr>
          </a:p>
          <a:p>
            <a:pPr algn="just"/>
            <a:r>
              <a:rPr lang="en-US" sz="2200" dirty="0" smtClean="0">
                <a:latin typeface="Times New Roman" pitchFamily="18" charset="0"/>
                <a:cs typeface="Times New Roman" pitchFamily="18" charset="0"/>
              </a:rPr>
              <a:t>	For </a:t>
            </a:r>
            <a:r>
              <a:rPr lang="en-US" sz="2200" dirty="0">
                <a:latin typeface="Times New Roman" pitchFamily="18" charset="0"/>
                <a:cs typeface="Times New Roman" pitchFamily="18" charset="0"/>
              </a:rPr>
              <a:t>example, a typical machine learning problem is to program a computer so that it can automatically recognize handwritten postal codes on mail after learning from a set of examples</a:t>
            </a:r>
            <a:r>
              <a:rPr lang="en-US" sz="2200" dirty="0" smtClean="0">
                <a:latin typeface="Times New Roman" pitchFamily="18" charset="0"/>
                <a:cs typeface="Times New Roman" pitchFamily="18" charset="0"/>
              </a:rPr>
              <a:t>.</a:t>
            </a:r>
          </a:p>
          <a:p>
            <a:pPr algn="just"/>
            <a:endParaRPr lang="en-US" sz="2200" dirty="0">
              <a:latin typeface="Times New Roman" pitchFamily="18" charset="0"/>
              <a:cs typeface="Times New Roman" pitchFamily="18" charset="0"/>
            </a:endParaRPr>
          </a:p>
          <a:p>
            <a:pPr algn="just"/>
            <a:r>
              <a:rPr lang="en-US" sz="2200" dirty="0">
                <a:solidFill>
                  <a:srgbClr val="FF0000"/>
                </a:solidFill>
                <a:latin typeface="Times New Roman" pitchFamily="18" charset="0"/>
                <a:cs typeface="Times New Roman" pitchFamily="18" charset="0"/>
              </a:rPr>
              <a:t>Supervised </a:t>
            </a:r>
            <a:r>
              <a:rPr lang="en-US" sz="2200" dirty="0" smtClean="0">
                <a:solidFill>
                  <a:srgbClr val="FF0000"/>
                </a:solidFill>
                <a:latin typeface="Times New Roman" pitchFamily="18" charset="0"/>
                <a:cs typeface="Times New Roman" pitchFamily="18" charset="0"/>
              </a:rPr>
              <a:t>learning: </a:t>
            </a:r>
            <a:r>
              <a:rPr lang="en-US" sz="2200" dirty="0" smtClean="0">
                <a:latin typeface="Times New Roman" pitchFamily="18" charset="0"/>
                <a:cs typeface="Times New Roman" pitchFamily="18" charset="0"/>
              </a:rPr>
              <a:t>The </a:t>
            </a:r>
            <a:r>
              <a:rPr lang="en-US" sz="2200" dirty="0">
                <a:latin typeface="Times New Roman" pitchFamily="18" charset="0"/>
                <a:cs typeface="Times New Roman" pitchFamily="18" charset="0"/>
              </a:rPr>
              <a:t>supervision in the learning comes from the labeled examples in the training data set</a:t>
            </a:r>
            <a:r>
              <a:rPr lang="en-US" sz="2200" dirty="0" smtClean="0">
                <a:latin typeface="Times New Roman" pitchFamily="18" charset="0"/>
                <a:cs typeface="Times New Roman" pitchFamily="18" charset="0"/>
              </a:rPr>
              <a:t>.</a:t>
            </a:r>
          </a:p>
          <a:p>
            <a:pPr algn="just"/>
            <a:r>
              <a:rPr lang="en-US" sz="2200" dirty="0">
                <a:solidFill>
                  <a:srgbClr val="FF0000"/>
                </a:solidFill>
                <a:latin typeface="Times New Roman" pitchFamily="18" charset="0"/>
                <a:cs typeface="Times New Roman" pitchFamily="18" charset="0"/>
              </a:rPr>
              <a:t>Unsupervised learning </a:t>
            </a:r>
            <a:r>
              <a:rPr lang="en-US" sz="2200" dirty="0">
                <a:latin typeface="Times New Roman" pitchFamily="18" charset="0"/>
                <a:cs typeface="Times New Roman" pitchFamily="18" charset="0"/>
              </a:rPr>
              <a:t>is essentially a synonym for clustering. The learning process is unsupervised since the input examples are not class labeled. Typically, we may use clustering to discover classes within the data. For example, an unsupervised learning method </a:t>
            </a:r>
            <a:r>
              <a:rPr lang="en-US" sz="2200" dirty="0" smtClean="0">
                <a:latin typeface="Times New Roman" pitchFamily="18" charset="0"/>
                <a:cs typeface="Times New Roman" pitchFamily="18" charset="0"/>
              </a:rPr>
              <a:t>can take</a:t>
            </a:r>
            <a:r>
              <a:rPr lang="en-US" sz="2200" dirty="0">
                <a:latin typeface="Times New Roman" pitchFamily="18" charset="0"/>
                <a:cs typeface="Times New Roman" pitchFamily="18" charset="0"/>
              </a:rPr>
              <a:t>, as input, a set of images of handwritten digits. Suppose that it finds 10 clusters of data. These clusters may correspond to the 10 distinct digits of 0 to 9, respectively. However, since the training data are not labeled, the learned model cannot tell us the semantic meaning of the clusters found.</a:t>
            </a:r>
            <a:endParaRPr lang="en-IN" sz="2200" dirty="0">
              <a:latin typeface="Times New Roman" pitchFamily="18" charset="0"/>
              <a:cs typeface="Times New Roman" pitchFamily="18" charset="0"/>
            </a:endParaRPr>
          </a:p>
        </p:txBody>
      </p:sp>
    </p:spTree>
    <p:extLst>
      <p:ext uri="{BB962C8B-B14F-4D97-AF65-F5344CB8AC3E}">
        <p14:creationId xmlns:p14="http://schemas.microsoft.com/office/powerpoint/2010/main" val="84460824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 y="152400"/>
            <a:ext cx="8763000" cy="4924425"/>
          </a:xfrm>
          <a:prstGeom prst="rect">
            <a:avLst/>
          </a:prstGeom>
        </p:spPr>
        <p:txBody>
          <a:bodyPr wrap="square">
            <a:spAutoFit/>
          </a:bodyPr>
          <a:lstStyle/>
          <a:p>
            <a:pPr algn="just"/>
            <a:r>
              <a:rPr lang="en-US" sz="2800" dirty="0">
                <a:solidFill>
                  <a:srgbClr val="FF0000"/>
                </a:solidFill>
                <a:latin typeface="Times New Roman" pitchFamily="18" charset="0"/>
                <a:cs typeface="Times New Roman" pitchFamily="18" charset="0"/>
              </a:rPr>
              <a:t>Semi-supervised </a:t>
            </a:r>
            <a:r>
              <a:rPr lang="en-US" sz="2800" dirty="0" smtClean="0">
                <a:solidFill>
                  <a:srgbClr val="FF0000"/>
                </a:solidFill>
                <a:latin typeface="Times New Roman" pitchFamily="18" charset="0"/>
                <a:cs typeface="Times New Roman" pitchFamily="18" charset="0"/>
              </a:rPr>
              <a:t>learning:</a:t>
            </a:r>
            <a:r>
              <a:rPr lang="en-US" sz="2200" dirty="0" smtClean="0">
                <a:latin typeface="Times New Roman" pitchFamily="18" charset="0"/>
                <a:cs typeface="Times New Roman" pitchFamily="18" charset="0"/>
              </a:rPr>
              <a:t> </a:t>
            </a:r>
          </a:p>
          <a:p>
            <a:pPr algn="just"/>
            <a:r>
              <a:rPr lang="en-US" sz="2200" dirty="0" smtClean="0">
                <a:latin typeface="Times New Roman" pitchFamily="18" charset="0"/>
                <a:cs typeface="Times New Roman" pitchFamily="18" charset="0"/>
              </a:rPr>
              <a:t>	It is </a:t>
            </a:r>
            <a:r>
              <a:rPr lang="en-US" sz="2200" dirty="0">
                <a:latin typeface="Times New Roman" pitchFamily="18" charset="0"/>
                <a:cs typeface="Times New Roman" pitchFamily="18" charset="0"/>
              </a:rPr>
              <a:t>a class of machine learning techniques that make use of both labeled and unlabeled examples when learning a model. In one approach, labeled examples are used to learn class models and unlabeled examples are used to refine the boundaries between classes. For a two-class problem, we can think of the set of examples belonging to one class as the positive examples and those belonging to the other class as the negative examples. </a:t>
            </a:r>
            <a:endParaRPr lang="en-US" sz="2200" dirty="0" smtClean="0">
              <a:latin typeface="Times New Roman" pitchFamily="18" charset="0"/>
              <a:cs typeface="Times New Roman" pitchFamily="18" charset="0"/>
            </a:endParaRPr>
          </a:p>
          <a:p>
            <a:pPr algn="just"/>
            <a:endParaRPr lang="en-US" sz="2200" dirty="0">
              <a:latin typeface="Times New Roman" pitchFamily="18" charset="0"/>
              <a:cs typeface="Times New Roman" pitchFamily="18" charset="0"/>
            </a:endParaRPr>
          </a:p>
          <a:p>
            <a:pPr algn="just"/>
            <a:r>
              <a:rPr lang="en-US" sz="2200" dirty="0" smtClean="0">
                <a:latin typeface="Times New Roman" pitchFamily="18" charset="0"/>
                <a:cs typeface="Times New Roman" pitchFamily="18" charset="0"/>
              </a:rPr>
              <a:t>	In following Fig. </a:t>
            </a:r>
            <a:r>
              <a:rPr lang="en-US" sz="2200" dirty="0">
                <a:latin typeface="Times New Roman" pitchFamily="18" charset="0"/>
                <a:cs typeface="Times New Roman" pitchFamily="18" charset="0"/>
              </a:rPr>
              <a:t>if we do not consider the unlabeled examples, the dashed line is the decision boundary that best partitions the positive examples from the negative examples. Using the unlabeled examples, we can refine the decision boundary to the solid line. Moreover, we can detect that the two positive examples at the top right corner, though labeled, are likely noise or outliers.</a:t>
            </a:r>
            <a:endParaRPr lang="en-IN" sz="2200" dirty="0">
              <a:latin typeface="Times New Roman" pitchFamily="18" charset="0"/>
              <a:cs typeface="Times New Roman" pitchFamily="18" charset="0"/>
            </a:endParaRPr>
          </a:p>
        </p:txBody>
      </p:sp>
    </p:spTree>
    <p:extLst>
      <p:ext uri="{BB962C8B-B14F-4D97-AF65-F5344CB8AC3E}">
        <p14:creationId xmlns:p14="http://schemas.microsoft.com/office/powerpoint/2010/main" val="270794817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0492" y="228600"/>
            <a:ext cx="8684908" cy="6324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4036020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400" y="152401"/>
            <a:ext cx="8839200" cy="5940088"/>
          </a:xfrm>
          <a:prstGeom prst="rect">
            <a:avLst/>
          </a:prstGeom>
        </p:spPr>
        <p:txBody>
          <a:bodyPr wrap="square">
            <a:spAutoFit/>
          </a:bodyPr>
          <a:lstStyle/>
          <a:p>
            <a:pPr algn="just"/>
            <a:r>
              <a:rPr lang="en-US" sz="2800" dirty="0">
                <a:solidFill>
                  <a:srgbClr val="FF0000"/>
                </a:solidFill>
                <a:latin typeface="Times New Roman" pitchFamily="18" charset="0"/>
                <a:cs typeface="Times New Roman" pitchFamily="18" charset="0"/>
              </a:rPr>
              <a:t>Database Systems and Data </a:t>
            </a:r>
            <a:r>
              <a:rPr lang="en-US" sz="2800" dirty="0" smtClean="0">
                <a:solidFill>
                  <a:srgbClr val="FF0000"/>
                </a:solidFill>
                <a:latin typeface="Times New Roman" pitchFamily="18" charset="0"/>
                <a:cs typeface="Times New Roman" pitchFamily="18" charset="0"/>
              </a:rPr>
              <a:t>Warehouses:</a:t>
            </a:r>
          </a:p>
          <a:p>
            <a:pPr algn="just"/>
            <a:r>
              <a:rPr lang="en-US" sz="2200" dirty="0">
                <a:latin typeface="Times New Roman" pitchFamily="18" charset="0"/>
                <a:cs typeface="Times New Roman" pitchFamily="18" charset="0"/>
              </a:rPr>
              <a:t>	</a:t>
            </a:r>
            <a:r>
              <a:rPr lang="en-US" sz="2200" dirty="0" smtClean="0">
                <a:latin typeface="Times New Roman" pitchFamily="18" charset="0"/>
                <a:cs typeface="Times New Roman" pitchFamily="18" charset="0"/>
              </a:rPr>
              <a:t>Database </a:t>
            </a:r>
            <a:r>
              <a:rPr lang="en-US" sz="2200" dirty="0">
                <a:latin typeface="Times New Roman" pitchFamily="18" charset="0"/>
                <a:cs typeface="Times New Roman" pitchFamily="18" charset="0"/>
              </a:rPr>
              <a:t>systems research focuses on the creation, maintenance, and use of databases for organizations and end-users. Particularly, database systems researchers have </a:t>
            </a:r>
            <a:r>
              <a:rPr lang="en-US" sz="2200" dirty="0" smtClean="0">
                <a:latin typeface="Times New Roman" pitchFamily="18" charset="0"/>
                <a:cs typeface="Times New Roman" pitchFamily="18" charset="0"/>
              </a:rPr>
              <a:t>established </a:t>
            </a:r>
            <a:r>
              <a:rPr lang="en-US" sz="2200" dirty="0">
                <a:latin typeface="Times New Roman" pitchFamily="18" charset="0"/>
                <a:cs typeface="Times New Roman" pitchFamily="18" charset="0"/>
              </a:rPr>
              <a:t>highly recognized principles in data models, query languages, query processing and optimization methods, data storage, and indexing and accessing methods</a:t>
            </a:r>
            <a:r>
              <a:rPr lang="en-US" sz="2200" dirty="0" smtClean="0">
                <a:latin typeface="Times New Roman" pitchFamily="18" charset="0"/>
                <a:cs typeface="Times New Roman" pitchFamily="18" charset="0"/>
              </a:rPr>
              <a:t>. </a:t>
            </a:r>
          </a:p>
          <a:p>
            <a:pPr algn="just"/>
            <a:endParaRPr lang="en-US" sz="2200" dirty="0">
              <a:latin typeface="Times New Roman" pitchFamily="18" charset="0"/>
              <a:cs typeface="Times New Roman" pitchFamily="18" charset="0"/>
            </a:endParaRPr>
          </a:p>
          <a:p>
            <a:pPr algn="just"/>
            <a:r>
              <a:rPr lang="en-US" sz="2200" dirty="0" smtClean="0">
                <a:latin typeface="Times New Roman" pitchFamily="18" charset="0"/>
                <a:cs typeface="Times New Roman" pitchFamily="18" charset="0"/>
              </a:rPr>
              <a:t>	Many data </a:t>
            </a:r>
            <a:r>
              <a:rPr lang="en-US" sz="2200" dirty="0">
                <a:latin typeface="Times New Roman" pitchFamily="18" charset="0"/>
                <a:cs typeface="Times New Roman" pitchFamily="18" charset="0"/>
              </a:rPr>
              <a:t>mining tasks need to handle large data sets or even real-time, fast </a:t>
            </a:r>
            <a:r>
              <a:rPr lang="en-US" sz="2200" dirty="0" smtClean="0">
                <a:latin typeface="Times New Roman" pitchFamily="18" charset="0"/>
                <a:cs typeface="Times New Roman" pitchFamily="18" charset="0"/>
              </a:rPr>
              <a:t>streaming </a:t>
            </a:r>
            <a:r>
              <a:rPr lang="en-US" sz="2200" dirty="0">
                <a:latin typeface="Times New Roman" pitchFamily="18" charset="0"/>
                <a:cs typeface="Times New Roman" pitchFamily="18" charset="0"/>
              </a:rPr>
              <a:t>data. Therefore, data mining can make good use of scalable database technologies to achieve high efficiency and scalability on large data sets</a:t>
            </a:r>
            <a:r>
              <a:rPr lang="en-US" sz="2200" dirty="0" smtClean="0">
                <a:latin typeface="Times New Roman" pitchFamily="18" charset="0"/>
                <a:cs typeface="Times New Roman" pitchFamily="18" charset="0"/>
              </a:rPr>
              <a:t>.</a:t>
            </a:r>
          </a:p>
          <a:p>
            <a:pPr algn="just"/>
            <a:endParaRPr lang="en-US" sz="2200" dirty="0">
              <a:latin typeface="Times New Roman" pitchFamily="18" charset="0"/>
              <a:cs typeface="Times New Roman" pitchFamily="18" charset="0"/>
            </a:endParaRPr>
          </a:p>
          <a:p>
            <a:pPr algn="just"/>
            <a:r>
              <a:rPr lang="en-IN" sz="2200" dirty="0" smtClean="0">
                <a:latin typeface="Times New Roman" pitchFamily="18" charset="0"/>
                <a:cs typeface="Times New Roman" pitchFamily="18" charset="0"/>
              </a:rPr>
              <a:t>	A </a:t>
            </a:r>
            <a:r>
              <a:rPr lang="en-IN" sz="2200" dirty="0">
                <a:latin typeface="Times New Roman" pitchFamily="18" charset="0"/>
                <a:cs typeface="Times New Roman" pitchFamily="18" charset="0"/>
              </a:rPr>
              <a:t>data warehouse integrates data originating from multiple sources and various timeframes. It consolidates data in multidimensional space to form partially materialized data cubes. The data cube model not only facilitates OLAP in multidimensional databases but also promotes multidimensional data </a:t>
            </a:r>
            <a:r>
              <a:rPr lang="en-IN" sz="2200" dirty="0" smtClean="0">
                <a:latin typeface="Times New Roman" pitchFamily="18" charset="0"/>
                <a:cs typeface="Times New Roman" pitchFamily="18" charset="0"/>
              </a:rPr>
              <a:t>mining.</a:t>
            </a:r>
            <a:endParaRPr lang="en-IN" sz="2200" dirty="0">
              <a:latin typeface="Times New Roman" pitchFamily="18" charset="0"/>
              <a:cs typeface="Times New Roman" pitchFamily="18" charset="0"/>
            </a:endParaRPr>
          </a:p>
        </p:txBody>
      </p:sp>
    </p:spTree>
    <p:extLst>
      <p:ext uri="{BB962C8B-B14F-4D97-AF65-F5344CB8AC3E}">
        <p14:creationId xmlns:p14="http://schemas.microsoft.com/office/powerpoint/2010/main" val="282497320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7015817"/>
          </a:xfrm>
          <a:prstGeom prst="rect">
            <a:avLst/>
          </a:prstGeom>
        </p:spPr>
        <p:txBody>
          <a:bodyPr wrap="square">
            <a:spAutoFit/>
          </a:bodyPr>
          <a:lstStyle/>
          <a:p>
            <a:pPr algn="just"/>
            <a:r>
              <a:rPr lang="en-US" sz="2400" dirty="0">
                <a:solidFill>
                  <a:srgbClr val="FF0000"/>
                </a:solidFill>
                <a:latin typeface="Times New Roman" pitchFamily="18" charset="0"/>
                <a:cs typeface="Times New Roman" pitchFamily="18" charset="0"/>
              </a:rPr>
              <a:t>Information Retrieval </a:t>
            </a:r>
            <a:endParaRPr lang="en-US" sz="2400" dirty="0" smtClean="0">
              <a:solidFill>
                <a:srgbClr val="FF0000"/>
              </a:solidFill>
              <a:latin typeface="Times New Roman" pitchFamily="18" charset="0"/>
              <a:cs typeface="Times New Roman" pitchFamily="18" charset="0"/>
            </a:endParaRPr>
          </a:p>
          <a:p>
            <a:pPr algn="just"/>
            <a:r>
              <a:rPr lang="en-US" sz="2200" dirty="0">
                <a:latin typeface="Times New Roman" pitchFamily="18" charset="0"/>
                <a:cs typeface="Times New Roman" pitchFamily="18" charset="0"/>
              </a:rPr>
              <a:t>	</a:t>
            </a:r>
            <a:r>
              <a:rPr lang="en-US" sz="2200" dirty="0" smtClean="0">
                <a:latin typeface="Times New Roman" pitchFamily="18" charset="0"/>
                <a:cs typeface="Times New Roman" pitchFamily="18" charset="0"/>
              </a:rPr>
              <a:t>Information </a:t>
            </a:r>
            <a:r>
              <a:rPr lang="en-US" sz="2200" dirty="0">
                <a:latin typeface="Times New Roman" pitchFamily="18" charset="0"/>
                <a:cs typeface="Times New Roman" pitchFamily="18" charset="0"/>
              </a:rPr>
              <a:t>retrieval (IR) is the science of searching for documents or information in documents. Documents can be text or multimedia, and may reside on the Web. The differences between traditional information retrieval and database systems are </a:t>
            </a:r>
            <a:r>
              <a:rPr lang="en-US" sz="2200" dirty="0" smtClean="0">
                <a:latin typeface="Times New Roman" pitchFamily="18" charset="0"/>
                <a:cs typeface="Times New Roman" pitchFamily="18" charset="0"/>
              </a:rPr>
              <a:t>two fold</a:t>
            </a:r>
            <a:r>
              <a:rPr lang="en-US" sz="2200" dirty="0">
                <a:latin typeface="Times New Roman" pitchFamily="18" charset="0"/>
                <a:cs typeface="Times New Roman" pitchFamily="18" charset="0"/>
              </a:rPr>
              <a:t>: Information retrieval assumes that </a:t>
            </a:r>
            <a:endParaRPr lang="en-US" sz="2200" dirty="0" smtClean="0">
              <a:latin typeface="Times New Roman" pitchFamily="18" charset="0"/>
              <a:cs typeface="Times New Roman" pitchFamily="18" charset="0"/>
            </a:endParaRPr>
          </a:p>
          <a:p>
            <a:pPr marL="342900" indent="-342900" algn="just">
              <a:buAutoNum type="arabicParenBoth"/>
            </a:pPr>
            <a:r>
              <a:rPr lang="en-US" sz="2200" dirty="0">
                <a:latin typeface="Times New Roman" pitchFamily="18" charset="0"/>
                <a:cs typeface="Times New Roman" pitchFamily="18" charset="0"/>
              </a:rPr>
              <a:t>T</a:t>
            </a:r>
            <a:r>
              <a:rPr lang="en-US" sz="2200" dirty="0" smtClean="0">
                <a:latin typeface="Times New Roman" pitchFamily="18" charset="0"/>
                <a:cs typeface="Times New Roman" pitchFamily="18" charset="0"/>
              </a:rPr>
              <a:t>he </a:t>
            </a:r>
            <a:r>
              <a:rPr lang="en-US" sz="2200" dirty="0">
                <a:latin typeface="Times New Roman" pitchFamily="18" charset="0"/>
                <a:cs typeface="Times New Roman" pitchFamily="18" charset="0"/>
              </a:rPr>
              <a:t>data under search are unstructured; and </a:t>
            </a:r>
            <a:endParaRPr lang="en-US" sz="2200" dirty="0" smtClean="0">
              <a:latin typeface="Times New Roman" pitchFamily="18" charset="0"/>
              <a:cs typeface="Times New Roman" pitchFamily="18" charset="0"/>
            </a:endParaRPr>
          </a:p>
          <a:p>
            <a:pPr marL="342900" indent="-342900" algn="just">
              <a:buAutoNum type="arabicParenBoth"/>
            </a:pPr>
            <a:r>
              <a:rPr lang="en-US" sz="2200" dirty="0">
                <a:latin typeface="Times New Roman" pitchFamily="18" charset="0"/>
                <a:cs typeface="Times New Roman" pitchFamily="18" charset="0"/>
              </a:rPr>
              <a:t>T</a:t>
            </a:r>
            <a:r>
              <a:rPr lang="en-US" sz="2200" dirty="0" smtClean="0">
                <a:latin typeface="Times New Roman" pitchFamily="18" charset="0"/>
                <a:cs typeface="Times New Roman" pitchFamily="18" charset="0"/>
              </a:rPr>
              <a:t>he </a:t>
            </a:r>
            <a:r>
              <a:rPr lang="en-US" sz="2200" dirty="0">
                <a:latin typeface="Times New Roman" pitchFamily="18" charset="0"/>
                <a:cs typeface="Times New Roman" pitchFamily="18" charset="0"/>
              </a:rPr>
              <a:t>queries are formed mainly by keywords, which do not have complex </a:t>
            </a:r>
            <a:r>
              <a:rPr lang="en-US" sz="2200" dirty="0" smtClean="0">
                <a:latin typeface="Times New Roman" pitchFamily="18" charset="0"/>
                <a:cs typeface="Times New Roman" pitchFamily="18" charset="0"/>
              </a:rPr>
              <a:t>structures.</a:t>
            </a:r>
            <a:endParaRPr lang="en-US" sz="2200" dirty="0">
              <a:latin typeface="Times New Roman" pitchFamily="18" charset="0"/>
              <a:cs typeface="Times New Roman" pitchFamily="18" charset="0"/>
            </a:endParaRPr>
          </a:p>
          <a:p>
            <a:pPr algn="just"/>
            <a:r>
              <a:rPr lang="en-US" sz="2200" dirty="0" smtClean="0">
                <a:latin typeface="Times New Roman" pitchFamily="18" charset="0"/>
                <a:cs typeface="Times New Roman" pitchFamily="18" charset="0"/>
              </a:rPr>
              <a:t>	The </a:t>
            </a:r>
            <a:r>
              <a:rPr lang="en-US" sz="2200" dirty="0">
                <a:latin typeface="Times New Roman" pitchFamily="18" charset="0"/>
                <a:cs typeface="Times New Roman" pitchFamily="18" charset="0"/>
              </a:rPr>
              <a:t>typical approaches in information retrieval adopt probabilistic models. For example, a text document can be regarded as a bag of words, that is, a </a:t>
            </a:r>
            <a:r>
              <a:rPr lang="en-US" sz="2200" dirty="0" smtClean="0">
                <a:latin typeface="Times New Roman" pitchFamily="18" charset="0"/>
                <a:cs typeface="Times New Roman" pitchFamily="18" charset="0"/>
              </a:rPr>
              <a:t>multi set </a:t>
            </a:r>
            <a:r>
              <a:rPr lang="en-US" sz="2200" dirty="0">
                <a:latin typeface="Times New Roman" pitchFamily="18" charset="0"/>
                <a:cs typeface="Times New Roman" pitchFamily="18" charset="0"/>
              </a:rPr>
              <a:t>of words appearing in the document. The document’s language model is the probability density function that generates the bag of words in the document</a:t>
            </a:r>
            <a:r>
              <a:rPr lang="en-US" sz="2200" dirty="0" smtClean="0">
                <a:latin typeface="Times New Roman" pitchFamily="18" charset="0"/>
                <a:cs typeface="Times New Roman" pitchFamily="18" charset="0"/>
              </a:rPr>
              <a:t>.</a:t>
            </a:r>
            <a:endParaRPr lang="en-US" sz="2200" dirty="0">
              <a:latin typeface="Times New Roman" pitchFamily="18" charset="0"/>
              <a:cs typeface="Times New Roman" pitchFamily="18" charset="0"/>
            </a:endParaRPr>
          </a:p>
          <a:p>
            <a:pPr algn="just"/>
            <a:r>
              <a:rPr lang="en-US" sz="2200" dirty="0" smtClean="0">
                <a:latin typeface="Times New Roman" pitchFamily="18" charset="0"/>
                <a:cs typeface="Times New Roman" pitchFamily="18" charset="0"/>
              </a:rPr>
              <a:t>	Increasingly </a:t>
            </a:r>
            <a:r>
              <a:rPr lang="en-US" sz="2200" dirty="0">
                <a:latin typeface="Times New Roman" pitchFamily="18" charset="0"/>
                <a:cs typeface="Times New Roman" pitchFamily="18" charset="0"/>
              </a:rPr>
              <a:t>large amounts of text and multimedia data have been accumulated and made available online due to the fast growth of the Web and applications such as </a:t>
            </a:r>
            <a:r>
              <a:rPr lang="en-US" sz="2200" dirty="0" smtClean="0">
                <a:latin typeface="Times New Roman" pitchFamily="18" charset="0"/>
                <a:cs typeface="Times New Roman" pitchFamily="18" charset="0"/>
              </a:rPr>
              <a:t>digital </a:t>
            </a:r>
            <a:r>
              <a:rPr lang="en-US" sz="2200" dirty="0">
                <a:latin typeface="Times New Roman" pitchFamily="18" charset="0"/>
                <a:cs typeface="Times New Roman" pitchFamily="18" charset="0"/>
              </a:rPr>
              <a:t>libraries, digital governments, and health care information systems. Their effective search and analysis have raised many challenging issues in data mining. Therefore, text mining and multimedia data mining, integrated with information retrieval methods, have become increasingly important.</a:t>
            </a:r>
            <a:endParaRPr lang="en-IN" sz="2200" dirty="0">
              <a:latin typeface="Times New Roman" pitchFamily="18" charset="0"/>
              <a:cs typeface="Times New Roman" pitchFamily="18" charset="0"/>
            </a:endParaRPr>
          </a:p>
        </p:txBody>
      </p:sp>
    </p:spTree>
    <p:extLst>
      <p:ext uri="{BB962C8B-B14F-4D97-AF65-F5344CB8AC3E}">
        <p14:creationId xmlns:p14="http://schemas.microsoft.com/office/powerpoint/2010/main" val="389003330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400" y="152400"/>
            <a:ext cx="8915400" cy="6370975"/>
          </a:xfrm>
          <a:prstGeom prst="rect">
            <a:avLst/>
          </a:prstGeom>
        </p:spPr>
        <p:txBody>
          <a:bodyPr wrap="square">
            <a:spAutoFit/>
          </a:bodyPr>
          <a:lstStyle/>
          <a:p>
            <a:r>
              <a:rPr lang="en-IN" sz="2800" dirty="0" smtClean="0">
                <a:solidFill>
                  <a:srgbClr val="FF0000"/>
                </a:solidFill>
                <a:latin typeface="Times New Roman" pitchFamily="18" charset="0"/>
                <a:cs typeface="Times New Roman" pitchFamily="18" charset="0"/>
              </a:rPr>
              <a:t>Applications:</a:t>
            </a:r>
          </a:p>
          <a:p>
            <a:pPr algn="just"/>
            <a:r>
              <a:rPr lang="en-US" sz="2800" dirty="0" smtClean="0"/>
              <a:t>	</a:t>
            </a:r>
            <a:r>
              <a:rPr lang="en-US" sz="2200" dirty="0" smtClean="0">
                <a:latin typeface="Times New Roman" pitchFamily="18" charset="0"/>
                <a:cs typeface="Times New Roman" pitchFamily="18" charset="0"/>
              </a:rPr>
              <a:t>As </a:t>
            </a:r>
            <a:r>
              <a:rPr lang="en-US" sz="2200" dirty="0">
                <a:latin typeface="Times New Roman" pitchFamily="18" charset="0"/>
                <a:cs typeface="Times New Roman" pitchFamily="18" charset="0"/>
              </a:rPr>
              <a:t>a highly application-driven discipline, data mining has seen great successes in many applications. </a:t>
            </a:r>
            <a:endParaRPr lang="en-US" sz="2200" dirty="0" smtClean="0">
              <a:latin typeface="Times New Roman" pitchFamily="18" charset="0"/>
              <a:cs typeface="Times New Roman" pitchFamily="18" charset="0"/>
            </a:endParaRPr>
          </a:p>
          <a:p>
            <a:pPr algn="just"/>
            <a:r>
              <a:rPr lang="en-US" sz="2200" dirty="0">
                <a:latin typeface="Times New Roman" pitchFamily="18" charset="0"/>
                <a:cs typeface="Times New Roman" pitchFamily="18" charset="0"/>
              </a:rPr>
              <a:t>	</a:t>
            </a:r>
            <a:r>
              <a:rPr lang="en-US" sz="2200" dirty="0" smtClean="0">
                <a:latin typeface="Times New Roman" pitchFamily="18" charset="0"/>
                <a:cs typeface="Times New Roman" pitchFamily="18" charset="0"/>
              </a:rPr>
              <a:t>Two </a:t>
            </a:r>
            <a:r>
              <a:rPr lang="en-US" sz="2200" dirty="0">
                <a:latin typeface="Times New Roman" pitchFamily="18" charset="0"/>
                <a:cs typeface="Times New Roman" pitchFamily="18" charset="0"/>
              </a:rPr>
              <a:t>highly successful and popular application examples of data mining: </a:t>
            </a:r>
            <a:r>
              <a:rPr lang="en-US" sz="2200" dirty="0">
                <a:solidFill>
                  <a:srgbClr val="7030A0"/>
                </a:solidFill>
                <a:latin typeface="Times New Roman" pitchFamily="18" charset="0"/>
                <a:cs typeface="Times New Roman" pitchFamily="18" charset="0"/>
              </a:rPr>
              <a:t>B</a:t>
            </a:r>
            <a:r>
              <a:rPr lang="en-US" sz="2200" dirty="0" smtClean="0">
                <a:solidFill>
                  <a:srgbClr val="7030A0"/>
                </a:solidFill>
                <a:latin typeface="Times New Roman" pitchFamily="18" charset="0"/>
                <a:cs typeface="Times New Roman" pitchFamily="18" charset="0"/>
              </a:rPr>
              <a:t>usiness </a:t>
            </a:r>
            <a:r>
              <a:rPr lang="en-US" sz="2200" dirty="0">
                <a:solidFill>
                  <a:srgbClr val="7030A0"/>
                </a:solidFill>
                <a:latin typeface="Times New Roman" pitchFamily="18" charset="0"/>
                <a:cs typeface="Times New Roman" pitchFamily="18" charset="0"/>
              </a:rPr>
              <a:t>I</a:t>
            </a:r>
            <a:r>
              <a:rPr lang="en-US" sz="2200" dirty="0" smtClean="0">
                <a:solidFill>
                  <a:srgbClr val="7030A0"/>
                </a:solidFill>
                <a:latin typeface="Times New Roman" pitchFamily="18" charset="0"/>
                <a:cs typeface="Times New Roman" pitchFamily="18" charset="0"/>
              </a:rPr>
              <a:t>ntelligence </a:t>
            </a:r>
            <a:r>
              <a:rPr lang="en-US" sz="2200" dirty="0">
                <a:solidFill>
                  <a:srgbClr val="7030A0"/>
                </a:solidFill>
                <a:latin typeface="Times New Roman" pitchFamily="18" charset="0"/>
                <a:cs typeface="Times New Roman" pitchFamily="18" charset="0"/>
              </a:rPr>
              <a:t>and </a:t>
            </a:r>
            <a:r>
              <a:rPr lang="en-US" sz="2200" dirty="0" smtClean="0">
                <a:solidFill>
                  <a:srgbClr val="7030A0"/>
                </a:solidFill>
                <a:latin typeface="Times New Roman" pitchFamily="18" charset="0"/>
                <a:cs typeface="Times New Roman" pitchFamily="18" charset="0"/>
              </a:rPr>
              <a:t>Search </a:t>
            </a:r>
            <a:r>
              <a:rPr lang="en-US" sz="2200" dirty="0">
                <a:solidFill>
                  <a:srgbClr val="7030A0"/>
                </a:solidFill>
                <a:latin typeface="Times New Roman" pitchFamily="18" charset="0"/>
                <a:cs typeface="Times New Roman" pitchFamily="18" charset="0"/>
              </a:rPr>
              <a:t>E</a:t>
            </a:r>
            <a:r>
              <a:rPr lang="en-US" sz="2200" dirty="0" smtClean="0">
                <a:solidFill>
                  <a:srgbClr val="7030A0"/>
                </a:solidFill>
                <a:latin typeface="Times New Roman" pitchFamily="18" charset="0"/>
                <a:cs typeface="Times New Roman" pitchFamily="18" charset="0"/>
              </a:rPr>
              <a:t>ngines</a:t>
            </a:r>
            <a:r>
              <a:rPr lang="en-US" sz="2200" dirty="0">
                <a:solidFill>
                  <a:srgbClr val="7030A0"/>
                </a:solidFill>
                <a:latin typeface="Times New Roman" pitchFamily="18" charset="0"/>
                <a:cs typeface="Times New Roman" pitchFamily="18" charset="0"/>
              </a:rPr>
              <a:t>.</a:t>
            </a:r>
          </a:p>
          <a:p>
            <a:pPr algn="just"/>
            <a:r>
              <a:rPr lang="en-US" sz="2200" dirty="0">
                <a:solidFill>
                  <a:srgbClr val="FF0000"/>
                </a:solidFill>
                <a:latin typeface="Times New Roman" pitchFamily="18" charset="0"/>
                <a:cs typeface="Times New Roman" pitchFamily="18" charset="0"/>
              </a:rPr>
              <a:t>Business </a:t>
            </a:r>
            <a:r>
              <a:rPr lang="en-US" sz="2200" dirty="0" smtClean="0">
                <a:solidFill>
                  <a:srgbClr val="FF0000"/>
                </a:solidFill>
                <a:latin typeface="Times New Roman" pitchFamily="18" charset="0"/>
                <a:cs typeface="Times New Roman" pitchFamily="18" charset="0"/>
              </a:rPr>
              <a:t>Intelligence:</a:t>
            </a:r>
            <a:r>
              <a:rPr lang="en-US" sz="2200" dirty="0" smtClean="0">
                <a:latin typeface="Times New Roman" pitchFamily="18" charset="0"/>
                <a:cs typeface="Times New Roman" pitchFamily="18" charset="0"/>
              </a:rPr>
              <a:t> </a:t>
            </a:r>
          </a:p>
          <a:p>
            <a:pPr algn="just"/>
            <a:r>
              <a:rPr lang="en-US" sz="2200" dirty="0">
                <a:latin typeface="Times New Roman" pitchFamily="18" charset="0"/>
                <a:cs typeface="Times New Roman" pitchFamily="18" charset="0"/>
              </a:rPr>
              <a:t>	</a:t>
            </a:r>
            <a:r>
              <a:rPr lang="en-US" sz="2200" dirty="0" smtClean="0">
                <a:latin typeface="Times New Roman" pitchFamily="18" charset="0"/>
                <a:cs typeface="Times New Roman" pitchFamily="18" charset="0"/>
              </a:rPr>
              <a:t>It </a:t>
            </a:r>
            <a:r>
              <a:rPr lang="en-US" sz="2200" dirty="0">
                <a:latin typeface="Times New Roman" pitchFamily="18" charset="0"/>
                <a:cs typeface="Times New Roman" pitchFamily="18" charset="0"/>
              </a:rPr>
              <a:t>is critical for businesses to acquire a better understanding of the commercial context of their organization, such as their customers, the market, supply and resources, and competitors. Business intelligence (BI) technologies provide historical, current, and predictive views of business operations. </a:t>
            </a:r>
            <a:endParaRPr lang="en-US" sz="2200" dirty="0" smtClean="0">
              <a:latin typeface="Times New Roman" pitchFamily="18" charset="0"/>
              <a:cs typeface="Times New Roman" pitchFamily="18" charset="0"/>
            </a:endParaRPr>
          </a:p>
          <a:p>
            <a:pPr algn="just"/>
            <a:r>
              <a:rPr lang="en-US" sz="2200" dirty="0">
                <a:latin typeface="Times New Roman" pitchFamily="18" charset="0"/>
                <a:cs typeface="Times New Roman" pitchFamily="18" charset="0"/>
              </a:rPr>
              <a:t>	</a:t>
            </a:r>
            <a:r>
              <a:rPr lang="en-US" sz="2200" dirty="0" smtClean="0">
                <a:solidFill>
                  <a:srgbClr val="FF0000"/>
                </a:solidFill>
                <a:latin typeface="Times New Roman" pitchFamily="18" charset="0"/>
                <a:cs typeface="Times New Roman" pitchFamily="18" charset="0"/>
              </a:rPr>
              <a:t>Ex:</a:t>
            </a:r>
            <a:r>
              <a:rPr lang="en-US" sz="2200" dirty="0" smtClean="0">
                <a:latin typeface="Times New Roman" pitchFamily="18" charset="0"/>
                <a:cs typeface="Times New Roman" pitchFamily="18" charset="0"/>
              </a:rPr>
              <a:t> </a:t>
            </a:r>
            <a:r>
              <a:rPr lang="en-US" sz="2200" dirty="0">
                <a:latin typeface="Times New Roman" pitchFamily="18" charset="0"/>
                <a:cs typeface="Times New Roman" pitchFamily="18" charset="0"/>
              </a:rPr>
              <a:t>reporting, online analytical processing, business performance management, competitive intelligence, </a:t>
            </a:r>
            <a:r>
              <a:rPr lang="en-US" sz="2200" dirty="0" smtClean="0">
                <a:latin typeface="Times New Roman" pitchFamily="18" charset="0"/>
                <a:cs typeface="Times New Roman" pitchFamily="18" charset="0"/>
              </a:rPr>
              <a:t>benchmarking</a:t>
            </a:r>
            <a:r>
              <a:rPr lang="en-US" sz="2200" dirty="0">
                <a:latin typeface="Times New Roman" pitchFamily="18" charset="0"/>
                <a:cs typeface="Times New Roman" pitchFamily="18" charset="0"/>
              </a:rPr>
              <a:t>, and predictive analytics. </a:t>
            </a:r>
          </a:p>
          <a:p>
            <a:pPr algn="just"/>
            <a:r>
              <a:rPr lang="en-US" sz="2200" dirty="0" smtClean="0">
                <a:solidFill>
                  <a:srgbClr val="FF0000"/>
                </a:solidFill>
                <a:latin typeface="Times New Roman" pitchFamily="18" charset="0"/>
                <a:cs typeface="Times New Roman" pitchFamily="18" charset="0"/>
              </a:rPr>
              <a:t>	Importance:</a:t>
            </a:r>
            <a:r>
              <a:rPr lang="en-US" sz="2200" dirty="0" smtClean="0">
                <a:latin typeface="Times New Roman" pitchFamily="18" charset="0"/>
                <a:cs typeface="Times New Roman" pitchFamily="18" charset="0"/>
              </a:rPr>
              <a:t> </a:t>
            </a:r>
            <a:r>
              <a:rPr lang="en-US" sz="2200" dirty="0">
                <a:latin typeface="Times New Roman" pitchFamily="18" charset="0"/>
                <a:cs typeface="Times New Roman" pitchFamily="18" charset="0"/>
              </a:rPr>
              <a:t>Without data mining, many businesses may not be able to perform effective market analysis, compare customer feedback on </a:t>
            </a:r>
            <a:r>
              <a:rPr lang="en-US" sz="2200" dirty="0" smtClean="0">
                <a:latin typeface="Times New Roman" pitchFamily="18" charset="0"/>
                <a:cs typeface="Times New Roman" pitchFamily="18" charset="0"/>
              </a:rPr>
              <a:t>similar </a:t>
            </a:r>
            <a:r>
              <a:rPr lang="en-US" sz="2200" dirty="0">
                <a:latin typeface="Times New Roman" pitchFamily="18" charset="0"/>
                <a:cs typeface="Times New Roman" pitchFamily="18" charset="0"/>
              </a:rPr>
              <a:t>products, discover the strengths and weaknesses of their competitors, retain highly valuable customers, and make smart business decisions.</a:t>
            </a:r>
            <a:endParaRPr lang="en-IN" sz="2200" dirty="0">
              <a:solidFill>
                <a:srgbClr val="FF0000"/>
              </a:solidFill>
              <a:latin typeface="Times New Roman" pitchFamily="18" charset="0"/>
              <a:cs typeface="Times New Roman" pitchFamily="18" charset="0"/>
            </a:endParaRPr>
          </a:p>
        </p:txBody>
      </p:sp>
    </p:spTree>
    <p:extLst>
      <p:ext uri="{BB962C8B-B14F-4D97-AF65-F5344CB8AC3E}">
        <p14:creationId xmlns:p14="http://schemas.microsoft.com/office/powerpoint/2010/main" val="281190023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400" y="152400"/>
            <a:ext cx="8915400" cy="5847755"/>
          </a:xfrm>
          <a:prstGeom prst="rect">
            <a:avLst/>
          </a:prstGeom>
        </p:spPr>
        <p:txBody>
          <a:bodyPr wrap="square">
            <a:spAutoFit/>
          </a:bodyPr>
          <a:lstStyle/>
          <a:p>
            <a:pPr algn="just"/>
            <a:r>
              <a:rPr lang="en-US" sz="2200" dirty="0">
                <a:solidFill>
                  <a:srgbClr val="FF0000"/>
                </a:solidFill>
                <a:latin typeface="Times New Roman" pitchFamily="18" charset="0"/>
                <a:cs typeface="Times New Roman" pitchFamily="18" charset="0"/>
              </a:rPr>
              <a:t>Web Search </a:t>
            </a:r>
            <a:r>
              <a:rPr lang="en-US" sz="2200" dirty="0" smtClean="0">
                <a:solidFill>
                  <a:srgbClr val="FF0000"/>
                </a:solidFill>
                <a:latin typeface="Times New Roman" pitchFamily="18" charset="0"/>
                <a:cs typeface="Times New Roman" pitchFamily="18" charset="0"/>
              </a:rPr>
              <a:t>Engines:</a:t>
            </a:r>
          </a:p>
          <a:p>
            <a:pPr algn="just"/>
            <a:r>
              <a:rPr lang="en-US" sz="2200" dirty="0">
                <a:latin typeface="Times New Roman" pitchFamily="18" charset="0"/>
                <a:cs typeface="Times New Roman" pitchFamily="18" charset="0"/>
              </a:rPr>
              <a:t>	</a:t>
            </a:r>
            <a:r>
              <a:rPr lang="en-US" sz="2200" dirty="0" smtClean="0">
                <a:latin typeface="Times New Roman" pitchFamily="18" charset="0"/>
                <a:cs typeface="Times New Roman" pitchFamily="18" charset="0"/>
              </a:rPr>
              <a:t>A </a:t>
            </a:r>
            <a:r>
              <a:rPr lang="en-US" sz="2200" dirty="0">
                <a:latin typeface="Times New Roman" pitchFamily="18" charset="0"/>
                <a:cs typeface="Times New Roman" pitchFamily="18" charset="0"/>
              </a:rPr>
              <a:t>Web search engine is a specialized computer server that searches for information on the Web. The search results of a user query are often returned as a list (sometimes called hits). The hits may consist of web pages, images, and other types of files. Some search engines also search and return data available in public databases or open </a:t>
            </a:r>
            <a:r>
              <a:rPr lang="en-US" sz="2200" dirty="0" smtClean="0">
                <a:latin typeface="Times New Roman" pitchFamily="18" charset="0"/>
                <a:cs typeface="Times New Roman" pitchFamily="18" charset="0"/>
              </a:rPr>
              <a:t>directories</a:t>
            </a:r>
            <a:r>
              <a:rPr lang="en-US" sz="2200" dirty="0">
                <a:latin typeface="Times New Roman" pitchFamily="18" charset="0"/>
                <a:cs typeface="Times New Roman" pitchFamily="18" charset="0"/>
              </a:rPr>
              <a:t>. Search engines differ from web directories in that web directories are maintained by human editors whereas search engines operate algorithmically or by a mixture of algorithmic and human input. </a:t>
            </a:r>
          </a:p>
          <a:p>
            <a:pPr algn="just"/>
            <a:r>
              <a:rPr lang="en-US" sz="2200" dirty="0" smtClean="0">
                <a:latin typeface="Times New Roman" pitchFamily="18" charset="0"/>
                <a:cs typeface="Times New Roman" pitchFamily="18" charset="0"/>
              </a:rPr>
              <a:t>	Web </a:t>
            </a:r>
            <a:r>
              <a:rPr lang="en-US" sz="2200" dirty="0">
                <a:latin typeface="Times New Roman" pitchFamily="18" charset="0"/>
                <a:cs typeface="Times New Roman" pitchFamily="18" charset="0"/>
              </a:rPr>
              <a:t>search engines are essentially very large data mining applications. Various data mining techniques are used in all aspects of search engines, ranging from </a:t>
            </a:r>
            <a:r>
              <a:rPr lang="en-US" sz="2200" dirty="0" smtClean="0">
                <a:latin typeface="Times New Roman" pitchFamily="18" charset="0"/>
                <a:cs typeface="Times New Roman" pitchFamily="18" charset="0"/>
              </a:rPr>
              <a:t>crawling </a:t>
            </a:r>
            <a:r>
              <a:rPr lang="en-US" sz="2200" dirty="0">
                <a:latin typeface="Times New Roman" pitchFamily="18" charset="0"/>
                <a:cs typeface="Times New Roman" pitchFamily="18" charset="0"/>
              </a:rPr>
              <a:t>(e.g., deciding which pages should be crawled and the crawling frequencies), indexing (e.g., selecting pages to be indexed and deciding to which extent the index should be constructed), and searching (e.g., deciding how pages should be ranked, which </a:t>
            </a:r>
            <a:r>
              <a:rPr lang="en-US" sz="2200" dirty="0" smtClean="0">
                <a:latin typeface="Times New Roman" pitchFamily="18" charset="0"/>
                <a:cs typeface="Times New Roman" pitchFamily="18" charset="0"/>
              </a:rPr>
              <a:t>advertisements </a:t>
            </a:r>
            <a:r>
              <a:rPr lang="en-US" sz="2200" dirty="0">
                <a:latin typeface="Times New Roman" pitchFamily="18" charset="0"/>
                <a:cs typeface="Times New Roman" pitchFamily="18" charset="0"/>
              </a:rPr>
              <a:t>should be added, and how the search results can be personalized or made “context aware”).</a:t>
            </a:r>
            <a:endParaRPr lang="en-IN" sz="2200" dirty="0">
              <a:solidFill>
                <a:srgbClr val="FF0000"/>
              </a:solidFill>
              <a:latin typeface="Times New Roman" pitchFamily="18" charset="0"/>
              <a:cs typeface="Times New Roman" pitchFamily="18" charset="0"/>
            </a:endParaRPr>
          </a:p>
        </p:txBody>
      </p:sp>
    </p:spTree>
    <p:extLst>
      <p:ext uri="{BB962C8B-B14F-4D97-AF65-F5344CB8AC3E}">
        <p14:creationId xmlns:p14="http://schemas.microsoft.com/office/powerpoint/2010/main" val="86102069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400" y="152400"/>
            <a:ext cx="8839200" cy="5786199"/>
          </a:xfrm>
          <a:prstGeom prst="rect">
            <a:avLst/>
          </a:prstGeom>
        </p:spPr>
        <p:txBody>
          <a:bodyPr wrap="square">
            <a:spAutoFit/>
          </a:bodyPr>
          <a:lstStyle/>
          <a:p>
            <a:pPr algn="just"/>
            <a:r>
              <a:rPr lang="en-US" sz="2200" dirty="0" smtClean="0">
                <a:latin typeface="Times New Roman" pitchFamily="18" charset="0"/>
                <a:cs typeface="Times New Roman" pitchFamily="18" charset="0"/>
              </a:rPr>
              <a:t>	</a:t>
            </a:r>
            <a:r>
              <a:rPr lang="en-US" sz="2200" dirty="0" smtClean="0">
                <a:solidFill>
                  <a:srgbClr val="00B0F0"/>
                </a:solidFill>
                <a:latin typeface="Times New Roman" pitchFamily="18" charset="0"/>
                <a:cs typeface="Times New Roman" pitchFamily="18" charset="0"/>
              </a:rPr>
              <a:t>Search engines pose grand challenges to data mining:</a:t>
            </a:r>
            <a:r>
              <a:rPr lang="en-US" sz="2200" dirty="0" smtClean="0">
                <a:latin typeface="Times New Roman" pitchFamily="18" charset="0"/>
                <a:cs typeface="Times New Roman" pitchFamily="18" charset="0"/>
              </a:rPr>
              <a:t> </a:t>
            </a:r>
          </a:p>
          <a:p>
            <a:pPr marL="514350" indent="-514350" algn="just">
              <a:buAutoNum type="romanLcParenR"/>
            </a:pPr>
            <a:r>
              <a:rPr lang="en-US" sz="2200" dirty="0" smtClean="0">
                <a:latin typeface="Times New Roman" pitchFamily="18" charset="0"/>
                <a:cs typeface="Times New Roman" pitchFamily="18" charset="0"/>
              </a:rPr>
              <a:t>They have to handle a huge and ever-growing amount of data.</a:t>
            </a:r>
          </a:p>
          <a:p>
            <a:pPr marL="514350" indent="-514350" algn="just">
              <a:buAutoNum type="romanLcParenR"/>
            </a:pPr>
            <a:r>
              <a:rPr lang="en-US" sz="2200" dirty="0" smtClean="0">
                <a:latin typeface="Times New Roman" pitchFamily="18" charset="0"/>
                <a:cs typeface="Times New Roman" pitchFamily="18" charset="0"/>
              </a:rPr>
              <a:t>Web </a:t>
            </a:r>
            <a:r>
              <a:rPr lang="en-US" sz="2200" dirty="0">
                <a:latin typeface="Times New Roman" pitchFamily="18" charset="0"/>
                <a:cs typeface="Times New Roman" pitchFamily="18" charset="0"/>
              </a:rPr>
              <a:t>search engines often have to deal with online </a:t>
            </a:r>
            <a:r>
              <a:rPr lang="en-US" sz="2200" dirty="0" smtClean="0">
                <a:latin typeface="Times New Roman" pitchFamily="18" charset="0"/>
                <a:cs typeface="Times New Roman" pitchFamily="18" charset="0"/>
              </a:rPr>
              <a:t>data.</a:t>
            </a:r>
          </a:p>
          <a:p>
            <a:pPr marL="514350" indent="-514350" algn="just">
              <a:buAutoNum type="romanLcParenR"/>
            </a:pPr>
            <a:r>
              <a:rPr lang="en-US" sz="2200" dirty="0" smtClean="0">
                <a:latin typeface="Times New Roman" pitchFamily="18" charset="0"/>
                <a:cs typeface="Times New Roman" pitchFamily="18" charset="0"/>
              </a:rPr>
              <a:t>Web </a:t>
            </a:r>
            <a:r>
              <a:rPr lang="en-US" sz="2200" dirty="0">
                <a:latin typeface="Times New Roman" pitchFamily="18" charset="0"/>
                <a:cs typeface="Times New Roman" pitchFamily="18" charset="0"/>
              </a:rPr>
              <a:t>search engines often have to deal with queries that are asked only a very small number of times. </a:t>
            </a:r>
            <a:endParaRPr lang="en-US" sz="2200" dirty="0" smtClean="0">
              <a:latin typeface="Times New Roman" pitchFamily="18" charset="0"/>
              <a:cs typeface="Times New Roman" pitchFamily="18" charset="0"/>
            </a:endParaRPr>
          </a:p>
          <a:p>
            <a:pPr algn="just"/>
            <a:endParaRPr lang="en-US" sz="2200" dirty="0">
              <a:latin typeface="Times New Roman" pitchFamily="18" charset="0"/>
              <a:cs typeface="Times New Roman" pitchFamily="18" charset="0"/>
            </a:endParaRPr>
          </a:p>
          <a:p>
            <a:pPr algn="just"/>
            <a:endParaRPr lang="en-US" sz="2200" dirty="0" smtClean="0">
              <a:latin typeface="Times New Roman" pitchFamily="18" charset="0"/>
              <a:cs typeface="Times New Roman" pitchFamily="18" charset="0"/>
            </a:endParaRPr>
          </a:p>
          <a:p>
            <a:pPr algn="just"/>
            <a:r>
              <a:rPr lang="en-IN" sz="3200" b="1" u="sng" dirty="0" smtClean="0">
                <a:solidFill>
                  <a:srgbClr val="FF0000"/>
                </a:solidFill>
              </a:rPr>
              <a:t>Major Issues </a:t>
            </a:r>
            <a:r>
              <a:rPr lang="en-IN" sz="3200" b="1" u="sng" dirty="0">
                <a:solidFill>
                  <a:srgbClr val="FF0000"/>
                </a:solidFill>
              </a:rPr>
              <a:t>in Data </a:t>
            </a:r>
            <a:r>
              <a:rPr lang="en-IN" sz="3200" b="1" u="sng" dirty="0" smtClean="0">
                <a:solidFill>
                  <a:srgbClr val="FF0000"/>
                </a:solidFill>
              </a:rPr>
              <a:t>Mining:</a:t>
            </a:r>
          </a:p>
          <a:p>
            <a:pPr algn="just"/>
            <a:endParaRPr lang="en-IN" sz="2400" dirty="0" smtClean="0"/>
          </a:p>
          <a:p>
            <a:pPr marL="457200" indent="-457200" algn="just">
              <a:buAutoNum type="alphaLcParenR"/>
            </a:pPr>
            <a:r>
              <a:rPr lang="en-US" sz="2400" b="1" dirty="0" smtClean="0">
                <a:solidFill>
                  <a:srgbClr val="00B050"/>
                </a:solidFill>
                <a:latin typeface="Times New Roman" pitchFamily="18" charset="0"/>
                <a:cs typeface="Times New Roman" pitchFamily="18" charset="0"/>
              </a:rPr>
              <a:t>Mining Methodology: </a:t>
            </a:r>
          </a:p>
          <a:p>
            <a:pPr algn="just"/>
            <a:r>
              <a:rPr lang="en-US" sz="2200" dirty="0">
                <a:latin typeface="Times New Roman" pitchFamily="18" charset="0"/>
                <a:cs typeface="Times New Roman" pitchFamily="18" charset="0"/>
              </a:rPr>
              <a:t>	</a:t>
            </a:r>
            <a:r>
              <a:rPr lang="en-US" sz="2200" dirty="0" smtClean="0">
                <a:latin typeface="Times New Roman" pitchFamily="18" charset="0"/>
                <a:cs typeface="Times New Roman" pitchFamily="18" charset="0"/>
              </a:rPr>
              <a:t>Researchers </a:t>
            </a:r>
            <a:r>
              <a:rPr lang="en-US" sz="2200" dirty="0">
                <a:latin typeface="Times New Roman" pitchFamily="18" charset="0"/>
                <a:cs typeface="Times New Roman" pitchFamily="18" charset="0"/>
              </a:rPr>
              <a:t>have been vigorously developing new data mining methodologies. This involves the investigation of new kinds of knowledge, mining in multidimensional space, integrating methods </a:t>
            </a:r>
            <a:r>
              <a:rPr lang="en-US" sz="2200" dirty="0" smtClean="0">
                <a:latin typeface="Times New Roman" pitchFamily="18" charset="0"/>
                <a:cs typeface="Times New Roman" pitchFamily="18" charset="0"/>
              </a:rPr>
              <a:t>from other disciplines</a:t>
            </a:r>
            <a:r>
              <a:rPr lang="en-US" sz="2200" dirty="0">
                <a:latin typeface="Times New Roman" pitchFamily="18" charset="0"/>
                <a:cs typeface="Times New Roman" pitchFamily="18" charset="0"/>
              </a:rPr>
              <a:t>, and </a:t>
            </a:r>
            <a:r>
              <a:rPr lang="en-US" sz="2200" dirty="0" smtClean="0">
                <a:latin typeface="Times New Roman" pitchFamily="18" charset="0"/>
                <a:cs typeface="Times New Roman" pitchFamily="18" charset="0"/>
              </a:rPr>
              <a:t>the consideration </a:t>
            </a:r>
            <a:r>
              <a:rPr lang="en-US" sz="2200" dirty="0">
                <a:latin typeface="Times New Roman" pitchFamily="18" charset="0"/>
                <a:cs typeface="Times New Roman" pitchFamily="18" charset="0"/>
              </a:rPr>
              <a:t>of semantic ties among data objects. In addition, mining methodologies should consider issues such as data uncertainty, noise, and incompleteness. </a:t>
            </a:r>
            <a:endParaRPr lang="en-IN" sz="2200" dirty="0">
              <a:latin typeface="Times New Roman" pitchFamily="18" charset="0"/>
              <a:cs typeface="Times New Roman" pitchFamily="18" charset="0"/>
            </a:endParaRPr>
          </a:p>
        </p:txBody>
      </p:sp>
    </p:spTree>
    <p:extLst>
      <p:ext uri="{BB962C8B-B14F-4D97-AF65-F5344CB8AC3E}">
        <p14:creationId xmlns:p14="http://schemas.microsoft.com/office/powerpoint/2010/main" val="260183307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6200" y="152401"/>
            <a:ext cx="8915400" cy="6617196"/>
          </a:xfrm>
          <a:prstGeom prst="rect">
            <a:avLst/>
          </a:prstGeom>
        </p:spPr>
        <p:txBody>
          <a:bodyPr wrap="square">
            <a:spAutoFit/>
          </a:bodyPr>
          <a:lstStyle/>
          <a:p>
            <a:pPr algn="just"/>
            <a:r>
              <a:rPr lang="en-US" sz="2800" b="1" dirty="0" smtClean="0">
                <a:solidFill>
                  <a:srgbClr val="00B050"/>
                </a:solidFill>
                <a:latin typeface="Times New Roman" pitchFamily="18" charset="0"/>
                <a:cs typeface="Times New Roman" pitchFamily="18" charset="0"/>
              </a:rPr>
              <a:t>Various </a:t>
            </a:r>
            <a:r>
              <a:rPr lang="en-US" sz="2800" b="1" dirty="0">
                <a:solidFill>
                  <a:srgbClr val="00B050"/>
                </a:solidFill>
                <a:latin typeface="Times New Roman" pitchFamily="18" charset="0"/>
                <a:cs typeface="Times New Roman" pitchFamily="18" charset="0"/>
              </a:rPr>
              <a:t>aspects of mining </a:t>
            </a:r>
            <a:r>
              <a:rPr lang="en-US" sz="2800" b="1" dirty="0" smtClean="0">
                <a:solidFill>
                  <a:srgbClr val="00B050"/>
                </a:solidFill>
                <a:latin typeface="Times New Roman" pitchFamily="18" charset="0"/>
                <a:cs typeface="Times New Roman" pitchFamily="18" charset="0"/>
              </a:rPr>
              <a:t>methodology are:</a:t>
            </a:r>
          </a:p>
          <a:p>
            <a:pPr algn="just"/>
            <a:r>
              <a:rPr lang="en-US" sz="2200" dirty="0" smtClean="0">
                <a:solidFill>
                  <a:srgbClr val="FF0000"/>
                </a:solidFill>
                <a:latin typeface="Times New Roman" pitchFamily="18" charset="0"/>
                <a:cs typeface="Times New Roman" pitchFamily="18" charset="0"/>
              </a:rPr>
              <a:t>Mining </a:t>
            </a:r>
            <a:r>
              <a:rPr lang="en-US" sz="2200" dirty="0">
                <a:solidFill>
                  <a:srgbClr val="FF0000"/>
                </a:solidFill>
                <a:latin typeface="Times New Roman" pitchFamily="18" charset="0"/>
                <a:cs typeface="Times New Roman" pitchFamily="18" charset="0"/>
              </a:rPr>
              <a:t>various and new kinds of knowledge:</a:t>
            </a:r>
            <a:r>
              <a:rPr lang="en-US" sz="2200" dirty="0">
                <a:latin typeface="Times New Roman" pitchFamily="18" charset="0"/>
                <a:cs typeface="Times New Roman" pitchFamily="18" charset="0"/>
              </a:rPr>
              <a:t> Data mining covers a wide spectrum of data analysis and knowledge discovery tasks, from data characterization and </a:t>
            </a:r>
            <a:r>
              <a:rPr lang="en-US" sz="2200" dirty="0" smtClean="0">
                <a:latin typeface="Times New Roman" pitchFamily="18" charset="0"/>
                <a:cs typeface="Times New Roman" pitchFamily="18" charset="0"/>
              </a:rPr>
              <a:t>discrimination </a:t>
            </a:r>
            <a:r>
              <a:rPr lang="en-US" sz="2200" dirty="0">
                <a:latin typeface="Times New Roman" pitchFamily="18" charset="0"/>
                <a:cs typeface="Times New Roman" pitchFamily="18" charset="0"/>
              </a:rPr>
              <a:t>to association and correlation analysis, classification, regression, clustering, outlier analysis, sequence analysis, and trend and evolution analysis. </a:t>
            </a:r>
            <a:endParaRPr lang="en-US" sz="2200" dirty="0" smtClean="0">
              <a:latin typeface="Times New Roman" pitchFamily="18" charset="0"/>
              <a:cs typeface="Times New Roman" pitchFamily="18" charset="0"/>
            </a:endParaRPr>
          </a:p>
          <a:p>
            <a:pPr algn="just"/>
            <a:r>
              <a:rPr lang="en-US" sz="2200" dirty="0">
                <a:solidFill>
                  <a:srgbClr val="FF0000"/>
                </a:solidFill>
                <a:latin typeface="Times New Roman" pitchFamily="18" charset="0"/>
                <a:cs typeface="Times New Roman" pitchFamily="18" charset="0"/>
              </a:rPr>
              <a:t>Mining knowledge in multidimensional space: </a:t>
            </a:r>
            <a:r>
              <a:rPr lang="en-US" sz="2200" dirty="0">
                <a:latin typeface="Times New Roman" pitchFamily="18" charset="0"/>
                <a:cs typeface="Times New Roman" pitchFamily="18" charset="0"/>
              </a:rPr>
              <a:t>When searching for knowledge in large data sets, we can explore the data in multidimensional space</a:t>
            </a:r>
            <a:r>
              <a:rPr lang="en-US" sz="2200" dirty="0" smtClean="0">
                <a:latin typeface="Times New Roman" pitchFamily="18" charset="0"/>
                <a:cs typeface="Times New Roman" pitchFamily="18" charset="0"/>
              </a:rPr>
              <a:t>.</a:t>
            </a:r>
          </a:p>
          <a:p>
            <a:pPr algn="just"/>
            <a:r>
              <a:rPr lang="en-US" sz="2200" dirty="0">
                <a:solidFill>
                  <a:srgbClr val="FF0000"/>
                </a:solidFill>
                <a:latin typeface="Times New Roman" pitchFamily="18" charset="0"/>
                <a:cs typeface="Times New Roman" pitchFamily="18" charset="0"/>
              </a:rPr>
              <a:t>Data mining—an interdisciplinary effort: </a:t>
            </a:r>
            <a:r>
              <a:rPr lang="en-US" sz="2200" dirty="0">
                <a:latin typeface="Times New Roman" pitchFamily="18" charset="0"/>
                <a:cs typeface="Times New Roman" pitchFamily="18" charset="0"/>
              </a:rPr>
              <a:t>The power of data mining can be </a:t>
            </a:r>
            <a:r>
              <a:rPr lang="en-US" sz="2200" dirty="0" smtClean="0">
                <a:latin typeface="Times New Roman" pitchFamily="18" charset="0"/>
                <a:cs typeface="Times New Roman" pitchFamily="18" charset="0"/>
              </a:rPr>
              <a:t>substantially </a:t>
            </a:r>
            <a:r>
              <a:rPr lang="en-US" sz="2200" dirty="0">
                <a:latin typeface="Times New Roman" pitchFamily="18" charset="0"/>
                <a:cs typeface="Times New Roman" pitchFamily="18" charset="0"/>
              </a:rPr>
              <a:t>enhanced by integrating new methods from multiple disciplines. </a:t>
            </a:r>
            <a:endParaRPr lang="en-US" sz="2200" dirty="0" smtClean="0">
              <a:latin typeface="Times New Roman" pitchFamily="18" charset="0"/>
              <a:cs typeface="Times New Roman" pitchFamily="18" charset="0"/>
            </a:endParaRPr>
          </a:p>
          <a:p>
            <a:pPr algn="just"/>
            <a:r>
              <a:rPr lang="en-US" sz="2200" dirty="0">
                <a:solidFill>
                  <a:srgbClr val="FF0000"/>
                </a:solidFill>
                <a:latin typeface="Times New Roman" pitchFamily="18" charset="0"/>
                <a:cs typeface="Times New Roman" pitchFamily="18" charset="0"/>
              </a:rPr>
              <a:t>Boosting the power of discovery in a networked environment: </a:t>
            </a:r>
            <a:r>
              <a:rPr lang="en-US" sz="2200" dirty="0">
                <a:latin typeface="Times New Roman" pitchFamily="18" charset="0"/>
                <a:cs typeface="Times New Roman" pitchFamily="18" charset="0"/>
              </a:rPr>
              <a:t>Most data objects reside in a linked or interconnected environment, whether it be the Web, database </a:t>
            </a:r>
            <a:r>
              <a:rPr lang="en-US" sz="2200" dirty="0" smtClean="0">
                <a:latin typeface="Times New Roman" pitchFamily="18" charset="0"/>
                <a:cs typeface="Times New Roman" pitchFamily="18" charset="0"/>
              </a:rPr>
              <a:t>relations</a:t>
            </a:r>
            <a:r>
              <a:rPr lang="en-US" sz="2200" dirty="0">
                <a:latin typeface="Times New Roman" pitchFamily="18" charset="0"/>
                <a:cs typeface="Times New Roman" pitchFamily="18" charset="0"/>
              </a:rPr>
              <a:t>, files, or documents. Semantic links across multiple data objects can be used to advantage in data mining. </a:t>
            </a:r>
            <a:endParaRPr lang="en-US" sz="2200" dirty="0" smtClean="0">
              <a:latin typeface="Times New Roman" pitchFamily="18" charset="0"/>
              <a:cs typeface="Times New Roman" pitchFamily="18" charset="0"/>
            </a:endParaRPr>
          </a:p>
          <a:p>
            <a:pPr algn="just"/>
            <a:r>
              <a:rPr lang="en-US" sz="2200" dirty="0">
                <a:solidFill>
                  <a:srgbClr val="FF0000"/>
                </a:solidFill>
                <a:latin typeface="Times New Roman" pitchFamily="18" charset="0"/>
                <a:cs typeface="Times New Roman" pitchFamily="18" charset="0"/>
              </a:rPr>
              <a:t>Handling uncertainty, noise, or incompleteness of data: </a:t>
            </a:r>
            <a:r>
              <a:rPr lang="en-US" sz="2200" dirty="0">
                <a:latin typeface="Times New Roman" pitchFamily="18" charset="0"/>
                <a:cs typeface="Times New Roman" pitchFamily="18" charset="0"/>
              </a:rPr>
              <a:t>Data often contain noise, errors, exceptions, or uncertainty, or are incomplete. Errors and noise may confuse the data mining process, leading to the derivation of erroneous patterns. </a:t>
            </a:r>
            <a:endParaRPr lang="en-IN" sz="2200" dirty="0">
              <a:latin typeface="Times New Roman" pitchFamily="18" charset="0"/>
              <a:cs typeface="Times New Roman" pitchFamily="18" charset="0"/>
            </a:endParaRPr>
          </a:p>
        </p:txBody>
      </p:sp>
    </p:spTree>
    <p:extLst>
      <p:ext uri="{BB962C8B-B14F-4D97-AF65-F5344CB8AC3E}">
        <p14:creationId xmlns:p14="http://schemas.microsoft.com/office/powerpoint/2010/main" val="29668734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400" y="152401"/>
            <a:ext cx="8839200" cy="6678751"/>
          </a:xfrm>
          <a:prstGeom prst="rect">
            <a:avLst/>
          </a:prstGeom>
        </p:spPr>
        <p:txBody>
          <a:bodyPr wrap="square">
            <a:spAutoFit/>
          </a:bodyPr>
          <a:lstStyle/>
          <a:p>
            <a:pPr algn="just"/>
            <a:r>
              <a:rPr lang="en-IN" sz="2800" b="1" u="sng" dirty="0">
                <a:solidFill>
                  <a:srgbClr val="00B050"/>
                </a:solidFill>
                <a:latin typeface="Times New Roman" pitchFamily="18" charset="0"/>
                <a:cs typeface="Times New Roman" pitchFamily="18" charset="0"/>
              </a:rPr>
              <a:t>User </a:t>
            </a:r>
            <a:r>
              <a:rPr lang="en-IN" sz="2800" b="1" u="sng" dirty="0" smtClean="0">
                <a:solidFill>
                  <a:srgbClr val="00B050"/>
                </a:solidFill>
                <a:latin typeface="Times New Roman" pitchFamily="18" charset="0"/>
                <a:cs typeface="Times New Roman" pitchFamily="18" charset="0"/>
              </a:rPr>
              <a:t>Interaction:</a:t>
            </a:r>
          </a:p>
          <a:p>
            <a:pPr algn="just"/>
            <a:r>
              <a:rPr lang="en-IN" sz="2000" dirty="0" smtClean="0">
                <a:latin typeface="Times New Roman" pitchFamily="18" charset="0"/>
                <a:cs typeface="Times New Roman" pitchFamily="18" charset="0"/>
              </a:rPr>
              <a:t>	The user plays an important role in the data mining process.</a:t>
            </a:r>
          </a:p>
          <a:p>
            <a:pPr algn="just"/>
            <a:endParaRPr lang="en-IN" sz="2000" dirty="0" smtClean="0">
              <a:latin typeface="Times New Roman" pitchFamily="18" charset="0"/>
              <a:cs typeface="Times New Roman" pitchFamily="18" charset="0"/>
            </a:endParaRPr>
          </a:p>
          <a:p>
            <a:pPr algn="just"/>
            <a:r>
              <a:rPr lang="en-US" sz="2000" dirty="0" smtClean="0">
                <a:solidFill>
                  <a:srgbClr val="FF0000"/>
                </a:solidFill>
                <a:latin typeface="Times New Roman" pitchFamily="18" charset="0"/>
                <a:cs typeface="Times New Roman" pitchFamily="18" charset="0"/>
              </a:rPr>
              <a:t>	Interactive </a:t>
            </a:r>
            <a:r>
              <a:rPr lang="en-US" sz="2000" dirty="0">
                <a:solidFill>
                  <a:srgbClr val="FF0000"/>
                </a:solidFill>
                <a:latin typeface="Times New Roman" pitchFamily="18" charset="0"/>
                <a:cs typeface="Times New Roman" pitchFamily="18" charset="0"/>
              </a:rPr>
              <a:t>mining: </a:t>
            </a:r>
            <a:r>
              <a:rPr lang="en-US" sz="2000" dirty="0">
                <a:latin typeface="Times New Roman" pitchFamily="18" charset="0"/>
                <a:cs typeface="Times New Roman" pitchFamily="18" charset="0"/>
              </a:rPr>
              <a:t>The data mining process should be highly interactive. Thus, it is important to build flexible user interfaces and an exploratory mining environment, facilitating the user’s interaction with the system</a:t>
            </a:r>
            <a:r>
              <a:rPr lang="en-US" sz="2000" dirty="0" smtClean="0">
                <a:latin typeface="Times New Roman" pitchFamily="18" charset="0"/>
                <a:cs typeface="Times New Roman" pitchFamily="18" charset="0"/>
              </a:rPr>
              <a:t>.</a:t>
            </a:r>
          </a:p>
          <a:p>
            <a:pPr algn="just"/>
            <a:endParaRPr lang="en-US" sz="2000" dirty="0" smtClean="0">
              <a:latin typeface="Times New Roman" pitchFamily="18" charset="0"/>
              <a:cs typeface="Times New Roman" pitchFamily="18" charset="0"/>
            </a:endParaRPr>
          </a:p>
          <a:p>
            <a:pPr algn="just"/>
            <a:r>
              <a:rPr lang="en-US" sz="2000" dirty="0" smtClean="0">
                <a:solidFill>
                  <a:srgbClr val="FF0000"/>
                </a:solidFill>
                <a:latin typeface="Times New Roman" pitchFamily="18" charset="0"/>
                <a:cs typeface="Times New Roman" pitchFamily="18" charset="0"/>
              </a:rPr>
              <a:t>	Incorporation </a:t>
            </a:r>
            <a:r>
              <a:rPr lang="en-US" sz="2000" dirty="0">
                <a:solidFill>
                  <a:srgbClr val="FF0000"/>
                </a:solidFill>
                <a:latin typeface="Times New Roman" pitchFamily="18" charset="0"/>
                <a:cs typeface="Times New Roman" pitchFamily="18" charset="0"/>
              </a:rPr>
              <a:t>of background knowledge: </a:t>
            </a:r>
            <a:r>
              <a:rPr lang="en-US" sz="2000" dirty="0">
                <a:latin typeface="Times New Roman" pitchFamily="18" charset="0"/>
                <a:cs typeface="Times New Roman" pitchFamily="18" charset="0"/>
              </a:rPr>
              <a:t>Background knowledge, constraints, rules, and other information regarding the domain under study should be incorporated  into the knowledge discovery process. Such knowledge can be used for pattern evaluation as well as to guide the search toward interesting patterns</a:t>
            </a:r>
            <a:r>
              <a:rPr lang="en-US" sz="2000" dirty="0" smtClean="0">
                <a:latin typeface="Times New Roman" pitchFamily="18" charset="0"/>
                <a:cs typeface="Times New Roman" pitchFamily="18" charset="0"/>
              </a:rPr>
              <a:t>.</a:t>
            </a:r>
          </a:p>
          <a:p>
            <a:pPr algn="just"/>
            <a:endParaRPr lang="en-US" sz="2000" dirty="0" smtClean="0">
              <a:latin typeface="Times New Roman" pitchFamily="18" charset="0"/>
              <a:cs typeface="Times New Roman" pitchFamily="18" charset="0"/>
            </a:endParaRPr>
          </a:p>
          <a:p>
            <a:pPr algn="just"/>
            <a:r>
              <a:rPr lang="en-US" sz="2000" dirty="0" smtClean="0">
                <a:solidFill>
                  <a:srgbClr val="FF0000"/>
                </a:solidFill>
                <a:latin typeface="Times New Roman" pitchFamily="18" charset="0"/>
                <a:cs typeface="Times New Roman" pitchFamily="18" charset="0"/>
              </a:rPr>
              <a:t>	Ad </a:t>
            </a:r>
            <a:r>
              <a:rPr lang="en-US" sz="2000" dirty="0">
                <a:solidFill>
                  <a:srgbClr val="FF0000"/>
                </a:solidFill>
                <a:latin typeface="Times New Roman" pitchFamily="18" charset="0"/>
                <a:cs typeface="Times New Roman" pitchFamily="18" charset="0"/>
              </a:rPr>
              <a:t>hoc data mining and data mining query languages: </a:t>
            </a:r>
            <a:r>
              <a:rPr lang="en-US" sz="2000" dirty="0">
                <a:latin typeface="Times New Roman" pitchFamily="18" charset="0"/>
                <a:cs typeface="Times New Roman" pitchFamily="18" charset="0"/>
              </a:rPr>
              <a:t>Query languages (e.g., SQL) have played an important role in flexible searching because they allow users to pose ad hoc queries. Similarly, high-level data mining query languages or other high-level </a:t>
            </a:r>
            <a:r>
              <a:rPr lang="en-US" sz="2000" dirty="0" smtClean="0">
                <a:latin typeface="Times New Roman" pitchFamily="18" charset="0"/>
                <a:cs typeface="Times New Roman" pitchFamily="18" charset="0"/>
              </a:rPr>
              <a:t>flexible </a:t>
            </a:r>
            <a:r>
              <a:rPr lang="en-US" sz="2000" dirty="0">
                <a:latin typeface="Times New Roman" pitchFamily="18" charset="0"/>
                <a:cs typeface="Times New Roman" pitchFamily="18" charset="0"/>
              </a:rPr>
              <a:t>user interfaces will give users the freedom to define ad hoc data mining tasks</a:t>
            </a:r>
            <a:r>
              <a:rPr lang="en-US" sz="2000" dirty="0" smtClean="0">
                <a:latin typeface="Times New Roman" pitchFamily="18" charset="0"/>
                <a:cs typeface="Times New Roman" pitchFamily="18" charset="0"/>
              </a:rPr>
              <a:t>.</a:t>
            </a:r>
          </a:p>
          <a:p>
            <a:pPr algn="just"/>
            <a:endParaRPr lang="en-US" sz="2000" dirty="0" smtClean="0">
              <a:latin typeface="Times New Roman" pitchFamily="18" charset="0"/>
              <a:cs typeface="Times New Roman" pitchFamily="18" charset="0"/>
            </a:endParaRPr>
          </a:p>
          <a:p>
            <a:pPr algn="just"/>
            <a:r>
              <a:rPr lang="en-US" sz="2000" dirty="0" smtClean="0">
                <a:solidFill>
                  <a:srgbClr val="FF0000"/>
                </a:solidFill>
                <a:latin typeface="Times New Roman" pitchFamily="18" charset="0"/>
                <a:cs typeface="Times New Roman" pitchFamily="18" charset="0"/>
              </a:rPr>
              <a:t>	Presentation </a:t>
            </a:r>
            <a:r>
              <a:rPr lang="en-US" sz="2000" dirty="0">
                <a:solidFill>
                  <a:srgbClr val="FF0000"/>
                </a:solidFill>
                <a:latin typeface="Times New Roman" pitchFamily="18" charset="0"/>
                <a:cs typeface="Times New Roman" pitchFamily="18" charset="0"/>
              </a:rPr>
              <a:t>and visualization of data mining results: </a:t>
            </a:r>
            <a:r>
              <a:rPr lang="en-US" sz="2000" dirty="0" smtClean="0">
                <a:latin typeface="Times New Roman" pitchFamily="18" charset="0"/>
                <a:cs typeface="Times New Roman" pitchFamily="18" charset="0"/>
              </a:rPr>
              <a:t>Data </a:t>
            </a:r>
            <a:r>
              <a:rPr lang="en-US" sz="2000" dirty="0">
                <a:latin typeface="Times New Roman" pitchFamily="18" charset="0"/>
                <a:cs typeface="Times New Roman" pitchFamily="18" charset="0"/>
              </a:rPr>
              <a:t>mining system present data mining results, vividly and flexibly, so that the discovered knowledge can be easily understood and directly usable by </a:t>
            </a:r>
            <a:r>
              <a:rPr lang="en-US" sz="2000" dirty="0" smtClean="0">
                <a:latin typeface="Times New Roman" pitchFamily="18" charset="0"/>
                <a:cs typeface="Times New Roman" pitchFamily="18" charset="0"/>
              </a:rPr>
              <a:t>humans</a:t>
            </a:r>
            <a:r>
              <a:rPr lang="en-US" sz="2000" dirty="0">
                <a:latin typeface="Times New Roman" pitchFamily="18" charset="0"/>
                <a:cs typeface="Times New Roman" pitchFamily="18" charset="0"/>
              </a:rPr>
              <a:t>.</a:t>
            </a:r>
            <a:endParaRPr lang="en-IN" sz="2000" dirty="0">
              <a:latin typeface="Times New Roman" pitchFamily="18" charset="0"/>
              <a:cs typeface="Times New Roman" pitchFamily="18" charset="0"/>
            </a:endParaRPr>
          </a:p>
        </p:txBody>
      </p:sp>
    </p:spTree>
    <p:extLst>
      <p:ext uri="{BB962C8B-B14F-4D97-AF65-F5344CB8AC3E}">
        <p14:creationId xmlns:p14="http://schemas.microsoft.com/office/powerpoint/2010/main" val="277953560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 y="152400"/>
            <a:ext cx="8763000" cy="5940088"/>
          </a:xfrm>
          <a:prstGeom prst="rect">
            <a:avLst/>
          </a:prstGeom>
        </p:spPr>
        <p:txBody>
          <a:bodyPr wrap="square">
            <a:spAutoFit/>
          </a:bodyPr>
          <a:lstStyle/>
          <a:p>
            <a:pPr algn="just"/>
            <a:r>
              <a:rPr lang="en-US" sz="2800" b="1" u="sng" dirty="0">
                <a:solidFill>
                  <a:srgbClr val="FF0000"/>
                </a:solidFill>
                <a:latin typeface="Times New Roman" pitchFamily="18" charset="0"/>
                <a:cs typeface="Times New Roman" pitchFamily="18" charset="0"/>
              </a:rPr>
              <a:t>Efficiency and </a:t>
            </a:r>
            <a:r>
              <a:rPr lang="en-US" sz="2800" b="1" u="sng" dirty="0" smtClean="0">
                <a:solidFill>
                  <a:srgbClr val="FF0000"/>
                </a:solidFill>
                <a:latin typeface="Times New Roman" pitchFamily="18" charset="0"/>
                <a:cs typeface="Times New Roman" pitchFamily="18" charset="0"/>
              </a:rPr>
              <a:t>Scalability: </a:t>
            </a:r>
            <a:endParaRPr lang="en-US" sz="2200" b="1" u="sng" dirty="0" smtClean="0">
              <a:solidFill>
                <a:srgbClr val="FF0000"/>
              </a:solidFill>
              <a:latin typeface="Times New Roman" pitchFamily="18" charset="0"/>
              <a:cs typeface="Times New Roman" pitchFamily="18" charset="0"/>
            </a:endParaRPr>
          </a:p>
          <a:p>
            <a:pPr algn="just"/>
            <a:r>
              <a:rPr lang="en-US" sz="2200" dirty="0" smtClean="0">
                <a:latin typeface="Times New Roman" pitchFamily="18" charset="0"/>
                <a:cs typeface="Times New Roman" pitchFamily="18" charset="0"/>
              </a:rPr>
              <a:t>	Efficiency </a:t>
            </a:r>
            <a:r>
              <a:rPr lang="en-US" sz="2200" dirty="0">
                <a:latin typeface="Times New Roman" pitchFamily="18" charset="0"/>
                <a:cs typeface="Times New Roman" pitchFamily="18" charset="0"/>
              </a:rPr>
              <a:t>and scalability are always considered when comparing data mining </a:t>
            </a:r>
            <a:r>
              <a:rPr lang="en-US" sz="2200" dirty="0" smtClean="0">
                <a:latin typeface="Times New Roman" pitchFamily="18" charset="0"/>
                <a:cs typeface="Times New Roman" pitchFamily="18" charset="0"/>
              </a:rPr>
              <a:t>algorithms.</a:t>
            </a:r>
          </a:p>
          <a:p>
            <a:pPr algn="just"/>
            <a:endParaRPr lang="en-US" sz="2200" dirty="0" smtClean="0">
              <a:solidFill>
                <a:srgbClr val="FF0000"/>
              </a:solidFill>
              <a:latin typeface="Times New Roman" pitchFamily="18" charset="0"/>
              <a:cs typeface="Times New Roman" pitchFamily="18" charset="0"/>
            </a:endParaRPr>
          </a:p>
          <a:p>
            <a:pPr algn="just"/>
            <a:r>
              <a:rPr lang="en-US" sz="2200" dirty="0" smtClean="0">
                <a:solidFill>
                  <a:srgbClr val="FF0000"/>
                </a:solidFill>
                <a:latin typeface="Times New Roman" pitchFamily="18" charset="0"/>
                <a:cs typeface="Times New Roman" pitchFamily="18" charset="0"/>
              </a:rPr>
              <a:t>	Efficiency </a:t>
            </a:r>
            <a:r>
              <a:rPr lang="en-US" sz="2200" dirty="0">
                <a:solidFill>
                  <a:srgbClr val="FF0000"/>
                </a:solidFill>
                <a:latin typeface="Times New Roman" pitchFamily="18" charset="0"/>
                <a:cs typeface="Times New Roman" pitchFamily="18" charset="0"/>
              </a:rPr>
              <a:t>and scalability of data mining algorithms: </a:t>
            </a:r>
            <a:r>
              <a:rPr lang="en-US" sz="2200" dirty="0">
                <a:latin typeface="Times New Roman" pitchFamily="18" charset="0"/>
                <a:cs typeface="Times New Roman" pitchFamily="18" charset="0"/>
              </a:rPr>
              <a:t>Data mining algorithms must be efficient and scalable in order to effectively extract information from huge amounts of data in many data repositories or in dynamic data streams. </a:t>
            </a:r>
            <a:endParaRPr lang="en-US" sz="2200" dirty="0" smtClean="0">
              <a:latin typeface="Times New Roman" pitchFamily="18" charset="0"/>
              <a:cs typeface="Times New Roman" pitchFamily="18" charset="0"/>
            </a:endParaRPr>
          </a:p>
          <a:p>
            <a:pPr algn="just"/>
            <a:endParaRPr lang="en-US" sz="2200" dirty="0" smtClean="0">
              <a:solidFill>
                <a:srgbClr val="FF0000"/>
              </a:solidFill>
              <a:latin typeface="Times New Roman" pitchFamily="18" charset="0"/>
              <a:cs typeface="Times New Roman" pitchFamily="18" charset="0"/>
            </a:endParaRPr>
          </a:p>
          <a:p>
            <a:pPr algn="just"/>
            <a:r>
              <a:rPr lang="en-US" sz="2200" dirty="0" smtClean="0">
                <a:solidFill>
                  <a:srgbClr val="FF0000"/>
                </a:solidFill>
                <a:latin typeface="Times New Roman" pitchFamily="18" charset="0"/>
                <a:cs typeface="Times New Roman" pitchFamily="18" charset="0"/>
              </a:rPr>
              <a:t>	Parallel</a:t>
            </a:r>
            <a:r>
              <a:rPr lang="en-US" sz="2200" dirty="0">
                <a:solidFill>
                  <a:srgbClr val="FF0000"/>
                </a:solidFill>
                <a:latin typeface="Times New Roman" pitchFamily="18" charset="0"/>
                <a:cs typeface="Times New Roman" pitchFamily="18" charset="0"/>
              </a:rPr>
              <a:t>, distributed, and incremental mining algorithms: </a:t>
            </a:r>
            <a:r>
              <a:rPr lang="en-US" sz="2200" dirty="0" smtClean="0">
                <a:latin typeface="Times New Roman" pitchFamily="18" charset="0"/>
                <a:cs typeface="Times New Roman" pitchFamily="18" charset="0"/>
              </a:rPr>
              <a:t>First </a:t>
            </a:r>
            <a:r>
              <a:rPr lang="en-US" sz="2200" dirty="0">
                <a:latin typeface="Times New Roman" pitchFamily="18" charset="0"/>
                <a:cs typeface="Times New Roman" pitchFamily="18" charset="0"/>
              </a:rPr>
              <a:t>partition the data into “pieces.” Each piece is processed, in parallel, by searching for patterns. The </a:t>
            </a:r>
            <a:r>
              <a:rPr lang="en-US" sz="2200" dirty="0" smtClean="0">
                <a:latin typeface="Times New Roman" pitchFamily="18" charset="0"/>
                <a:cs typeface="Times New Roman" pitchFamily="18" charset="0"/>
              </a:rPr>
              <a:t>parallel </a:t>
            </a:r>
            <a:r>
              <a:rPr lang="en-US" sz="2200" dirty="0">
                <a:latin typeface="Times New Roman" pitchFamily="18" charset="0"/>
                <a:cs typeface="Times New Roman" pitchFamily="18" charset="0"/>
              </a:rPr>
              <a:t>processes may interact with one another. The patterns from each partition are eventually merged</a:t>
            </a:r>
            <a:r>
              <a:rPr lang="en-US" sz="2200" dirty="0" smtClean="0">
                <a:latin typeface="Times New Roman" pitchFamily="18" charset="0"/>
                <a:cs typeface="Times New Roman" pitchFamily="18" charset="0"/>
              </a:rPr>
              <a:t>.</a:t>
            </a:r>
          </a:p>
          <a:p>
            <a:pPr algn="just"/>
            <a:endParaRPr lang="en-US" sz="2200" dirty="0" smtClean="0">
              <a:solidFill>
                <a:srgbClr val="FF0000"/>
              </a:solidFill>
              <a:latin typeface="Times New Roman" pitchFamily="18" charset="0"/>
              <a:cs typeface="Times New Roman" pitchFamily="18" charset="0"/>
            </a:endParaRPr>
          </a:p>
          <a:p>
            <a:pPr algn="just"/>
            <a:r>
              <a:rPr lang="en-US" sz="2200" dirty="0">
                <a:solidFill>
                  <a:srgbClr val="FF0000"/>
                </a:solidFill>
                <a:latin typeface="Times New Roman" pitchFamily="18" charset="0"/>
                <a:cs typeface="Times New Roman" pitchFamily="18" charset="0"/>
              </a:rPr>
              <a:t>	</a:t>
            </a:r>
            <a:r>
              <a:rPr lang="en-US" sz="2200" dirty="0" smtClean="0">
                <a:solidFill>
                  <a:srgbClr val="FF0000"/>
                </a:solidFill>
                <a:latin typeface="Times New Roman" pitchFamily="18" charset="0"/>
                <a:cs typeface="Times New Roman" pitchFamily="18" charset="0"/>
              </a:rPr>
              <a:t>Cloud </a:t>
            </a:r>
            <a:r>
              <a:rPr lang="en-US" sz="2200" dirty="0">
                <a:solidFill>
                  <a:srgbClr val="FF0000"/>
                </a:solidFill>
                <a:latin typeface="Times New Roman" pitchFamily="18" charset="0"/>
                <a:cs typeface="Times New Roman" pitchFamily="18" charset="0"/>
              </a:rPr>
              <a:t>computing and cluster </a:t>
            </a:r>
            <a:r>
              <a:rPr lang="en-US" sz="2200" dirty="0" smtClean="0">
                <a:solidFill>
                  <a:srgbClr val="FF0000"/>
                </a:solidFill>
                <a:latin typeface="Times New Roman" pitchFamily="18" charset="0"/>
                <a:cs typeface="Times New Roman" pitchFamily="18" charset="0"/>
              </a:rPr>
              <a:t>computing:</a:t>
            </a:r>
            <a:r>
              <a:rPr lang="en-US" sz="2200" dirty="0" smtClean="0">
                <a:latin typeface="Times New Roman" pitchFamily="18" charset="0"/>
                <a:cs typeface="Times New Roman" pitchFamily="18" charset="0"/>
              </a:rPr>
              <a:t> </a:t>
            </a:r>
            <a:r>
              <a:rPr lang="en-US" sz="2200" dirty="0">
                <a:latin typeface="Times New Roman" pitchFamily="18" charset="0"/>
                <a:cs typeface="Times New Roman" pitchFamily="18" charset="0"/>
              </a:rPr>
              <a:t>which use computers in a distributed and collaborative way to tackle very large-scale computational tasks, are also active research themes in parallel data mining. </a:t>
            </a:r>
            <a:endParaRPr lang="en-US" sz="2200" dirty="0" smtClean="0">
              <a:latin typeface="Times New Roman" pitchFamily="18" charset="0"/>
              <a:cs typeface="Times New Roman" pitchFamily="18" charset="0"/>
            </a:endParaRPr>
          </a:p>
        </p:txBody>
      </p:sp>
    </p:spTree>
    <p:extLst>
      <p:ext uri="{BB962C8B-B14F-4D97-AF65-F5344CB8AC3E}">
        <p14:creationId xmlns:p14="http://schemas.microsoft.com/office/powerpoint/2010/main" val="395361567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 y="152400"/>
            <a:ext cx="8763000" cy="5570756"/>
          </a:xfrm>
          <a:prstGeom prst="rect">
            <a:avLst/>
          </a:prstGeom>
        </p:spPr>
        <p:txBody>
          <a:bodyPr wrap="square">
            <a:spAutoFit/>
          </a:bodyPr>
          <a:lstStyle/>
          <a:p>
            <a:pPr algn="just"/>
            <a:r>
              <a:rPr lang="en-US" sz="2400" dirty="0">
                <a:solidFill>
                  <a:srgbClr val="00B050"/>
                </a:solidFill>
                <a:latin typeface="Times New Roman" pitchFamily="18" charset="0"/>
                <a:cs typeface="Times New Roman" pitchFamily="18" charset="0"/>
              </a:rPr>
              <a:t>Diversity of </a:t>
            </a:r>
            <a:r>
              <a:rPr lang="en-US" sz="2400" dirty="0" smtClean="0">
                <a:solidFill>
                  <a:srgbClr val="00B050"/>
                </a:solidFill>
                <a:latin typeface="Times New Roman" pitchFamily="18" charset="0"/>
                <a:cs typeface="Times New Roman" pitchFamily="18" charset="0"/>
              </a:rPr>
              <a:t>Database:</a:t>
            </a:r>
          </a:p>
          <a:p>
            <a:pPr algn="just"/>
            <a:endParaRPr lang="en-US" sz="2400" dirty="0" smtClean="0">
              <a:solidFill>
                <a:srgbClr val="00B050"/>
              </a:solidFill>
              <a:latin typeface="Times New Roman" pitchFamily="18" charset="0"/>
              <a:cs typeface="Times New Roman" pitchFamily="18" charset="0"/>
            </a:endParaRPr>
          </a:p>
          <a:p>
            <a:pPr algn="just"/>
            <a:r>
              <a:rPr lang="en-US" sz="2200" dirty="0">
                <a:latin typeface="Times New Roman" pitchFamily="18" charset="0"/>
                <a:cs typeface="Times New Roman" pitchFamily="18" charset="0"/>
              </a:rPr>
              <a:t>	</a:t>
            </a:r>
            <a:r>
              <a:rPr lang="en-US" sz="2200" dirty="0" smtClean="0">
                <a:latin typeface="Times New Roman" pitchFamily="18" charset="0"/>
                <a:cs typeface="Times New Roman" pitchFamily="18" charset="0"/>
              </a:rPr>
              <a:t>Types </a:t>
            </a:r>
            <a:r>
              <a:rPr lang="en-US" sz="2200" dirty="0">
                <a:latin typeface="Times New Roman" pitchFamily="18" charset="0"/>
                <a:cs typeface="Times New Roman" pitchFamily="18" charset="0"/>
              </a:rPr>
              <a:t>The wide diversity of database types brings about challenges to data mining. These </a:t>
            </a:r>
            <a:r>
              <a:rPr lang="en-US" sz="2200" dirty="0" smtClean="0">
                <a:latin typeface="Times New Roman" pitchFamily="18" charset="0"/>
                <a:cs typeface="Times New Roman" pitchFamily="18" charset="0"/>
              </a:rPr>
              <a:t>include: </a:t>
            </a:r>
          </a:p>
          <a:p>
            <a:pPr algn="just"/>
            <a:endParaRPr lang="en-US" sz="2200" dirty="0" smtClean="0">
              <a:latin typeface="Times New Roman" pitchFamily="18" charset="0"/>
              <a:cs typeface="Times New Roman" pitchFamily="18" charset="0"/>
            </a:endParaRPr>
          </a:p>
          <a:p>
            <a:pPr algn="just"/>
            <a:r>
              <a:rPr lang="en-US" sz="2200" dirty="0" smtClean="0">
                <a:solidFill>
                  <a:srgbClr val="FF0000"/>
                </a:solidFill>
                <a:latin typeface="Times New Roman" pitchFamily="18" charset="0"/>
                <a:cs typeface="Times New Roman" pitchFamily="18" charset="0"/>
              </a:rPr>
              <a:t>	Handling </a:t>
            </a:r>
            <a:r>
              <a:rPr lang="en-US" sz="2200" dirty="0">
                <a:solidFill>
                  <a:srgbClr val="FF0000"/>
                </a:solidFill>
                <a:latin typeface="Times New Roman" pitchFamily="18" charset="0"/>
                <a:cs typeface="Times New Roman" pitchFamily="18" charset="0"/>
              </a:rPr>
              <a:t>complex types of data: </a:t>
            </a:r>
            <a:r>
              <a:rPr lang="en-US" sz="2200" dirty="0" smtClean="0">
                <a:latin typeface="Times New Roman" pitchFamily="18" charset="0"/>
                <a:cs typeface="Times New Roman" pitchFamily="18" charset="0"/>
              </a:rPr>
              <a:t>Diverse </a:t>
            </a:r>
            <a:r>
              <a:rPr lang="en-US" sz="2200" dirty="0">
                <a:latin typeface="Times New Roman" pitchFamily="18" charset="0"/>
                <a:cs typeface="Times New Roman" pitchFamily="18" charset="0"/>
              </a:rPr>
              <a:t>applications generate a wide spectrum of new data types, from structured data such as relational and data warehouse data to semi-structured and unstructured data; from stable data repositories to dynamic data streams; from simple data objects to temporal data, biological sequences, sensor data, spatial data, hypertext data, multimedia data, software program code, Web data, and social network data</a:t>
            </a:r>
            <a:r>
              <a:rPr lang="en-US" sz="2200" dirty="0" smtClean="0">
                <a:latin typeface="Times New Roman" pitchFamily="18" charset="0"/>
                <a:cs typeface="Times New Roman" pitchFamily="18" charset="0"/>
              </a:rPr>
              <a:t>.</a:t>
            </a:r>
          </a:p>
          <a:p>
            <a:pPr algn="just"/>
            <a:endParaRPr lang="en-US" sz="2200" dirty="0">
              <a:latin typeface="Times New Roman" pitchFamily="18" charset="0"/>
              <a:cs typeface="Times New Roman" pitchFamily="18" charset="0"/>
            </a:endParaRPr>
          </a:p>
          <a:p>
            <a:pPr algn="just"/>
            <a:r>
              <a:rPr lang="en-US" sz="2200" dirty="0" smtClean="0">
                <a:solidFill>
                  <a:srgbClr val="FF0000"/>
                </a:solidFill>
                <a:latin typeface="Times New Roman" pitchFamily="18" charset="0"/>
                <a:cs typeface="Times New Roman" pitchFamily="18" charset="0"/>
              </a:rPr>
              <a:t>	Mining </a:t>
            </a:r>
            <a:r>
              <a:rPr lang="en-US" sz="2200" dirty="0">
                <a:solidFill>
                  <a:srgbClr val="FF0000"/>
                </a:solidFill>
                <a:latin typeface="Times New Roman" pitchFamily="18" charset="0"/>
                <a:cs typeface="Times New Roman" pitchFamily="18" charset="0"/>
              </a:rPr>
              <a:t>dynamic, networked, and global data repositories: </a:t>
            </a:r>
            <a:r>
              <a:rPr lang="en-US" sz="2200" dirty="0">
                <a:latin typeface="Times New Roman" pitchFamily="18" charset="0"/>
                <a:cs typeface="Times New Roman" pitchFamily="18" charset="0"/>
              </a:rPr>
              <a:t>Multiple sources of data are connected by the Internet and various kinds of networks, forming gigantic, </a:t>
            </a:r>
            <a:r>
              <a:rPr lang="en-US" sz="2200" dirty="0" smtClean="0">
                <a:latin typeface="Times New Roman" pitchFamily="18" charset="0"/>
                <a:cs typeface="Times New Roman" pitchFamily="18" charset="0"/>
              </a:rPr>
              <a:t>distributed</a:t>
            </a:r>
            <a:r>
              <a:rPr lang="en-US" sz="2200" dirty="0">
                <a:latin typeface="Times New Roman" pitchFamily="18" charset="0"/>
                <a:cs typeface="Times New Roman" pitchFamily="18" charset="0"/>
              </a:rPr>
              <a:t>, and heterogeneous global </a:t>
            </a:r>
            <a:r>
              <a:rPr lang="en-US" sz="2200" dirty="0" smtClean="0">
                <a:latin typeface="Times New Roman" pitchFamily="18" charset="0"/>
                <a:cs typeface="Times New Roman" pitchFamily="18" charset="0"/>
              </a:rPr>
              <a:t>information systems and networks.</a:t>
            </a:r>
          </a:p>
        </p:txBody>
      </p:sp>
    </p:spTree>
    <p:extLst>
      <p:ext uri="{BB962C8B-B14F-4D97-AF65-F5344CB8AC3E}">
        <p14:creationId xmlns:p14="http://schemas.microsoft.com/office/powerpoint/2010/main" val="126227287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400" y="152400"/>
            <a:ext cx="8839200" cy="4924425"/>
          </a:xfrm>
          <a:prstGeom prst="rect">
            <a:avLst/>
          </a:prstGeom>
        </p:spPr>
        <p:txBody>
          <a:bodyPr wrap="square">
            <a:spAutoFit/>
          </a:bodyPr>
          <a:lstStyle/>
          <a:p>
            <a:pPr algn="just"/>
            <a:r>
              <a:rPr lang="en-IN" sz="2800" b="1" u="sng" dirty="0" smtClean="0">
                <a:solidFill>
                  <a:srgbClr val="FF0000"/>
                </a:solidFill>
                <a:latin typeface="Times New Roman" pitchFamily="18" charset="0"/>
                <a:cs typeface="Times New Roman" pitchFamily="18" charset="0"/>
              </a:rPr>
              <a:t>Data Mining and Society:</a:t>
            </a:r>
            <a:endParaRPr lang="en-IN" sz="2200" b="1" u="sng" dirty="0" smtClean="0">
              <a:solidFill>
                <a:srgbClr val="FF0000"/>
              </a:solidFill>
              <a:latin typeface="Times New Roman" pitchFamily="18" charset="0"/>
              <a:cs typeface="Times New Roman" pitchFamily="18" charset="0"/>
            </a:endParaRPr>
          </a:p>
          <a:p>
            <a:pPr algn="just"/>
            <a:r>
              <a:rPr lang="en-US" sz="2200" dirty="0" smtClean="0">
                <a:solidFill>
                  <a:srgbClr val="00B050"/>
                </a:solidFill>
                <a:latin typeface="Times New Roman" pitchFamily="18" charset="0"/>
                <a:cs typeface="Times New Roman" pitchFamily="18" charset="0"/>
              </a:rPr>
              <a:t>	Social </a:t>
            </a:r>
            <a:r>
              <a:rPr lang="en-US" sz="2200" dirty="0">
                <a:solidFill>
                  <a:srgbClr val="00B050"/>
                </a:solidFill>
                <a:latin typeface="Times New Roman" pitchFamily="18" charset="0"/>
                <a:cs typeface="Times New Roman" pitchFamily="18" charset="0"/>
              </a:rPr>
              <a:t>impacts of data mining: </a:t>
            </a:r>
            <a:r>
              <a:rPr lang="en-US" sz="2200" dirty="0">
                <a:latin typeface="Times New Roman" pitchFamily="18" charset="0"/>
                <a:cs typeface="Times New Roman" pitchFamily="18" charset="0"/>
              </a:rPr>
              <a:t>With data mining penetrating our everyday lives, it is </a:t>
            </a:r>
            <a:r>
              <a:rPr lang="en-US" sz="2200" dirty="0" smtClean="0">
                <a:latin typeface="Times New Roman" pitchFamily="18" charset="0"/>
                <a:cs typeface="Times New Roman" pitchFamily="18" charset="0"/>
              </a:rPr>
              <a:t>important to study the impact of data mining on society.</a:t>
            </a:r>
          </a:p>
          <a:p>
            <a:pPr algn="just"/>
            <a:endParaRPr lang="en-US" sz="2200" dirty="0" smtClean="0">
              <a:latin typeface="Times New Roman" pitchFamily="18" charset="0"/>
              <a:cs typeface="Times New Roman" pitchFamily="18" charset="0"/>
            </a:endParaRPr>
          </a:p>
          <a:p>
            <a:pPr algn="just"/>
            <a:r>
              <a:rPr lang="en-US" sz="2200" dirty="0" smtClean="0">
                <a:solidFill>
                  <a:srgbClr val="00B050"/>
                </a:solidFill>
                <a:latin typeface="Times New Roman" pitchFamily="18" charset="0"/>
                <a:cs typeface="Times New Roman" pitchFamily="18" charset="0"/>
              </a:rPr>
              <a:t>	Privacy-preserving </a:t>
            </a:r>
            <a:r>
              <a:rPr lang="en-US" sz="2200" dirty="0">
                <a:solidFill>
                  <a:srgbClr val="00B050"/>
                </a:solidFill>
                <a:latin typeface="Times New Roman" pitchFamily="18" charset="0"/>
                <a:cs typeface="Times New Roman" pitchFamily="18" charset="0"/>
              </a:rPr>
              <a:t>data mining: </a:t>
            </a:r>
            <a:r>
              <a:rPr lang="en-US" sz="2200" dirty="0">
                <a:latin typeface="Times New Roman" pitchFamily="18" charset="0"/>
                <a:cs typeface="Times New Roman" pitchFamily="18" charset="0"/>
              </a:rPr>
              <a:t>Data mining will help scientific discovery, business management, economy recovery, and security protection (e.g., the real-time </a:t>
            </a:r>
            <a:r>
              <a:rPr lang="en-US" sz="2200" dirty="0" smtClean="0">
                <a:latin typeface="Times New Roman" pitchFamily="18" charset="0"/>
                <a:cs typeface="Times New Roman" pitchFamily="18" charset="0"/>
              </a:rPr>
              <a:t>discovery </a:t>
            </a:r>
            <a:r>
              <a:rPr lang="en-US" sz="2200" dirty="0">
                <a:latin typeface="Times New Roman" pitchFamily="18" charset="0"/>
                <a:cs typeface="Times New Roman" pitchFamily="18" charset="0"/>
              </a:rPr>
              <a:t>of intruders and </a:t>
            </a:r>
            <a:r>
              <a:rPr lang="en-US" sz="2200" dirty="0" smtClean="0">
                <a:latin typeface="Times New Roman" pitchFamily="18" charset="0"/>
                <a:cs typeface="Times New Roman" pitchFamily="18" charset="0"/>
              </a:rPr>
              <a:t>cyber attacks</a:t>
            </a:r>
            <a:r>
              <a:rPr lang="en-US" sz="2200" dirty="0">
                <a:latin typeface="Times New Roman" pitchFamily="18" charset="0"/>
                <a:cs typeface="Times New Roman" pitchFamily="18" charset="0"/>
              </a:rPr>
              <a:t>). However, it poses the risk of disclosing an individual’s personal information</a:t>
            </a:r>
            <a:r>
              <a:rPr lang="en-US" sz="2200" dirty="0" smtClean="0">
                <a:latin typeface="Times New Roman" pitchFamily="18" charset="0"/>
                <a:cs typeface="Times New Roman" pitchFamily="18" charset="0"/>
              </a:rPr>
              <a:t>.</a:t>
            </a:r>
          </a:p>
          <a:p>
            <a:pPr algn="just"/>
            <a:endParaRPr lang="en-US" sz="2200" dirty="0">
              <a:latin typeface="Times New Roman" pitchFamily="18" charset="0"/>
              <a:cs typeface="Times New Roman" pitchFamily="18" charset="0"/>
            </a:endParaRPr>
          </a:p>
          <a:p>
            <a:pPr algn="just"/>
            <a:r>
              <a:rPr lang="en-US" sz="2200" dirty="0" smtClean="0">
                <a:solidFill>
                  <a:srgbClr val="00B050"/>
                </a:solidFill>
                <a:latin typeface="Times New Roman" pitchFamily="18" charset="0"/>
                <a:cs typeface="Times New Roman" pitchFamily="18" charset="0"/>
              </a:rPr>
              <a:t>	Invisible </a:t>
            </a:r>
            <a:r>
              <a:rPr lang="en-US" sz="2200" dirty="0">
                <a:solidFill>
                  <a:srgbClr val="00B050"/>
                </a:solidFill>
                <a:latin typeface="Times New Roman" pitchFamily="18" charset="0"/>
                <a:cs typeface="Times New Roman" pitchFamily="18" charset="0"/>
              </a:rPr>
              <a:t>data mining: </a:t>
            </a:r>
            <a:r>
              <a:rPr lang="en-US" sz="2200" dirty="0">
                <a:latin typeface="Times New Roman" pitchFamily="18" charset="0"/>
                <a:cs typeface="Times New Roman" pitchFamily="18" charset="0"/>
              </a:rPr>
              <a:t>We cannot expect everyone in society to learn and master data mining techniques. More and more systems should have data mining </a:t>
            </a:r>
            <a:r>
              <a:rPr lang="en-US" sz="2200" dirty="0" smtClean="0">
                <a:latin typeface="Times New Roman" pitchFamily="18" charset="0"/>
                <a:cs typeface="Times New Roman" pitchFamily="18" charset="0"/>
              </a:rPr>
              <a:t>functions </a:t>
            </a:r>
            <a:r>
              <a:rPr lang="en-US" sz="2200" dirty="0">
                <a:latin typeface="Times New Roman" pitchFamily="18" charset="0"/>
                <a:cs typeface="Times New Roman" pitchFamily="18" charset="0"/>
              </a:rPr>
              <a:t>built within so that people can perform data mining or use data mining results simply by mouse clicking, without any knowledge of data mining algorithms.</a:t>
            </a:r>
            <a:endParaRPr lang="en-IN" sz="2200" dirty="0">
              <a:latin typeface="Times New Roman" pitchFamily="18" charset="0"/>
              <a:cs typeface="Times New Roman" pitchFamily="18" charset="0"/>
            </a:endParaRPr>
          </a:p>
        </p:txBody>
      </p:sp>
    </p:spTree>
    <p:extLst>
      <p:ext uri="{BB962C8B-B14F-4D97-AF65-F5344CB8AC3E}">
        <p14:creationId xmlns:p14="http://schemas.microsoft.com/office/powerpoint/2010/main" val="127917082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57504241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1444</TotalTime>
  <Words>1049</Words>
  <Application>Microsoft Office PowerPoint</Application>
  <PresentationFormat>On-screen Show (4:3)</PresentationFormat>
  <Paragraphs>276</Paragraphs>
  <Slides>55</Slides>
  <Notes>0</Notes>
  <HiddenSlides>0</HiddenSlides>
  <MMClips>0</MMClips>
  <ScaleCrop>false</ScaleCrop>
  <HeadingPairs>
    <vt:vector size="6" baseType="variant">
      <vt:variant>
        <vt:lpstr>Theme</vt:lpstr>
      </vt:variant>
      <vt:variant>
        <vt:i4>1</vt:i4>
      </vt:variant>
      <vt:variant>
        <vt:lpstr>Embedded OLE Servers</vt:lpstr>
      </vt:variant>
      <vt:variant>
        <vt:i4>2</vt:i4>
      </vt:variant>
      <vt:variant>
        <vt:lpstr>Slide Titles</vt:lpstr>
      </vt:variant>
      <vt:variant>
        <vt:i4>55</vt:i4>
      </vt:variant>
    </vt:vector>
  </HeadingPairs>
  <TitlesOfParts>
    <vt:vector size="58" baseType="lpstr">
      <vt:lpstr>Office Theme</vt:lpstr>
      <vt:lpstr>Document</vt:lpstr>
      <vt:lpstr>VISIO</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india</dc:creator>
  <cp:lastModifiedBy>ismail - [2010]</cp:lastModifiedBy>
  <cp:revision>56</cp:revision>
  <dcterms:created xsi:type="dcterms:W3CDTF">2006-08-16T00:00:00Z</dcterms:created>
  <dcterms:modified xsi:type="dcterms:W3CDTF">2025-07-21T17:40:34Z</dcterms:modified>
</cp:coreProperties>
</file>