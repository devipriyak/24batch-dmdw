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7" r:id="rId4"/>
    <p:sldId id="268" r:id="rId5"/>
    <p:sldId id="269" r:id="rId6"/>
    <p:sldId id="271" r:id="rId7"/>
    <p:sldId id="272" r:id="rId8"/>
    <p:sldId id="273" r:id="rId9"/>
    <p:sldId id="274" r:id="rId10"/>
    <p:sldId id="276" r:id="rId11"/>
    <p:sldId id="277" r:id="rId12"/>
    <p:sldId id="278" r:id="rId13"/>
    <p:sldId id="258" r:id="rId14"/>
    <p:sldId id="259" r:id="rId15"/>
    <p:sldId id="260" r:id="rId16"/>
    <p:sldId id="261" r:id="rId17"/>
    <p:sldId id="262" r:id="rId18"/>
    <p:sldId id="263" r:id="rId19"/>
    <p:sldId id="264" r:id="rId20"/>
    <p:sldId id="265" r:id="rId21"/>
    <p:sldId id="266" r:id="rId22"/>
    <p:sldId id="281" r:id="rId23"/>
    <p:sldId id="280" r:id="rId24"/>
    <p:sldId id="279"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napToObjects="1">
      <p:cViewPr varScale="1">
        <p:scale>
          <a:sx n="81" d="100"/>
          <a:sy n="81" d="100"/>
        </p:scale>
        <p:origin x="-106" y="-13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pPr/>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pPr/>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pPr/>
              <a:t>‹#›</a:t>
            </a:fld>
            <a:endParaRPr lang="en-US"/>
          </a:p>
        </p:txBody>
      </p:sp>
    </p:spTree>
    <p:extLst>
      <p:ext uri="{BB962C8B-B14F-4D97-AF65-F5344CB8AC3E}">
        <p14:creationId xmlns:p14="http://schemas.microsoft.com/office/powerpoint/2010/main" xmlns=""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2A4A"/>
        </a:solidFill>
        <a:effectLst/>
      </p:bgPr>
    </p:bg>
    <p:spTree>
      <p:nvGrpSpPr>
        <p:cNvPr id="1" name=""/>
        <p:cNvGrpSpPr/>
        <p:nvPr/>
      </p:nvGrpSpPr>
      <p:grpSpPr>
        <a:xfrm>
          <a:off x="0" y="0"/>
          <a:ext cx="0" cy="0"/>
          <a:chOff x="0" y="0"/>
          <a:chExt cx="0" cy="0"/>
        </a:xfrm>
      </p:grpSpPr>
      <p:sp>
        <p:nvSpPr>
          <p:cNvPr id="2" name="Oval 1"/>
          <p:cNvSpPr/>
          <p:nvPr/>
        </p:nvSpPr>
        <p:spPr>
          <a:xfrm>
            <a:off x="8961120" y="731520"/>
            <a:ext cx="1920240" cy="1920240"/>
          </a:xfrm>
          <a:prstGeom prst="ellipse">
            <a:avLst/>
          </a:prstGeom>
          <a:solidFill>
            <a:srgbClr val="3469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966960" y="2103120"/>
            <a:ext cx="1097280" cy="1097280"/>
          </a:xfrm>
          <a:prstGeom prst="ellipse">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8138160" y="3017520"/>
            <a:ext cx="1371600" cy="1371600"/>
          </a:xfrm>
          <a:prstGeom prst="ellipse">
            <a:avLst/>
          </a:prstGeom>
          <a:solidFill>
            <a:srgbClr val="4B82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1280160"/>
            <a:ext cx="7040880" cy="1188720"/>
          </a:xfrm>
          <a:prstGeom prst="rect">
            <a:avLst/>
          </a:prstGeom>
          <a:noFill/>
        </p:spPr>
        <p:txBody>
          <a:bodyPr wrap="square" lIns="73152" tIns="36576" rIns="73152" bIns="36576">
            <a:spAutoFit/>
          </a:bodyPr>
          <a:lstStyle/>
          <a:p>
            <a:pPr>
              <a:spcAft>
                <a:spcPts val="800"/>
              </a:spcAft>
              <a:defRPr sz="3600" b="1">
                <a:solidFill>
                  <a:srgbClr val="FFFFFF"/>
                </a:solidFill>
                <a:latin typeface="Aptos"/>
              </a:defRPr>
            </a:pPr>
            <a:r>
              <a:t>APRIORI</a:t>
            </a:r>
          </a:p>
          <a:p>
            <a:pPr>
              <a:spcAft>
                <a:spcPts val="800"/>
              </a:spcAft>
              <a:defRPr sz="3600" b="1">
                <a:solidFill>
                  <a:srgbClr val="FFFFFF"/>
                </a:solidFill>
                <a:latin typeface="Aptos"/>
              </a:defRPr>
            </a:pPr>
            <a:r>
              <a:t>ALGORITHM</a:t>
            </a:r>
          </a:p>
        </p:txBody>
      </p:sp>
      <p:sp>
        <p:nvSpPr>
          <p:cNvPr id="6" name="TextBox 5"/>
          <p:cNvSpPr txBox="1"/>
          <p:nvPr/>
        </p:nvSpPr>
        <p:spPr>
          <a:xfrm>
            <a:off x="868680" y="3794760"/>
            <a:ext cx="6766560" cy="822960"/>
          </a:xfrm>
          <a:prstGeom prst="rect">
            <a:avLst/>
          </a:prstGeom>
          <a:noFill/>
        </p:spPr>
        <p:txBody>
          <a:bodyPr wrap="square" lIns="73152" tIns="36576" rIns="73152" bIns="36576">
            <a:spAutoFit/>
          </a:bodyPr>
          <a:lstStyle/>
          <a:p>
            <a:pPr>
              <a:spcAft>
                <a:spcPts val="800"/>
              </a:spcAft>
              <a:defRPr sz="2100" b="0">
                <a:solidFill>
                  <a:srgbClr val="DCE6F2"/>
                </a:solidFill>
                <a:latin typeface="Aptos"/>
              </a:defRPr>
            </a:pPr>
            <a:r>
              <a:t>Steps, support, confidence &amp; a clear example</a:t>
            </a:r>
          </a:p>
        </p:txBody>
      </p:sp>
      <p:sp>
        <p:nvSpPr>
          <p:cNvPr id="7" name="TextBox 6"/>
          <p:cNvSpPr txBox="1"/>
          <p:nvPr/>
        </p:nvSpPr>
        <p:spPr>
          <a:xfrm>
            <a:off x="868680" y="5989320"/>
            <a:ext cx="5486400" cy="320040"/>
          </a:xfrm>
          <a:prstGeom prst="rect">
            <a:avLst/>
          </a:prstGeom>
          <a:noFill/>
        </p:spPr>
        <p:txBody>
          <a:bodyPr wrap="square" lIns="73152" tIns="36576" rIns="73152" bIns="36576">
            <a:spAutoFit/>
          </a:bodyPr>
          <a:lstStyle/>
          <a:p>
            <a:pPr>
              <a:spcAft>
                <a:spcPts val="800"/>
              </a:spcAft>
              <a:defRPr sz="1200" b="1">
                <a:solidFill>
                  <a:srgbClr val="B4C8E1"/>
                </a:solidFill>
                <a:latin typeface="Aptos"/>
              </a:defRPr>
            </a:pPr>
            <a:r>
              <a:t>DATA MINING • ASSOCIATION RULES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1. What is the Apriori Algorithm?</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515600" cy="4389120"/>
          </a:xfrm>
          <a:prstGeom prst="rect">
            <a:avLst/>
          </a:prstGeom>
          <a:noFill/>
        </p:spPr>
        <p:txBody>
          <a:bodyPr wrap="square" lIns="73152" rIns="73152">
            <a:spAutoFit/>
          </a:bodyPr>
          <a:lstStyle/>
          <a:p>
            <a:pPr>
              <a:spcAft>
                <a:spcPts val="1400"/>
              </a:spcAft>
              <a:defRPr sz="2200">
                <a:solidFill>
                  <a:srgbClr val="28303A"/>
                </a:solidFill>
                <a:latin typeface="Aptos"/>
              </a:defRPr>
            </a:pPr>
            <a:r>
              <a:t>• A data-mining algorithm used to discover items that frequently occur together.</a:t>
            </a:r>
          </a:p>
          <a:p>
            <a:pPr>
              <a:spcAft>
                <a:spcPts val="1400"/>
              </a:spcAft>
              <a:defRPr sz="2200">
                <a:solidFill>
                  <a:srgbClr val="28303A"/>
                </a:solidFill>
                <a:latin typeface="Aptos"/>
              </a:defRPr>
            </a:pPr>
            <a:r>
              <a:t>• Commonly used for market-basket analysis in supermarkets and online shopping.</a:t>
            </a:r>
          </a:p>
          <a:p>
            <a:pPr>
              <a:spcAft>
                <a:spcPts val="1400"/>
              </a:spcAft>
              <a:defRPr sz="2200">
                <a:solidFill>
                  <a:srgbClr val="28303A"/>
                </a:solidFill>
                <a:latin typeface="Aptos"/>
              </a:defRPr>
            </a:pPr>
            <a:r>
              <a:t>• Example: customers who buy bread may also buy milk.</a:t>
            </a:r>
          </a:p>
          <a:p>
            <a:pPr>
              <a:spcAft>
                <a:spcPts val="1400"/>
              </a:spcAft>
              <a:defRPr sz="2200">
                <a:solidFill>
                  <a:srgbClr val="28303A"/>
                </a:solidFill>
                <a:latin typeface="Aptos"/>
              </a:defRPr>
            </a:pPr>
            <a:r>
              <a:t>• Main outputs: frequent itemsets and association rules.</a:t>
            </a:r>
          </a:p>
        </p:txBody>
      </p:sp>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1. What is the Apriori Algorithm?</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515600" cy="1964640"/>
          </a:xfrm>
          <a:prstGeom prst="rect">
            <a:avLst/>
          </a:prstGeom>
          <a:noFill/>
        </p:spPr>
        <p:txBody>
          <a:bodyPr wrap="square" lIns="73152" rIns="73152">
            <a:spAutoFit/>
          </a:bodyPr>
          <a:lstStyle/>
          <a:p>
            <a:pPr>
              <a:spcAft>
                <a:spcPts val="1400"/>
              </a:spcAft>
              <a:defRPr sz="2200">
                <a:solidFill>
                  <a:srgbClr val="28303A"/>
                </a:solidFill>
                <a:latin typeface="Aptos"/>
              </a:defRPr>
            </a:pPr>
            <a:r>
              <a:rPr/>
              <a:t>• </a:t>
            </a:r>
            <a:r>
              <a:rPr lang="en-US" dirty="0" err="1" smtClean="0"/>
              <a:t>Apriori</a:t>
            </a:r>
            <a:r>
              <a:rPr lang="en-US" dirty="0" smtClean="0"/>
              <a:t> Algorithm is a data mining technique used to identify items that frequently appear together in large datasets. It helps discover relationships and association rules between items, making it widely used in market basket analysis.</a:t>
            </a:r>
          </a:p>
          <a:p>
            <a:pPr>
              <a:spcAft>
                <a:spcPts val="1400"/>
              </a:spcAft>
              <a:defRPr sz="2200">
                <a:solidFill>
                  <a:srgbClr val="28303A"/>
                </a:solidFill>
                <a:latin typeface="Aptos"/>
              </a:defRPr>
            </a:pPr>
            <a:r>
              <a:rPr lang="en-US" dirty="0" smtClean="0"/>
              <a:t/>
            </a:r>
            <a:br>
              <a:rPr lang="en-US" dirty="0" smtClean="0"/>
            </a:br>
            <a:endParaRPr/>
          </a:p>
        </p:txBody>
      </p:sp>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762125" y="1063625"/>
            <a:ext cx="8667750" cy="4730750"/>
          </a:xfrm>
          <a:prstGeom prst="rect">
            <a:avLst/>
          </a:prstGeom>
          <a:noFill/>
          <a:ln w="9525">
            <a:noFill/>
            <a:miter lim="800000"/>
            <a:headEnd/>
            <a:tailEnd/>
          </a:ln>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4754"/>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rPr smtClean="0"/>
              <a:t>1</a:t>
            </a:r>
            <a:r>
              <a:rPr lang="en-US" dirty="0" smtClean="0"/>
              <a:t> Working</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515600" cy="4196020"/>
          </a:xfrm>
          <a:prstGeom prst="rect">
            <a:avLst/>
          </a:prstGeom>
          <a:noFill/>
        </p:spPr>
        <p:txBody>
          <a:bodyPr wrap="square" lIns="73152" rIns="73152">
            <a:spAutoFit/>
          </a:bodyPr>
          <a:lstStyle/>
          <a:p>
            <a:pPr>
              <a:spcAft>
                <a:spcPts val="1400"/>
              </a:spcAft>
              <a:defRPr sz="2200">
                <a:solidFill>
                  <a:srgbClr val="28303A"/>
                </a:solidFill>
                <a:latin typeface="Aptos"/>
              </a:defRPr>
            </a:pPr>
            <a:r>
              <a:rPr/>
              <a:t>• </a:t>
            </a:r>
            <a:r>
              <a:rPr lang="en-US" dirty="0" smtClean="0"/>
              <a:t>1. Identifying Frequent Item-Sets</a:t>
            </a:r>
          </a:p>
          <a:p>
            <a:pPr>
              <a:spcAft>
                <a:spcPts val="1400"/>
              </a:spcAft>
              <a:defRPr sz="2200">
                <a:solidFill>
                  <a:srgbClr val="28303A"/>
                </a:solidFill>
                <a:latin typeface="Aptos"/>
              </a:defRPr>
            </a:pPr>
            <a:r>
              <a:rPr lang="en-US" dirty="0" smtClean="0"/>
              <a:t>The </a:t>
            </a:r>
            <a:r>
              <a:rPr lang="en-US" dirty="0" err="1" smtClean="0"/>
              <a:t>Apriori</a:t>
            </a:r>
            <a:r>
              <a:rPr lang="en-US" dirty="0" smtClean="0"/>
              <a:t> algorithm starts by looking through all the data to count how many times each single item appears. These single items are called 1-Item-Sets.</a:t>
            </a:r>
          </a:p>
          <a:p>
            <a:pPr>
              <a:spcAft>
                <a:spcPts val="1400"/>
              </a:spcAft>
              <a:defRPr sz="2200">
                <a:solidFill>
                  <a:srgbClr val="28303A"/>
                </a:solidFill>
                <a:latin typeface="Aptos"/>
              </a:defRPr>
            </a:pPr>
            <a:r>
              <a:rPr lang="en-US" dirty="0" smtClean="0"/>
              <a:t>Next it uses a rule called minimum support this is a number that tells us how often an item or group of items needs to appear to be important. If an item appears often enough meaning its count is above this minimum support it is called a frequent Item-Set.</a:t>
            </a:r>
          </a:p>
          <a:p>
            <a:pPr>
              <a:spcAft>
                <a:spcPts val="1400"/>
              </a:spcAft>
              <a:defRPr sz="2200">
                <a:solidFill>
                  <a:srgbClr val="28303A"/>
                </a:solidFill>
                <a:latin typeface="Aptos"/>
              </a:defRPr>
            </a:pPr>
            <a:endParaRPr lang="en-US" dirty="0" smtClean="0"/>
          </a:p>
          <a:p>
            <a:pPr>
              <a:spcAft>
                <a:spcPts val="1400"/>
              </a:spcAft>
              <a:defRPr sz="2200">
                <a:solidFill>
                  <a:srgbClr val="28303A"/>
                </a:solidFill>
                <a:latin typeface="Aptos"/>
              </a:defRPr>
            </a:pPr>
            <a:r>
              <a:rPr lang="en-US" dirty="0" smtClean="0"/>
              <a:t/>
            </a:r>
            <a:br>
              <a:rPr lang="en-US" dirty="0" smtClean="0"/>
            </a:br>
            <a:endParaRPr/>
          </a:p>
        </p:txBody>
      </p:sp>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4754"/>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rPr lang="en-US" dirty="0" smtClean="0"/>
              <a:t>• 2. Creating Possible Item Group</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737360"/>
            <a:ext cx="10515600" cy="4303742"/>
          </a:xfrm>
          <a:prstGeom prst="rect">
            <a:avLst/>
          </a:prstGeom>
          <a:noFill/>
        </p:spPr>
        <p:txBody>
          <a:bodyPr wrap="square" lIns="73152" rIns="73152">
            <a:spAutoFit/>
          </a:bodyPr>
          <a:lstStyle/>
          <a:p>
            <a:pPr fontAlgn="base"/>
            <a:r>
              <a:rPr lang="en-US" sz="2800" dirty="0" smtClean="0"/>
              <a:t>After </a:t>
            </a:r>
            <a:r>
              <a:rPr lang="en-US" sz="2800" dirty="0" smtClean="0"/>
              <a:t>finding the single items that appear often enough (frequent 1-item groups) the algorithm combines them to create pairs of items (2-item groups). Then it checks which pairs are frequent by seeing if they appear enough times in the data.</a:t>
            </a:r>
          </a:p>
          <a:p>
            <a:pPr fontAlgn="base"/>
            <a:r>
              <a:rPr lang="en-US" sz="2800" dirty="0" smtClean="0"/>
              <a:t>This process keeps going step by step making groups of 3 items, then 4 items and so on. The algorithm stops when it can’t find any bigger groups that happen often enough.</a:t>
            </a:r>
          </a:p>
          <a:p>
            <a:pPr>
              <a:spcAft>
                <a:spcPts val="1400"/>
              </a:spcAft>
              <a:defRPr sz="2200">
                <a:solidFill>
                  <a:srgbClr val="28303A"/>
                </a:solidFill>
                <a:latin typeface="Aptos"/>
              </a:defRPr>
            </a:pPr>
            <a:endParaRPr lang="en-US" dirty="0" smtClean="0"/>
          </a:p>
          <a:p>
            <a:pPr>
              <a:spcAft>
                <a:spcPts val="1400"/>
              </a:spcAft>
              <a:defRPr sz="2200">
                <a:solidFill>
                  <a:srgbClr val="28303A"/>
                </a:solidFill>
                <a:latin typeface="Aptos"/>
              </a:defRPr>
            </a:pPr>
            <a:r>
              <a:rPr lang="en-US" dirty="0" smtClean="0"/>
              <a:t/>
            </a:r>
            <a:br>
              <a:rPr lang="en-US" dirty="0" smtClean="0"/>
            </a:br>
            <a:endParaRPr/>
          </a:p>
        </p:txBody>
      </p:sp>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4754"/>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rPr lang="en-US" dirty="0" smtClean="0"/>
              <a:t>• </a:t>
            </a:r>
            <a:r>
              <a:rPr lang="en-US" dirty="0" smtClean="0"/>
              <a:t>3.</a:t>
            </a:r>
            <a:r>
              <a:rPr lang="en-US" sz="2800" b="1" dirty="0" smtClean="0"/>
              <a:t> Removing Infrequent Item Groups</a:t>
            </a:r>
            <a:endParaRPr lang="en-US" dirty="0" smtClean="0"/>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737360"/>
            <a:ext cx="10515600" cy="4303742"/>
          </a:xfrm>
          <a:prstGeom prst="rect">
            <a:avLst/>
          </a:prstGeom>
          <a:noFill/>
        </p:spPr>
        <p:txBody>
          <a:bodyPr wrap="square" lIns="73152" rIns="73152">
            <a:spAutoFit/>
          </a:bodyPr>
          <a:lstStyle/>
          <a:p>
            <a:pPr fontAlgn="base"/>
            <a:r>
              <a:rPr lang="en-US" sz="2800" b="1" dirty="0" smtClean="0"/>
              <a:t>. </a:t>
            </a:r>
          </a:p>
          <a:p>
            <a:pPr fontAlgn="base"/>
            <a:r>
              <a:rPr lang="en-US" sz="2800" dirty="0" smtClean="0"/>
              <a:t>The </a:t>
            </a:r>
            <a:r>
              <a:rPr lang="en-US" sz="2800" dirty="0" err="1" smtClean="0"/>
              <a:t>Apriori</a:t>
            </a:r>
            <a:r>
              <a:rPr lang="en-US" sz="2800" dirty="0" smtClean="0"/>
              <a:t> algorithm uses a helpful rule to save time. This rule says, if a group of items does not appear often enough then any larger group that includes these items will also not appear often.</a:t>
            </a:r>
          </a:p>
          <a:p>
            <a:pPr fontAlgn="base"/>
            <a:r>
              <a:rPr lang="en-US" sz="2800" dirty="0" smtClean="0"/>
              <a:t>Because of this, the algorithm does not check those larger groups. This way it avoids wasting time looking at groups that won’t be important making the whole process faster.</a:t>
            </a:r>
          </a:p>
          <a:p>
            <a:pPr>
              <a:spcAft>
                <a:spcPts val="1400"/>
              </a:spcAft>
              <a:defRPr sz="2200">
                <a:solidFill>
                  <a:srgbClr val="28303A"/>
                </a:solidFill>
                <a:latin typeface="Aptos"/>
              </a:defRPr>
            </a:pPr>
            <a:endParaRPr lang="en-US" dirty="0" smtClean="0"/>
          </a:p>
          <a:p>
            <a:pPr>
              <a:spcAft>
                <a:spcPts val="1400"/>
              </a:spcAft>
              <a:defRPr sz="2200">
                <a:solidFill>
                  <a:srgbClr val="28303A"/>
                </a:solidFill>
                <a:latin typeface="Aptos"/>
              </a:defRPr>
            </a:pPr>
            <a:r>
              <a:rPr lang="en-US" dirty="0" smtClean="0"/>
              <a:t/>
            </a:r>
            <a:br>
              <a:rPr lang="en-US" dirty="0" smtClean="0"/>
            </a:br>
            <a:endParaRPr/>
          </a:p>
        </p:txBody>
      </p:sp>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20040"/>
            <a:ext cx="10972800" cy="504754"/>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rPr lang="en-US" dirty="0" smtClean="0"/>
              <a:t>• 4.</a:t>
            </a:r>
            <a:r>
              <a:rPr lang="en-US" sz="2800" b="1" dirty="0" smtClean="0"/>
              <a:t> </a:t>
            </a:r>
            <a:r>
              <a:rPr lang="en-US" sz="2800" b="1" dirty="0" smtClean="0"/>
              <a:t>Generating Association Rules</a:t>
            </a:r>
            <a:endParaRPr lang="en-US" dirty="0" smtClean="0"/>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737360"/>
            <a:ext cx="10515600" cy="3441968"/>
          </a:xfrm>
          <a:prstGeom prst="rect">
            <a:avLst/>
          </a:prstGeom>
          <a:noFill/>
        </p:spPr>
        <p:txBody>
          <a:bodyPr wrap="square" lIns="73152" rIns="73152">
            <a:spAutoFit/>
          </a:bodyPr>
          <a:lstStyle/>
          <a:p>
            <a:pPr fontAlgn="base"/>
            <a:r>
              <a:rPr lang="en-US" sz="2800" b="1" dirty="0" smtClean="0"/>
              <a:t>. </a:t>
            </a:r>
          </a:p>
          <a:p>
            <a:pPr fontAlgn="base"/>
            <a:r>
              <a:rPr lang="en-US" sz="2800" b="1" dirty="0" smtClean="0"/>
              <a:t>4. Generating Association Rules</a:t>
            </a:r>
          </a:p>
          <a:p>
            <a:pPr fontAlgn="base"/>
            <a:r>
              <a:rPr lang="en-US" sz="2800" dirty="0" smtClean="0"/>
              <a:t>The algorithm makes rules to show how items are related.</a:t>
            </a:r>
          </a:p>
          <a:p>
            <a:pPr fontAlgn="base"/>
            <a:r>
              <a:rPr lang="en-US" sz="2800" dirty="0" smtClean="0"/>
              <a:t>It checks these rules using support, confidence and lift to find the strongest ones.</a:t>
            </a:r>
          </a:p>
          <a:p>
            <a:pPr>
              <a:spcAft>
                <a:spcPts val="1400"/>
              </a:spcAft>
              <a:defRPr sz="2200">
                <a:solidFill>
                  <a:srgbClr val="28303A"/>
                </a:solidFill>
                <a:latin typeface="Aptos"/>
              </a:defRPr>
            </a:pPr>
            <a:endParaRPr lang="en-US" dirty="0" smtClean="0"/>
          </a:p>
          <a:p>
            <a:pPr>
              <a:spcAft>
                <a:spcPts val="1400"/>
              </a:spcAft>
              <a:defRPr sz="2200">
                <a:solidFill>
                  <a:srgbClr val="28303A"/>
                </a:solidFill>
                <a:latin typeface="Aptos"/>
              </a:defRPr>
            </a:pPr>
            <a:r>
              <a:rPr lang="en-US" dirty="0" smtClean="0"/>
              <a:t/>
            </a:r>
            <a:br>
              <a:rPr lang="en-US" dirty="0" smtClean="0"/>
            </a:br>
            <a:endParaRPr/>
          </a:p>
        </p:txBody>
      </p:sp>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587375" y="735291"/>
            <a:ext cx="11017250" cy="4478059"/>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srcRect/>
          <a:stretch>
            <a:fillRect/>
          </a:stretch>
        </p:blipFill>
        <p:spPr bwMode="auto">
          <a:xfrm>
            <a:off x="1336675" y="1965325"/>
            <a:ext cx="9518650" cy="2927350"/>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727075" y="1892300"/>
            <a:ext cx="10737850" cy="307340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2. Important Terms &amp; Formulas</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5303520" cy="411480"/>
          </a:xfrm>
          <a:prstGeom prst="rect">
            <a:avLst/>
          </a:prstGeom>
          <a:noFill/>
        </p:spPr>
        <p:txBody>
          <a:bodyPr wrap="square" lIns="73152" tIns="36576" rIns="73152" bIns="36576">
            <a:spAutoFit/>
          </a:bodyPr>
          <a:lstStyle/>
          <a:p>
            <a:pPr>
              <a:spcAft>
                <a:spcPts val="800"/>
              </a:spcAft>
              <a:defRPr sz="1800" b="1">
                <a:solidFill>
                  <a:srgbClr val="1C918C"/>
                </a:solidFill>
                <a:latin typeface="Aptos"/>
              </a:defRPr>
            </a:pPr>
            <a:r>
              <a:t>SUPPORT</a:t>
            </a:r>
          </a:p>
        </p:txBody>
      </p:sp>
      <p:sp>
        <p:nvSpPr>
          <p:cNvPr id="5" name="TextBox 4"/>
          <p:cNvSpPr txBox="1"/>
          <p:nvPr/>
        </p:nvSpPr>
        <p:spPr>
          <a:xfrm>
            <a:off x="822960" y="2103120"/>
            <a:ext cx="5303520" cy="914400"/>
          </a:xfrm>
          <a:prstGeom prst="rect">
            <a:avLst/>
          </a:prstGeom>
          <a:noFill/>
        </p:spPr>
        <p:txBody>
          <a:bodyPr wrap="square" lIns="73152" tIns="36576" rIns="73152" bIns="36576">
            <a:spAutoFit/>
          </a:bodyPr>
          <a:lstStyle/>
          <a:p>
            <a:pPr>
              <a:spcAft>
                <a:spcPts val="800"/>
              </a:spcAft>
              <a:defRPr sz="2000" b="1">
                <a:solidFill>
                  <a:srgbClr val="182A4A"/>
                </a:solidFill>
                <a:latin typeface="Aptos"/>
              </a:defRPr>
            </a:pPr>
            <a:r>
              <a:t>Support(A) = Transactions containing A ÷ Total transactions</a:t>
            </a:r>
          </a:p>
        </p:txBody>
      </p:sp>
      <p:sp>
        <p:nvSpPr>
          <p:cNvPr id="6" name="TextBox 5"/>
          <p:cNvSpPr txBox="1"/>
          <p:nvPr/>
        </p:nvSpPr>
        <p:spPr>
          <a:xfrm>
            <a:off x="822960" y="3246120"/>
            <a:ext cx="5303520" cy="411480"/>
          </a:xfrm>
          <a:prstGeom prst="rect">
            <a:avLst/>
          </a:prstGeom>
          <a:noFill/>
        </p:spPr>
        <p:txBody>
          <a:bodyPr wrap="square" lIns="73152" tIns="36576" rIns="73152" bIns="36576">
            <a:spAutoFit/>
          </a:bodyPr>
          <a:lstStyle/>
          <a:p>
            <a:pPr>
              <a:spcAft>
                <a:spcPts val="800"/>
              </a:spcAft>
              <a:defRPr sz="1800" b="1">
                <a:solidFill>
                  <a:srgbClr val="1C918C"/>
                </a:solidFill>
                <a:latin typeface="Aptos"/>
              </a:defRPr>
            </a:pPr>
            <a:r>
              <a:t>CONFIDENCE</a:t>
            </a:r>
          </a:p>
        </p:txBody>
      </p:sp>
      <p:sp>
        <p:nvSpPr>
          <p:cNvPr id="7" name="TextBox 6"/>
          <p:cNvSpPr txBox="1"/>
          <p:nvPr/>
        </p:nvSpPr>
        <p:spPr>
          <a:xfrm>
            <a:off x="822960" y="3657600"/>
            <a:ext cx="5303520" cy="1097280"/>
          </a:xfrm>
          <a:prstGeom prst="rect">
            <a:avLst/>
          </a:prstGeom>
          <a:noFill/>
        </p:spPr>
        <p:txBody>
          <a:bodyPr wrap="square" lIns="73152" tIns="36576" rIns="73152" bIns="36576">
            <a:spAutoFit/>
          </a:bodyPr>
          <a:lstStyle/>
          <a:p>
            <a:pPr>
              <a:spcAft>
                <a:spcPts val="800"/>
              </a:spcAft>
              <a:defRPr sz="2000" b="1">
                <a:solidFill>
                  <a:srgbClr val="182A4A"/>
                </a:solidFill>
                <a:latin typeface="Aptos"/>
              </a:defRPr>
            </a:pPr>
            <a:r>
              <a:t>Confidence(A → B) = Support(A ∪ B) ÷ Support(A)</a:t>
            </a:r>
          </a:p>
        </p:txBody>
      </p:sp>
      <p:sp>
        <p:nvSpPr>
          <p:cNvPr id="8" name="TextBox 7"/>
          <p:cNvSpPr txBox="1"/>
          <p:nvPr/>
        </p:nvSpPr>
        <p:spPr>
          <a:xfrm>
            <a:off x="6400800" y="1783080"/>
            <a:ext cx="4754880" cy="457200"/>
          </a:xfrm>
          <a:prstGeom prst="rect">
            <a:avLst/>
          </a:prstGeom>
          <a:noFill/>
        </p:spPr>
        <p:txBody>
          <a:bodyPr wrap="square" lIns="73152" tIns="36576" rIns="73152" bIns="36576">
            <a:spAutoFit/>
          </a:bodyPr>
          <a:lstStyle/>
          <a:p>
            <a:pPr>
              <a:spcAft>
                <a:spcPts val="800"/>
              </a:spcAft>
              <a:defRPr sz="2000" b="1">
                <a:solidFill>
                  <a:srgbClr val="3469B0"/>
                </a:solidFill>
                <a:latin typeface="Aptos"/>
              </a:defRPr>
            </a:pPr>
            <a:r>
              <a:t>Example settings</a:t>
            </a:r>
          </a:p>
        </p:txBody>
      </p:sp>
      <p:sp>
        <p:nvSpPr>
          <p:cNvPr id="9" name="TextBox 8"/>
          <p:cNvSpPr txBox="1"/>
          <p:nvPr/>
        </p:nvSpPr>
        <p:spPr>
          <a:xfrm>
            <a:off x="6400800" y="2331720"/>
            <a:ext cx="5029200" cy="3108960"/>
          </a:xfrm>
          <a:prstGeom prst="rect">
            <a:avLst/>
          </a:prstGeom>
          <a:noFill/>
        </p:spPr>
        <p:txBody>
          <a:bodyPr wrap="square" lIns="73152" rIns="73152">
            <a:spAutoFit/>
          </a:bodyPr>
          <a:lstStyle/>
          <a:p>
            <a:pPr>
              <a:spcAft>
                <a:spcPts val="1400"/>
              </a:spcAft>
              <a:defRPr sz="1800">
                <a:solidFill>
                  <a:srgbClr val="28303A"/>
                </a:solidFill>
                <a:latin typeface="Aptos"/>
              </a:defRPr>
            </a:pPr>
            <a:r>
              <a:t>• Total transactions = 5</a:t>
            </a:r>
          </a:p>
          <a:p>
            <a:pPr>
              <a:spcAft>
                <a:spcPts val="1400"/>
              </a:spcAft>
              <a:defRPr sz="1800">
                <a:solidFill>
                  <a:srgbClr val="28303A"/>
                </a:solidFill>
                <a:latin typeface="Aptos"/>
              </a:defRPr>
            </a:pPr>
            <a:r>
              <a:t>• Minimum support = 60% (at least 3 transactions)</a:t>
            </a:r>
          </a:p>
          <a:p>
            <a:pPr>
              <a:spcAft>
                <a:spcPts val="1400"/>
              </a:spcAft>
              <a:defRPr sz="1800">
                <a:solidFill>
                  <a:srgbClr val="28303A"/>
                </a:solidFill>
                <a:latin typeface="Aptos"/>
              </a:defRPr>
            </a:pPr>
            <a:r>
              <a:t>• Minimum confidence = 70%</a:t>
            </a:r>
          </a:p>
        </p:txBody>
      </p:sp>
      <p:sp>
        <p:nvSpPr>
          <p:cNvPr id="10" name="TextBox 9"/>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11" name="TextBox 10"/>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3. Example: Supermarket Transactions</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822960" y="1737360"/>
          <a:ext cx="10515600" cy="3977639"/>
        </p:xfrm>
        <a:graphic>
          <a:graphicData uri="http://schemas.openxmlformats.org/drawingml/2006/table">
            <a:tbl>
              <a:tblPr firstRow="1" bandRow="1">
                <a:tableStyleId>{5C22544A-7EE6-4342-B048-85BDC9FD1C3A}</a:tableStyleId>
              </a:tblPr>
              <a:tblGrid>
                <a:gridCol w="5257800"/>
                <a:gridCol w="5257800"/>
              </a:tblGrid>
              <a:tr h="662939">
                <a:tc>
                  <a:txBody>
                    <a:bodyPr/>
                    <a:lstStyle/>
                    <a:p>
                      <a:pPr algn="ctr">
                        <a:defRPr sz="1700" b="1">
                          <a:solidFill>
                            <a:srgbClr val="FFFFFF"/>
                          </a:solidFill>
                          <a:latin typeface="Aptos"/>
                        </a:defRPr>
                      </a:pPr>
                      <a:r>
                        <a:t>Transaction</a:t>
                      </a:r>
                    </a:p>
                  </a:txBody>
                  <a:tcPr>
                    <a:solidFill>
                      <a:srgbClr val="182A4A"/>
                    </a:solidFill>
                  </a:tcPr>
                </a:tc>
                <a:tc>
                  <a:txBody>
                    <a:bodyPr/>
                    <a:lstStyle/>
                    <a:p>
                      <a:pPr algn="ctr">
                        <a:defRPr sz="1700" b="1">
                          <a:solidFill>
                            <a:srgbClr val="FFFFFF"/>
                          </a:solidFill>
                          <a:latin typeface="Aptos"/>
                        </a:defRPr>
                      </a:pPr>
                      <a:r>
                        <a:t>Items purchased</a:t>
                      </a:r>
                    </a:p>
                  </a:txBody>
                  <a:tcPr>
                    <a:solidFill>
                      <a:srgbClr val="182A4A"/>
                    </a:solidFill>
                  </a:tcPr>
                </a:tc>
              </a:tr>
              <a:tr h="662939">
                <a:tc>
                  <a:txBody>
                    <a:bodyPr/>
                    <a:lstStyle/>
                    <a:p>
                      <a:pPr algn="ctr">
                        <a:defRPr sz="1700">
                          <a:solidFill>
                            <a:srgbClr val="28303A"/>
                          </a:solidFill>
                          <a:latin typeface="Aptos"/>
                        </a:defRPr>
                      </a:pPr>
                      <a:r>
                        <a:t>T1</a:t>
                      </a:r>
                    </a:p>
                  </a:txBody>
                  <a:tcPr>
                    <a:solidFill>
                      <a:srgbClr val="EBF2FA"/>
                    </a:solidFill>
                  </a:tcPr>
                </a:tc>
                <a:tc>
                  <a:txBody>
                    <a:bodyPr/>
                    <a:lstStyle/>
                    <a:p>
                      <a:pPr algn="ctr">
                        <a:defRPr sz="1700">
                          <a:solidFill>
                            <a:srgbClr val="28303A"/>
                          </a:solidFill>
                          <a:latin typeface="Aptos"/>
                        </a:defRPr>
                      </a:pPr>
                      <a:r>
                        <a:t>Bread, Milk</a:t>
                      </a:r>
                    </a:p>
                  </a:txBody>
                  <a:tcPr>
                    <a:solidFill>
                      <a:srgbClr val="EBF2FA"/>
                    </a:solidFill>
                  </a:tcPr>
                </a:tc>
              </a:tr>
              <a:tr h="662939">
                <a:tc>
                  <a:txBody>
                    <a:bodyPr/>
                    <a:lstStyle/>
                    <a:p>
                      <a:pPr algn="ctr">
                        <a:defRPr sz="1700">
                          <a:solidFill>
                            <a:srgbClr val="28303A"/>
                          </a:solidFill>
                          <a:latin typeface="Aptos"/>
                        </a:defRPr>
                      </a:pPr>
                      <a:r>
                        <a:t>T2</a:t>
                      </a:r>
                    </a:p>
                  </a:txBody>
                  <a:tcPr>
                    <a:solidFill>
                      <a:srgbClr val="FFFFFF"/>
                    </a:solidFill>
                  </a:tcPr>
                </a:tc>
                <a:tc>
                  <a:txBody>
                    <a:bodyPr/>
                    <a:lstStyle/>
                    <a:p>
                      <a:pPr algn="ctr">
                        <a:defRPr sz="1700">
                          <a:solidFill>
                            <a:srgbClr val="28303A"/>
                          </a:solidFill>
                          <a:latin typeface="Aptos"/>
                        </a:defRPr>
                      </a:pPr>
                      <a:r>
                        <a:t>Bread, Diaper, Beer</a:t>
                      </a:r>
                    </a:p>
                  </a:txBody>
                  <a:tcPr>
                    <a:solidFill>
                      <a:srgbClr val="FFFFFF"/>
                    </a:solidFill>
                  </a:tcPr>
                </a:tc>
              </a:tr>
              <a:tr h="662939">
                <a:tc>
                  <a:txBody>
                    <a:bodyPr/>
                    <a:lstStyle/>
                    <a:p>
                      <a:pPr algn="ctr">
                        <a:defRPr sz="1700">
                          <a:solidFill>
                            <a:srgbClr val="28303A"/>
                          </a:solidFill>
                          <a:latin typeface="Aptos"/>
                        </a:defRPr>
                      </a:pPr>
                      <a:r>
                        <a:t>T3</a:t>
                      </a:r>
                    </a:p>
                  </a:txBody>
                  <a:tcPr>
                    <a:solidFill>
                      <a:srgbClr val="EBF2FA"/>
                    </a:solidFill>
                  </a:tcPr>
                </a:tc>
                <a:tc>
                  <a:txBody>
                    <a:bodyPr/>
                    <a:lstStyle/>
                    <a:p>
                      <a:pPr algn="ctr">
                        <a:defRPr sz="1700">
                          <a:solidFill>
                            <a:srgbClr val="28303A"/>
                          </a:solidFill>
                          <a:latin typeface="Aptos"/>
                        </a:defRPr>
                      </a:pPr>
                      <a:r>
                        <a:t>Milk, Diaper, Beer</a:t>
                      </a:r>
                    </a:p>
                  </a:txBody>
                  <a:tcPr>
                    <a:solidFill>
                      <a:srgbClr val="EBF2FA"/>
                    </a:solidFill>
                  </a:tcPr>
                </a:tc>
              </a:tr>
              <a:tr h="662939">
                <a:tc>
                  <a:txBody>
                    <a:bodyPr/>
                    <a:lstStyle/>
                    <a:p>
                      <a:pPr algn="ctr">
                        <a:defRPr sz="1700">
                          <a:solidFill>
                            <a:srgbClr val="28303A"/>
                          </a:solidFill>
                          <a:latin typeface="Aptos"/>
                        </a:defRPr>
                      </a:pPr>
                      <a:r>
                        <a:t>T4</a:t>
                      </a:r>
                    </a:p>
                  </a:txBody>
                  <a:tcPr>
                    <a:solidFill>
                      <a:srgbClr val="FFFFFF"/>
                    </a:solidFill>
                  </a:tcPr>
                </a:tc>
                <a:tc>
                  <a:txBody>
                    <a:bodyPr/>
                    <a:lstStyle/>
                    <a:p>
                      <a:pPr algn="ctr">
                        <a:defRPr sz="1700">
                          <a:solidFill>
                            <a:srgbClr val="28303A"/>
                          </a:solidFill>
                          <a:latin typeface="Aptos"/>
                        </a:defRPr>
                      </a:pPr>
                      <a:r>
                        <a:t>Bread, Milk, Diaper, Beer</a:t>
                      </a:r>
                    </a:p>
                  </a:txBody>
                  <a:tcPr>
                    <a:solidFill>
                      <a:srgbClr val="FFFFFF"/>
                    </a:solidFill>
                  </a:tcPr>
                </a:tc>
              </a:tr>
              <a:tr h="662944">
                <a:tc>
                  <a:txBody>
                    <a:bodyPr/>
                    <a:lstStyle/>
                    <a:p>
                      <a:pPr algn="ctr">
                        <a:defRPr sz="1700">
                          <a:solidFill>
                            <a:srgbClr val="28303A"/>
                          </a:solidFill>
                          <a:latin typeface="Aptos"/>
                        </a:defRPr>
                      </a:pPr>
                      <a:r>
                        <a:t>T5</a:t>
                      </a:r>
                    </a:p>
                  </a:txBody>
                  <a:tcPr>
                    <a:solidFill>
                      <a:srgbClr val="EBF2FA"/>
                    </a:solidFill>
                  </a:tcPr>
                </a:tc>
                <a:tc>
                  <a:txBody>
                    <a:bodyPr/>
                    <a:lstStyle/>
                    <a:p>
                      <a:pPr algn="ctr">
                        <a:defRPr sz="1700">
                          <a:solidFill>
                            <a:srgbClr val="28303A"/>
                          </a:solidFill>
                          <a:latin typeface="Aptos"/>
                        </a:defRPr>
                      </a:pPr>
                      <a:r>
                        <a:t>Bread, Milk, Diaper</a:t>
                      </a:r>
                    </a:p>
                  </a:txBody>
                  <a:tcPr>
                    <a:solidFill>
                      <a:srgbClr val="EBF2FA"/>
                    </a:solidFill>
                  </a:tcPr>
                </a:tc>
              </a:tr>
            </a:tbl>
          </a:graphicData>
        </a:graphic>
      </p:graphicFrame>
      <p:sp>
        <p:nvSpPr>
          <p:cNvPr id="5" name="TextBox 4"/>
          <p:cNvSpPr txBox="1"/>
          <p:nvPr/>
        </p:nvSpPr>
        <p:spPr>
          <a:xfrm>
            <a:off x="914400" y="5870448"/>
            <a:ext cx="10241280" cy="320040"/>
          </a:xfrm>
          <a:prstGeom prst="rect">
            <a:avLst/>
          </a:prstGeom>
          <a:noFill/>
        </p:spPr>
        <p:txBody>
          <a:bodyPr wrap="square" lIns="73152" tIns="36576" rIns="73152" bIns="36576">
            <a:spAutoFit/>
          </a:bodyPr>
          <a:lstStyle/>
          <a:p>
            <a:pPr>
              <a:spcAft>
                <a:spcPts val="800"/>
              </a:spcAft>
              <a:defRPr sz="1600" b="1">
                <a:solidFill>
                  <a:srgbClr val="1C918C"/>
                </a:solidFill>
                <a:latin typeface="Aptos"/>
              </a:defRPr>
            </a:pPr>
            <a:r>
              <a:t>Minimum support = 60%  |  Minimum confidence = 70%</a:t>
            </a:r>
          </a:p>
        </p:txBody>
      </p:sp>
      <p:sp>
        <p:nvSpPr>
          <p:cNvPr id="6" name="TextBox 5"/>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7" name="TextBox 6"/>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4. Step 1 — Find Frequent 1-Itemsets (L1)</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822960" y="1783080"/>
          <a:ext cx="10515600" cy="3429000"/>
        </p:xfrm>
        <a:graphic>
          <a:graphicData uri="http://schemas.openxmlformats.org/drawingml/2006/table">
            <a:tbl>
              <a:tblPr firstRow="1" bandRow="1">
                <a:tableStyleId>{5C22544A-7EE6-4342-B048-85BDC9FD1C3A}</a:tableStyleId>
              </a:tblPr>
              <a:tblGrid>
                <a:gridCol w="2628900"/>
                <a:gridCol w="2628900"/>
                <a:gridCol w="2628900"/>
                <a:gridCol w="2628900"/>
              </a:tblGrid>
              <a:tr h="685800">
                <a:tc>
                  <a:txBody>
                    <a:bodyPr/>
                    <a:lstStyle/>
                    <a:p>
                      <a:pPr algn="ctr">
                        <a:defRPr sz="1700" b="1">
                          <a:solidFill>
                            <a:srgbClr val="FFFFFF"/>
                          </a:solidFill>
                          <a:latin typeface="Aptos"/>
                        </a:defRPr>
                      </a:pPr>
                      <a:r>
                        <a:t>Item</a:t>
                      </a:r>
                    </a:p>
                  </a:txBody>
                  <a:tcPr>
                    <a:solidFill>
                      <a:srgbClr val="182A4A"/>
                    </a:solidFill>
                  </a:tcPr>
                </a:tc>
                <a:tc>
                  <a:txBody>
                    <a:bodyPr/>
                    <a:lstStyle/>
                    <a:p>
                      <a:pPr algn="ctr">
                        <a:defRPr sz="1700" b="1">
                          <a:solidFill>
                            <a:srgbClr val="FFFFFF"/>
                          </a:solidFill>
                          <a:latin typeface="Aptos"/>
                        </a:defRPr>
                      </a:pPr>
                      <a:r>
                        <a:t>Count</a:t>
                      </a:r>
                    </a:p>
                  </a:txBody>
                  <a:tcPr>
                    <a:solidFill>
                      <a:srgbClr val="182A4A"/>
                    </a:solidFill>
                  </a:tcPr>
                </a:tc>
                <a:tc>
                  <a:txBody>
                    <a:bodyPr/>
                    <a:lstStyle/>
                    <a:p>
                      <a:pPr algn="ctr">
                        <a:defRPr sz="1700" b="1">
                          <a:solidFill>
                            <a:srgbClr val="FFFFFF"/>
                          </a:solidFill>
                          <a:latin typeface="Aptos"/>
                        </a:defRPr>
                      </a:pPr>
                      <a:r>
                        <a:t>Support</a:t>
                      </a:r>
                    </a:p>
                  </a:txBody>
                  <a:tcPr>
                    <a:solidFill>
                      <a:srgbClr val="182A4A"/>
                    </a:solidFill>
                  </a:tcPr>
                </a:tc>
                <a:tc>
                  <a:txBody>
                    <a:bodyPr/>
                    <a:lstStyle/>
                    <a:p>
                      <a:pPr algn="ctr">
                        <a:defRPr sz="1700" b="1">
                          <a:solidFill>
                            <a:srgbClr val="FFFFFF"/>
                          </a:solidFill>
                          <a:latin typeface="Aptos"/>
                        </a:defRPr>
                      </a:pPr>
                      <a:r>
                        <a:t>Frequent?</a:t>
                      </a:r>
                    </a:p>
                  </a:txBody>
                  <a:tcPr>
                    <a:solidFill>
                      <a:srgbClr val="182A4A"/>
                    </a:solidFill>
                  </a:tcPr>
                </a:tc>
              </a:tr>
              <a:tr h="685800">
                <a:tc>
                  <a:txBody>
                    <a:bodyPr/>
                    <a:lstStyle/>
                    <a:p>
                      <a:pPr algn="ctr">
                        <a:defRPr sz="1700">
                          <a:solidFill>
                            <a:srgbClr val="28303A"/>
                          </a:solidFill>
                          <a:latin typeface="Aptos"/>
                        </a:defRPr>
                      </a:pPr>
                      <a:r>
                        <a:t>Bread</a:t>
                      </a:r>
                    </a:p>
                  </a:txBody>
                  <a:tcPr>
                    <a:solidFill>
                      <a:srgbClr val="EBF2FA"/>
                    </a:solidFill>
                  </a:tcPr>
                </a:tc>
                <a:tc>
                  <a:txBody>
                    <a:bodyPr/>
                    <a:lstStyle/>
                    <a:p>
                      <a:pPr algn="ctr">
                        <a:defRPr sz="1700">
                          <a:solidFill>
                            <a:srgbClr val="28303A"/>
                          </a:solidFill>
                          <a:latin typeface="Aptos"/>
                        </a:defRPr>
                      </a:pPr>
                      <a:r>
                        <a:t>4</a:t>
                      </a:r>
                    </a:p>
                  </a:txBody>
                  <a:tcPr>
                    <a:solidFill>
                      <a:srgbClr val="EBF2FA"/>
                    </a:solidFill>
                  </a:tcPr>
                </a:tc>
                <a:tc>
                  <a:txBody>
                    <a:bodyPr/>
                    <a:lstStyle/>
                    <a:p>
                      <a:pPr algn="ctr">
                        <a:defRPr sz="1700">
                          <a:solidFill>
                            <a:srgbClr val="28303A"/>
                          </a:solidFill>
                          <a:latin typeface="Aptos"/>
                        </a:defRPr>
                      </a:pPr>
                      <a:r>
                        <a:t>4/5 = 80%</a:t>
                      </a:r>
                    </a:p>
                  </a:txBody>
                  <a:tcPr>
                    <a:solidFill>
                      <a:srgbClr val="EBF2FA"/>
                    </a:solidFill>
                  </a:tcPr>
                </a:tc>
                <a:tc>
                  <a:txBody>
                    <a:bodyPr/>
                    <a:lstStyle/>
                    <a:p>
                      <a:pPr algn="ctr">
                        <a:defRPr sz="1700">
                          <a:solidFill>
                            <a:srgbClr val="28303A"/>
                          </a:solidFill>
                          <a:latin typeface="Aptos"/>
                        </a:defRPr>
                      </a:pPr>
                      <a:r>
                        <a:t>Yes</a:t>
                      </a:r>
                    </a:p>
                  </a:txBody>
                  <a:tcPr>
                    <a:solidFill>
                      <a:srgbClr val="EBF2FA"/>
                    </a:solidFill>
                  </a:tcPr>
                </a:tc>
              </a:tr>
              <a:tr h="685800">
                <a:tc>
                  <a:txBody>
                    <a:bodyPr/>
                    <a:lstStyle/>
                    <a:p>
                      <a:pPr algn="ctr">
                        <a:defRPr sz="1700">
                          <a:solidFill>
                            <a:srgbClr val="28303A"/>
                          </a:solidFill>
                          <a:latin typeface="Aptos"/>
                        </a:defRPr>
                      </a:pPr>
                      <a:r>
                        <a:t>Milk</a:t>
                      </a:r>
                    </a:p>
                  </a:txBody>
                  <a:tcPr>
                    <a:solidFill>
                      <a:srgbClr val="FFFFFF"/>
                    </a:solidFill>
                  </a:tcPr>
                </a:tc>
                <a:tc>
                  <a:txBody>
                    <a:bodyPr/>
                    <a:lstStyle/>
                    <a:p>
                      <a:pPr algn="ctr">
                        <a:defRPr sz="1700">
                          <a:solidFill>
                            <a:srgbClr val="28303A"/>
                          </a:solidFill>
                          <a:latin typeface="Aptos"/>
                        </a:defRPr>
                      </a:pPr>
                      <a:r>
                        <a:t>4</a:t>
                      </a:r>
                    </a:p>
                  </a:txBody>
                  <a:tcPr>
                    <a:solidFill>
                      <a:srgbClr val="FFFFFF"/>
                    </a:solidFill>
                  </a:tcPr>
                </a:tc>
                <a:tc>
                  <a:txBody>
                    <a:bodyPr/>
                    <a:lstStyle/>
                    <a:p>
                      <a:pPr algn="ctr">
                        <a:defRPr sz="1700">
                          <a:solidFill>
                            <a:srgbClr val="28303A"/>
                          </a:solidFill>
                          <a:latin typeface="Aptos"/>
                        </a:defRPr>
                      </a:pPr>
                      <a:r>
                        <a:t>4/5 = 80%</a:t>
                      </a:r>
                    </a:p>
                  </a:txBody>
                  <a:tcPr>
                    <a:solidFill>
                      <a:srgbClr val="FFFFFF"/>
                    </a:solidFill>
                  </a:tcPr>
                </a:tc>
                <a:tc>
                  <a:txBody>
                    <a:bodyPr/>
                    <a:lstStyle/>
                    <a:p>
                      <a:pPr algn="ctr">
                        <a:defRPr sz="1700">
                          <a:solidFill>
                            <a:srgbClr val="28303A"/>
                          </a:solidFill>
                          <a:latin typeface="Aptos"/>
                        </a:defRPr>
                      </a:pPr>
                      <a:r>
                        <a:t>Yes</a:t>
                      </a:r>
                    </a:p>
                  </a:txBody>
                  <a:tcPr>
                    <a:solidFill>
                      <a:srgbClr val="FFFFFF"/>
                    </a:solidFill>
                  </a:tcPr>
                </a:tc>
              </a:tr>
              <a:tr h="685800">
                <a:tc>
                  <a:txBody>
                    <a:bodyPr/>
                    <a:lstStyle/>
                    <a:p>
                      <a:pPr algn="ctr">
                        <a:defRPr sz="1700">
                          <a:solidFill>
                            <a:srgbClr val="28303A"/>
                          </a:solidFill>
                          <a:latin typeface="Aptos"/>
                        </a:defRPr>
                      </a:pPr>
                      <a:r>
                        <a:t>Diaper</a:t>
                      </a:r>
                    </a:p>
                  </a:txBody>
                  <a:tcPr>
                    <a:solidFill>
                      <a:srgbClr val="EBF2FA"/>
                    </a:solidFill>
                  </a:tcPr>
                </a:tc>
                <a:tc>
                  <a:txBody>
                    <a:bodyPr/>
                    <a:lstStyle/>
                    <a:p>
                      <a:pPr algn="ctr">
                        <a:defRPr sz="1700">
                          <a:solidFill>
                            <a:srgbClr val="28303A"/>
                          </a:solidFill>
                          <a:latin typeface="Aptos"/>
                        </a:defRPr>
                      </a:pPr>
                      <a:r>
                        <a:t>4</a:t>
                      </a:r>
                    </a:p>
                  </a:txBody>
                  <a:tcPr>
                    <a:solidFill>
                      <a:srgbClr val="EBF2FA"/>
                    </a:solidFill>
                  </a:tcPr>
                </a:tc>
                <a:tc>
                  <a:txBody>
                    <a:bodyPr/>
                    <a:lstStyle/>
                    <a:p>
                      <a:pPr algn="ctr">
                        <a:defRPr sz="1700">
                          <a:solidFill>
                            <a:srgbClr val="28303A"/>
                          </a:solidFill>
                          <a:latin typeface="Aptos"/>
                        </a:defRPr>
                      </a:pPr>
                      <a:r>
                        <a:t>4/5 = 80%</a:t>
                      </a:r>
                    </a:p>
                  </a:txBody>
                  <a:tcPr>
                    <a:solidFill>
                      <a:srgbClr val="EBF2FA"/>
                    </a:solidFill>
                  </a:tcPr>
                </a:tc>
                <a:tc>
                  <a:txBody>
                    <a:bodyPr/>
                    <a:lstStyle/>
                    <a:p>
                      <a:pPr algn="ctr">
                        <a:defRPr sz="1700">
                          <a:solidFill>
                            <a:srgbClr val="28303A"/>
                          </a:solidFill>
                          <a:latin typeface="Aptos"/>
                        </a:defRPr>
                      </a:pPr>
                      <a:r>
                        <a:t>Yes</a:t>
                      </a:r>
                    </a:p>
                  </a:txBody>
                  <a:tcPr>
                    <a:solidFill>
                      <a:srgbClr val="EBF2FA"/>
                    </a:solidFill>
                  </a:tcPr>
                </a:tc>
              </a:tr>
              <a:tr h="685800">
                <a:tc>
                  <a:txBody>
                    <a:bodyPr/>
                    <a:lstStyle/>
                    <a:p>
                      <a:pPr algn="ctr">
                        <a:defRPr sz="1700">
                          <a:solidFill>
                            <a:srgbClr val="28303A"/>
                          </a:solidFill>
                          <a:latin typeface="Aptos"/>
                        </a:defRPr>
                      </a:pPr>
                      <a:r>
                        <a:t>Beer</a:t>
                      </a:r>
                    </a:p>
                  </a:txBody>
                  <a:tcPr>
                    <a:solidFill>
                      <a:srgbClr val="FFFFFF"/>
                    </a:solidFill>
                  </a:tcPr>
                </a:tc>
                <a:tc>
                  <a:txBody>
                    <a:bodyPr/>
                    <a:lstStyle/>
                    <a:p>
                      <a:pPr algn="ctr">
                        <a:defRPr sz="1700">
                          <a:solidFill>
                            <a:srgbClr val="28303A"/>
                          </a:solidFill>
                          <a:latin typeface="Aptos"/>
                        </a:defRPr>
                      </a:pPr>
                      <a:r>
                        <a:t>3</a:t>
                      </a:r>
                    </a:p>
                  </a:txBody>
                  <a:tcPr>
                    <a:solidFill>
                      <a:srgbClr val="FFFFFF"/>
                    </a:solidFill>
                  </a:tcPr>
                </a:tc>
                <a:tc>
                  <a:txBody>
                    <a:bodyPr/>
                    <a:lstStyle/>
                    <a:p>
                      <a:pPr algn="ctr">
                        <a:defRPr sz="1700">
                          <a:solidFill>
                            <a:srgbClr val="28303A"/>
                          </a:solidFill>
                          <a:latin typeface="Aptos"/>
                        </a:defRPr>
                      </a:pPr>
                      <a:r>
                        <a:t>3/5 = 60%</a:t>
                      </a:r>
                    </a:p>
                  </a:txBody>
                  <a:tcPr>
                    <a:solidFill>
                      <a:srgbClr val="FFFFFF"/>
                    </a:solidFill>
                  </a:tcPr>
                </a:tc>
                <a:tc>
                  <a:txBody>
                    <a:bodyPr/>
                    <a:lstStyle/>
                    <a:p>
                      <a:pPr algn="ctr">
                        <a:defRPr sz="1700">
                          <a:solidFill>
                            <a:srgbClr val="28303A"/>
                          </a:solidFill>
                          <a:latin typeface="Aptos"/>
                        </a:defRPr>
                      </a:pPr>
                      <a:r>
                        <a:t>Yes</a:t>
                      </a:r>
                    </a:p>
                  </a:txBody>
                  <a:tcPr>
                    <a:solidFill>
                      <a:srgbClr val="FFFFFF"/>
                    </a:solidFill>
                  </a:tcPr>
                </a:tc>
              </a:tr>
            </a:tbl>
          </a:graphicData>
        </a:graphic>
      </p:graphicFrame>
      <p:sp>
        <p:nvSpPr>
          <p:cNvPr id="5" name="TextBox 4"/>
          <p:cNvSpPr txBox="1"/>
          <p:nvPr/>
        </p:nvSpPr>
        <p:spPr>
          <a:xfrm>
            <a:off x="914400" y="5486400"/>
            <a:ext cx="10241280" cy="502920"/>
          </a:xfrm>
          <a:prstGeom prst="rect">
            <a:avLst/>
          </a:prstGeom>
          <a:noFill/>
        </p:spPr>
        <p:txBody>
          <a:bodyPr wrap="square" lIns="73152" tIns="36576" rIns="73152" bIns="36576">
            <a:spAutoFit/>
          </a:bodyPr>
          <a:lstStyle/>
          <a:p>
            <a:pPr>
              <a:spcAft>
                <a:spcPts val="800"/>
              </a:spcAft>
              <a:defRPr sz="1800" b="1">
                <a:solidFill>
                  <a:srgbClr val="258758"/>
                </a:solidFill>
                <a:latin typeface="Aptos"/>
              </a:defRPr>
            </a:pPr>
            <a:r>
              <a:t>All four items meet the 60% minimum support threshold.</a:t>
            </a:r>
          </a:p>
        </p:txBody>
      </p:sp>
      <p:sp>
        <p:nvSpPr>
          <p:cNvPr id="6" name="TextBox 5"/>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7" name="TextBox 6"/>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5. Step 2 — Find Frequent 2-Itemsets (L2)</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685800" y="1691640"/>
          <a:ext cx="10835640" cy="4251960"/>
        </p:xfrm>
        <a:graphic>
          <a:graphicData uri="http://schemas.openxmlformats.org/drawingml/2006/table">
            <a:tbl>
              <a:tblPr firstRow="1" bandRow="1">
                <a:tableStyleId>{5C22544A-7EE6-4342-B048-85BDC9FD1C3A}</a:tableStyleId>
              </a:tblPr>
              <a:tblGrid>
                <a:gridCol w="2708910"/>
                <a:gridCol w="2708910"/>
                <a:gridCol w="2708910"/>
                <a:gridCol w="2708910"/>
              </a:tblGrid>
              <a:tr h="607422">
                <a:tc>
                  <a:txBody>
                    <a:bodyPr/>
                    <a:lstStyle/>
                    <a:p>
                      <a:pPr algn="ctr">
                        <a:defRPr sz="1400" b="1">
                          <a:solidFill>
                            <a:srgbClr val="FFFFFF"/>
                          </a:solidFill>
                          <a:latin typeface="Aptos"/>
                        </a:defRPr>
                      </a:pPr>
                      <a:r>
                        <a:t>Pair</a:t>
                      </a:r>
                    </a:p>
                  </a:txBody>
                  <a:tcPr>
                    <a:solidFill>
                      <a:srgbClr val="182A4A"/>
                    </a:solidFill>
                  </a:tcPr>
                </a:tc>
                <a:tc>
                  <a:txBody>
                    <a:bodyPr/>
                    <a:lstStyle/>
                    <a:p>
                      <a:pPr algn="ctr">
                        <a:defRPr sz="1400" b="1">
                          <a:solidFill>
                            <a:srgbClr val="FFFFFF"/>
                          </a:solidFill>
                          <a:latin typeface="Aptos"/>
                        </a:defRPr>
                      </a:pPr>
                      <a:r>
                        <a:t>Count</a:t>
                      </a:r>
                    </a:p>
                  </a:txBody>
                  <a:tcPr>
                    <a:solidFill>
                      <a:srgbClr val="182A4A"/>
                    </a:solidFill>
                  </a:tcPr>
                </a:tc>
                <a:tc>
                  <a:txBody>
                    <a:bodyPr/>
                    <a:lstStyle/>
                    <a:p>
                      <a:pPr algn="ctr">
                        <a:defRPr sz="1400" b="1">
                          <a:solidFill>
                            <a:srgbClr val="FFFFFF"/>
                          </a:solidFill>
                          <a:latin typeface="Aptos"/>
                        </a:defRPr>
                      </a:pPr>
                      <a:r>
                        <a:t>Support</a:t>
                      </a:r>
                    </a:p>
                  </a:txBody>
                  <a:tcPr>
                    <a:solidFill>
                      <a:srgbClr val="182A4A"/>
                    </a:solidFill>
                  </a:tcPr>
                </a:tc>
                <a:tc>
                  <a:txBody>
                    <a:bodyPr/>
                    <a:lstStyle/>
                    <a:p>
                      <a:pPr algn="ctr">
                        <a:defRPr sz="1400" b="1">
                          <a:solidFill>
                            <a:srgbClr val="FFFFFF"/>
                          </a:solidFill>
                          <a:latin typeface="Aptos"/>
                        </a:defRPr>
                      </a:pPr>
                      <a:r>
                        <a:t>Decision</a:t>
                      </a:r>
                    </a:p>
                  </a:txBody>
                  <a:tcPr>
                    <a:solidFill>
                      <a:srgbClr val="182A4A"/>
                    </a:solidFill>
                  </a:tcPr>
                </a:tc>
              </a:tr>
              <a:tr h="607422">
                <a:tc>
                  <a:txBody>
                    <a:bodyPr/>
                    <a:lstStyle/>
                    <a:p>
                      <a:pPr algn="ctr">
                        <a:defRPr sz="1400">
                          <a:solidFill>
                            <a:srgbClr val="28303A"/>
                          </a:solidFill>
                          <a:latin typeface="Aptos"/>
                        </a:defRPr>
                      </a:pPr>
                      <a:r>
                        <a:t>Bread, Milk</a:t>
                      </a:r>
                    </a:p>
                  </a:txBody>
                  <a:tcPr>
                    <a:solidFill>
                      <a:srgbClr val="EBF2FA"/>
                    </a:solidFill>
                  </a:tcPr>
                </a:tc>
                <a:tc>
                  <a:txBody>
                    <a:bodyPr/>
                    <a:lstStyle/>
                    <a:p>
                      <a:pPr algn="ctr">
                        <a:defRPr sz="1400">
                          <a:solidFill>
                            <a:srgbClr val="28303A"/>
                          </a:solidFill>
                          <a:latin typeface="Aptos"/>
                        </a:defRPr>
                      </a:pPr>
                      <a:r>
                        <a:t>3</a:t>
                      </a:r>
                    </a:p>
                  </a:txBody>
                  <a:tcPr>
                    <a:solidFill>
                      <a:srgbClr val="EBF2FA"/>
                    </a:solidFill>
                  </a:tcPr>
                </a:tc>
                <a:tc>
                  <a:txBody>
                    <a:bodyPr/>
                    <a:lstStyle/>
                    <a:p>
                      <a:pPr algn="ctr">
                        <a:defRPr sz="1400">
                          <a:solidFill>
                            <a:srgbClr val="28303A"/>
                          </a:solidFill>
                          <a:latin typeface="Aptos"/>
                        </a:defRPr>
                      </a:pPr>
                      <a:r>
                        <a:t>60%</a:t>
                      </a:r>
                    </a:p>
                  </a:txBody>
                  <a:tcPr>
                    <a:solidFill>
                      <a:srgbClr val="EBF2FA"/>
                    </a:solidFill>
                  </a:tcPr>
                </a:tc>
                <a:tc>
                  <a:txBody>
                    <a:bodyPr/>
                    <a:lstStyle/>
                    <a:p>
                      <a:pPr algn="ctr">
                        <a:defRPr sz="1400">
                          <a:solidFill>
                            <a:srgbClr val="28303A"/>
                          </a:solidFill>
                          <a:latin typeface="Aptos"/>
                        </a:defRPr>
                      </a:pPr>
                      <a:r>
                        <a:t>Keep</a:t>
                      </a:r>
                    </a:p>
                  </a:txBody>
                  <a:tcPr>
                    <a:solidFill>
                      <a:srgbClr val="EBF2FA"/>
                    </a:solidFill>
                  </a:tcPr>
                </a:tc>
              </a:tr>
              <a:tr h="607422">
                <a:tc>
                  <a:txBody>
                    <a:bodyPr/>
                    <a:lstStyle/>
                    <a:p>
                      <a:pPr algn="ctr">
                        <a:defRPr sz="1400">
                          <a:solidFill>
                            <a:srgbClr val="28303A"/>
                          </a:solidFill>
                          <a:latin typeface="Aptos"/>
                        </a:defRPr>
                      </a:pPr>
                      <a:r>
                        <a:t>Bread, Diaper</a:t>
                      </a:r>
                    </a:p>
                  </a:txBody>
                  <a:tcPr>
                    <a:solidFill>
                      <a:srgbClr val="FFFFFF"/>
                    </a:solidFill>
                  </a:tcPr>
                </a:tc>
                <a:tc>
                  <a:txBody>
                    <a:bodyPr/>
                    <a:lstStyle/>
                    <a:p>
                      <a:pPr algn="ctr">
                        <a:defRPr sz="1400">
                          <a:solidFill>
                            <a:srgbClr val="28303A"/>
                          </a:solidFill>
                          <a:latin typeface="Aptos"/>
                        </a:defRPr>
                      </a:pPr>
                      <a:r>
                        <a:t>3</a:t>
                      </a:r>
                    </a:p>
                  </a:txBody>
                  <a:tcPr>
                    <a:solidFill>
                      <a:srgbClr val="FFFFFF"/>
                    </a:solidFill>
                  </a:tcPr>
                </a:tc>
                <a:tc>
                  <a:txBody>
                    <a:bodyPr/>
                    <a:lstStyle/>
                    <a:p>
                      <a:pPr algn="ctr">
                        <a:defRPr sz="1400">
                          <a:solidFill>
                            <a:srgbClr val="28303A"/>
                          </a:solidFill>
                          <a:latin typeface="Aptos"/>
                        </a:defRPr>
                      </a:pPr>
                      <a:r>
                        <a:t>60%</a:t>
                      </a:r>
                    </a:p>
                  </a:txBody>
                  <a:tcPr>
                    <a:solidFill>
                      <a:srgbClr val="FFFFFF"/>
                    </a:solidFill>
                  </a:tcPr>
                </a:tc>
                <a:tc>
                  <a:txBody>
                    <a:bodyPr/>
                    <a:lstStyle/>
                    <a:p>
                      <a:pPr algn="ctr">
                        <a:defRPr sz="1400">
                          <a:solidFill>
                            <a:srgbClr val="28303A"/>
                          </a:solidFill>
                          <a:latin typeface="Aptos"/>
                        </a:defRPr>
                      </a:pPr>
                      <a:r>
                        <a:t>Keep</a:t>
                      </a:r>
                    </a:p>
                  </a:txBody>
                  <a:tcPr>
                    <a:solidFill>
                      <a:srgbClr val="FFFFFF"/>
                    </a:solidFill>
                  </a:tcPr>
                </a:tc>
              </a:tr>
              <a:tr h="607422">
                <a:tc>
                  <a:txBody>
                    <a:bodyPr/>
                    <a:lstStyle/>
                    <a:p>
                      <a:pPr algn="ctr">
                        <a:defRPr sz="1400">
                          <a:solidFill>
                            <a:srgbClr val="28303A"/>
                          </a:solidFill>
                          <a:latin typeface="Aptos"/>
                        </a:defRPr>
                      </a:pPr>
                      <a:r>
                        <a:t>Bread, Beer</a:t>
                      </a:r>
                    </a:p>
                  </a:txBody>
                  <a:tcPr>
                    <a:solidFill>
                      <a:srgbClr val="EBF2FA"/>
                    </a:solidFill>
                  </a:tcPr>
                </a:tc>
                <a:tc>
                  <a:txBody>
                    <a:bodyPr/>
                    <a:lstStyle/>
                    <a:p>
                      <a:pPr algn="ctr">
                        <a:defRPr sz="1400">
                          <a:solidFill>
                            <a:srgbClr val="28303A"/>
                          </a:solidFill>
                          <a:latin typeface="Aptos"/>
                        </a:defRPr>
                      </a:pPr>
                      <a:r>
                        <a:t>2</a:t>
                      </a:r>
                    </a:p>
                  </a:txBody>
                  <a:tcPr>
                    <a:solidFill>
                      <a:srgbClr val="EBF2FA"/>
                    </a:solidFill>
                  </a:tcPr>
                </a:tc>
                <a:tc>
                  <a:txBody>
                    <a:bodyPr/>
                    <a:lstStyle/>
                    <a:p>
                      <a:pPr algn="ctr">
                        <a:defRPr sz="1400">
                          <a:solidFill>
                            <a:srgbClr val="28303A"/>
                          </a:solidFill>
                          <a:latin typeface="Aptos"/>
                        </a:defRPr>
                      </a:pPr>
                      <a:r>
                        <a:t>40%</a:t>
                      </a:r>
                    </a:p>
                  </a:txBody>
                  <a:tcPr>
                    <a:solidFill>
                      <a:srgbClr val="EBF2FA"/>
                    </a:solidFill>
                  </a:tcPr>
                </a:tc>
                <a:tc>
                  <a:txBody>
                    <a:bodyPr/>
                    <a:lstStyle/>
                    <a:p>
                      <a:pPr algn="ctr">
                        <a:defRPr sz="1400">
                          <a:solidFill>
                            <a:srgbClr val="28303A"/>
                          </a:solidFill>
                          <a:latin typeface="Aptos"/>
                        </a:defRPr>
                      </a:pPr>
                      <a:r>
                        <a:t>Remove</a:t>
                      </a:r>
                    </a:p>
                  </a:txBody>
                  <a:tcPr>
                    <a:solidFill>
                      <a:srgbClr val="EBF2FA"/>
                    </a:solidFill>
                  </a:tcPr>
                </a:tc>
              </a:tr>
              <a:tr h="607422">
                <a:tc>
                  <a:txBody>
                    <a:bodyPr/>
                    <a:lstStyle/>
                    <a:p>
                      <a:pPr algn="ctr">
                        <a:defRPr sz="1400">
                          <a:solidFill>
                            <a:srgbClr val="28303A"/>
                          </a:solidFill>
                          <a:latin typeface="Aptos"/>
                        </a:defRPr>
                      </a:pPr>
                      <a:r>
                        <a:t>Milk, Diaper</a:t>
                      </a:r>
                    </a:p>
                  </a:txBody>
                  <a:tcPr>
                    <a:solidFill>
                      <a:srgbClr val="FFFFFF"/>
                    </a:solidFill>
                  </a:tcPr>
                </a:tc>
                <a:tc>
                  <a:txBody>
                    <a:bodyPr/>
                    <a:lstStyle/>
                    <a:p>
                      <a:pPr algn="ctr">
                        <a:defRPr sz="1400">
                          <a:solidFill>
                            <a:srgbClr val="28303A"/>
                          </a:solidFill>
                          <a:latin typeface="Aptos"/>
                        </a:defRPr>
                      </a:pPr>
                      <a:r>
                        <a:t>3</a:t>
                      </a:r>
                    </a:p>
                  </a:txBody>
                  <a:tcPr>
                    <a:solidFill>
                      <a:srgbClr val="FFFFFF"/>
                    </a:solidFill>
                  </a:tcPr>
                </a:tc>
                <a:tc>
                  <a:txBody>
                    <a:bodyPr/>
                    <a:lstStyle/>
                    <a:p>
                      <a:pPr algn="ctr">
                        <a:defRPr sz="1400">
                          <a:solidFill>
                            <a:srgbClr val="28303A"/>
                          </a:solidFill>
                          <a:latin typeface="Aptos"/>
                        </a:defRPr>
                      </a:pPr>
                      <a:r>
                        <a:t>60%</a:t>
                      </a:r>
                    </a:p>
                  </a:txBody>
                  <a:tcPr>
                    <a:solidFill>
                      <a:srgbClr val="FFFFFF"/>
                    </a:solidFill>
                  </a:tcPr>
                </a:tc>
                <a:tc>
                  <a:txBody>
                    <a:bodyPr/>
                    <a:lstStyle/>
                    <a:p>
                      <a:pPr algn="ctr">
                        <a:defRPr sz="1400">
                          <a:solidFill>
                            <a:srgbClr val="28303A"/>
                          </a:solidFill>
                          <a:latin typeface="Aptos"/>
                        </a:defRPr>
                      </a:pPr>
                      <a:r>
                        <a:t>Keep</a:t>
                      </a:r>
                    </a:p>
                  </a:txBody>
                  <a:tcPr>
                    <a:solidFill>
                      <a:srgbClr val="FFFFFF"/>
                    </a:solidFill>
                  </a:tcPr>
                </a:tc>
              </a:tr>
              <a:tr h="607422">
                <a:tc>
                  <a:txBody>
                    <a:bodyPr/>
                    <a:lstStyle/>
                    <a:p>
                      <a:pPr algn="ctr">
                        <a:defRPr sz="1400">
                          <a:solidFill>
                            <a:srgbClr val="28303A"/>
                          </a:solidFill>
                          <a:latin typeface="Aptos"/>
                        </a:defRPr>
                      </a:pPr>
                      <a:r>
                        <a:t>Milk, Beer</a:t>
                      </a:r>
                    </a:p>
                  </a:txBody>
                  <a:tcPr>
                    <a:solidFill>
                      <a:srgbClr val="EBF2FA"/>
                    </a:solidFill>
                  </a:tcPr>
                </a:tc>
                <a:tc>
                  <a:txBody>
                    <a:bodyPr/>
                    <a:lstStyle/>
                    <a:p>
                      <a:pPr algn="ctr">
                        <a:defRPr sz="1400">
                          <a:solidFill>
                            <a:srgbClr val="28303A"/>
                          </a:solidFill>
                          <a:latin typeface="Aptos"/>
                        </a:defRPr>
                      </a:pPr>
                      <a:r>
                        <a:t>2</a:t>
                      </a:r>
                    </a:p>
                  </a:txBody>
                  <a:tcPr>
                    <a:solidFill>
                      <a:srgbClr val="EBF2FA"/>
                    </a:solidFill>
                  </a:tcPr>
                </a:tc>
                <a:tc>
                  <a:txBody>
                    <a:bodyPr/>
                    <a:lstStyle/>
                    <a:p>
                      <a:pPr algn="ctr">
                        <a:defRPr sz="1400">
                          <a:solidFill>
                            <a:srgbClr val="28303A"/>
                          </a:solidFill>
                          <a:latin typeface="Aptos"/>
                        </a:defRPr>
                      </a:pPr>
                      <a:r>
                        <a:t>40%</a:t>
                      </a:r>
                    </a:p>
                  </a:txBody>
                  <a:tcPr>
                    <a:solidFill>
                      <a:srgbClr val="EBF2FA"/>
                    </a:solidFill>
                  </a:tcPr>
                </a:tc>
                <a:tc>
                  <a:txBody>
                    <a:bodyPr/>
                    <a:lstStyle/>
                    <a:p>
                      <a:pPr algn="ctr">
                        <a:defRPr sz="1400">
                          <a:solidFill>
                            <a:srgbClr val="28303A"/>
                          </a:solidFill>
                          <a:latin typeface="Aptos"/>
                        </a:defRPr>
                      </a:pPr>
                      <a:r>
                        <a:t>Remove</a:t>
                      </a:r>
                    </a:p>
                  </a:txBody>
                  <a:tcPr>
                    <a:solidFill>
                      <a:srgbClr val="EBF2FA"/>
                    </a:solidFill>
                  </a:tcPr>
                </a:tc>
              </a:tr>
              <a:tr h="607428">
                <a:tc>
                  <a:txBody>
                    <a:bodyPr/>
                    <a:lstStyle/>
                    <a:p>
                      <a:pPr algn="ctr">
                        <a:defRPr sz="1400">
                          <a:solidFill>
                            <a:srgbClr val="28303A"/>
                          </a:solidFill>
                          <a:latin typeface="Aptos"/>
                        </a:defRPr>
                      </a:pPr>
                      <a:r>
                        <a:t>Diaper, Beer</a:t>
                      </a:r>
                    </a:p>
                  </a:txBody>
                  <a:tcPr>
                    <a:solidFill>
                      <a:srgbClr val="FFFFFF"/>
                    </a:solidFill>
                  </a:tcPr>
                </a:tc>
                <a:tc>
                  <a:txBody>
                    <a:bodyPr/>
                    <a:lstStyle/>
                    <a:p>
                      <a:pPr algn="ctr">
                        <a:defRPr sz="1400">
                          <a:solidFill>
                            <a:srgbClr val="28303A"/>
                          </a:solidFill>
                          <a:latin typeface="Aptos"/>
                        </a:defRPr>
                      </a:pPr>
                      <a:r>
                        <a:t>3</a:t>
                      </a:r>
                    </a:p>
                  </a:txBody>
                  <a:tcPr>
                    <a:solidFill>
                      <a:srgbClr val="FFFFFF"/>
                    </a:solidFill>
                  </a:tcPr>
                </a:tc>
                <a:tc>
                  <a:txBody>
                    <a:bodyPr/>
                    <a:lstStyle/>
                    <a:p>
                      <a:pPr algn="ctr">
                        <a:defRPr sz="1400">
                          <a:solidFill>
                            <a:srgbClr val="28303A"/>
                          </a:solidFill>
                          <a:latin typeface="Aptos"/>
                        </a:defRPr>
                      </a:pPr>
                      <a:r>
                        <a:t>60%</a:t>
                      </a:r>
                    </a:p>
                  </a:txBody>
                  <a:tcPr>
                    <a:solidFill>
                      <a:srgbClr val="FFFFFF"/>
                    </a:solidFill>
                  </a:tcPr>
                </a:tc>
                <a:tc>
                  <a:txBody>
                    <a:bodyPr/>
                    <a:lstStyle/>
                    <a:p>
                      <a:pPr algn="ctr">
                        <a:defRPr sz="1400">
                          <a:solidFill>
                            <a:srgbClr val="28303A"/>
                          </a:solidFill>
                          <a:latin typeface="Aptos"/>
                        </a:defRPr>
                      </a:pPr>
                      <a:r>
                        <a:t>Keep</a:t>
                      </a:r>
                    </a:p>
                  </a:txBody>
                  <a:tcPr>
                    <a:solidFill>
                      <a:srgbClr val="FFFFFF"/>
                    </a:solidFill>
                  </a:tcPr>
                </a:tc>
              </a:tr>
            </a:tbl>
          </a:graphicData>
        </a:graphic>
      </p:graphicFrame>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6. Step 3 — Check 3-Itemsets (C3)</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10515600" cy="4389120"/>
          </a:xfrm>
          <a:prstGeom prst="rect">
            <a:avLst/>
          </a:prstGeom>
          <a:noFill/>
        </p:spPr>
        <p:txBody>
          <a:bodyPr wrap="square" lIns="73152" rIns="73152">
            <a:spAutoFit/>
          </a:bodyPr>
          <a:lstStyle/>
          <a:p>
            <a:pPr>
              <a:spcAft>
                <a:spcPts val="1400"/>
              </a:spcAft>
              <a:defRPr sz="2100">
                <a:solidFill>
                  <a:srgbClr val="28303A"/>
                </a:solidFill>
                <a:latin typeface="Aptos"/>
              </a:defRPr>
            </a:pPr>
            <a:r>
              <a:t>• Candidate {Bread, Milk, Diaper} occurs in T4 and T5: support = 2/5 = 40%.</a:t>
            </a:r>
          </a:p>
          <a:p>
            <a:pPr>
              <a:spcAft>
                <a:spcPts val="1400"/>
              </a:spcAft>
              <a:defRPr sz="2100">
                <a:solidFill>
                  <a:srgbClr val="28303A"/>
                </a:solidFill>
                <a:latin typeface="Aptos"/>
              </a:defRPr>
            </a:pPr>
            <a:r>
              <a:t>• Candidate {Milk, Diaper, Beer} occurs in T3 and T4: support = 2/5 = 40%.</a:t>
            </a:r>
          </a:p>
          <a:p>
            <a:pPr>
              <a:spcAft>
                <a:spcPts val="1400"/>
              </a:spcAft>
              <a:defRPr sz="2100">
                <a:solidFill>
                  <a:srgbClr val="28303A"/>
                </a:solidFill>
                <a:latin typeface="Aptos"/>
              </a:defRPr>
            </a:pPr>
            <a:r>
              <a:t>• No 3-itemset reaches the required 60% support.</a:t>
            </a:r>
          </a:p>
          <a:p>
            <a:pPr>
              <a:spcAft>
                <a:spcPts val="1400"/>
              </a:spcAft>
              <a:defRPr sz="2100">
                <a:solidFill>
                  <a:srgbClr val="28303A"/>
                </a:solidFill>
                <a:latin typeface="Aptos"/>
              </a:defRPr>
            </a:pPr>
            <a:r>
              <a:t>• Therefore, L3 is empty and the algorithm stops.</a:t>
            </a:r>
          </a:p>
        </p:txBody>
      </p:sp>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7. Step 4 — Generate Association Rules</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691640"/>
            <a:ext cx="10515600" cy="502920"/>
          </a:xfrm>
          <a:prstGeom prst="rect">
            <a:avLst/>
          </a:prstGeom>
          <a:noFill/>
        </p:spPr>
        <p:txBody>
          <a:bodyPr wrap="square" lIns="73152" tIns="36576" rIns="73152" bIns="36576">
            <a:spAutoFit/>
          </a:bodyPr>
          <a:lstStyle/>
          <a:p>
            <a:pPr>
              <a:spcAft>
                <a:spcPts val="800"/>
              </a:spcAft>
              <a:defRPr sz="2300" b="1">
                <a:solidFill>
                  <a:srgbClr val="3469B0"/>
                </a:solidFill>
                <a:latin typeface="Aptos"/>
              </a:defRPr>
            </a:pPr>
            <a:r>
              <a:t>Example rule: Bread → Milk</a:t>
            </a:r>
          </a:p>
        </p:txBody>
      </p:sp>
      <p:sp>
        <p:nvSpPr>
          <p:cNvPr id="5" name="TextBox 4"/>
          <p:cNvSpPr txBox="1"/>
          <p:nvPr/>
        </p:nvSpPr>
        <p:spPr>
          <a:xfrm>
            <a:off x="868680" y="2331720"/>
            <a:ext cx="10332720" cy="731520"/>
          </a:xfrm>
          <a:prstGeom prst="rect">
            <a:avLst/>
          </a:prstGeom>
          <a:noFill/>
        </p:spPr>
        <p:txBody>
          <a:bodyPr wrap="square" lIns="73152" tIns="36576" rIns="73152" bIns="36576">
            <a:spAutoFit/>
          </a:bodyPr>
          <a:lstStyle/>
          <a:p>
            <a:pPr>
              <a:spcAft>
                <a:spcPts val="800"/>
              </a:spcAft>
              <a:defRPr sz="2100" b="1">
                <a:solidFill>
                  <a:srgbClr val="182A4A"/>
                </a:solidFill>
                <a:latin typeface="Aptos"/>
              </a:defRPr>
            </a:pPr>
            <a:r>
              <a:t>Confidence = Support(Bread, Milk) ÷ Support(Bread)</a:t>
            </a:r>
          </a:p>
        </p:txBody>
      </p:sp>
      <p:sp>
        <p:nvSpPr>
          <p:cNvPr id="6" name="TextBox 5"/>
          <p:cNvSpPr txBox="1"/>
          <p:nvPr/>
        </p:nvSpPr>
        <p:spPr>
          <a:xfrm>
            <a:off x="868680" y="3063240"/>
            <a:ext cx="10332720" cy="594360"/>
          </a:xfrm>
          <a:prstGeom prst="rect">
            <a:avLst/>
          </a:prstGeom>
          <a:noFill/>
        </p:spPr>
        <p:txBody>
          <a:bodyPr wrap="square" lIns="73152" tIns="36576" rIns="73152" bIns="36576">
            <a:spAutoFit/>
          </a:bodyPr>
          <a:lstStyle/>
          <a:p>
            <a:pPr>
              <a:spcAft>
                <a:spcPts val="800"/>
              </a:spcAft>
              <a:defRPr sz="2400" b="1">
                <a:solidFill>
                  <a:srgbClr val="1C918C"/>
                </a:solidFill>
                <a:latin typeface="Aptos"/>
              </a:defRPr>
            </a:pPr>
            <a:r>
              <a:t>= 3/4 × 100 = 75%</a:t>
            </a:r>
          </a:p>
        </p:txBody>
      </p:sp>
      <p:sp>
        <p:nvSpPr>
          <p:cNvPr id="7" name="TextBox 6"/>
          <p:cNvSpPr txBox="1"/>
          <p:nvPr/>
        </p:nvSpPr>
        <p:spPr>
          <a:xfrm>
            <a:off x="868680" y="3886200"/>
            <a:ext cx="10332720" cy="594360"/>
          </a:xfrm>
          <a:prstGeom prst="rect">
            <a:avLst/>
          </a:prstGeom>
          <a:noFill/>
        </p:spPr>
        <p:txBody>
          <a:bodyPr wrap="square" lIns="73152" tIns="36576" rIns="73152" bIns="36576">
            <a:spAutoFit/>
          </a:bodyPr>
          <a:lstStyle/>
          <a:p>
            <a:pPr>
              <a:spcAft>
                <a:spcPts val="800"/>
              </a:spcAft>
              <a:defRPr sz="2000" b="1">
                <a:solidFill>
                  <a:srgbClr val="258758"/>
                </a:solidFill>
                <a:latin typeface="Aptos"/>
              </a:defRPr>
            </a:pPr>
            <a:r>
              <a:t>75% ≥ minimum confidence 70%  →  ACCEPT the rule</a:t>
            </a:r>
          </a:p>
        </p:txBody>
      </p:sp>
      <p:sp>
        <p:nvSpPr>
          <p:cNvPr id="8" name="TextBox 7"/>
          <p:cNvSpPr txBox="1"/>
          <p:nvPr/>
        </p:nvSpPr>
        <p:spPr>
          <a:xfrm>
            <a:off x="868680" y="4800600"/>
            <a:ext cx="10332720" cy="731520"/>
          </a:xfrm>
          <a:prstGeom prst="rect">
            <a:avLst/>
          </a:prstGeom>
          <a:noFill/>
        </p:spPr>
        <p:txBody>
          <a:bodyPr wrap="square" lIns="73152" tIns="36576" rIns="73152" bIns="36576">
            <a:spAutoFit/>
          </a:bodyPr>
          <a:lstStyle/>
          <a:p>
            <a:pPr>
              <a:spcAft>
                <a:spcPts val="800"/>
              </a:spcAft>
              <a:defRPr sz="1800" b="0">
                <a:solidFill>
                  <a:srgbClr val="28303A"/>
                </a:solidFill>
                <a:latin typeface="Aptos"/>
              </a:defRPr>
            </a:pPr>
            <a:r>
              <a:t>Interpretation: 75% of transactions containing Bread also contain Milk.</a:t>
            </a:r>
          </a:p>
        </p:txBody>
      </p:sp>
      <p:sp>
        <p:nvSpPr>
          <p:cNvPr id="9" name="TextBox 8"/>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10" name="TextBox 9"/>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8. Accepted Association Rules</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4" name="Table 3"/>
          <p:cNvGraphicFramePr>
            <a:graphicFrameLocks noGrp="1"/>
          </p:cNvGraphicFramePr>
          <p:nvPr/>
        </p:nvGraphicFramePr>
        <p:xfrm>
          <a:off x="1463040" y="1645920"/>
          <a:ext cx="9144000" cy="4480560"/>
        </p:xfrm>
        <a:graphic>
          <a:graphicData uri="http://schemas.openxmlformats.org/drawingml/2006/table">
            <a:tbl>
              <a:tblPr firstRow="1" bandRow="1">
                <a:tableStyleId>{5C22544A-7EE6-4342-B048-85BDC9FD1C3A}</a:tableStyleId>
              </a:tblPr>
              <a:tblGrid>
                <a:gridCol w="4572000"/>
                <a:gridCol w="4572000"/>
              </a:tblGrid>
              <a:tr h="497840">
                <a:tc>
                  <a:txBody>
                    <a:bodyPr/>
                    <a:lstStyle/>
                    <a:p>
                      <a:pPr algn="ctr">
                        <a:defRPr sz="1500" b="1">
                          <a:solidFill>
                            <a:srgbClr val="FFFFFF"/>
                          </a:solidFill>
                          <a:latin typeface="Aptos"/>
                        </a:defRPr>
                      </a:pPr>
                      <a:r>
                        <a:t>Rule</a:t>
                      </a:r>
                    </a:p>
                  </a:txBody>
                  <a:tcPr>
                    <a:solidFill>
                      <a:srgbClr val="182A4A"/>
                    </a:solidFill>
                  </a:tcPr>
                </a:tc>
                <a:tc>
                  <a:txBody>
                    <a:bodyPr/>
                    <a:lstStyle/>
                    <a:p>
                      <a:pPr algn="ctr">
                        <a:defRPr sz="1500" b="1">
                          <a:solidFill>
                            <a:srgbClr val="FFFFFF"/>
                          </a:solidFill>
                          <a:latin typeface="Aptos"/>
                        </a:defRPr>
                      </a:pPr>
                      <a:r>
                        <a:t>Confidence</a:t>
                      </a:r>
                    </a:p>
                  </a:txBody>
                  <a:tcPr>
                    <a:solidFill>
                      <a:srgbClr val="182A4A"/>
                    </a:solidFill>
                  </a:tcPr>
                </a:tc>
              </a:tr>
              <a:tr h="497840">
                <a:tc>
                  <a:txBody>
                    <a:bodyPr/>
                    <a:lstStyle/>
                    <a:p>
                      <a:pPr algn="ctr">
                        <a:defRPr sz="1500">
                          <a:solidFill>
                            <a:srgbClr val="28303A"/>
                          </a:solidFill>
                          <a:latin typeface="Aptos"/>
                        </a:defRPr>
                      </a:pPr>
                      <a:r>
                        <a:t>Bread → Milk</a:t>
                      </a:r>
                    </a:p>
                  </a:txBody>
                  <a:tcPr>
                    <a:solidFill>
                      <a:srgbClr val="EBF2FA"/>
                    </a:solidFill>
                  </a:tcPr>
                </a:tc>
                <a:tc>
                  <a:txBody>
                    <a:bodyPr/>
                    <a:lstStyle/>
                    <a:p>
                      <a:pPr algn="ctr">
                        <a:defRPr sz="1500">
                          <a:solidFill>
                            <a:srgbClr val="28303A"/>
                          </a:solidFill>
                          <a:latin typeface="Aptos"/>
                        </a:defRPr>
                      </a:pPr>
                      <a:r>
                        <a:t>75%</a:t>
                      </a:r>
                    </a:p>
                  </a:txBody>
                  <a:tcPr>
                    <a:solidFill>
                      <a:srgbClr val="EBF2FA"/>
                    </a:solidFill>
                  </a:tcPr>
                </a:tc>
              </a:tr>
              <a:tr h="497840">
                <a:tc>
                  <a:txBody>
                    <a:bodyPr/>
                    <a:lstStyle/>
                    <a:p>
                      <a:pPr algn="ctr">
                        <a:defRPr sz="1500">
                          <a:solidFill>
                            <a:srgbClr val="28303A"/>
                          </a:solidFill>
                          <a:latin typeface="Aptos"/>
                        </a:defRPr>
                      </a:pPr>
                      <a:r>
                        <a:t>Milk → Bread</a:t>
                      </a:r>
                    </a:p>
                  </a:txBody>
                  <a:tcPr>
                    <a:solidFill>
                      <a:srgbClr val="FFFFFF"/>
                    </a:solidFill>
                  </a:tcPr>
                </a:tc>
                <a:tc>
                  <a:txBody>
                    <a:bodyPr/>
                    <a:lstStyle/>
                    <a:p>
                      <a:pPr algn="ctr">
                        <a:defRPr sz="1500">
                          <a:solidFill>
                            <a:srgbClr val="28303A"/>
                          </a:solidFill>
                          <a:latin typeface="Aptos"/>
                        </a:defRPr>
                      </a:pPr>
                      <a:r>
                        <a:t>75%</a:t>
                      </a:r>
                    </a:p>
                  </a:txBody>
                  <a:tcPr>
                    <a:solidFill>
                      <a:srgbClr val="FFFFFF"/>
                    </a:solidFill>
                  </a:tcPr>
                </a:tc>
              </a:tr>
              <a:tr h="497840">
                <a:tc>
                  <a:txBody>
                    <a:bodyPr/>
                    <a:lstStyle/>
                    <a:p>
                      <a:pPr algn="ctr">
                        <a:defRPr sz="1500">
                          <a:solidFill>
                            <a:srgbClr val="28303A"/>
                          </a:solidFill>
                          <a:latin typeface="Aptos"/>
                        </a:defRPr>
                      </a:pPr>
                      <a:r>
                        <a:t>Bread → Diaper</a:t>
                      </a:r>
                    </a:p>
                  </a:txBody>
                  <a:tcPr>
                    <a:solidFill>
                      <a:srgbClr val="EBF2FA"/>
                    </a:solidFill>
                  </a:tcPr>
                </a:tc>
                <a:tc>
                  <a:txBody>
                    <a:bodyPr/>
                    <a:lstStyle/>
                    <a:p>
                      <a:pPr algn="ctr">
                        <a:defRPr sz="1500">
                          <a:solidFill>
                            <a:srgbClr val="28303A"/>
                          </a:solidFill>
                          <a:latin typeface="Aptos"/>
                        </a:defRPr>
                      </a:pPr>
                      <a:r>
                        <a:t>75%</a:t>
                      </a:r>
                    </a:p>
                  </a:txBody>
                  <a:tcPr>
                    <a:solidFill>
                      <a:srgbClr val="EBF2FA"/>
                    </a:solidFill>
                  </a:tcPr>
                </a:tc>
              </a:tr>
              <a:tr h="497840">
                <a:tc>
                  <a:txBody>
                    <a:bodyPr/>
                    <a:lstStyle/>
                    <a:p>
                      <a:pPr algn="ctr">
                        <a:defRPr sz="1500">
                          <a:solidFill>
                            <a:srgbClr val="28303A"/>
                          </a:solidFill>
                          <a:latin typeface="Aptos"/>
                        </a:defRPr>
                      </a:pPr>
                      <a:r>
                        <a:t>Diaper → Bread</a:t>
                      </a:r>
                    </a:p>
                  </a:txBody>
                  <a:tcPr>
                    <a:solidFill>
                      <a:srgbClr val="FFFFFF"/>
                    </a:solidFill>
                  </a:tcPr>
                </a:tc>
                <a:tc>
                  <a:txBody>
                    <a:bodyPr/>
                    <a:lstStyle/>
                    <a:p>
                      <a:pPr algn="ctr">
                        <a:defRPr sz="1500">
                          <a:solidFill>
                            <a:srgbClr val="28303A"/>
                          </a:solidFill>
                          <a:latin typeface="Aptos"/>
                        </a:defRPr>
                      </a:pPr>
                      <a:r>
                        <a:t>75%</a:t>
                      </a:r>
                    </a:p>
                  </a:txBody>
                  <a:tcPr>
                    <a:solidFill>
                      <a:srgbClr val="FFFFFF"/>
                    </a:solidFill>
                  </a:tcPr>
                </a:tc>
              </a:tr>
              <a:tr h="497840">
                <a:tc>
                  <a:txBody>
                    <a:bodyPr/>
                    <a:lstStyle/>
                    <a:p>
                      <a:pPr algn="ctr">
                        <a:defRPr sz="1500">
                          <a:solidFill>
                            <a:srgbClr val="28303A"/>
                          </a:solidFill>
                          <a:latin typeface="Aptos"/>
                        </a:defRPr>
                      </a:pPr>
                      <a:r>
                        <a:t>Milk → Diaper</a:t>
                      </a:r>
                    </a:p>
                  </a:txBody>
                  <a:tcPr>
                    <a:solidFill>
                      <a:srgbClr val="EBF2FA"/>
                    </a:solidFill>
                  </a:tcPr>
                </a:tc>
                <a:tc>
                  <a:txBody>
                    <a:bodyPr/>
                    <a:lstStyle/>
                    <a:p>
                      <a:pPr algn="ctr">
                        <a:defRPr sz="1500">
                          <a:solidFill>
                            <a:srgbClr val="28303A"/>
                          </a:solidFill>
                          <a:latin typeface="Aptos"/>
                        </a:defRPr>
                      </a:pPr>
                      <a:r>
                        <a:t>75%</a:t>
                      </a:r>
                    </a:p>
                  </a:txBody>
                  <a:tcPr>
                    <a:solidFill>
                      <a:srgbClr val="EBF2FA"/>
                    </a:solidFill>
                  </a:tcPr>
                </a:tc>
              </a:tr>
              <a:tr h="497840">
                <a:tc>
                  <a:txBody>
                    <a:bodyPr/>
                    <a:lstStyle/>
                    <a:p>
                      <a:pPr algn="ctr">
                        <a:defRPr sz="1500">
                          <a:solidFill>
                            <a:srgbClr val="28303A"/>
                          </a:solidFill>
                          <a:latin typeface="Aptos"/>
                        </a:defRPr>
                      </a:pPr>
                      <a:r>
                        <a:t>Diaper → Milk</a:t>
                      </a:r>
                    </a:p>
                  </a:txBody>
                  <a:tcPr>
                    <a:solidFill>
                      <a:srgbClr val="FFFFFF"/>
                    </a:solidFill>
                  </a:tcPr>
                </a:tc>
                <a:tc>
                  <a:txBody>
                    <a:bodyPr/>
                    <a:lstStyle/>
                    <a:p>
                      <a:pPr algn="ctr">
                        <a:defRPr sz="1500">
                          <a:solidFill>
                            <a:srgbClr val="28303A"/>
                          </a:solidFill>
                          <a:latin typeface="Aptos"/>
                        </a:defRPr>
                      </a:pPr>
                      <a:r>
                        <a:t>75%</a:t>
                      </a:r>
                    </a:p>
                  </a:txBody>
                  <a:tcPr>
                    <a:solidFill>
                      <a:srgbClr val="FFFFFF"/>
                    </a:solidFill>
                  </a:tcPr>
                </a:tc>
              </a:tr>
              <a:tr h="497840">
                <a:tc>
                  <a:txBody>
                    <a:bodyPr/>
                    <a:lstStyle/>
                    <a:p>
                      <a:pPr algn="ctr">
                        <a:defRPr sz="1500">
                          <a:solidFill>
                            <a:srgbClr val="28303A"/>
                          </a:solidFill>
                          <a:latin typeface="Aptos"/>
                        </a:defRPr>
                      </a:pPr>
                      <a:r>
                        <a:t>Diaper → Beer</a:t>
                      </a:r>
                    </a:p>
                  </a:txBody>
                  <a:tcPr>
                    <a:solidFill>
                      <a:srgbClr val="EBF2FA"/>
                    </a:solidFill>
                  </a:tcPr>
                </a:tc>
                <a:tc>
                  <a:txBody>
                    <a:bodyPr/>
                    <a:lstStyle/>
                    <a:p>
                      <a:pPr algn="ctr">
                        <a:defRPr sz="1500">
                          <a:solidFill>
                            <a:srgbClr val="28303A"/>
                          </a:solidFill>
                          <a:latin typeface="Aptos"/>
                        </a:defRPr>
                      </a:pPr>
                      <a:r>
                        <a:t>75%</a:t>
                      </a:r>
                    </a:p>
                  </a:txBody>
                  <a:tcPr>
                    <a:solidFill>
                      <a:srgbClr val="EBF2FA"/>
                    </a:solidFill>
                  </a:tcPr>
                </a:tc>
              </a:tr>
              <a:tr h="497840">
                <a:tc>
                  <a:txBody>
                    <a:bodyPr/>
                    <a:lstStyle/>
                    <a:p>
                      <a:pPr algn="ctr">
                        <a:defRPr sz="1500">
                          <a:solidFill>
                            <a:srgbClr val="28303A"/>
                          </a:solidFill>
                          <a:latin typeface="Aptos"/>
                        </a:defRPr>
                      </a:pPr>
                      <a:r>
                        <a:t>Beer → Diaper</a:t>
                      </a:r>
                    </a:p>
                  </a:txBody>
                  <a:tcPr>
                    <a:solidFill>
                      <a:srgbClr val="FFFFFF"/>
                    </a:solidFill>
                  </a:tcPr>
                </a:tc>
                <a:tc>
                  <a:txBody>
                    <a:bodyPr/>
                    <a:lstStyle/>
                    <a:p>
                      <a:pPr algn="ctr">
                        <a:defRPr sz="1500">
                          <a:solidFill>
                            <a:srgbClr val="28303A"/>
                          </a:solidFill>
                          <a:latin typeface="Aptos"/>
                        </a:defRPr>
                      </a:pPr>
                      <a:r>
                        <a:t>100%</a:t>
                      </a:r>
                    </a:p>
                  </a:txBody>
                  <a:tcPr>
                    <a:solidFill>
                      <a:srgbClr val="FFFFFF"/>
                    </a:solidFill>
                  </a:tcPr>
                </a:tc>
              </a:tr>
            </a:tbl>
          </a:graphicData>
        </a:graphic>
      </p:graphicFrame>
      <p:sp>
        <p:nvSpPr>
          <p:cNvPr id="5" name="TextBox 4"/>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6" name="TextBox 5"/>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9. Algorithm Flow &amp; Key Property</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914400" y="1600200"/>
            <a:ext cx="438912" cy="438912"/>
          </a:xfrm>
          <a:prstGeom prst="ellipse">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14400" y="1636776"/>
            <a:ext cx="438912" cy="256032"/>
          </a:xfrm>
          <a:prstGeom prst="rect">
            <a:avLst/>
          </a:prstGeom>
          <a:noFill/>
        </p:spPr>
        <p:txBody>
          <a:bodyPr wrap="square" lIns="73152" tIns="36576" rIns="73152" bIns="36576">
            <a:spAutoFit/>
          </a:bodyPr>
          <a:lstStyle/>
          <a:p>
            <a:pPr algn="ctr">
              <a:spcAft>
                <a:spcPts val="800"/>
              </a:spcAft>
              <a:defRPr sz="1300" b="1">
                <a:solidFill>
                  <a:srgbClr val="FFFFFF"/>
                </a:solidFill>
                <a:latin typeface="Aptos"/>
              </a:defRPr>
            </a:pPr>
            <a:r>
              <a:t>1</a:t>
            </a:r>
          </a:p>
        </p:txBody>
      </p:sp>
      <p:sp>
        <p:nvSpPr>
          <p:cNvPr id="6" name="TextBox 5"/>
          <p:cNvSpPr txBox="1"/>
          <p:nvPr/>
        </p:nvSpPr>
        <p:spPr>
          <a:xfrm>
            <a:off x="1600200" y="1618488"/>
            <a:ext cx="9052560" cy="384048"/>
          </a:xfrm>
          <a:prstGeom prst="rect">
            <a:avLst/>
          </a:prstGeom>
          <a:noFill/>
        </p:spPr>
        <p:txBody>
          <a:bodyPr wrap="square" lIns="73152" tIns="36576" rIns="73152" bIns="36576">
            <a:spAutoFit/>
          </a:bodyPr>
          <a:lstStyle/>
          <a:p>
            <a:pPr>
              <a:spcAft>
                <a:spcPts val="800"/>
              </a:spcAft>
              <a:defRPr sz="1800" b="0">
                <a:solidFill>
                  <a:srgbClr val="28303A"/>
                </a:solidFill>
                <a:latin typeface="Aptos"/>
              </a:defRPr>
            </a:pPr>
            <a:r>
              <a:t>Count individual items</a:t>
            </a:r>
          </a:p>
        </p:txBody>
      </p:sp>
      <p:sp>
        <p:nvSpPr>
          <p:cNvPr id="7" name="Oval 6"/>
          <p:cNvSpPr/>
          <p:nvPr/>
        </p:nvSpPr>
        <p:spPr>
          <a:xfrm>
            <a:off x="914400" y="2295144"/>
            <a:ext cx="438912" cy="438912"/>
          </a:xfrm>
          <a:prstGeom prst="ellipse">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331720"/>
            <a:ext cx="438912" cy="256032"/>
          </a:xfrm>
          <a:prstGeom prst="rect">
            <a:avLst/>
          </a:prstGeom>
          <a:noFill/>
        </p:spPr>
        <p:txBody>
          <a:bodyPr wrap="square" lIns="73152" tIns="36576" rIns="73152" bIns="36576">
            <a:spAutoFit/>
          </a:bodyPr>
          <a:lstStyle/>
          <a:p>
            <a:pPr algn="ctr">
              <a:spcAft>
                <a:spcPts val="800"/>
              </a:spcAft>
              <a:defRPr sz="1300" b="1">
                <a:solidFill>
                  <a:srgbClr val="FFFFFF"/>
                </a:solidFill>
                <a:latin typeface="Aptos"/>
              </a:defRPr>
            </a:pPr>
            <a:r>
              <a:t>2</a:t>
            </a:r>
          </a:p>
        </p:txBody>
      </p:sp>
      <p:sp>
        <p:nvSpPr>
          <p:cNvPr id="9" name="TextBox 8"/>
          <p:cNvSpPr txBox="1"/>
          <p:nvPr/>
        </p:nvSpPr>
        <p:spPr>
          <a:xfrm>
            <a:off x="1600200" y="2313432"/>
            <a:ext cx="9052560" cy="384048"/>
          </a:xfrm>
          <a:prstGeom prst="rect">
            <a:avLst/>
          </a:prstGeom>
          <a:noFill/>
        </p:spPr>
        <p:txBody>
          <a:bodyPr wrap="square" lIns="73152" tIns="36576" rIns="73152" bIns="36576">
            <a:spAutoFit/>
          </a:bodyPr>
          <a:lstStyle/>
          <a:p>
            <a:pPr>
              <a:spcAft>
                <a:spcPts val="800"/>
              </a:spcAft>
              <a:defRPr sz="1800" b="0">
                <a:solidFill>
                  <a:srgbClr val="28303A"/>
                </a:solidFill>
                <a:latin typeface="Aptos"/>
              </a:defRPr>
            </a:pPr>
            <a:r>
              <a:t>Remove items below minimum support</a:t>
            </a:r>
          </a:p>
        </p:txBody>
      </p:sp>
      <p:sp>
        <p:nvSpPr>
          <p:cNvPr id="10" name="Oval 9"/>
          <p:cNvSpPr/>
          <p:nvPr/>
        </p:nvSpPr>
        <p:spPr>
          <a:xfrm>
            <a:off x="914400" y="2990088"/>
            <a:ext cx="438912" cy="438912"/>
          </a:xfrm>
          <a:prstGeom prst="ellipse">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14400" y="3026664"/>
            <a:ext cx="438912" cy="256032"/>
          </a:xfrm>
          <a:prstGeom prst="rect">
            <a:avLst/>
          </a:prstGeom>
          <a:noFill/>
        </p:spPr>
        <p:txBody>
          <a:bodyPr wrap="square" lIns="73152" tIns="36576" rIns="73152" bIns="36576">
            <a:spAutoFit/>
          </a:bodyPr>
          <a:lstStyle/>
          <a:p>
            <a:pPr algn="ctr">
              <a:spcAft>
                <a:spcPts val="800"/>
              </a:spcAft>
              <a:defRPr sz="1300" b="1">
                <a:solidFill>
                  <a:srgbClr val="FFFFFF"/>
                </a:solidFill>
                <a:latin typeface="Aptos"/>
              </a:defRPr>
            </a:pPr>
            <a:r>
              <a:t>3</a:t>
            </a:r>
          </a:p>
        </p:txBody>
      </p:sp>
      <p:sp>
        <p:nvSpPr>
          <p:cNvPr id="12" name="TextBox 11"/>
          <p:cNvSpPr txBox="1"/>
          <p:nvPr/>
        </p:nvSpPr>
        <p:spPr>
          <a:xfrm>
            <a:off x="1600200" y="3008376"/>
            <a:ext cx="9052560" cy="384048"/>
          </a:xfrm>
          <a:prstGeom prst="rect">
            <a:avLst/>
          </a:prstGeom>
          <a:noFill/>
        </p:spPr>
        <p:txBody>
          <a:bodyPr wrap="square" lIns="73152" tIns="36576" rIns="73152" bIns="36576">
            <a:spAutoFit/>
          </a:bodyPr>
          <a:lstStyle/>
          <a:p>
            <a:pPr>
              <a:spcAft>
                <a:spcPts val="800"/>
              </a:spcAft>
              <a:defRPr sz="1800" b="0">
                <a:solidFill>
                  <a:srgbClr val="28303A"/>
                </a:solidFill>
                <a:latin typeface="Aptos"/>
              </a:defRPr>
            </a:pPr>
            <a:r>
              <a:t>Generate pairs, then larger itemsets</a:t>
            </a:r>
          </a:p>
        </p:txBody>
      </p:sp>
      <p:sp>
        <p:nvSpPr>
          <p:cNvPr id="13" name="Oval 12"/>
          <p:cNvSpPr/>
          <p:nvPr/>
        </p:nvSpPr>
        <p:spPr>
          <a:xfrm>
            <a:off x="914400" y="3685032"/>
            <a:ext cx="438912" cy="438912"/>
          </a:xfrm>
          <a:prstGeom prst="ellipse">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3721608"/>
            <a:ext cx="438912" cy="256032"/>
          </a:xfrm>
          <a:prstGeom prst="rect">
            <a:avLst/>
          </a:prstGeom>
          <a:noFill/>
        </p:spPr>
        <p:txBody>
          <a:bodyPr wrap="square" lIns="73152" tIns="36576" rIns="73152" bIns="36576">
            <a:spAutoFit/>
          </a:bodyPr>
          <a:lstStyle/>
          <a:p>
            <a:pPr algn="ctr">
              <a:spcAft>
                <a:spcPts val="800"/>
              </a:spcAft>
              <a:defRPr sz="1300" b="1">
                <a:solidFill>
                  <a:srgbClr val="FFFFFF"/>
                </a:solidFill>
                <a:latin typeface="Aptos"/>
              </a:defRPr>
            </a:pPr>
            <a:r>
              <a:t>4</a:t>
            </a:r>
          </a:p>
        </p:txBody>
      </p:sp>
      <p:sp>
        <p:nvSpPr>
          <p:cNvPr id="15" name="TextBox 14"/>
          <p:cNvSpPr txBox="1"/>
          <p:nvPr/>
        </p:nvSpPr>
        <p:spPr>
          <a:xfrm>
            <a:off x="1600200" y="3703320"/>
            <a:ext cx="9052560" cy="384048"/>
          </a:xfrm>
          <a:prstGeom prst="rect">
            <a:avLst/>
          </a:prstGeom>
          <a:noFill/>
        </p:spPr>
        <p:txBody>
          <a:bodyPr wrap="square" lIns="73152" tIns="36576" rIns="73152" bIns="36576">
            <a:spAutoFit/>
          </a:bodyPr>
          <a:lstStyle/>
          <a:p>
            <a:pPr>
              <a:spcAft>
                <a:spcPts val="800"/>
              </a:spcAft>
              <a:defRPr sz="1800" b="0">
                <a:solidFill>
                  <a:srgbClr val="28303A"/>
                </a:solidFill>
                <a:latin typeface="Aptos"/>
              </a:defRPr>
            </a:pPr>
            <a:r>
              <a:t>Count support and prune infrequent sets</a:t>
            </a:r>
          </a:p>
        </p:txBody>
      </p:sp>
      <p:sp>
        <p:nvSpPr>
          <p:cNvPr id="16" name="Oval 15"/>
          <p:cNvSpPr/>
          <p:nvPr/>
        </p:nvSpPr>
        <p:spPr>
          <a:xfrm>
            <a:off x="914400" y="4379976"/>
            <a:ext cx="438912" cy="438912"/>
          </a:xfrm>
          <a:prstGeom prst="ellipse">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416552"/>
            <a:ext cx="438912" cy="256032"/>
          </a:xfrm>
          <a:prstGeom prst="rect">
            <a:avLst/>
          </a:prstGeom>
          <a:noFill/>
        </p:spPr>
        <p:txBody>
          <a:bodyPr wrap="square" lIns="73152" tIns="36576" rIns="73152" bIns="36576">
            <a:spAutoFit/>
          </a:bodyPr>
          <a:lstStyle/>
          <a:p>
            <a:pPr algn="ctr">
              <a:spcAft>
                <a:spcPts val="800"/>
              </a:spcAft>
              <a:defRPr sz="1300" b="1">
                <a:solidFill>
                  <a:srgbClr val="FFFFFF"/>
                </a:solidFill>
                <a:latin typeface="Aptos"/>
              </a:defRPr>
            </a:pPr>
            <a:r>
              <a:t>5</a:t>
            </a:r>
          </a:p>
        </p:txBody>
      </p:sp>
      <p:sp>
        <p:nvSpPr>
          <p:cNvPr id="18" name="TextBox 17"/>
          <p:cNvSpPr txBox="1"/>
          <p:nvPr/>
        </p:nvSpPr>
        <p:spPr>
          <a:xfrm>
            <a:off x="1600200" y="4398264"/>
            <a:ext cx="9052560" cy="384048"/>
          </a:xfrm>
          <a:prstGeom prst="rect">
            <a:avLst/>
          </a:prstGeom>
          <a:noFill/>
        </p:spPr>
        <p:txBody>
          <a:bodyPr wrap="square" lIns="73152" tIns="36576" rIns="73152" bIns="36576">
            <a:spAutoFit/>
          </a:bodyPr>
          <a:lstStyle/>
          <a:p>
            <a:pPr>
              <a:spcAft>
                <a:spcPts val="800"/>
              </a:spcAft>
              <a:defRPr sz="1800" b="0">
                <a:solidFill>
                  <a:srgbClr val="28303A"/>
                </a:solidFill>
                <a:latin typeface="Aptos"/>
              </a:defRPr>
            </a:pPr>
            <a:r>
              <a:t>Repeat until no frequent sets remain</a:t>
            </a:r>
          </a:p>
        </p:txBody>
      </p:sp>
      <p:sp>
        <p:nvSpPr>
          <p:cNvPr id="19" name="Oval 18"/>
          <p:cNvSpPr/>
          <p:nvPr/>
        </p:nvSpPr>
        <p:spPr>
          <a:xfrm>
            <a:off x="914400" y="5074920"/>
            <a:ext cx="438912" cy="438912"/>
          </a:xfrm>
          <a:prstGeom prst="ellipse">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14400" y="5111496"/>
            <a:ext cx="438912" cy="256032"/>
          </a:xfrm>
          <a:prstGeom prst="rect">
            <a:avLst/>
          </a:prstGeom>
          <a:noFill/>
        </p:spPr>
        <p:txBody>
          <a:bodyPr wrap="square" lIns="73152" tIns="36576" rIns="73152" bIns="36576">
            <a:spAutoFit/>
          </a:bodyPr>
          <a:lstStyle/>
          <a:p>
            <a:pPr algn="ctr">
              <a:spcAft>
                <a:spcPts val="800"/>
              </a:spcAft>
              <a:defRPr sz="1300" b="1">
                <a:solidFill>
                  <a:srgbClr val="FFFFFF"/>
                </a:solidFill>
                <a:latin typeface="Aptos"/>
              </a:defRPr>
            </a:pPr>
            <a:r>
              <a:t>6</a:t>
            </a:r>
          </a:p>
        </p:txBody>
      </p:sp>
      <p:sp>
        <p:nvSpPr>
          <p:cNvPr id="21" name="TextBox 20"/>
          <p:cNvSpPr txBox="1"/>
          <p:nvPr/>
        </p:nvSpPr>
        <p:spPr>
          <a:xfrm>
            <a:off x="1600200" y="5093207"/>
            <a:ext cx="9052560" cy="384048"/>
          </a:xfrm>
          <a:prstGeom prst="rect">
            <a:avLst/>
          </a:prstGeom>
          <a:noFill/>
        </p:spPr>
        <p:txBody>
          <a:bodyPr wrap="square" lIns="73152" tIns="36576" rIns="73152" bIns="36576">
            <a:spAutoFit/>
          </a:bodyPr>
          <a:lstStyle/>
          <a:p>
            <a:pPr>
              <a:spcAft>
                <a:spcPts val="800"/>
              </a:spcAft>
              <a:defRPr sz="1800" b="0">
                <a:solidFill>
                  <a:srgbClr val="28303A"/>
                </a:solidFill>
                <a:latin typeface="Aptos"/>
              </a:defRPr>
            </a:pPr>
            <a:r>
              <a:t>Generate rules using minimum confidence</a:t>
            </a:r>
          </a:p>
        </p:txBody>
      </p:sp>
      <p:sp>
        <p:nvSpPr>
          <p:cNvPr id="22" name="TextBox 21"/>
          <p:cNvSpPr txBox="1"/>
          <p:nvPr/>
        </p:nvSpPr>
        <p:spPr>
          <a:xfrm>
            <a:off x="914400" y="5897880"/>
            <a:ext cx="10332720" cy="365760"/>
          </a:xfrm>
          <a:prstGeom prst="rect">
            <a:avLst/>
          </a:prstGeom>
          <a:noFill/>
        </p:spPr>
        <p:txBody>
          <a:bodyPr wrap="square" lIns="73152" tIns="36576" rIns="73152" bIns="36576">
            <a:spAutoFit/>
          </a:bodyPr>
          <a:lstStyle/>
          <a:p>
            <a:pPr>
              <a:spcAft>
                <a:spcPts val="800"/>
              </a:spcAft>
              <a:defRPr sz="1500" b="1">
                <a:solidFill>
                  <a:srgbClr val="3469B0"/>
                </a:solidFill>
                <a:latin typeface="Aptos"/>
              </a:defRPr>
            </a:pPr>
            <a:r>
              <a:t>Apriori property: every subset of a frequent itemset must also be frequent.</a:t>
            </a:r>
          </a:p>
        </p:txBody>
      </p:sp>
      <p:sp>
        <p:nvSpPr>
          <p:cNvPr id="23" name="TextBox 22"/>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24" name="TextBox 23"/>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10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10. Applications &amp; Conclusion</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4846320" cy="411480"/>
          </a:xfrm>
          <a:prstGeom prst="rect">
            <a:avLst/>
          </a:prstGeom>
          <a:noFill/>
        </p:spPr>
        <p:txBody>
          <a:bodyPr wrap="square" lIns="73152" tIns="36576" rIns="73152" bIns="36576">
            <a:spAutoFit/>
          </a:bodyPr>
          <a:lstStyle/>
          <a:p>
            <a:pPr>
              <a:spcAft>
                <a:spcPts val="800"/>
              </a:spcAft>
              <a:defRPr sz="2000" b="1">
                <a:solidFill>
                  <a:srgbClr val="1C918C"/>
                </a:solidFill>
                <a:latin typeface="Aptos"/>
              </a:defRPr>
            </a:pPr>
            <a:r>
              <a:t>Applications</a:t>
            </a:r>
          </a:p>
        </p:txBody>
      </p:sp>
      <p:sp>
        <p:nvSpPr>
          <p:cNvPr id="5" name="TextBox 4"/>
          <p:cNvSpPr txBox="1"/>
          <p:nvPr/>
        </p:nvSpPr>
        <p:spPr>
          <a:xfrm>
            <a:off x="822960" y="2240280"/>
            <a:ext cx="5029200" cy="3200400"/>
          </a:xfrm>
          <a:prstGeom prst="rect">
            <a:avLst/>
          </a:prstGeom>
          <a:noFill/>
        </p:spPr>
        <p:txBody>
          <a:bodyPr wrap="square" lIns="73152" rIns="73152">
            <a:spAutoFit/>
          </a:bodyPr>
          <a:lstStyle/>
          <a:p>
            <a:pPr>
              <a:spcAft>
                <a:spcPts val="1400"/>
              </a:spcAft>
              <a:defRPr sz="1800">
                <a:solidFill>
                  <a:srgbClr val="28303A"/>
                </a:solidFill>
                <a:latin typeface="Aptos"/>
              </a:defRPr>
            </a:pPr>
            <a:r>
              <a:t>• Supermarket product recommendations</a:t>
            </a:r>
          </a:p>
          <a:p>
            <a:pPr>
              <a:spcAft>
                <a:spcPts val="1400"/>
              </a:spcAft>
              <a:defRPr sz="1800">
                <a:solidFill>
                  <a:srgbClr val="28303A"/>
                </a:solidFill>
                <a:latin typeface="Aptos"/>
              </a:defRPr>
            </a:pPr>
            <a:r>
              <a:t>• Online shopping basket analysis</a:t>
            </a:r>
          </a:p>
          <a:p>
            <a:pPr>
              <a:spcAft>
                <a:spcPts val="1400"/>
              </a:spcAft>
              <a:defRPr sz="1800">
                <a:solidFill>
                  <a:srgbClr val="28303A"/>
                </a:solidFill>
                <a:latin typeface="Aptos"/>
              </a:defRPr>
            </a:pPr>
            <a:r>
              <a:t>• Cross-selling and product placement</a:t>
            </a:r>
          </a:p>
          <a:p>
            <a:pPr>
              <a:spcAft>
                <a:spcPts val="1400"/>
              </a:spcAft>
              <a:defRPr sz="1800">
                <a:solidFill>
                  <a:srgbClr val="28303A"/>
                </a:solidFill>
                <a:latin typeface="Aptos"/>
              </a:defRPr>
            </a:pPr>
            <a:r>
              <a:t>• Discovering patterns in transaction data</a:t>
            </a:r>
          </a:p>
        </p:txBody>
      </p:sp>
      <p:sp>
        <p:nvSpPr>
          <p:cNvPr id="6" name="TextBox 5"/>
          <p:cNvSpPr txBox="1"/>
          <p:nvPr/>
        </p:nvSpPr>
        <p:spPr>
          <a:xfrm>
            <a:off x="6309360" y="1737360"/>
            <a:ext cx="4846320" cy="411480"/>
          </a:xfrm>
          <a:prstGeom prst="rect">
            <a:avLst/>
          </a:prstGeom>
          <a:noFill/>
        </p:spPr>
        <p:txBody>
          <a:bodyPr wrap="square" lIns="73152" tIns="36576" rIns="73152" bIns="36576">
            <a:spAutoFit/>
          </a:bodyPr>
          <a:lstStyle/>
          <a:p>
            <a:pPr>
              <a:spcAft>
                <a:spcPts val="800"/>
              </a:spcAft>
              <a:defRPr sz="2000" b="1">
                <a:solidFill>
                  <a:srgbClr val="3469B0"/>
                </a:solidFill>
                <a:latin typeface="Aptos"/>
              </a:defRPr>
            </a:pPr>
            <a:r>
              <a:t>Remember</a:t>
            </a:r>
          </a:p>
        </p:txBody>
      </p:sp>
      <p:sp>
        <p:nvSpPr>
          <p:cNvPr id="7" name="TextBox 6"/>
          <p:cNvSpPr txBox="1"/>
          <p:nvPr/>
        </p:nvSpPr>
        <p:spPr>
          <a:xfrm>
            <a:off x="6309360" y="2240280"/>
            <a:ext cx="5029200" cy="3383280"/>
          </a:xfrm>
          <a:prstGeom prst="rect">
            <a:avLst/>
          </a:prstGeom>
          <a:noFill/>
        </p:spPr>
        <p:txBody>
          <a:bodyPr wrap="square" lIns="73152" rIns="73152">
            <a:spAutoFit/>
          </a:bodyPr>
          <a:lstStyle/>
          <a:p>
            <a:pPr>
              <a:spcAft>
                <a:spcPts val="1400"/>
              </a:spcAft>
              <a:defRPr sz="1800">
                <a:solidFill>
                  <a:srgbClr val="28303A"/>
                </a:solidFill>
                <a:latin typeface="Aptos"/>
              </a:defRPr>
            </a:pPr>
            <a:r>
              <a:t>• Support measures frequency.</a:t>
            </a:r>
          </a:p>
          <a:p>
            <a:pPr>
              <a:spcAft>
                <a:spcPts val="1400"/>
              </a:spcAft>
              <a:defRPr sz="1800">
                <a:solidFill>
                  <a:srgbClr val="28303A"/>
                </a:solidFill>
                <a:latin typeface="Aptos"/>
              </a:defRPr>
            </a:pPr>
            <a:r>
              <a:t>• Confidence measures rule reliability.</a:t>
            </a:r>
          </a:p>
          <a:p>
            <a:pPr>
              <a:spcAft>
                <a:spcPts val="1400"/>
              </a:spcAft>
              <a:defRPr sz="1800">
                <a:solidFill>
                  <a:srgbClr val="28303A"/>
                </a:solidFill>
                <a:latin typeface="Aptos"/>
              </a:defRPr>
            </a:pPr>
            <a:r>
              <a:t>• C1/C2/C3 = candidate sets; L1/L2/L3 = frequent sets.</a:t>
            </a:r>
          </a:p>
          <a:p>
            <a:pPr>
              <a:spcAft>
                <a:spcPts val="1400"/>
              </a:spcAft>
              <a:defRPr sz="1800">
                <a:solidFill>
                  <a:srgbClr val="28303A"/>
                </a:solidFill>
                <a:latin typeface="Aptos"/>
              </a:defRPr>
            </a:pPr>
            <a:r>
              <a:t>• Stop when no larger frequent itemsets can be found.</a:t>
            </a:r>
          </a:p>
        </p:txBody>
      </p:sp>
      <p:sp>
        <p:nvSpPr>
          <p:cNvPr id="9" name="TextBox 8"/>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10" name="TextBox 9"/>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11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94360" y="320040"/>
            <a:ext cx="10972800" cy="594360"/>
          </a:xfrm>
          <a:prstGeom prst="rect">
            <a:avLst/>
          </a:prstGeom>
          <a:noFill/>
        </p:spPr>
        <p:txBody>
          <a:bodyPr wrap="square" lIns="73152" tIns="36576" rIns="73152" bIns="36576">
            <a:spAutoFit/>
          </a:bodyPr>
          <a:lstStyle/>
          <a:p>
            <a:pPr>
              <a:spcAft>
                <a:spcPts val="800"/>
              </a:spcAft>
              <a:defRPr sz="2800" b="1">
                <a:solidFill>
                  <a:srgbClr val="182A4A"/>
                </a:solidFill>
                <a:latin typeface="Aptos"/>
              </a:defRPr>
            </a:pPr>
            <a:r>
              <a:t>10. Applications &amp; Conclusion</a:t>
            </a:r>
          </a:p>
        </p:txBody>
      </p:sp>
      <p:sp>
        <p:nvSpPr>
          <p:cNvPr id="3" name="Rectangle 2"/>
          <p:cNvSpPr/>
          <p:nvPr/>
        </p:nvSpPr>
        <p:spPr>
          <a:xfrm>
            <a:off x="621792" y="1389888"/>
            <a:ext cx="1051560" cy="54864"/>
          </a:xfrm>
          <a:prstGeom prst="rect">
            <a:avLst/>
          </a:prstGeom>
          <a:solidFill>
            <a:srgbClr val="1C91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22960" y="1737360"/>
            <a:ext cx="4846320" cy="411480"/>
          </a:xfrm>
          <a:prstGeom prst="rect">
            <a:avLst/>
          </a:prstGeom>
          <a:noFill/>
        </p:spPr>
        <p:txBody>
          <a:bodyPr wrap="square" lIns="73152" tIns="36576" rIns="73152" bIns="36576">
            <a:spAutoFit/>
          </a:bodyPr>
          <a:lstStyle/>
          <a:p>
            <a:pPr>
              <a:spcAft>
                <a:spcPts val="800"/>
              </a:spcAft>
              <a:defRPr sz="2000" b="1">
                <a:solidFill>
                  <a:srgbClr val="1C918C"/>
                </a:solidFill>
                <a:latin typeface="Aptos"/>
              </a:defRPr>
            </a:pPr>
            <a:r>
              <a:t>Applications</a:t>
            </a:r>
          </a:p>
        </p:txBody>
      </p:sp>
      <p:sp>
        <p:nvSpPr>
          <p:cNvPr id="5" name="TextBox 4"/>
          <p:cNvSpPr txBox="1"/>
          <p:nvPr/>
        </p:nvSpPr>
        <p:spPr>
          <a:xfrm>
            <a:off x="822960" y="2240280"/>
            <a:ext cx="5029200" cy="3200400"/>
          </a:xfrm>
          <a:prstGeom prst="rect">
            <a:avLst/>
          </a:prstGeom>
          <a:noFill/>
        </p:spPr>
        <p:txBody>
          <a:bodyPr wrap="square" lIns="73152" rIns="73152">
            <a:spAutoFit/>
          </a:bodyPr>
          <a:lstStyle/>
          <a:p>
            <a:pPr>
              <a:spcAft>
                <a:spcPts val="1400"/>
              </a:spcAft>
              <a:defRPr sz="1800">
                <a:solidFill>
                  <a:srgbClr val="28303A"/>
                </a:solidFill>
                <a:latin typeface="Aptos"/>
              </a:defRPr>
            </a:pPr>
            <a:r>
              <a:t>• Supermarket product recommendations</a:t>
            </a:r>
          </a:p>
          <a:p>
            <a:pPr>
              <a:spcAft>
                <a:spcPts val="1400"/>
              </a:spcAft>
              <a:defRPr sz="1800">
                <a:solidFill>
                  <a:srgbClr val="28303A"/>
                </a:solidFill>
                <a:latin typeface="Aptos"/>
              </a:defRPr>
            </a:pPr>
            <a:r>
              <a:t>• Online shopping basket analysis</a:t>
            </a:r>
          </a:p>
          <a:p>
            <a:pPr>
              <a:spcAft>
                <a:spcPts val="1400"/>
              </a:spcAft>
              <a:defRPr sz="1800">
                <a:solidFill>
                  <a:srgbClr val="28303A"/>
                </a:solidFill>
                <a:latin typeface="Aptos"/>
              </a:defRPr>
            </a:pPr>
            <a:r>
              <a:t>• Cross-selling and product placement</a:t>
            </a:r>
          </a:p>
          <a:p>
            <a:pPr>
              <a:spcAft>
                <a:spcPts val="1400"/>
              </a:spcAft>
              <a:defRPr sz="1800">
                <a:solidFill>
                  <a:srgbClr val="28303A"/>
                </a:solidFill>
                <a:latin typeface="Aptos"/>
              </a:defRPr>
            </a:pPr>
            <a:r>
              <a:t>• Discovering patterns in transaction data</a:t>
            </a:r>
          </a:p>
        </p:txBody>
      </p:sp>
      <p:sp>
        <p:nvSpPr>
          <p:cNvPr id="6" name="TextBox 5"/>
          <p:cNvSpPr txBox="1"/>
          <p:nvPr/>
        </p:nvSpPr>
        <p:spPr>
          <a:xfrm>
            <a:off x="6309360" y="1737360"/>
            <a:ext cx="4846320" cy="411480"/>
          </a:xfrm>
          <a:prstGeom prst="rect">
            <a:avLst/>
          </a:prstGeom>
          <a:noFill/>
        </p:spPr>
        <p:txBody>
          <a:bodyPr wrap="square" lIns="73152" tIns="36576" rIns="73152" bIns="36576">
            <a:spAutoFit/>
          </a:bodyPr>
          <a:lstStyle/>
          <a:p>
            <a:pPr>
              <a:spcAft>
                <a:spcPts val="800"/>
              </a:spcAft>
              <a:defRPr sz="2000" b="1">
                <a:solidFill>
                  <a:srgbClr val="3469B0"/>
                </a:solidFill>
                <a:latin typeface="Aptos"/>
              </a:defRPr>
            </a:pPr>
            <a:r>
              <a:t>Remember</a:t>
            </a:r>
          </a:p>
        </p:txBody>
      </p:sp>
      <p:sp>
        <p:nvSpPr>
          <p:cNvPr id="7" name="TextBox 6"/>
          <p:cNvSpPr txBox="1"/>
          <p:nvPr/>
        </p:nvSpPr>
        <p:spPr>
          <a:xfrm>
            <a:off x="6309360" y="2240280"/>
            <a:ext cx="5029200" cy="3383280"/>
          </a:xfrm>
          <a:prstGeom prst="rect">
            <a:avLst/>
          </a:prstGeom>
          <a:noFill/>
        </p:spPr>
        <p:txBody>
          <a:bodyPr wrap="square" lIns="73152" rIns="73152">
            <a:spAutoFit/>
          </a:bodyPr>
          <a:lstStyle/>
          <a:p>
            <a:pPr>
              <a:spcAft>
                <a:spcPts val="1400"/>
              </a:spcAft>
              <a:defRPr sz="1800">
                <a:solidFill>
                  <a:srgbClr val="28303A"/>
                </a:solidFill>
                <a:latin typeface="Aptos"/>
              </a:defRPr>
            </a:pPr>
            <a:r>
              <a:t>• Support measures frequency.</a:t>
            </a:r>
          </a:p>
          <a:p>
            <a:pPr>
              <a:spcAft>
                <a:spcPts val="1400"/>
              </a:spcAft>
              <a:defRPr sz="1800">
                <a:solidFill>
                  <a:srgbClr val="28303A"/>
                </a:solidFill>
                <a:latin typeface="Aptos"/>
              </a:defRPr>
            </a:pPr>
            <a:r>
              <a:t>• Confidence measures rule reliability.</a:t>
            </a:r>
          </a:p>
          <a:p>
            <a:pPr>
              <a:spcAft>
                <a:spcPts val="1400"/>
              </a:spcAft>
              <a:defRPr sz="1800">
                <a:solidFill>
                  <a:srgbClr val="28303A"/>
                </a:solidFill>
                <a:latin typeface="Aptos"/>
              </a:defRPr>
            </a:pPr>
            <a:r>
              <a:t>• C1/C2/C3 = candidate sets; L1/L2/L3 = frequent sets.</a:t>
            </a:r>
          </a:p>
          <a:p>
            <a:pPr>
              <a:spcAft>
                <a:spcPts val="1400"/>
              </a:spcAft>
              <a:defRPr sz="1800">
                <a:solidFill>
                  <a:srgbClr val="28303A"/>
                </a:solidFill>
                <a:latin typeface="Aptos"/>
              </a:defRPr>
            </a:pPr>
            <a:r>
              <a:t>• Stop when no larger frequent itemsets can be found.</a:t>
            </a:r>
          </a:p>
        </p:txBody>
      </p:sp>
      <p:sp>
        <p:nvSpPr>
          <p:cNvPr id="9" name="TextBox 8"/>
          <p:cNvSpPr txBox="1"/>
          <p:nvPr/>
        </p:nvSpPr>
        <p:spPr>
          <a:xfrm>
            <a:off x="640080" y="6510528"/>
            <a:ext cx="10789920" cy="182880"/>
          </a:xfrm>
          <a:prstGeom prst="rect">
            <a:avLst/>
          </a:prstGeom>
          <a:noFill/>
        </p:spPr>
        <p:txBody>
          <a:bodyPr wrap="square" lIns="73152" tIns="36576" rIns="73152" bIns="36576">
            <a:spAutoFit/>
          </a:bodyPr>
          <a:lstStyle/>
          <a:p>
            <a:pPr>
              <a:spcAft>
                <a:spcPts val="800"/>
              </a:spcAft>
              <a:defRPr sz="900" b="0">
                <a:solidFill>
                  <a:srgbClr val="5F6976"/>
                </a:solidFill>
                <a:latin typeface="Aptos"/>
              </a:defRPr>
            </a:pPr>
            <a:r>
              <a:t>APRIORI ALGORITHM • DATA MINING</a:t>
            </a:r>
          </a:p>
        </p:txBody>
      </p:sp>
      <p:sp>
        <p:nvSpPr>
          <p:cNvPr id="10" name="TextBox 9"/>
          <p:cNvSpPr txBox="1"/>
          <p:nvPr/>
        </p:nvSpPr>
        <p:spPr>
          <a:xfrm>
            <a:off x="11201400" y="6473952"/>
            <a:ext cx="365760" cy="228600"/>
          </a:xfrm>
          <a:prstGeom prst="rect">
            <a:avLst/>
          </a:prstGeom>
          <a:noFill/>
        </p:spPr>
        <p:txBody>
          <a:bodyPr wrap="square" lIns="73152" tIns="36576" rIns="73152" bIns="36576">
            <a:spAutoFit/>
          </a:bodyPr>
          <a:lstStyle/>
          <a:p>
            <a:pPr algn="r">
              <a:spcAft>
                <a:spcPts val="800"/>
              </a:spcAft>
              <a:defRPr sz="1000" b="0">
                <a:solidFill>
                  <a:srgbClr val="5F6976"/>
                </a:solidFill>
                <a:latin typeface="Aptos"/>
              </a:defRPr>
            </a:pPr>
            <a:r>
              <a:t>11</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74911" y="622169"/>
            <a:ext cx="3593484" cy="369332"/>
          </a:xfrm>
          <a:prstGeom prst="rect">
            <a:avLst/>
          </a:prstGeom>
        </p:spPr>
        <p:txBody>
          <a:bodyPr wrap="none">
            <a:spAutoFit/>
          </a:bodyPr>
          <a:lstStyle/>
          <a:p>
            <a:r>
              <a:rPr lang="en-US" b="1" dirty="0" smtClean="0"/>
              <a:t>Frequent Pattern Growth Algorithm</a:t>
            </a:r>
            <a:endParaRPr lang="en-US" b="1" dirty="0"/>
          </a:p>
        </p:txBody>
      </p:sp>
      <p:sp>
        <p:nvSpPr>
          <p:cNvPr id="3" name="Rectangle 2"/>
          <p:cNvSpPr/>
          <p:nvPr/>
        </p:nvSpPr>
        <p:spPr>
          <a:xfrm>
            <a:off x="1310326" y="2413338"/>
            <a:ext cx="7833674" cy="1477328"/>
          </a:xfrm>
          <a:prstGeom prst="rect">
            <a:avLst/>
          </a:prstGeom>
        </p:spPr>
        <p:txBody>
          <a:bodyPr wrap="square">
            <a:spAutoFit/>
          </a:bodyPr>
          <a:lstStyle/>
          <a:p>
            <a:r>
              <a:rPr lang="en-US" dirty="0" smtClean="0"/>
              <a:t>The FP-Growth (Frequent Pattern Growth) algorithm efficiently mines frequent </a:t>
            </a:r>
            <a:r>
              <a:rPr lang="en-US" dirty="0" err="1" smtClean="0"/>
              <a:t>itemsets</a:t>
            </a:r>
            <a:r>
              <a:rPr lang="en-US" dirty="0" smtClean="0"/>
              <a:t> from large transactional datasets. Unlike the </a:t>
            </a:r>
            <a:r>
              <a:rPr lang="en-US" dirty="0" err="1" smtClean="0"/>
              <a:t>Apriori</a:t>
            </a:r>
            <a:r>
              <a:rPr lang="en-US" dirty="0" smtClean="0"/>
              <a:t> algorithm which suffers from high computational cost due to candidate generation and multiple database scans. FP-Growth avoids these inefficiencies by compressing the data into an FP-Tree (Frequent Pattern Tree) and extracts patterns directly from it.</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1105</Words>
  <Application>Microsoft Macintosh PowerPoint</Application>
  <PresentationFormat>Custom</PresentationFormat>
  <Paragraphs>210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LinksUpToDate>false</LinksUpToDate>
  <SharedDoc>false</SharedDoc>
  <HyperlinkBase/>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PC</dc:creator>
  <dc:description>generated using python-pptx</dc:description>
  <cp:lastModifiedBy>PC</cp:lastModifiedBy>
  <cp:revision>4</cp:revision>
  <dcterms:created xsi:type="dcterms:W3CDTF">2013-01-27T09:14:16Z</dcterms:created>
  <dcterms:modified xsi:type="dcterms:W3CDTF">2026-10-13T02:35:46Z</dcterms:modified>
</cp:coreProperties>
</file>