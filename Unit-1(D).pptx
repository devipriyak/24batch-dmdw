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2" r:id="rId15"/>
    <p:sldId id="269" r:id="rId16"/>
    <p:sldId id="270" r:id="rId17"/>
    <p:sldId id="293" r:id="rId18"/>
    <p:sldId id="286" r:id="rId19"/>
    <p:sldId id="271" r:id="rId20"/>
    <p:sldId id="287" r:id="rId21"/>
    <p:sldId id="272" r:id="rId22"/>
    <p:sldId id="273" r:id="rId23"/>
    <p:sldId id="288" r:id="rId24"/>
    <p:sldId id="290" r:id="rId25"/>
    <p:sldId id="289" r:id="rId26"/>
    <p:sldId id="274" r:id="rId27"/>
    <p:sldId id="275" r:id="rId28"/>
    <p:sldId id="276" r:id="rId29"/>
    <p:sldId id="277" r:id="rId30"/>
    <p:sldId id="291" r:id="rId31"/>
    <p:sldId id="278" r:id="rId32"/>
    <p:sldId id="279" r:id="rId33"/>
    <p:sldId id="294" r:id="rId34"/>
    <p:sldId id="29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38" autoAdjust="0"/>
  </p:normalViewPr>
  <p:slideViewPr>
    <p:cSldViewPr>
      <p:cViewPr varScale="1">
        <p:scale>
          <a:sx n="68" d="100"/>
          <a:sy n="68" d="100"/>
        </p:scale>
        <p:origin x="-144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7.e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 Id="rId4" Type="http://schemas.openxmlformats.org/officeDocument/2006/relationships/image" Target="../media/image2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7.emf"/><Relationship Id="rId5" Type="http://schemas.openxmlformats.org/officeDocument/2006/relationships/oleObject" Target="../embeddings/oleObject3.bin"/><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5.emf"/><Relationship Id="rId5" Type="http://schemas.openxmlformats.org/officeDocument/2006/relationships/oleObject" Target="../embeddings/oleObject7.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9.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5016758"/>
          </a:xfrm>
          <a:prstGeom prst="rect">
            <a:avLst/>
          </a:prstGeom>
        </p:spPr>
        <p:txBody>
          <a:bodyPr wrap="square">
            <a:spAutoFit/>
          </a:bodyPr>
          <a:lstStyle/>
          <a:p>
            <a:pPr algn="ctr"/>
            <a:r>
              <a:rPr lang="en-IN" sz="3200" b="1" u="sng" dirty="0" smtClean="0">
                <a:latin typeface="Times New Roman" pitchFamily="18" charset="0"/>
                <a:cs typeface="Times New Roman" pitchFamily="18" charset="0"/>
              </a:rPr>
              <a:t>UNIT–I</a:t>
            </a: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Warehousing and Online Analytical Processing: Basic concepts</a:t>
            </a:r>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Warehouse </a:t>
            </a:r>
            <a:r>
              <a:rPr lang="en-IN" sz="2400" dirty="0" smtClean="0">
                <a:latin typeface="Times New Roman" pitchFamily="18" charset="0"/>
                <a:cs typeface="Times New Roman" pitchFamily="18" charset="0"/>
              </a:rPr>
              <a:t>Modelling</a:t>
            </a:r>
            <a:r>
              <a:rPr lang="en-IN" sz="2400" dirty="0">
                <a:latin typeface="Times New Roman" pitchFamily="18" charset="0"/>
                <a:cs typeface="Times New Roman" pitchFamily="18" charset="0"/>
              </a:rPr>
              <a:t>: Data Cube and OLAP, Data Warehouse Design </a:t>
            </a:r>
            <a:r>
              <a:rPr lang="en-IN" sz="2400" dirty="0" smtClean="0">
                <a:latin typeface="Times New Roman" pitchFamily="18" charset="0"/>
                <a:cs typeface="Times New Roman" pitchFamily="18" charset="0"/>
              </a:rPr>
              <a:t>and Usage</a:t>
            </a:r>
            <a:r>
              <a:rPr lang="en-IN" sz="2400" dirty="0">
                <a:latin typeface="Times New Roman" pitchFamily="18" charset="0"/>
                <a:cs typeface="Times New Roman" pitchFamily="18" charset="0"/>
              </a:rPr>
              <a:t>, Data Warehouse Implementation, Cloud Data </a:t>
            </a:r>
            <a:r>
              <a:rPr lang="en-IN" sz="2400" dirty="0" smtClean="0">
                <a:latin typeface="Times New Roman" pitchFamily="18" charset="0"/>
                <a:cs typeface="Times New Roman" pitchFamily="18" charset="0"/>
              </a:rPr>
              <a:t>Warehouse</a:t>
            </a:r>
            <a:r>
              <a:rPr lang="en-IN" sz="2400" dirty="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Mining and </a:t>
            </a:r>
            <a:r>
              <a:rPr lang="en-IN" sz="2400" dirty="0">
                <a:latin typeface="Times New Roman" pitchFamily="18" charset="0"/>
                <a:cs typeface="Times New Roman" pitchFamily="18" charset="0"/>
              </a:rPr>
              <a:t>Patten Mining, Technologies, Applications, Major </a:t>
            </a:r>
            <a:r>
              <a:rPr lang="en-IN" sz="2400" dirty="0" smtClean="0">
                <a:latin typeface="Times New Roman" pitchFamily="18" charset="0"/>
                <a:cs typeface="Times New Roman" pitchFamily="18" charset="0"/>
              </a:rPr>
              <a:t>issues</a:t>
            </a:r>
            <a:r>
              <a:rPr lang="en-IN" sz="2400" dirty="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	Data </a:t>
            </a:r>
            <a:r>
              <a:rPr lang="en-IN" sz="2400" dirty="0">
                <a:latin typeface="Times New Roman" pitchFamily="18" charset="0"/>
                <a:cs typeface="Times New Roman" pitchFamily="18" charset="0"/>
              </a:rPr>
              <a:t>Objects </a:t>
            </a:r>
            <a:r>
              <a:rPr lang="en-IN" sz="2400" dirty="0" smtClean="0">
                <a:latin typeface="Times New Roman" pitchFamily="18" charset="0"/>
                <a:cs typeface="Times New Roman" pitchFamily="18" charset="0"/>
              </a:rPr>
              <a:t>&amp; Attribute </a:t>
            </a:r>
            <a:r>
              <a:rPr lang="en-IN" sz="2400" dirty="0">
                <a:latin typeface="Times New Roman" pitchFamily="18" charset="0"/>
                <a:cs typeface="Times New Roman" pitchFamily="18" charset="0"/>
              </a:rPr>
              <a:t>Types, Basic Statistical Descriptions of Data, Data Visualization</a:t>
            </a:r>
            <a:r>
              <a:rPr lang="en-IN" sz="2400" dirty="0" smtClean="0">
                <a:latin typeface="Times New Roman" pitchFamily="18" charset="0"/>
                <a:cs typeface="Times New Roman" pitchFamily="18" charset="0"/>
              </a:rPr>
              <a:t>, Measuring </a:t>
            </a:r>
            <a:r>
              <a:rPr lang="en-IN" sz="2400" dirty="0">
                <a:latin typeface="Times New Roman" pitchFamily="18" charset="0"/>
                <a:cs typeface="Times New Roman" pitchFamily="18" charset="0"/>
              </a:rPr>
              <a:t>Data Similarity and Dissimilarity.</a:t>
            </a:r>
          </a:p>
        </p:txBody>
      </p:sp>
    </p:spTree>
    <p:extLst>
      <p:ext uri="{BB962C8B-B14F-4D97-AF65-F5344CB8AC3E}">
        <p14:creationId xmlns:p14="http://schemas.microsoft.com/office/powerpoint/2010/main" val="1716698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5693866"/>
          </a:xfrm>
          <a:prstGeom prst="rect">
            <a:avLst/>
          </a:prstGeom>
        </p:spPr>
        <p:txBody>
          <a:bodyPr wrap="square">
            <a:spAutoFit/>
          </a:bodyPr>
          <a:lstStyle/>
          <a:p>
            <a:pPr algn="just"/>
            <a:r>
              <a:rPr lang="en-US" sz="2800" dirty="0" smtClean="0">
                <a:solidFill>
                  <a:srgbClr val="FF0000"/>
                </a:solidFill>
                <a:latin typeface="Times New Roman" pitchFamily="18" charset="0"/>
                <a:cs typeface="Times New Roman" pitchFamily="18" charset="0"/>
              </a:rPr>
              <a:t>Measuring Data Similarity and Dissimilarity:</a:t>
            </a:r>
          </a:p>
          <a:p>
            <a:pPr algn="just"/>
            <a:endParaRPr lang="en-US" sz="2800"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In data mining applications, such as clustering, outlier analysis, and nearest-neighbor classification, we need ways to assess how alike or unalike objects are in comparison to one another. </a:t>
            </a: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For example, a store may want to search for clusters of customer objects, resulting in groups of customers with similar characteristics (e.g., similar income, area of residence, and age). Such information can then be used for marketing. </a:t>
            </a:r>
          </a:p>
          <a:p>
            <a:pPr algn="just"/>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cluster is </a:t>
            </a:r>
            <a:r>
              <a:rPr lang="en-US" sz="2200" dirty="0">
                <a:latin typeface="Times New Roman" pitchFamily="18" charset="0"/>
                <a:cs typeface="Times New Roman" pitchFamily="18" charset="0"/>
              </a:rPr>
              <a:t>a collection of data objects such that the objects within a cluster are similar to one another and dissimilar to the objects in other clusters. </a:t>
            </a:r>
            <a:endParaRPr lang="en-US" sz="2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647125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3816429"/>
          </a:xfrm>
          <a:prstGeom prst="rect">
            <a:avLst/>
          </a:prstGeom>
        </p:spPr>
        <p:txBody>
          <a:bodyPr wrap="square">
            <a:spAutoFit/>
          </a:bodyPr>
          <a:lstStyle/>
          <a:p>
            <a:pPr algn="just"/>
            <a:r>
              <a:rPr lang="en-IN" sz="2200" dirty="0" smtClean="0">
                <a:latin typeface="Times New Roman" pitchFamily="18" charset="0"/>
                <a:cs typeface="Times New Roman" pitchFamily="18" charset="0"/>
              </a:rPr>
              <a:t>	A similarity measure for two objects, I and j, will typically return the value 0 if the objects are unalike. The higher the similarity value</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the greater the similarity between objects</a:t>
            </a:r>
            <a:r>
              <a:rPr lang="en-IN" sz="2200" dirty="0">
                <a:latin typeface="Times New Roman" pitchFamily="18" charset="0"/>
                <a:cs typeface="Times New Roman" pitchFamily="18" charset="0"/>
              </a:rPr>
              <a:t>. </a:t>
            </a:r>
            <a:endParaRPr lang="en-IN" sz="2200" dirty="0" smtClean="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b="1" dirty="0" smtClean="0">
                <a:latin typeface="Times New Roman" pitchFamily="18" charset="0"/>
                <a:cs typeface="Times New Roman" pitchFamily="18" charset="0"/>
              </a:rPr>
              <a:t>Note: </a:t>
            </a:r>
            <a:r>
              <a:rPr lang="en-IN" sz="2200" dirty="0" smtClean="0">
                <a:latin typeface="Times New Roman" pitchFamily="18" charset="0"/>
                <a:cs typeface="Times New Roman" pitchFamily="18" charset="0"/>
              </a:rPr>
              <a:t>Typically, a value of 1 indicates complete similarity, that is, the objects are identical.</a:t>
            </a:r>
          </a:p>
          <a:p>
            <a:pPr algn="just"/>
            <a:endParaRPr lang="en-IN" sz="2200" dirty="0">
              <a:latin typeface="Times New Roman" pitchFamily="18" charset="0"/>
              <a:cs typeface="Times New Roman" pitchFamily="18" charset="0"/>
            </a:endParaRPr>
          </a:p>
          <a:p>
            <a:pPr algn="just"/>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A dissimilarity measure works the opposite way. It returns a value of 0 if the objects are the same.</a:t>
            </a:r>
          </a:p>
          <a:p>
            <a:pPr algn="just"/>
            <a:r>
              <a:rPr lang="en-IN" sz="2200" dirty="0" smtClean="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272817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4339650"/>
          </a:xfrm>
          <a:prstGeom prst="rect">
            <a:avLst/>
          </a:prstGeom>
        </p:spPr>
        <p:txBody>
          <a:bodyPr wrap="square">
            <a:spAutoFit/>
          </a:bodyPr>
          <a:lstStyle/>
          <a:p>
            <a:pPr algn="just"/>
            <a:r>
              <a:rPr lang="en-IN" sz="2800" u="sng" dirty="0" smtClean="0">
                <a:solidFill>
                  <a:srgbClr val="FF0000"/>
                </a:solidFill>
                <a:latin typeface="Times New Roman" pitchFamily="18" charset="0"/>
                <a:cs typeface="Times New Roman" pitchFamily="18" charset="0"/>
              </a:rPr>
              <a:t>Data Matrix versus Dissimilarity Matrix:</a:t>
            </a:r>
          </a:p>
          <a:p>
            <a:pPr algn="just"/>
            <a:endParaRPr lang="en-IN" sz="2800" u="sng" dirty="0" smtClean="0">
              <a:solidFill>
                <a:srgbClr val="FF0000"/>
              </a:solidFill>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Suppose that we have n objects </a:t>
            </a:r>
            <a:r>
              <a:rPr lang="en-IN" sz="2200" dirty="0">
                <a:latin typeface="Times New Roman" pitchFamily="18" charset="0"/>
                <a:cs typeface="Times New Roman" pitchFamily="18" charset="0"/>
              </a:rPr>
              <a:t>(e.g</a:t>
            </a:r>
            <a:r>
              <a:rPr lang="en-IN" sz="2200" dirty="0" smtClean="0">
                <a:latin typeface="Times New Roman" pitchFamily="18" charset="0"/>
                <a:cs typeface="Times New Roman" pitchFamily="18" charset="0"/>
              </a:rPr>
              <a:t>., persons</a:t>
            </a:r>
            <a:r>
              <a:rPr lang="en-IN" sz="2200" dirty="0">
                <a:latin typeface="Times New Roman" pitchFamily="18" charset="0"/>
                <a:cs typeface="Times New Roman" pitchFamily="18" charset="0"/>
              </a:rPr>
              <a:t>, items</a:t>
            </a:r>
            <a:r>
              <a:rPr lang="en-IN" sz="2200" dirty="0" smtClean="0">
                <a:latin typeface="Times New Roman" pitchFamily="18" charset="0"/>
                <a:cs typeface="Times New Roman" pitchFamily="18" charset="0"/>
              </a:rPr>
              <a:t>, or courses) described by p attributes (also called measurements or </a:t>
            </a:r>
            <a:r>
              <a:rPr lang="en-IN" sz="2200" dirty="0">
                <a:latin typeface="Times New Roman" pitchFamily="18" charset="0"/>
                <a:cs typeface="Times New Roman" pitchFamily="18" charset="0"/>
              </a:rPr>
              <a:t>features</a:t>
            </a:r>
            <a:r>
              <a:rPr lang="en-IN" sz="2200" dirty="0" smtClean="0">
                <a:latin typeface="Times New Roman" pitchFamily="18" charset="0"/>
                <a:cs typeface="Times New Roman" pitchFamily="18" charset="0"/>
              </a:rPr>
              <a:t>, such as age, height, weight, or gender).</a:t>
            </a:r>
          </a:p>
          <a:p>
            <a:pPr algn="just"/>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The objects are x</a:t>
            </a:r>
            <a:r>
              <a:rPr lang="en-IN" sz="2200" baseline="-25000" dirty="0" smtClean="0">
                <a:latin typeface="Times New Roman" pitchFamily="18" charset="0"/>
                <a:cs typeface="Times New Roman" pitchFamily="18" charset="0"/>
              </a:rPr>
              <a:t>1</a:t>
            </a:r>
            <a:r>
              <a:rPr lang="en-IN" sz="2200" dirty="0" smtClean="0">
                <a:latin typeface="Times New Roman" pitchFamily="18" charset="0"/>
                <a:cs typeface="Times New Roman" pitchFamily="18" charset="0"/>
              </a:rPr>
              <a:t>= (x</a:t>
            </a:r>
            <a:r>
              <a:rPr lang="en-IN" sz="2200" baseline="-25000" dirty="0" smtClean="0">
                <a:latin typeface="Times New Roman" pitchFamily="18" charset="0"/>
                <a:cs typeface="Times New Roman" pitchFamily="18" charset="0"/>
              </a:rPr>
              <a:t>11</a:t>
            </a:r>
            <a:r>
              <a:rPr lang="en-IN" sz="2200" dirty="0" smtClean="0">
                <a:latin typeface="Times New Roman" pitchFamily="18" charset="0"/>
                <a:cs typeface="Times New Roman" pitchFamily="18" charset="0"/>
              </a:rPr>
              <a:t>,x</a:t>
            </a:r>
            <a:r>
              <a:rPr lang="en-IN" sz="2200" baseline="-25000" dirty="0" smtClean="0">
                <a:latin typeface="Times New Roman" pitchFamily="18" charset="0"/>
                <a:cs typeface="Times New Roman" pitchFamily="18" charset="0"/>
              </a:rPr>
              <a:t>12</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x</a:t>
            </a:r>
            <a:r>
              <a:rPr lang="en-IN" sz="2200" baseline="-25000" dirty="0" smtClean="0">
                <a:latin typeface="Times New Roman" pitchFamily="18" charset="0"/>
                <a:cs typeface="Times New Roman" pitchFamily="18" charset="0"/>
              </a:rPr>
              <a:t>1p</a:t>
            </a:r>
            <a:r>
              <a:rPr lang="en-IN" sz="2200" dirty="0" smtClean="0">
                <a:latin typeface="Times New Roman" pitchFamily="18" charset="0"/>
                <a:cs typeface="Times New Roman" pitchFamily="18" charset="0"/>
              </a:rPr>
              <a:t>), x</a:t>
            </a:r>
            <a:r>
              <a:rPr lang="en-IN" sz="2200" baseline="-25000" dirty="0" smtClean="0">
                <a:latin typeface="Times New Roman" pitchFamily="18" charset="0"/>
                <a:cs typeface="Times New Roman" pitchFamily="18" charset="0"/>
              </a:rPr>
              <a:t>2</a:t>
            </a:r>
            <a:r>
              <a:rPr lang="en-IN" sz="2200" dirty="0" smtClean="0">
                <a:latin typeface="Times New Roman" pitchFamily="18" charset="0"/>
                <a:cs typeface="Times New Roman" pitchFamily="18" charset="0"/>
              </a:rPr>
              <a:t>= (x</a:t>
            </a:r>
            <a:r>
              <a:rPr lang="en-IN" sz="2200" baseline="-25000" dirty="0" smtClean="0">
                <a:latin typeface="Times New Roman" pitchFamily="18" charset="0"/>
                <a:cs typeface="Times New Roman" pitchFamily="18" charset="0"/>
              </a:rPr>
              <a:t>21</a:t>
            </a:r>
            <a:r>
              <a:rPr lang="en-IN" sz="2200" dirty="0" smtClean="0">
                <a:latin typeface="Times New Roman" pitchFamily="18" charset="0"/>
                <a:cs typeface="Times New Roman" pitchFamily="18" charset="0"/>
              </a:rPr>
              <a:t>,x</a:t>
            </a:r>
            <a:r>
              <a:rPr lang="en-IN" sz="2200" baseline="-25000" dirty="0" smtClean="0">
                <a:latin typeface="Times New Roman" pitchFamily="18" charset="0"/>
                <a:cs typeface="Times New Roman" pitchFamily="18" charset="0"/>
              </a:rPr>
              <a:t>22</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x</a:t>
            </a:r>
            <a:r>
              <a:rPr lang="en-IN" sz="2200" baseline="-25000" dirty="0" smtClean="0">
                <a:latin typeface="Times New Roman" pitchFamily="18" charset="0"/>
                <a:cs typeface="Times New Roman" pitchFamily="18" charset="0"/>
              </a:rPr>
              <a:t>2p</a:t>
            </a:r>
            <a:r>
              <a:rPr lang="en-IN" sz="2200" dirty="0" smtClean="0">
                <a:latin typeface="Times New Roman" pitchFamily="18" charset="0"/>
                <a:cs typeface="Times New Roman" pitchFamily="18" charset="0"/>
              </a:rPr>
              <a:t>),and soon, where </a:t>
            </a:r>
            <a:r>
              <a:rPr lang="en-IN" sz="2200" dirty="0" err="1" smtClean="0">
                <a:latin typeface="Times New Roman" pitchFamily="18" charset="0"/>
                <a:cs typeface="Times New Roman" pitchFamily="18" charset="0"/>
              </a:rPr>
              <a:t>x</a:t>
            </a:r>
            <a:r>
              <a:rPr lang="en-IN" sz="2200" baseline="-250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 is the value for object xi of the </a:t>
            </a:r>
            <a:r>
              <a:rPr lang="en-IN" sz="2200" dirty="0" err="1" smtClean="0">
                <a:latin typeface="Times New Roman" pitchFamily="18" charset="0"/>
                <a:cs typeface="Times New Roman" pitchFamily="18" charset="0"/>
              </a:rPr>
              <a:t>j</a:t>
            </a:r>
            <a:r>
              <a:rPr lang="en-IN" sz="2200" baseline="30000" dirty="0" err="1" smtClean="0">
                <a:latin typeface="Times New Roman" pitchFamily="18" charset="0"/>
                <a:cs typeface="Times New Roman" pitchFamily="18" charset="0"/>
              </a:rPr>
              <a:t>th</a:t>
            </a:r>
            <a:r>
              <a:rPr lang="en-IN" sz="2200" dirty="0" smtClean="0">
                <a:latin typeface="Times New Roman" pitchFamily="18" charset="0"/>
                <a:cs typeface="Times New Roman" pitchFamily="18" charset="0"/>
              </a:rPr>
              <a:t> attribute</a:t>
            </a:r>
            <a:r>
              <a:rPr lang="en-IN" sz="2200" dirty="0">
                <a:latin typeface="Times New Roman" pitchFamily="18" charset="0"/>
                <a:cs typeface="Times New Roman" pitchFamily="18" charset="0"/>
              </a:rPr>
              <a:t>. </a:t>
            </a:r>
            <a:endParaRPr lang="en-IN" sz="2200" dirty="0" smtClean="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Here after refer to object x</a:t>
            </a:r>
            <a:r>
              <a:rPr lang="en-IN" sz="2200" baseline="-25000" dirty="0" smtClean="0">
                <a:latin typeface="Times New Roman" pitchFamily="18" charset="0"/>
                <a:cs typeface="Times New Roman" pitchFamily="18" charset="0"/>
              </a:rPr>
              <a:t>i</a:t>
            </a:r>
            <a:r>
              <a:rPr lang="en-IN" sz="2200" dirty="0" smtClean="0">
                <a:latin typeface="Times New Roman" pitchFamily="18" charset="0"/>
                <a:cs typeface="Times New Roman" pitchFamily="18" charset="0"/>
              </a:rPr>
              <a:t> as object </a:t>
            </a:r>
            <a:r>
              <a:rPr lang="en-IN" sz="2200" dirty="0">
                <a:latin typeface="Times New Roman" pitchFamily="18" charset="0"/>
                <a:cs typeface="Times New Roman" pitchFamily="18" charset="0"/>
              </a:rPr>
              <a:t>i</a:t>
            </a:r>
            <a:r>
              <a:rPr lang="en-IN" sz="2200" dirty="0" smtClean="0">
                <a:latin typeface="Times New Roman" pitchFamily="18" charset="0"/>
                <a:cs typeface="Times New Roman" pitchFamily="18" charset="0"/>
              </a:rPr>
              <a:t>. The objects may be tuples in a relational database, and are also referred to as data samples or feature vectors</a:t>
            </a:r>
            <a:r>
              <a:rPr lang="en-IN" sz="2200" dirty="0">
                <a:latin typeface="Times New Roman" pitchFamily="18" charset="0"/>
                <a:cs typeface="Times New Roman" pitchFamily="18" charset="0"/>
              </a:rPr>
              <a:t>.</a:t>
            </a:r>
            <a:endParaRPr lang="en-IN" sz="2200" u="sng"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908207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5509200"/>
          </a:xfrm>
          <a:prstGeom prst="rect">
            <a:avLst/>
          </a:prstGeom>
        </p:spPr>
        <p:txBody>
          <a:bodyPr wrap="square">
            <a:spAutoFit/>
          </a:bodyPr>
          <a:lstStyle/>
          <a:p>
            <a:pPr algn="just"/>
            <a:r>
              <a:rPr lang="en-IN" sz="2200" dirty="0" smtClean="0">
                <a:solidFill>
                  <a:srgbClr val="00B050"/>
                </a:solidFill>
                <a:latin typeface="Times New Roman" pitchFamily="18" charset="0"/>
                <a:cs typeface="Times New Roman" pitchFamily="18" charset="0"/>
              </a:rPr>
              <a:t>Data matrix (or object-by-attribute structure): </a:t>
            </a:r>
            <a:r>
              <a:rPr lang="en-IN" sz="2200" dirty="0" smtClean="0">
                <a:latin typeface="Times New Roman" pitchFamily="18" charset="0"/>
                <a:cs typeface="Times New Roman" pitchFamily="18" charset="0"/>
              </a:rPr>
              <a:t>This structure stores the n data objects in the form of a relational table, or n-by-p matrix:</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Each </a:t>
            </a:r>
            <a:r>
              <a:rPr lang="en-US" sz="2200" dirty="0">
                <a:latin typeface="Times New Roman" pitchFamily="18" charset="0"/>
                <a:cs typeface="Times New Roman" pitchFamily="18" charset="0"/>
              </a:rPr>
              <a:t>row corresponds to an </a:t>
            </a:r>
            <a:r>
              <a:rPr lang="en-US" sz="2200" dirty="0" smtClean="0">
                <a:latin typeface="Times New Roman" pitchFamily="18" charset="0"/>
                <a:cs typeface="Times New Roman" pitchFamily="18" charset="0"/>
              </a:rPr>
              <a:t>object</a:t>
            </a:r>
            <a:r>
              <a:rPr lang="en-US" sz="2200" dirty="0">
                <a:latin typeface="Times New Roman" pitchFamily="18" charset="0"/>
                <a:cs typeface="Times New Roman" pitchFamily="18" charset="0"/>
              </a:rPr>
              <a:t>.</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b="1" dirty="0">
                <a:solidFill>
                  <a:srgbClr val="00B050"/>
                </a:solidFill>
                <a:latin typeface="Times New Roman" pitchFamily="18" charset="0"/>
                <a:cs typeface="Times New Roman" pitchFamily="18" charset="0"/>
              </a:rPr>
              <a:t>Dissimilarity matrix (or object-by-object structure): </a:t>
            </a:r>
            <a:r>
              <a:rPr lang="en-US" sz="2200" dirty="0">
                <a:latin typeface="Times New Roman" pitchFamily="18" charset="0"/>
                <a:cs typeface="Times New Roman" pitchFamily="18" charset="0"/>
              </a:rPr>
              <a:t>This structure stores a collection of proximities that are available for all pairs of n objects. It is often represented by an n-by-n table:</a:t>
            </a:r>
            <a:endParaRPr lang="en-IN"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143000"/>
            <a:ext cx="4724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7780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28601"/>
            <a:ext cx="4876800" cy="220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228601"/>
            <a:ext cx="8610600" cy="6032421"/>
          </a:xfrm>
          <a:prstGeom prst="rect">
            <a:avLst/>
          </a:prstGeom>
        </p:spPr>
        <p:txBody>
          <a:bodyPr wrap="square">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pPr algn="just"/>
            <a:r>
              <a:rPr lang="en-US" sz="2200" dirty="0" smtClean="0">
                <a:latin typeface="Times New Roman" pitchFamily="18" charset="0"/>
                <a:cs typeface="Times New Roman" pitchFamily="18" charset="0"/>
              </a:rPr>
              <a:t>	where d(i</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j) </a:t>
            </a:r>
            <a:r>
              <a:rPr lang="en-US" sz="2200" dirty="0">
                <a:latin typeface="Times New Roman" pitchFamily="18" charset="0"/>
                <a:cs typeface="Times New Roman" pitchFamily="18" charset="0"/>
              </a:rPr>
              <a:t>is the measured dissimilarity or “difference” between objects i and j. In general, </a:t>
            </a:r>
            <a:r>
              <a:rPr lang="en-US" sz="2200" dirty="0" smtClean="0">
                <a:latin typeface="Times New Roman" pitchFamily="18" charset="0"/>
                <a:cs typeface="Times New Roman" pitchFamily="18" charset="0"/>
              </a:rPr>
              <a:t>d(i</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j) </a:t>
            </a:r>
            <a:r>
              <a:rPr lang="en-US" sz="2200" dirty="0">
                <a:latin typeface="Times New Roman" pitchFamily="18" charset="0"/>
                <a:cs typeface="Times New Roman" pitchFamily="18" charset="0"/>
              </a:rPr>
              <a:t>is a non-negative number that is close to 0 when objects i and j are highly similar or “near” each other, and becomes larger </a:t>
            </a:r>
            <a:r>
              <a:rPr lang="en-US" sz="2200" dirty="0" smtClean="0">
                <a:latin typeface="Times New Roman" pitchFamily="18" charset="0"/>
                <a:cs typeface="Times New Roman" pitchFamily="18" charset="0"/>
              </a:rPr>
              <a:t>when more </a:t>
            </a:r>
            <a:r>
              <a:rPr lang="en-US" sz="2200" dirty="0">
                <a:latin typeface="Times New Roman" pitchFamily="18" charset="0"/>
                <a:cs typeface="Times New Roman" pitchFamily="18" charset="0"/>
              </a:rPr>
              <a:t>they differ. </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	Measures </a:t>
            </a:r>
            <a:r>
              <a:rPr lang="en-US" sz="2200" dirty="0">
                <a:latin typeface="Times New Roman" pitchFamily="18" charset="0"/>
                <a:cs typeface="Times New Roman" pitchFamily="18" charset="0"/>
              </a:rPr>
              <a:t>of similarity can often be expressed as a function of measures of dissimilarity. For example, for nominal </a:t>
            </a:r>
            <a:r>
              <a:rPr lang="en-US" sz="2200" dirty="0" smtClean="0">
                <a:latin typeface="Times New Roman" pitchFamily="18" charset="0"/>
                <a:cs typeface="Times New Roman" pitchFamily="18" charset="0"/>
              </a:rPr>
              <a:t>data:</a:t>
            </a: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sim</a:t>
            </a:r>
            <a:r>
              <a:rPr lang="en-US" sz="2200" dirty="0" smtClean="0">
                <a:latin typeface="Times New Roman" pitchFamily="18" charset="0"/>
                <a:cs typeface="Times New Roman" pitchFamily="18" charset="0"/>
              </a:rPr>
              <a:t>(i</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j)=1- d(</a:t>
            </a:r>
            <a:r>
              <a:rPr lang="en-US" sz="2200" dirty="0" err="1" smtClean="0">
                <a:latin typeface="Times New Roman" pitchFamily="18" charset="0"/>
                <a:cs typeface="Times New Roman" pitchFamily="18" charset="0"/>
              </a:rPr>
              <a:t>i,j</a:t>
            </a:r>
            <a:r>
              <a:rPr lang="en-US" sz="2200" dirty="0" smtClean="0">
                <a:latin typeface="Times New Roman" pitchFamily="18" charset="0"/>
                <a:cs typeface="Times New Roman" pitchFamily="18" charset="0"/>
              </a:rPr>
              <a:t>), </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where </a:t>
            </a:r>
            <a:r>
              <a:rPr lang="en-US" sz="2200" dirty="0" err="1" smtClean="0">
                <a:latin typeface="Times New Roman" pitchFamily="18" charset="0"/>
                <a:cs typeface="Times New Roman" pitchFamily="18" charset="0"/>
              </a:rPr>
              <a:t>sim</a:t>
            </a:r>
            <a:r>
              <a:rPr lang="en-US" sz="2200" dirty="0" smtClean="0">
                <a:latin typeface="Times New Roman" pitchFamily="18" charset="0"/>
                <a:cs typeface="Times New Roman" pitchFamily="18" charset="0"/>
              </a:rPr>
              <a:t>(i</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j) </a:t>
            </a:r>
            <a:r>
              <a:rPr lang="en-US" sz="2200" dirty="0">
                <a:latin typeface="Times New Roman" pitchFamily="18" charset="0"/>
                <a:cs typeface="Times New Roman" pitchFamily="18" charset="0"/>
              </a:rPr>
              <a:t>is the similarity between objects i and j.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987326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4862870"/>
          </a:xfrm>
          <a:prstGeom prst="rect">
            <a:avLst/>
          </a:prstGeom>
        </p:spPr>
        <p:txBody>
          <a:bodyPr wrap="square">
            <a:spAutoFit/>
          </a:bodyPr>
          <a:lstStyle/>
          <a:p>
            <a:pPr algn="just"/>
            <a:r>
              <a:rPr lang="en-US" sz="2200" dirty="0" smtClean="0">
                <a:latin typeface="Times New Roman" pitchFamily="18" charset="0"/>
                <a:cs typeface="Times New Roman" pitchFamily="18" charset="0"/>
              </a:rPr>
              <a:t>	A </a:t>
            </a:r>
            <a:r>
              <a:rPr lang="en-US" sz="2200" dirty="0">
                <a:latin typeface="Times New Roman" pitchFamily="18" charset="0"/>
                <a:cs typeface="Times New Roman" pitchFamily="18" charset="0"/>
              </a:rPr>
              <a:t>data matrix is made up of two entities </a:t>
            </a:r>
            <a:r>
              <a:rPr lang="en-US" sz="2200" dirty="0" smtClean="0">
                <a:latin typeface="Times New Roman" pitchFamily="18" charset="0"/>
                <a:cs typeface="Times New Roman" pitchFamily="18" charset="0"/>
              </a:rPr>
              <a:t>namely </a:t>
            </a:r>
            <a:r>
              <a:rPr lang="en-US" sz="2200" dirty="0">
                <a:latin typeface="Times New Roman" pitchFamily="18" charset="0"/>
                <a:cs typeface="Times New Roman" pitchFamily="18" charset="0"/>
              </a:rPr>
              <a:t>rows (for objects) and columns (for attributes). Therefore, the data matrix is often called a </a:t>
            </a:r>
            <a:r>
              <a:rPr lang="en-US" sz="2200" b="1" dirty="0">
                <a:latin typeface="Times New Roman" pitchFamily="18" charset="0"/>
                <a:cs typeface="Times New Roman" pitchFamily="18" charset="0"/>
              </a:rPr>
              <a:t>two-mode matrix</a:t>
            </a:r>
            <a:r>
              <a:rPr lang="en-US" sz="2200" dirty="0">
                <a:latin typeface="Times New Roman" pitchFamily="18" charset="0"/>
                <a:cs typeface="Times New Roman" pitchFamily="18" charset="0"/>
              </a:rPr>
              <a:t>. The dissimilarity matrix contains one kind of entity (dissimilarities) and so is called a </a:t>
            </a:r>
            <a:r>
              <a:rPr lang="en-US" sz="2200" b="1" dirty="0">
                <a:latin typeface="Times New Roman" pitchFamily="18" charset="0"/>
                <a:cs typeface="Times New Roman" pitchFamily="18" charset="0"/>
              </a:rPr>
              <a:t>one-mode matrix</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Proximity Measures for Nominal </a:t>
            </a:r>
            <a:r>
              <a:rPr lang="en-US" sz="2400" b="1" dirty="0" smtClean="0">
                <a:solidFill>
                  <a:srgbClr val="00B050"/>
                </a:solidFill>
                <a:latin typeface="Times New Roman" pitchFamily="18" charset="0"/>
                <a:cs typeface="Times New Roman" pitchFamily="18" charset="0"/>
              </a:rPr>
              <a:t>Attributes:</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A nominal attribute can take on two or more </a:t>
            </a:r>
            <a:r>
              <a:rPr lang="en-US" sz="2200" dirty="0" smtClean="0">
                <a:latin typeface="Times New Roman" pitchFamily="18" charset="0"/>
                <a:cs typeface="Times New Roman" pitchFamily="18" charset="0"/>
              </a:rPr>
              <a:t>states. </a:t>
            </a:r>
            <a:r>
              <a:rPr lang="en-US" sz="2200" dirty="0">
                <a:latin typeface="Times New Roman" pitchFamily="18" charset="0"/>
                <a:cs typeface="Times New Roman" pitchFamily="18" charset="0"/>
              </a:rPr>
              <a:t>For example, map color is a nominal attribute that may have, say, five states: red, yellow, green, pink, and blue.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Let </a:t>
            </a:r>
            <a:r>
              <a:rPr lang="en-US" sz="2200" dirty="0">
                <a:latin typeface="Times New Roman" pitchFamily="18" charset="0"/>
                <a:cs typeface="Times New Roman" pitchFamily="18" charset="0"/>
              </a:rPr>
              <a:t>the number of states of a nominal attribute be M. The states can be denoted by letters, symbols, or a set of integers, such as 1, 2, , M.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68908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86800" cy="4832092"/>
          </a:xfrm>
          <a:prstGeom prst="rect">
            <a:avLst/>
          </a:prstGeom>
        </p:spPr>
        <p:txBody>
          <a:bodyPr wrap="square">
            <a:spAutoFit/>
          </a:bodyPr>
          <a:lstStyle/>
          <a:p>
            <a:pPr algn="just"/>
            <a:r>
              <a:rPr lang="en-US" sz="2200" dirty="0" smtClean="0">
                <a:latin typeface="Times New Roman" pitchFamily="18" charset="0"/>
                <a:cs typeface="Times New Roman" pitchFamily="18" charset="0"/>
              </a:rPr>
              <a:t>The dissimilarity between two objects </a:t>
            </a:r>
            <a:r>
              <a:rPr lang="en-US" sz="2200" dirty="0">
                <a:latin typeface="Times New Roman" pitchFamily="18" charset="0"/>
                <a:cs typeface="Times New Roman" pitchFamily="18" charset="0"/>
              </a:rPr>
              <a:t>i </a:t>
            </a:r>
            <a:r>
              <a:rPr lang="en-US" sz="2200" dirty="0" smtClean="0">
                <a:latin typeface="Times New Roman" pitchFamily="18" charset="0"/>
                <a:cs typeface="Times New Roman" pitchFamily="18" charset="0"/>
              </a:rPr>
              <a:t>and j can be computed based on the ratio of </a:t>
            </a:r>
            <a:r>
              <a:rPr lang="en-US" sz="2200" dirty="0">
                <a:latin typeface="Times New Roman" pitchFamily="18" charset="0"/>
                <a:cs typeface="Times New Roman" pitchFamily="18" charset="0"/>
              </a:rPr>
              <a:t>mismatches</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Where m is the number of matches and p is the total number of attributes describing the objects. </a:t>
            </a:r>
          </a:p>
          <a:p>
            <a:pPr algn="just"/>
            <a:endParaRPr lang="en-IN" sz="2200" dirty="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Note: Weights can be assigned to increase the effect of m.</a:t>
            </a:r>
          </a:p>
          <a:p>
            <a:pPr algn="just"/>
            <a:endParaRPr lang="en-US" sz="2200" dirty="0">
              <a:latin typeface="Times New Roman" pitchFamily="18" charset="0"/>
              <a:cs typeface="Times New Roman" pitchFamily="18" charset="0"/>
            </a:endParaRPr>
          </a:p>
          <a:p>
            <a:pPr algn="just"/>
            <a:r>
              <a:rPr lang="en-IN" sz="2200" b="1" dirty="0">
                <a:latin typeface="Times New Roman" pitchFamily="18" charset="0"/>
                <a:cs typeface="Times New Roman" pitchFamily="18" charset="0"/>
              </a:rPr>
              <a:t>Ex: </a:t>
            </a:r>
            <a:r>
              <a:rPr lang="en-IN" sz="2200" dirty="0">
                <a:latin typeface="Times New Roman" pitchFamily="18" charset="0"/>
                <a:cs typeface="Times New Roman" pitchFamily="18" charset="0"/>
              </a:rPr>
              <a:t>Dissimilarity between nominal attributes. Suppose that we have the sample data of Table </a:t>
            </a:r>
            <a:r>
              <a:rPr lang="en-IN" sz="2200" dirty="0" smtClean="0">
                <a:latin typeface="Times New Roman" pitchFamily="18" charset="0"/>
                <a:cs typeface="Times New Roman" pitchFamily="18" charset="0"/>
              </a:rPr>
              <a:t>2.2</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8563" y="838201"/>
            <a:ext cx="24336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81000" y="3733800"/>
            <a:ext cx="8534400" cy="430887"/>
          </a:xfrm>
          <a:prstGeom prst="rect">
            <a:avLst/>
          </a:prstGeom>
        </p:spPr>
        <p:txBody>
          <a:bodyPr wrap="square">
            <a:spAutoFit/>
          </a:bodyPr>
          <a:lstStyle/>
          <a:p>
            <a:pPr algn="just"/>
            <a:r>
              <a:rPr lang="en-IN" sz="2200" b="1" dirty="0" smtClean="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91836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200400"/>
            <a:ext cx="3124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2778" y="3200400"/>
            <a:ext cx="2029257"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3200401"/>
            <a:ext cx="1981200" cy="137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04800"/>
            <a:ext cx="70104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2400" y="4648200"/>
            <a:ext cx="8839200" cy="2123658"/>
          </a:xfrm>
          <a:prstGeom prst="rect">
            <a:avLst/>
          </a:prstGeom>
        </p:spPr>
        <p:txBody>
          <a:bodyPr wrap="square">
            <a:spAutoFit/>
          </a:bodyPr>
          <a:lstStyle/>
          <a:p>
            <a:pPr algn="just"/>
            <a:r>
              <a:rPr lang="en-US" sz="2200" dirty="0" smtClean="0">
                <a:latin typeface="Times New Roman" pitchFamily="18" charset="0"/>
                <a:cs typeface="Times New Roman" pitchFamily="18" charset="0"/>
              </a:rPr>
              <a:t>               (a)                                            (b)                                 ©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Since here we have one nominal attribute, test-1, we set </a:t>
            </a:r>
          </a:p>
          <a:p>
            <a:pPr algn="just"/>
            <a:r>
              <a:rPr lang="en-IN" sz="2200" dirty="0" smtClean="0">
                <a:latin typeface="Times New Roman" pitchFamily="18" charset="0"/>
                <a:cs typeface="Times New Roman" pitchFamily="18" charset="0"/>
              </a:rPr>
              <a:t>P = 1 so that d(</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 evaluates to 0 if objects I and j match, and 1 if the objects differ. Thus, we get (b)</a:t>
            </a:r>
          </a:p>
          <a:p>
            <a:pPr algn="just"/>
            <a:r>
              <a:rPr lang="en-IN" sz="2200" dirty="0" smtClean="0">
                <a:latin typeface="Times New Roman" pitchFamily="18" charset="0"/>
                <a:cs typeface="Times New Roman" pitchFamily="18" charset="0"/>
              </a:rPr>
              <a:t>From this, we see that all objects are dissimilar except objects 1 and 4 (</a:t>
            </a:r>
            <a:r>
              <a:rPr lang="en-IN" sz="2200" dirty="0" err="1" smtClean="0">
                <a:latin typeface="Times New Roman" pitchFamily="18" charset="0"/>
                <a:cs typeface="Times New Roman" pitchFamily="18" charset="0"/>
              </a:rPr>
              <a:t>i.e</a:t>
            </a:r>
            <a:r>
              <a:rPr lang="en-IN" sz="2200" dirty="0" err="1">
                <a:latin typeface="Times New Roman" pitchFamily="18" charset="0"/>
                <a:cs typeface="Times New Roman" pitchFamily="18" charset="0"/>
              </a:rPr>
              <a:t>.,</a:t>
            </a:r>
            <a:r>
              <a:rPr lang="en-IN" sz="2200" dirty="0" err="1" smtClean="0">
                <a:latin typeface="Times New Roman" pitchFamily="18" charset="0"/>
                <a:cs typeface="Times New Roman" pitchFamily="18" charset="0"/>
              </a:rPr>
              <a:t>d</a:t>
            </a:r>
            <a:r>
              <a:rPr lang="en-IN" sz="2200" dirty="0" smtClean="0">
                <a:latin typeface="Times New Roman" pitchFamily="18" charset="0"/>
                <a:cs typeface="Times New Roman" pitchFamily="18" charset="0"/>
              </a:rPr>
              <a:t>(4,1)= 0).</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242014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601"/>
            <a:ext cx="7086599" cy="114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1676400"/>
            <a:ext cx="8610600" cy="3139321"/>
          </a:xfrm>
          <a:prstGeom prst="rect">
            <a:avLst/>
          </a:prstGeom>
        </p:spPr>
        <p:txBody>
          <a:bodyPr wrap="square">
            <a:spAutoFit/>
          </a:bodyPr>
          <a:lstStyle/>
          <a:p>
            <a:pPr algn="just"/>
            <a:r>
              <a:rPr lang="en-US" sz="2200" dirty="0" smtClean="0">
                <a:latin typeface="Times New Roman" pitchFamily="18" charset="0"/>
                <a:cs typeface="Times New Roman" pitchFamily="18" charset="0"/>
              </a:rPr>
              <a:t>	Nominal </a:t>
            </a:r>
            <a:r>
              <a:rPr lang="en-US" sz="2200" dirty="0">
                <a:latin typeface="Times New Roman" pitchFamily="18" charset="0"/>
                <a:cs typeface="Times New Roman" pitchFamily="18" charset="0"/>
              </a:rPr>
              <a:t>attributes can be encoded using </a:t>
            </a:r>
            <a:r>
              <a:rPr lang="en-US" sz="2200" dirty="0">
                <a:solidFill>
                  <a:srgbClr val="00B050"/>
                </a:solidFill>
                <a:latin typeface="Times New Roman" pitchFamily="18" charset="0"/>
                <a:cs typeface="Times New Roman" pitchFamily="18" charset="0"/>
              </a:rPr>
              <a:t>asymmetric binary attributes</a:t>
            </a:r>
            <a:r>
              <a:rPr lang="en-US" sz="2200" dirty="0">
                <a:latin typeface="Times New Roman" pitchFamily="18" charset="0"/>
                <a:cs typeface="Times New Roman" pitchFamily="18" charset="0"/>
              </a:rPr>
              <a:t> by creating a new binary attribute for each of the M states. For an object with a given state value, </a:t>
            </a:r>
            <a:r>
              <a:rPr lang="en-US" sz="2200" dirty="0">
                <a:solidFill>
                  <a:srgbClr val="00B050"/>
                </a:solidFill>
                <a:latin typeface="Times New Roman" pitchFamily="18" charset="0"/>
                <a:cs typeface="Times New Roman" pitchFamily="18" charset="0"/>
              </a:rPr>
              <a:t>the binary attribute representing that state is set to 1, while the remaining binary attributes are set to 0</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a:t>
            </a:r>
            <a:r>
              <a:rPr lang="en-US" sz="2200" b="1" dirty="0" smtClean="0">
                <a:latin typeface="Times New Roman" pitchFamily="18" charset="0"/>
                <a:cs typeface="Times New Roman" pitchFamily="18" charset="0"/>
              </a:rPr>
              <a:t> Ex:</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a:t>
            </a:r>
            <a:r>
              <a:rPr lang="en-US" sz="2200" dirty="0" smtClean="0">
                <a:latin typeface="Times New Roman" pitchFamily="18" charset="0"/>
                <a:cs typeface="Times New Roman" pitchFamily="18" charset="0"/>
              </a:rPr>
              <a:t>o </a:t>
            </a:r>
            <a:r>
              <a:rPr lang="en-US" sz="2200" dirty="0">
                <a:latin typeface="Times New Roman" pitchFamily="18" charset="0"/>
                <a:cs typeface="Times New Roman" pitchFamily="18" charset="0"/>
              </a:rPr>
              <a:t>encode the nominal attribute map color, a binary attribute can be created for each of the five colors </a:t>
            </a:r>
            <a:r>
              <a:rPr lang="en-US" sz="2200" dirty="0" smtClean="0">
                <a:latin typeface="Times New Roman" pitchFamily="18" charset="0"/>
                <a:cs typeface="Times New Roman" pitchFamily="18" charset="0"/>
              </a:rPr>
              <a:t>previously </a:t>
            </a:r>
            <a:r>
              <a:rPr lang="en-US" sz="2200" dirty="0">
                <a:latin typeface="Times New Roman" pitchFamily="18" charset="0"/>
                <a:cs typeface="Times New Roman" pitchFamily="18" charset="0"/>
              </a:rPr>
              <a:t>listed. For an object having the color yellow, the yellow attribute is set to 1, while the remaining four attributes are set to 0.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12991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5940088"/>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Proximity Measures for Binary </a:t>
            </a:r>
            <a:r>
              <a:rPr lang="en-US" sz="2800" dirty="0" smtClean="0">
                <a:solidFill>
                  <a:srgbClr val="FF0000"/>
                </a:solidFill>
                <a:latin typeface="Times New Roman" pitchFamily="18" charset="0"/>
                <a:cs typeface="Times New Roman" pitchFamily="18" charset="0"/>
              </a:rPr>
              <a:t>Attributes: </a:t>
            </a:r>
          </a:p>
          <a:p>
            <a:pPr algn="just"/>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D</a:t>
            </a:r>
            <a:r>
              <a:rPr lang="en-US" sz="2200" dirty="0" smtClean="0">
                <a:latin typeface="Times New Roman" pitchFamily="18" charset="0"/>
                <a:cs typeface="Times New Roman" pitchFamily="18" charset="0"/>
              </a:rPr>
              <a:t>issimilarity </a:t>
            </a:r>
            <a:r>
              <a:rPr lang="en-US" sz="2200" dirty="0">
                <a:latin typeface="Times New Roman" pitchFamily="18" charset="0"/>
                <a:cs typeface="Times New Roman" pitchFamily="18" charset="0"/>
              </a:rPr>
              <a:t>and similarity measures for objects described by either symmetric or asymmetric binary attributes. </a:t>
            </a:r>
            <a:r>
              <a:rPr lang="en-US" sz="2200" dirty="0" smtClean="0">
                <a:latin typeface="Times New Roman" pitchFamily="18" charset="0"/>
                <a:cs typeface="Times New Roman" pitchFamily="18" charset="0"/>
              </a:rPr>
              <a:t>The binary </a:t>
            </a:r>
            <a:r>
              <a:rPr lang="en-US" sz="2200" dirty="0">
                <a:latin typeface="Times New Roman" pitchFamily="18" charset="0"/>
                <a:cs typeface="Times New Roman" pitchFamily="18" charset="0"/>
              </a:rPr>
              <a:t>attribute has only one of two states: 0 and 1, where 0 means that the attribute is absent, and 1 means that it is </a:t>
            </a:r>
            <a:r>
              <a:rPr lang="en-US" sz="2200" dirty="0" smtClean="0">
                <a:latin typeface="Times New Roman" pitchFamily="18" charset="0"/>
                <a:cs typeface="Times New Roman" pitchFamily="18" charset="0"/>
              </a:rPr>
              <a:t>present.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Given </a:t>
            </a:r>
            <a:r>
              <a:rPr lang="en-US" sz="2200" dirty="0">
                <a:latin typeface="Times New Roman" pitchFamily="18" charset="0"/>
                <a:cs typeface="Times New Roman" pitchFamily="18" charset="0"/>
              </a:rPr>
              <a:t>the attribute smoker describing a </a:t>
            </a:r>
            <a:r>
              <a:rPr lang="en-US" sz="2200" dirty="0" smtClean="0">
                <a:latin typeface="Times New Roman" pitchFamily="18" charset="0"/>
                <a:cs typeface="Times New Roman" pitchFamily="18" charset="0"/>
              </a:rPr>
              <a:t>patient: 1 </a:t>
            </a:r>
            <a:r>
              <a:rPr lang="en-US" sz="2200" dirty="0">
                <a:latin typeface="Times New Roman" pitchFamily="18" charset="0"/>
                <a:cs typeface="Times New Roman" pitchFamily="18" charset="0"/>
              </a:rPr>
              <a:t>indicates that the patient smokes, while 0 indicates that the patient does not.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A</a:t>
            </a:r>
            <a:r>
              <a:rPr lang="en-US" sz="2200" dirty="0" smtClean="0">
                <a:solidFill>
                  <a:srgbClr val="00B050"/>
                </a:solidFill>
                <a:latin typeface="Times New Roman" pitchFamily="18" charset="0"/>
                <a:cs typeface="Times New Roman" pitchFamily="18" charset="0"/>
              </a:rPr>
              <a:t>pproach for computing a dissimilarity matrix from the given binary data:</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If all binary attributes are thought of as having the same weight, we have the 2X2 contingency table of Table 2.3: </a:t>
            </a:r>
          </a:p>
          <a:p>
            <a:pPr algn="just"/>
            <a:r>
              <a:rPr lang="en-US" sz="2200" dirty="0" smtClean="0">
                <a:latin typeface="Times New Roman" pitchFamily="18" charset="0"/>
                <a:cs typeface="Times New Roman" pitchFamily="18" charset="0"/>
              </a:rPr>
              <a:t>where q is the number of attributes that equal 1 for both objects i and j, </a:t>
            </a:r>
          </a:p>
          <a:p>
            <a:pPr algn="just"/>
            <a:r>
              <a:rPr lang="en-US" sz="2200" dirty="0" smtClean="0">
                <a:latin typeface="Times New Roman" pitchFamily="18" charset="0"/>
                <a:cs typeface="Times New Roman" pitchFamily="18" charset="0"/>
              </a:rPr>
              <a:t>r is the number of attributes that equal 1 for object i but equal 0 for object j, s is the number of attributes that equal 0 for object i but equal 1 for object j, and t is the number of attributes that equal 0 for both objects i and j.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The total number of attributes is p,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where p = </a:t>
            </a:r>
            <a:r>
              <a:rPr lang="en-US" sz="2200" dirty="0" err="1" smtClean="0">
                <a:latin typeface="Times New Roman" pitchFamily="18" charset="0"/>
                <a:cs typeface="Times New Roman" pitchFamily="18" charset="0"/>
              </a:rPr>
              <a:t>q+r+s+t</a:t>
            </a:r>
            <a:r>
              <a:rPr lang="en-US" sz="2200" dirty="0" smtClean="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11507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
            <a:ext cx="6781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2400" y="2209800"/>
            <a:ext cx="8839200" cy="4647426"/>
          </a:xfrm>
          <a:prstGeom prst="rect">
            <a:avLst/>
          </a:prstGeom>
        </p:spPr>
        <p:txBody>
          <a:bodyPr wrap="square">
            <a:spAutoFit/>
          </a:bodyPr>
          <a:lstStyle/>
          <a:p>
            <a:pPr algn="just"/>
            <a:r>
              <a:rPr lang="en-US" sz="2200" dirty="0" smtClean="0">
                <a:latin typeface="Times New Roman" pitchFamily="18" charset="0"/>
                <a:cs typeface="Times New Roman" pitchFamily="18" charset="0"/>
              </a:rPr>
              <a:t>	Dissimilarity </a:t>
            </a:r>
            <a:r>
              <a:rPr lang="en-US" sz="2200" dirty="0">
                <a:latin typeface="Times New Roman" pitchFamily="18" charset="0"/>
                <a:cs typeface="Times New Roman" pitchFamily="18" charset="0"/>
              </a:rPr>
              <a:t>that is based on symmetric binary attributes is called </a:t>
            </a:r>
            <a:r>
              <a:rPr lang="en-US" sz="2200" dirty="0">
                <a:solidFill>
                  <a:srgbClr val="00B050"/>
                </a:solidFill>
                <a:latin typeface="Times New Roman" pitchFamily="18" charset="0"/>
                <a:cs typeface="Times New Roman" pitchFamily="18" charset="0"/>
              </a:rPr>
              <a:t>symmetric binary dissimilarity</a:t>
            </a:r>
            <a:r>
              <a:rPr lang="en-US" sz="2200" dirty="0">
                <a:latin typeface="Times New Roman" pitchFamily="18" charset="0"/>
                <a:cs typeface="Times New Roman" pitchFamily="18" charset="0"/>
              </a:rPr>
              <a:t>. If objects i and j are described by symmetric binary attributes, then </a:t>
            </a:r>
            <a:r>
              <a:rPr lang="en-US" sz="2200" dirty="0" smtClean="0">
                <a:latin typeface="Times New Roman" pitchFamily="18" charset="0"/>
                <a:cs typeface="Times New Roman" pitchFamily="18" charset="0"/>
              </a:rPr>
              <a:t>the </a:t>
            </a:r>
            <a:r>
              <a:rPr lang="en-IN" sz="2200" dirty="0" smtClean="0">
                <a:latin typeface="Times New Roman" pitchFamily="18" charset="0"/>
                <a:cs typeface="Times New Roman" pitchFamily="18" charset="0"/>
              </a:rPr>
              <a:t>dissimilarity between i and j is: </a:t>
            </a:r>
          </a:p>
          <a:p>
            <a:endParaRPr lang="en-US" dirty="0"/>
          </a:p>
          <a:p>
            <a:endParaRPr lang="en-US" dirty="0" smtClean="0"/>
          </a:p>
          <a:p>
            <a:endParaRPr lang="en-US" dirty="0" smtClean="0"/>
          </a:p>
          <a:p>
            <a:pPr algn="just"/>
            <a:r>
              <a:rPr lang="en-IN" sz="2200" dirty="0" smtClean="0">
                <a:latin typeface="Times New Roman" pitchFamily="18" charset="0"/>
                <a:cs typeface="Times New Roman" pitchFamily="18" charset="0"/>
              </a:rPr>
              <a:t>	For asymmetric binary attributes</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the two states are not equally important, such as the positive(1) and negative(0) outcomes of a disease test. Given two asymmetric binary </a:t>
            </a:r>
            <a:r>
              <a:rPr lang="en-IN" sz="2200" dirty="0">
                <a:latin typeface="Times New Roman" pitchFamily="18" charset="0"/>
                <a:cs typeface="Times New Roman" pitchFamily="18" charset="0"/>
              </a:rPr>
              <a:t>attributes, </a:t>
            </a:r>
            <a:r>
              <a:rPr lang="en-IN" sz="2200" dirty="0" smtClean="0">
                <a:latin typeface="Times New Roman" pitchFamily="18" charset="0"/>
                <a:cs typeface="Times New Roman" pitchFamily="18" charset="0"/>
              </a:rPr>
              <a:t>the agreement of two 1s(a positive match) is then considered more significant than that of two 0s(a negative match). There fore, such binary attributes are often considered “</a:t>
            </a:r>
            <a:r>
              <a:rPr lang="en-IN" sz="2200" dirty="0" err="1">
                <a:latin typeface="Times New Roman" pitchFamily="18" charset="0"/>
                <a:cs typeface="Times New Roman" pitchFamily="18" charset="0"/>
              </a:rPr>
              <a:t>monary</a:t>
            </a:r>
            <a:r>
              <a:rPr lang="en-IN" sz="2200" dirty="0" smtClean="0">
                <a:latin typeface="Times New Roman" pitchFamily="18" charset="0"/>
                <a:cs typeface="Times New Roman" pitchFamily="18" charset="0"/>
              </a:rPr>
              <a:t>” (having one state). The dissimilarity based on these attributes is called asymmetric binary dissimilarity, where the number of negative matches</a:t>
            </a:r>
            <a:r>
              <a:rPr lang="en-IN" sz="2200" dirty="0">
                <a:latin typeface="Times New Roman" pitchFamily="18" charset="0"/>
                <a:cs typeface="Times New Roman" pitchFamily="18" charset="0"/>
              </a:rPr>
              <a:t>, t, is </a:t>
            </a:r>
            <a:r>
              <a:rPr lang="en-IN" sz="2200" dirty="0" smtClean="0">
                <a:latin typeface="Times New Roman" pitchFamily="18" charset="0"/>
                <a:cs typeface="Times New Roman" pitchFamily="18" charset="0"/>
              </a:rPr>
              <a:t>considered unimportant and is thus ignored the computation as above:</a:t>
            </a:r>
            <a:endParaRPr lang="en-US" sz="2200" dirty="0" smtClean="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276600"/>
            <a:ext cx="3733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276600"/>
            <a:ext cx="3124200" cy="72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8750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6186309"/>
          </a:xfrm>
          <a:prstGeom prst="rect">
            <a:avLst/>
          </a:prstGeom>
        </p:spPr>
        <p:txBody>
          <a:bodyPr wrap="square">
            <a:spAutoFit/>
          </a:bodyPr>
          <a:lstStyle/>
          <a:p>
            <a:pPr algn="just"/>
            <a:r>
              <a:rPr lang="en-IN" sz="2200" dirty="0" smtClean="0">
                <a:latin typeface="Times New Roman" pitchFamily="18" charset="0"/>
                <a:cs typeface="Times New Roman" pitchFamily="18" charset="0"/>
              </a:rPr>
              <a:t>	Complementarily, we can measure the difference between two binary attributes based on the notion of similarity instead of dissimilarity. </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 coefficient </a:t>
            </a:r>
            <a:r>
              <a:rPr lang="en-IN" sz="2200" dirty="0" err="1" smtClean="0">
                <a:latin typeface="Times New Roman" pitchFamily="18" charset="0"/>
                <a:cs typeface="Times New Roman" pitchFamily="18" charset="0"/>
              </a:rPr>
              <a:t>sim</a:t>
            </a:r>
            <a:r>
              <a:rPr lang="en-IN" sz="2200" dirty="0" smtClean="0">
                <a:latin typeface="Times New Roman" pitchFamily="18" charset="0"/>
                <a:cs typeface="Times New Roman" pitchFamily="18" charset="0"/>
              </a:rPr>
              <a:t>(</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  is called the </a:t>
            </a:r>
            <a:r>
              <a:rPr lang="en-IN" sz="2200" b="1" dirty="0" err="1" smtClean="0">
                <a:latin typeface="Times New Roman" pitchFamily="18" charset="0"/>
                <a:cs typeface="Times New Roman" pitchFamily="18" charset="0"/>
              </a:rPr>
              <a:t>Jaccard</a:t>
            </a:r>
            <a:r>
              <a:rPr lang="en-IN" sz="2200" b="1" dirty="0" smtClean="0">
                <a:latin typeface="Times New Roman" pitchFamily="18" charset="0"/>
                <a:cs typeface="Times New Roman" pitchFamily="18" charset="0"/>
              </a:rPr>
              <a:t> coefficient.</a:t>
            </a:r>
          </a:p>
          <a:p>
            <a:pPr algn="just"/>
            <a:endParaRPr lang="en-IN" sz="2200" b="1"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a:t>
            </a:r>
            <a:r>
              <a:rPr lang="en-IN" sz="2200" b="1" dirty="0" smtClean="0">
                <a:solidFill>
                  <a:srgbClr val="00B050"/>
                </a:solidFill>
                <a:latin typeface="Times New Roman" pitchFamily="18" charset="0"/>
                <a:cs typeface="Times New Roman" pitchFamily="18" charset="0"/>
              </a:rPr>
              <a:t>Ex: Dissimilarity between binary attributes</a:t>
            </a:r>
            <a:r>
              <a:rPr lang="en-IN" sz="2200" dirty="0" smtClean="0">
                <a:latin typeface="Times New Roman" pitchFamily="18" charset="0"/>
                <a:cs typeface="Times New Roman" pitchFamily="18" charset="0"/>
              </a:rPr>
              <a:t>. Suppose that a patient record table(Table2.4</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contains the attributes name, gender</a:t>
            </a:r>
            <a:r>
              <a:rPr lang="en-IN" sz="2200" dirty="0">
                <a:latin typeface="Times New Roman" pitchFamily="18" charset="0"/>
                <a:cs typeface="Times New Roman" pitchFamily="18" charset="0"/>
              </a:rPr>
              <a:t>, fever</a:t>
            </a:r>
            <a:r>
              <a:rPr lang="en-IN" sz="2200" dirty="0" smtClean="0">
                <a:latin typeface="Times New Roman" pitchFamily="18" charset="0"/>
                <a:cs typeface="Times New Roman" pitchFamily="18" charset="0"/>
              </a:rPr>
              <a:t>, cough, test-1, test-2, test-3, and test-4, where name is an object identifier, gender is a symmetric attribute, and the remaining attributes are asymmetric binary</a:t>
            </a:r>
            <a:r>
              <a:rPr lang="en-IN" sz="2200" dirty="0">
                <a:latin typeface="Times New Roman" pitchFamily="18" charset="0"/>
                <a:cs typeface="Times New Roman" pitchFamily="18" charset="0"/>
              </a:rPr>
              <a:t>.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For asymmetric attribute values</a:t>
            </a:r>
            <a:r>
              <a:rPr lang="en-IN" sz="2200" dirty="0">
                <a:latin typeface="Times New Roman" pitchFamily="18" charset="0"/>
                <a:cs typeface="Times New Roman" pitchFamily="18" charset="0"/>
              </a:rPr>
              <a:t>, let </a:t>
            </a:r>
            <a:r>
              <a:rPr lang="en-IN" sz="2200" dirty="0" smtClean="0">
                <a:latin typeface="Times New Roman" pitchFamily="18" charset="0"/>
                <a:cs typeface="Times New Roman" pitchFamily="18" charset="0"/>
              </a:rPr>
              <a:t>the values Y(yes) and P(positive) be set to 1</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and the value N (no or negative)be set to 0. Suppose that the distance be tween objects</a:t>
            </a:r>
            <a:r>
              <a:rPr lang="en-IN" sz="2200" b="1"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is computed based only </a:t>
            </a:r>
            <a:r>
              <a:rPr lang="en-US" sz="2200" dirty="0" smtClean="0">
                <a:latin typeface="Times New Roman" pitchFamily="18" charset="0"/>
                <a:cs typeface="Times New Roman" pitchFamily="18" charset="0"/>
              </a:rPr>
              <a:t>on the asymmetric attributes</a:t>
            </a:r>
            <a:r>
              <a:rPr lang="en-US" sz="2200" dirty="0">
                <a:latin typeface="Times New Roman" pitchFamily="18" charset="0"/>
                <a:cs typeface="Times New Roman" pitchFamily="18" charset="0"/>
              </a:rPr>
              <a:t>. According to Eq. (2.14), the distance between each pair of the three </a:t>
            </a:r>
            <a:r>
              <a:rPr lang="en-US" sz="2200" dirty="0" smtClean="0">
                <a:latin typeface="Times New Roman" pitchFamily="18" charset="0"/>
                <a:cs typeface="Times New Roman" pitchFamily="18" charset="0"/>
              </a:rPr>
              <a:t>patients—Jack</a:t>
            </a:r>
            <a:r>
              <a:rPr lang="en-US" sz="2200" dirty="0">
                <a:latin typeface="Times New Roman" pitchFamily="18" charset="0"/>
                <a:cs typeface="Times New Roman" pitchFamily="18" charset="0"/>
              </a:rPr>
              <a:t>, Mary, and Jim—is</a:t>
            </a:r>
            <a:endParaRPr lang="en-IN" sz="2200"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914400"/>
            <a:ext cx="437803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7493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400"/>
            <a:ext cx="8610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6642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236" y="3352800"/>
            <a:ext cx="6975764"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5181600"/>
            <a:ext cx="8305800" cy="1446550"/>
          </a:xfrm>
          <a:prstGeom prst="rect">
            <a:avLst/>
          </a:prstGeom>
        </p:spPr>
        <p:txBody>
          <a:bodyPr wrap="square">
            <a:spAutoFit/>
          </a:bodyPr>
          <a:lstStyle/>
          <a:p>
            <a:pPr algn="just"/>
            <a:r>
              <a:rPr lang="en-US" sz="2200" dirty="0" smtClean="0">
                <a:latin typeface="Times New Roman" pitchFamily="18" charset="0"/>
                <a:cs typeface="Times New Roman" pitchFamily="18" charset="0"/>
              </a:rPr>
              <a:t>	These </a:t>
            </a:r>
            <a:r>
              <a:rPr lang="en-US" sz="2200" dirty="0">
                <a:latin typeface="Times New Roman" pitchFamily="18" charset="0"/>
                <a:cs typeface="Times New Roman" pitchFamily="18" charset="0"/>
              </a:rPr>
              <a:t>measurements suggest that Jim and Mary are unlikely to have a similar disease because they have the highest dissimilarity value among the three pairs. </a:t>
            </a:r>
            <a:r>
              <a:rPr lang="en-US" sz="2200" dirty="0" smtClean="0">
                <a:latin typeface="Times New Roman" pitchFamily="18" charset="0"/>
                <a:cs typeface="Times New Roman" pitchFamily="18" charset="0"/>
              </a:rPr>
              <a:t>From </a:t>
            </a:r>
            <a:r>
              <a:rPr lang="en-US" sz="2200" dirty="0">
                <a:latin typeface="Times New Roman" pitchFamily="18" charset="0"/>
                <a:cs typeface="Times New Roman" pitchFamily="18" charset="0"/>
              </a:rPr>
              <a:t>the three </a:t>
            </a:r>
            <a:r>
              <a:rPr lang="en-US" sz="2200" dirty="0" smtClean="0">
                <a:latin typeface="Times New Roman" pitchFamily="18" charset="0"/>
                <a:cs typeface="Times New Roman" pitchFamily="18" charset="0"/>
              </a:rPr>
              <a:t>patients: </a:t>
            </a:r>
            <a:r>
              <a:rPr lang="en-US" sz="2200" dirty="0">
                <a:latin typeface="Times New Roman" pitchFamily="18" charset="0"/>
                <a:cs typeface="Times New Roman" pitchFamily="18" charset="0"/>
              </a:rPr>
              <a:t>Jack and Mary are the most likely to have a similar disease.</a:t>
            </a:r>
            <a:endParaRPr lang="en-IN"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52400"/>
            <a:ext cx="86106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2843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1"/>
            <a:ext cx="8686800" cy="5232202"/>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Dissimilarity of Numeric Data: </a:t>
            </a:r>
            <a:r>
              <a:rPr lang="en-US" sz="2400" dirty="0" err="1">
                <a:solidFill>
                  <a:srgbClr val="FF0000"/>
                </a:solidFill>
                <a:latin typeface="Times New Roman" pitchFamily="18" charset="0"/>
                <a:cs typeface="Times New Roman" pitchFamily="18" charset="0"/>
              </a:rPr>
              <a:t>Minkowski</a:t>
            </a:r>
            <a:r>
              <a:rPr lang="en-US" sz="2400" dirty="0">
                <a:solidFill>
                  <a:srgbClr val="FF0000"/>
                </a:solidFill>
                <a:latin typeface="Times New Roman" pitchFamily="18" charset="0"/>
                <a:cs typeface="Times New Roman" pitchFamily="18" charset="0"/>
              </a:rPr>
              <a:t> </a:t>
            </a:r>
            <a:r>
              <a:rPr lang="en-US" sz="2400" dirty="0" smtClean="0">
                <a:solidFill>
                  <a:srgbClr val="FF0000"/>
                </a:solidFill>
                <a:latin typeface="Times New Roman" pitchFamily="18" charset="0"/>
                <a:cs typeface="Times New Roman" pitchFamily="18" charset="0"/>
              </a:rPr>
              <a:t>Distance</a:t>
            </a:r>
          </a:p>
          <a:p>
            <a:pPr algn="just"/>
            <a:r>
              <a:rPr lang="en-US" sz="2200" dirty="0" smtClean="0">
                <a:latin typeface="Times New Roman" pitchFamily="18" charset="0"/>
                <a:cs typeface="Times New Roman" pitchFamily="18" charset="0"/>
              </a:rPr>
              <a:t>	Different measures </a:t>
            </a:r>
            <a:r>
              <a:rPr lang="en-US" sz="2200" dirty="0">
                <a:latin typeface="Times New Roman" pitchFamily="18" charset="0"/>
                <a:cs typeface="Times New Roman" pitchFamily="18" charset="0"/>
              </a:rPr>
              <a:t>that are commonly used for computing the dissimilarity of objects described by numeric attributes. These measures include the </a:t>
            </a:r>
            <a:r>
              <a:rPr lang="en-US" sz="2200" dirty="0">
                <a:solidFill>
                  <a:srgbClr val="0070C0"/>
                </a:solidFill>
                <a:latin typeface="Times New Roman" pitchFamily="18" charset="0"/>
                <a:cs typeface="Times New Roman" pitchFamily="18" charset="0"/>
              </a:rPr>
              <a:t>Euclidean, Manhattan, and </a:t>
            </a:r>
            <a:r>
              <a:rPr lang="en-US" sz="2200" dirty="0" err="1">
                <a:solidFill>
                  <a:srgbClr val="0070C0"/>
                </a:solidFill>
                <a:latin typeface="Times New Roman" pitchFamily="18" charset="0"/>
                <a:cs typeface="Times New Roman" pitchFamily="18" charset="0"/>
              </a:rPr>
              <a:t>Minkowski</a:t>
            </a:r>
            <a:r>
              <a:rPr lang="en-US" sz="2200" dirty="0">
                <a:solidFill>
                  <a:srgbClr val="0070C0"/>
                </a:solidFill>
                <a:latin typeface="Times New Roman" pitchFamily="18" charset="0"/>
                <a:cs typeface="Times New Roman" pitchFamily="18" charset="0"/>
              </a:rPr>
              <a:t> distances</a:t>
            </a:r>
            <a:r>
              <a:rPr lang="en-US" sz="2200" dirty="0" smtClean="0">
                <a:solidFill>
                  <a:srgbClr val="0070C0"/>
                </a:solidFill>
                <a:latin typeface="Times New Roman" pitchFamily="18" charset="0"/>
                <a:cs typeface="Times New Roman" pitchFamily="18" charset="0"/>
              </a:rPr>
              <a:t>.</a:t>
            </a:r>
          </a:p>
          <a:p>
            <a:pPr algn="just"/>
            <a:r>
              <a:rPr lang="en-US" sz="2800" dirty="0">
                <a:solidFill>
                  <a:srgbClr val="00B050"/>
                </a:solidFill>
                <a:latin typeface="Times New Roman" pitchFamily="18" charset="0"/>
                <a:cs typeface="Times New Roman" pitchFamily="18" charset="0"/>
              </a:rPr>
              <a:t>Euclidean </a:t>
            </a:r>
            <a:r>
              <a:rPr lang="en-US" sz="2800" dirty="0" smtClean="0">
                <a:solidFill>
                  <a:srgbClr val="00B050"/>
                </a:solidFill>
                <a:latin typeface="Times New Roman" pitchFamily="18" charset="0"/>
                <a:cs typeface="Times New Roman" pitchFamily="18" charset="0"/>
              </a:rPr>
              <a:t>distance:</a:t>
            </a:r>
          </a:p>
          <a:p>
            <a:pPr algn="just"/>
            <a:r>
              <a:rPr lang="en-US" sz="2200" dirty="0" smtClean="0">
                <a:latin typeface="Times New Roman" pitchFamily="18" charset="0"/>
                <a:cs typeface="Times New Roman" pitchFamily="18" charset="0"/>
              </a:rPr>
              <a:t>	Let i=(x</a:t>
            </a:r>
            <a:r>
              <a:rPr lang="en-US" sz="2200" baseline="-25000" dirty="0" smtClean="0">
                <a:latin typeface="Times New Roman" pitchFamily="18" charset="0"/>
                <a:cs typeface="Times New Roman" pitchFamily="18" charset="0"/>
              </a:rPr>
              <a:t>i1</a:t>
            </a:r>
            <a:r>
              <a:rPr lang="en-US" sz="2200" dirty="0">
                <a:latin typeface="Times New Roman" pitchFamily="18" charset="0"/>
                <a:cs typeface="Times New Roman" pitchFamily="18" charset="0"/>
              </a:rPr>
              <a:t>, x</a:t>
            </a:r>
            <a:r>
              <a:rPr lang="en-US" sz="2200" baseline="-25000" dirty="0">
                <a:latin typeface="Times New Roman" pitchFamily="18" charset="0"/>
                <a:cs typeface="Times New Roman" pitchFamily="18" charset="0"/>
              </a:rPr>
              <a:t>i2</a:t>
            </a:r>
            <a:r>
              <a:rPr lang="en-US" sz="2200" dirty="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x</a:t>
            </a:r>
            <a:r>
              <a:rPr lang="en-US" sz="2200" baseline="-25000" dirty="0" err="1" smtClean="0">
                <a:latin typeface="Times New Roman" pitchFamily="18" charset="0"/>
                <a:cs typeface="Times New Roman" pitchFamily="18" charset="0"/>
              </a:rPr>
              <a:t>ip</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and </a:t>
            </a:r>
            <a:r>
              <a:rPr lang="en-US" sz="2200" dirty="0" smtClean="0">
                <a:latin typeface="Times New Roman" pitchFamily="18" charset="0"/>
                <a:cs typeface="Times New Roman" pitchFamily="18" charset="0"/>
              </a:rPr>
              <a:t>j=(x</a:t>
            </a:r>
            <a:r>
              <a:rPr lang="en-US" sz="2200" baseline="-25000" dirty="0" smtClean="0">
                <a:latin typeface="Times New Roman" pitchFamily="18" charset="0"/>
                <a:cs typeface="Times New Roman" pitchFamily="18" charset="0"/>
              </a:rPr>
              <a:t>j1</a:t>
            </a:r>
            <a:r>
              <a:rPr lang="en-US" sz="2200" dirty="0">
                <a:latin typeface="Times New Roman" pitchFamily="18" charset="0"/>
                <a:cs typeface="Times New Roman" pitchFamily="18" charset="0"/>
              </a:rPr>
              <a:t>, x</a:t>
            </a:r>
            <a:r>
              <a:rPr lang="en-US" sz="2200" baseline="-25000" dirty="0">
                <a:latin typeface="Times New Roman" pitchFamily="18" charset="0"/>
                <a:cs typeface="Times New Roman" pitchFamily="18" charset="0"/>
              </a:rPr>
              <a:t>j2</a:t>
            </a:r>
            <a:r>
              <a:rPr lang="en-US" sz="2200" dirty="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x</a:t>
            </a:r>
            <a:r>
              <a:rPr lang="en-US" sz="2200" baseline="-25000" dirty="0" err="1" smtClean="0">
                <a:latin typeface="Times New Roman" pitchFamily="18" charset="0"/>
                <a:cs typeface="Times New Roman" pitchFamily="18" charset="0"/>
              </a:rPr>
              <a:t>jp</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be two objects described by p numeric attributes. The Euclidean distance between objects i and j is defined </a:t>
            </a:r>
            <a:r>
              <a:rPr lang="en-US" sz="2200" dirty="0" smtClean="0">
                <a:latin typeface="Times New Roman" pitchFamily="18" charset="0"/>
                <a:cs typeface="Times New Roman" pitchFamily="18" charset="0"/>
              </a:rPr>
              <a:t>as:</a:t>
            </a:r>
          </a:p>
          <a:p>
            <a:pPr algn="just"/>
            <a:endParaRPr lang="en-US" sz="2200" dirty="0">
              <a:solidFill>
                <a:srgbClr val="FF0000"/>
              </a:solidFill>
              <a:latin typeface="Times New Roman" pitchFamily="18" charset="0"/>
              <a:cs typeface="Times New Roman" pitchFamily="18" charset="0"/>
            </a:endParaRPr>
          </a:p>
          <a:p>
            <a:pPr algn="just"/>
            <a:endParaRPr lang="en-US" sz="2200" dirty="0" smtClean="0">
              <a:solidFill>
                <a:srgbClr val="FF0000"/>
              </a:solidFill>
              <a:latin typeface="Times New Roman" pitchFamily="18" charset="0"/>
              <a:cs typeface="Times New Roman" pitchFamily="18" charset="0"/>
            </a:endParaRPr>
          </a:p>
          <a:p>
            <a:pPr algn="just"/>
            <a:r>
              <a:rPr lang="en-US" sz="2800" dirty="0">
                <a:solidFill>
                  <a:srgbClr val="00B050"/>
                </a:solidFill>
                <a:latin typeface="Times New Roman" pitchFamily="18" charset="0"/>
                <a:cs typeface="Times New Roman" pitchFamily="18" charset="0"/>
              </a:rPr>
              <a:t>Manhattan (or city block) </a:t>
            </a:r>
            <a:r>
              <a:rPr lang="en-US" sz="2800" dirty="0" smtClean="0">
                <a:solidFill>
                  <a:srgbClr val="00B050"/>
                </a:solidFill>
                <a:latin typeface="Times New Roman" pitchFamily="18" charset="0"/>
                <a:cs typeface="Times New Roman" pitchFamily="18" charset="0"/>
              </a:rPr>
              <a:t>distance:</a:t>
            </a:r>
          </a:p>
          <a:p>
            <a:pPr algn="just"/>
            <a:endParaRPr lang="en-US" sz="2800" dirty="0">
              <a:solidFill>
                <a:srgbClr val="00B050"/>
              </a:solidFill>
              <a:latin typeface="Times New Roman" pitchFamily="18" charset="0"/>
              <a:cs typeface="Times New Roman" pitchFamily="18" charset="0"/>
            </a:endParaRPr>
          </a:p>
          <a:p>
            <a:pPr algn="just"/>
            <a:endParaRPr lang="en-US" sz="2800" dirty="0" smtClean="0">
              <a:solidFill>
                <a:srgbClr val="00B05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endParaRPr lang="en-IN" sz="2200" dirty="0">
              <a:solidFill>
                <a:srgbClr val="00B050"/>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819400"/>
            <a:ext cx="6553200"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114800"/>
            <a:ext cx="7086600" cy="77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9743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606760272"/>
              </p:ext>
            </p:extLst>
          </p:nvPr>
        </p:nvGraphicFramePr>
        <p:xfrm>
          <a:off x="2133600" y="1752600"/>
          <a:ext cx="4966549" cy="2286000"/>
        </p:xfrm>
        <a:graphic>
          <a:graphicData uri="http://schemas.openxmlformats.org/presentationml/2006/ole">
            <mc:AlternateContent xmlns:mc="http://schemas.openxmlformats.org/markup-compatibility/2006">
              <mc:Choice xmlns:v="urn:schemas-microsoft-com:vml" Requires="v">
                <p:oleObj spid="_x0000_s4102" name="Worksheet" r:id="rId3" imgW="2169000" imgH="936720" progId="">
                  <p:embed/>
                </p:oleObj>
              </mc:Choice>
              <mc:Fallback>
                <p:oleObj name="Worksheet" r:id="rId3" imgW="2169000" imgH="9367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752600"/>
                        <a:ext cx="4966549" cy="2286000"/>
                      </a:xfrm>
                      <a:prstGeom prst="rect">
                        <a:avLst/>
                      </a:prstGeom>
                      <a:noFill/>
                      <a:ln>
                        <a:noFill/>
                      </a:ln>
                      <a:effectLst/>
                    </p:spPr>
                  </p:pic>
                </p:oleObj>
              </mc:Fallback>
            </mc:AlternateContent>
          </a:graphicData>
        </a:graphic>
      </p:graphicFrame>
      <p:sp>
        <p:nvSpPr>
          <p:cNvPr id="3" name="Rectangle 2"/>
          <p:cNvSpPr/>
          <p:nvPr/>
        </p:nvSpPr>
        <p:spPr>
          <a:xfrm>
            <a:off x="914400" y="152400"/>
            <a:ext cx="7619999" cy="461665"/>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Euclidean </a:t>
            </a:r>
            <a:r>
              <a:rPr lang="en-US" sz="2400" dirty="0" smtClean="0">
                <a:solidFill>
                  <a:srgbClr val="FF0000"/>
                </a:solidFill>
                <a:latin typeface="Times New Roman" pitchFamily="18" charset="0"/>
                <a:cs typeface="Times New Roman" pitchFamily="18" charset="0"/>
              </a:rPr>
              <a:t>Distance:</a:t>
            </a:r>
            <a:endParaRPr lang="en-IN" sz="24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939981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nvGraphicFramePr>
        <p:xfrm>
          <a:off x="228600" y="1143000"/>
          <a:ext cx="4378325" cy="3197225"/>
        </p:xfrm>
        <a:graphic>
          <a:graphicData uri="http://schemas.openxmlformats.org/presentationml/2006/ole">
            <mc:AlternateContent xmlns:mc="http://schemas.openxmlformats.org/markup-compatibility/2006">
              <mc:Choice xmlns:v="urn:schemas-microsoft-com:vml" Requires="v">
                <p:oleObj spid="_x0000_s1072" name="VISIO" r:id="rId3" imgW="22698075" imgH="16602075" progId="">
                  <p:embed/>
                </p:oleObj>
              </mc:Choice>
              <mc:Fallback>
                <p:oleObj name="VISIO" r:id="rId3" imgW="22698075" imgH="16602075"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143000"/>
                        <a:ext cx="4378325"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Object 2"/>
          <p:cNvGraphicFramePr>
            <a:graphicFrameLocks noChangeAspect="1"/>
          </p:cNvGraphicFramePr>
          <p:nvPr/>
        </p:nvGraphicFramePr>
        <p:xfrm>
          <a:off x="4862513" y="1674813"/>
          <a:ext cx="3976687" cy="1830387"/>
        </p:xfrm>
        <a:graphic>
          <a:graphicData uri="http://schemas.openxmlformats.org/presentationml/2006/ole">
            <mc:AlternateContent xmlns:mc="http://schemas.openxmlformats.org/markup-compatibility/2006">
              <mc:Choice xmlns:v="urn:schemas-microsoft-com:vml" Requires="v">
                <p:oleObj spid="_x0000_s1073" name="Worksheet" r:id="rId5" imgW="2169000" imgH="936720" progId="">
                  <p:embed/>
                </p:oleObj>
              </mc:Choice>
              <mc:Fallback>
                <p:oleObj name="Worksheet" r:id="rId5" imgW="2169000" imgH="93672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2513" y="1674813"/>
                        <a:ext cx="3976687" cy="183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882220856"/>
              </p:ext>
            </p:extLst>
          </p:nvPr>
        </p:nvGraphicFramePr>
        <p:xfrm>
          <a:off x="1371600" y="4114800"/>
          <a:ext cx="6599238" cy="1828800"/>
        </p:xfrm>
        <a:graphic>
          <a:graphicData uri="http://schemas.openxmlformats.org/presentationml/2006/ole">
            <mc:AlternateContent xmlns:mc="http://schemas.openxmlformats.org/markup-compatibility/2006">
              <mc:Choice xmlns:v="urn:schemas-microsoft-com:vml" Requires="v">
                <p:oleObj spid="_x0000_s1074" name="Worksheet" r:id="rId7" imgW="3609000" imgH="936720" progId="">
                  <p:embed/>
                </p:oleObj>
              </mc:Choice>
              <mc:Fallback>
                <p:oleObj name="Worksheet" r:id="rId7" imgW="3609000" imgH="936720" progId="">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114800"/>
                        <a:ext cx="65992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4"/>
          <p:cNvSpPr/>
          <p:nvPr/>
        </p:nvSpPr>
        <p:spPr>
          <a:xfrm>
            <a:off x="1828800" y="6198988"/>
            <a:ext cx="5867399" cy="430887"/>
          </a:xfrm>
          <a:prstGeom prst="rect">
            <a:avLst/>
          </a:prstGeom>
        </p:spPr>
        <p:txBody>
          <a:bodyPr wrap="square">
            <a:spAutoFit/>
          </a:bodyPr>
          <a:lstStyle/>
          <a:p>
            <a:pPr>
              <a:spcBef>
                <a:spcPct val="50000"/>
              </a:spcBef>
            </a:pPr>
            <a:r>
              <a:rPr lang="en-US" sz="2200" b="1" dirty="0">
                <a:latin typeface="Times New Roman" pitchFamily="18" charset="0"/>
                <a:cs typeface="Times New Roman" pitchFamily="18" charset="0"/>
              </a:rPr>
              <a:t>Distance Matrix</a:t>
            </a:r>
          </a:p>
        </p:txBody>
      </p:sp>
      <p:sp>
        <p:nvSpPr>
          <p:cNvPr id="6" name="Rectangle 5"/>
          <p:cNvSpPr/>
          <p:nvPr/>
        </p:nvSpPr>
        <p:spPr>
          <a:xfrm>
            <a:off x="914400" y="152400"/>
            <a:ext cx="7619999" cy="461665"/>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Euclidean </a:t>
            </a:r>
            <a:r>
              <a:rPr lang="en-US" sz="2400" dirty="0" smtClean="0">
                <a:solidFill>
                  <a:srgbClr val="FF0000"/>
                </a:solidFill>
                <a:latin typeface="Times New Roman" pitchFamily="18" charset="0"/>
                <a:cs typeface="Times New Roman" pitchFamily="18" charset="0"/>
              </a:rPr>
              <a:t>Distance:</a:t>
            </a:r>
            <a:endParaRPr lang="en-IN" sz="24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405004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5509200"/>
          </a:xfrm>
          <a:prstGeom prst="rect">
            <a:avLst/>
          </a:prstGeom>
        </p:spPr>
        <p:txBody>
          <a:bodyPr wrap="square">
            <a:spAutoFit/>
          </a:bodyPr>
          <a:lstStyle/>
          <a:p>
            <a:pPr algn="just"/>
            <a:r>
              <a:rPr lang="en-US" sz="2200" dirty="0">
                <a:latin typeface="Times New Roman" pitchFamily="18" charset="0"/>
                <a:cs typeface="Times New Roman" pitchFamily="18" charset="0"/>
              </a:rPr>
              <a:t>Both the Euclidean and the Manhattan distance satisfy the following mathematical properties: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Non-negativity: </a:t>
            </a:r>
            <a:r>
              <a:rPr lang="en-US" sz="2200" dirty="0">
                <a:latin typeface="Times New Roman" pitchFamily="18" charset="0"/>
                <a:cs typeface="Times New Roman" pitchFamily="18" charset="0"/>
              </a:rPr>
              <a:t>d(i, j</a:t>
            </a:r>
            <a:r>
              <a:rPr lang="en-US" sz="2200" dirty="0" smtClean="0">
                <a:latin typeface="Times New Roman" pitchFamily="18" charset="0"/>
                <a:cs typeface="Times New Roman" pitchFamily="18" charset="0"/>
              </a:rPr>
              <a:t>)&gt;=</a:t>
            </a:r>
            <a:r>
              <a:rPr lang="en-US" sz="2200" dirty="0">
                <a:latin typeface="Times New Roman" pitchFamily="18" charset="0"/>
                <a:cs typeface="Times New Roman" pitchFamily="18" charset="0"/>
              </a:rPr>
              <a:t>0: Distance is a non-negative number.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Identity of </a:t>
            </a:r>
            <a:r>
              <a:rPr lang="en-US" sz="2200" b="1" dirty="0" err="1">
                <a:latin typeface="Times New Roman" pitchFamily="18" charset="0"/>
                <a:cs typeface="Times New Roman" pitchFamily="18" charset="0"/>
              </a:rPr>
              <a:t>indiscernibles</a:t>
            </a: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d(i, i)=0: The distance of an object to itself is 0.</a:t>
            </a:r>
            <a:endParaRPr lang="en-IN" sz="2200" b="1" dirty="0" smtClean="0">
              <a:latin typeface="Times New Roman" pitchFamily="18" charset="0"/>
              <a:cs typeface="Times New Roman" pitchFamily="18" charset="0"/>
            </a:endParaRPr>
          </a:p>
          <a:p>
            <a:pPr algn="just"/>
            <a:endParaRPr lang="en-IN" sz="2200" b="1" dirty="0">
              <a:latin typeface="Times New Roman" pitchFamily="18" charset="0"/>
              <a:cs typeface="Times New Roman" pitchFamily="18" charset="0"/>
            </a:endParaRPr>
          </a:p>
          <a:p>
            <a:pPr algn="just"/>
            <a:r>
              <a:rPr lang="en-IN" sz="2200" b="1" dirty="0" smtClean="0">
                <a:latin typeface="Times New Roman" pitchFamily="18" charset="0"/>
                <a:cs typeface="Times New Roman" pitchFamily="18" charset="0"/>
              </a:rPr>
              <a:t>Symmetry</a:t>
            </a:r>
            <a:r>
              <a:rPr lang="en-IN" sz="2200" b="1" dirty="0">
                <a:latin typeface="Times New Roman" pitchFamily="18" charset="0"/>
                <a:cs typeface="Times New Roman" pitchFamily="18" charset="0"/>
              </a:rPr>
              <a:t>:</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d(</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)=d(</a:t>
            </a:r>
            <a:r>
              <a:rPr lang="en-IN" sz="2200" dirty="0" err="1" smtClean="0">
                <a:latin typeface="Times New Roman" pitchFamily="18" charset="0"/>
                <a:cs typeface="Times New Roman" pitchFamily="18" charset="0"/>
              </a:rPr>
              <a:t>j,i</a:t>
            </a:r>
            <a:r>
              <a:rPr lang="en-IN" sz="2200" dirty="0" smtClean="0">
                <a:latin typeface="Times New Roman" pitchFamily="18" charset="0"/>
                <a:cs typeface="Times New Roman" pitchFamily="18" charset="0"/>
              </a:rPr>
              <a:t>): Distance is a symmetric function.</a:t>
            </a:r>
          </a:p>
          <a:p>
            <a:pPr algn="just"/>
            <a:endParaRPr lang="en-IN" sz="2200" dirty="0" smtClean="0">
              <a:latin typeface="Times New Roman" pitchFamily="18" charset="0"/>
              <a:cs typeface="Times New Roman" pitchFamily="18" charset="0"/>
            </a:endParaRPr>
          </a:p>
          <a:p>
            <a:pPr algn="just"/>
            <a:r>
              <a:rPr lang="en-IN" sz="2200" b="1" dirty="0" smtClean="0">
                <a:latin typeface="Times New Roman" pitchFamily="18" charset="0"/>
                <a:cs typeface="Times New Roman" pitchFamily="18" charset="0"/>
              </a:rPr>
              <a:t>Triangle inequality</a:t>
            </a:r>
            <a:r>
              <a:rPr lang="en-IN" sz="2200" b="1"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d(</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)&lt;=d(</a:t>
            </a:r>
            <a:r>
              <a:rPr lang="en-IN" sz="2200" dirty="0" err="1" smtClean="0">
                <a:latin typeface="Times New Roman" pitchFamily="18" charset="0"/>
                <a:cs typeface="Times New Roman" pitchFamily="18" charset="0"/>
              </a:rPr>
              <a:t>i,k</a:t>
            </a:r>
            <a:r>
              <a:rPr lang="en-IN" sz="2200" dirty="0" smtClean="0">
                <a:latin typeface="Times New Roman" pitchFamily="18" charset="0"/>
                <a:cs typeface="Times New Roman" pitchFamily="18" charset="0"/>
              </a:rPr>
              <a:t>)+d(</a:t>
            </a:r>
            <a:r>
              <a:rPr lang="en-IN" sz="2200" dirty="0" err="1" smtClean="0">
                <a:latin typeface="Times New Roman" pitchFamily="18" charset="0"/>
                <a:cs typeface="Times New Roman" pitchFamily="18" charset="0"/>
              </a:rPr>
              <a:t>k,j</a:t>
            </a:r>
            <a:r>
              <a:rPr lang="en-IN" sz="2200" dirty="0" smtClean="0">
                <a:latin typeface="Times New Roman" pitchFamily="18" charset="0"/>
                <a:cs typeface="Times New Roman" pitchFamily="18" charset="0"/>
              </a:rPr>
              <a:t>): Going directly from object </a:t>
            </a:r>
            <a:r>
              <a:rPr lang="en-IN" sz="2200" dirty="0">
                <a:latin typeface="Times New Roman" pitchFamily="18" charset="0"/>
                <a:cs typeface="Times New Roman" pitchFamily="18" charset="0"/>
              </a:rPr>
              <a:t>i </a:t>
            </a:r>
            <a:r>
              <a:rPr lang="en-IN" sz="2200" dirty="0" smtClean="0">
                <a:latin typeface="Times New Roman" pitchFamily="18" charset="0"/>
                <a:cs typeface="Times New Roman" pitchFamily="18" charset="0"/>
              </a:rPr>
              <a:t>to object </a:t>
            </a:r>
            <a:r>
              <a:rPr lang="en-IN" sz="2200" dirty="0">
                <a:latin typeface="Times New Roman" pitchFamily="18" charset="0"/>
                <a:cs typeface="Times New Roman" pitchFamily="18" charset="0"/>
              </a:rPr>
              <a:t>j </a:t>
            </a:r>
            <a:r>
              <a:rPr lang="en-IN" sz="2200" dirty="0" smtClean="0">
                <a:latin typeface="Times New Roman" pitchFamily="18" charset="0"/>
                <a:cs typeface="Times New Roman" pitchFamily="18" charset="0"/>
              </a:rPr>
              <a:t>in space is no more than making a detour over any other object k.</a:t>
            </a:r>
          </a:p>
          <a:p>
            <a:pPr algn="just"/>
            <a:endParaRPr lang="en-US" sz="2200" dirty="0" smtClean="0">
              <a:latin typeface="Times New Roman" pitchFamily="18" charset="0"/>
              <a:cs typeface="Times New Roman" pitchFamily="18" charset="0"/>
            </a:endParaRPr>
          </a:p>
          <a:p>
            <a:pPr algn="just"/>
            <a:r>
              <a:rPr lang="en-IN" sz="2200" dirty="0" smtClean="0">
                <a:solidFill>
                  <a:srgbClr val="FF0000"/>
                </a:solidFill>
                <a:latin typeface="Times New Roman" pitchFamily="18" charset="0"/>
                <a:cs typeface="Times New Roman" pitchFamily="18" charset="0"/>
              </a:rPr>
              <a:t>Ex: </a:t>
            </a:r>
            <a:r>
              <a:rPr lang="en-IN" sz="2200" dirty="0" smtClean="0">
                <a:latin typeface="Times New Roman" pitchFamily="18" charset="0"/>
                <a:cs typeface="Times New Roman" pitchFamily="18" charset="0"/>
              </a:rPr>
              <a:t>Euclidean distance and Manhattan distance.</a:t>
            </a:r>
          </a:p>
          <a:p>
            <a:pPr algn="just"/>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Let x</a:t>
            </a:r>
            <a:r>
              <a:rPr lang="en-IN" sz="2200" baseline="-25000" dirty="0" smtClean="0">
                <a:latin typeface="Times New Roman" pitchFamily="18" charset="0"/>
                <a:cs typeface="Times New Roman" pitchFamily="18" charset="0"/>
              </a:rPr>
              <a:t>1</a:t>
            </a:r>
            <a:r>
              <a:rPr lang="en-IN" sz="2200" dirty="0" smtClean="0">
                <a:latin typeface="Times New Roman" pitchFamily="18" charset="0"/>
                <a:cs typeface="Times New Roman" pitchFamily="18" charset="0"/>
              </a:rPr>
              <a:t>=(1,2) and x2=(3,5) represent two objects as shown in Figure: 2.23. The Euclidean distance is: 3.61 and Manhattan distance is: 5. </a:t>
            </a:r>
          </a:p>
        </p:txBody>
      </p:sp>
    </p:spTree>
    <p:extLst>
      <p:ext uri="{BB962C8B-B14F-4D97-AF65-F5344CB8AC3E}">
        <p14:creationId xmlns:p14="http://schemas.microsoft.com/office/powerpoint/2010/main" val="3226737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8600"/>
            <a:ext cx="8382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2135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686800" cy="3477875"/>
          </a:xfrm>
          <a:prstGeom prst="rect">
            <a:avLst/>
          </a:prstGeom>
        </p:spPr>
        <p:txBody>
          <a:bodyPr wrap="square">
            <a:spAutoFit/>
          </a:bodyPr>
          <a:lstStyle/>
          <a:p>
            <a:pPr algn="just"/>
            <a:r>
              <a:rPr lang="en-IN" sz="2200" dirty="0" err="1" smtClean="0">
                <a:solidFill>
                  <a:srgbClr val="00B050"/>
                </a:solidFill>
                <a:latin typeface="Times New Roman" pitchFamily="18" charset="0"/>
                <a:cs typeface="Times New Roman" pitchFamily="18" charset="0"/>
              </a:rPr>
              <a:t>Minkowski</a:t>
            </a:r>
            <a:r>
              <a:rPr lang="en-IN" sz="2200" dirty="0" smtClean="0">
                <a:solidFill>
                  <a:srgbClr val="00B050"/>
                </a:solidFill>
                <a:latin typeface="Times New Roman" pitchFamily="18" charset="0"/>
                <a:cs typeface="Times New Roman" pitchFamily="18" charset="0"/>
              </a:rPr>
              <a:t> distance </a:t>
            </a:r>
            <a:r>
              <a:rPr lang="en-IN" sz="2200" dirty="0" smtClean="0">
                <a:latin typeface="Times New Roman" pitchFamily="18" charset="0"/>
                <a:cs typeface="Times New Roman" pitchFamily="18" charset="0"/>
              </a:rPr>
              <a:t>is a generalization of the Euclidean and Manhattan distances</a:t>
            </a:r>
            <a:r>
              <a:rPr lang="en-IN" sz="2200" dirty="0">
                <a:latin typeface="Times New Roman" pitchFamily="18" charset="0"/>
                <a:cs typeface="Times New Roman" pitchFamily="18" charset="0"/>
              </a:rPr>
              <a:t>. It </a:t>
            </a:r>
            <a:r>
              <a:rPr lang="en-IN" sz="2200" dirty="0" smtClean="0">
                <a:latin typeface="Times New Roman" pitchFamily="18" charset="0"/>
                <a:cs typeface="Times New Roman" pitchFamily="18" charset="0"/>
              </a:rPr>
              <a:t>is defined as:</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Where h is a real number such that h&gt;=1</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Such a distance is also called </a:t>
            </a:r>
            <a:r>
              <a:rPr lang="en-IN" sz="2200" dirty="0" err="1" smtClean="0">
                <a:latin typeface="Times New Roman" pitchFamily="18" charset="0"/>
                <a:cs typeface="Times New Roman" pitchFamily="18" charset="0"/>
              </a:rPr>
              <a:t>L</a:t>
            </a:r>
            <a:r>
              <a:rPr lang="en-IN" sz="2200" baseline="-25000" dirty="0" err="1" smtClean="0">
                <a:latin typeface="Times New Roman" pitchFamily="18" charset="0"/>
                <a:cs typeface="Times New Roman" pitchFamily="18" charset="0"/>
              </a:rPr>
              <a:t>p</a:t>
            </a:r>
            <a:r>
              <a:rPr lang="en-IN" sz="2200" baseline="-25000" dirty="0" smtClean="0">
                <a:latin typeface="Times New Roman" pitchFamily="18" charset="0"/>
                <a:cs typeface="Times New Roman" pitchFamily="18" charset="0"/>
              </a:rPr>
              <a:t> </a:t>
            </a:r>
            <a:r>
              <a:rPr lang="en-IN" sz="2200" dirty="0" smtClean="0">
                <a:latin typeface="Times New Roman" pitchFamily="18" charset="0"/>
                <a:cs typeface="Times New Roman" pitchFamily="18" charset="0"/>
              </a:rPr>
              <a:t>norm.</a:t>
            </a:r>
          </a:p>
          <a:p>
            <a:pPr algn="just"/>
            <a:r>
              <a:rPr lang="en-IN" sz="2200" dirty="0" smtClean="0">
                <a:solidFill>
                  <a:srgbClr val="00B050"/>
                </a:solidFill>
                <a:latin typeface="Times New Roman" pitchFamily="18" charset="0"/>
                <a:cs typeface="Times New Roman" pitchFamily="18" charset="0"/>
              </a:rPr>
              <a:t>Note: </a:t>
            </a:r>
            <a:r>
              <a:rPr lang="en-IN" sz="2200" dirty="0" smtClean="0">
                <a:latin typeface="Times New Roman" pitchFamily="18" charset="0"/>
                <a:cs typeface="Times New Roman" pitchFamily="18" charset="0"/>
              </a:rPr>
              <a:t>Manhattan distance when h=1(i.e</a:t>
            </a:r>
            <a:r>
              <a:rPr lang="en-IN" sz="2200" dirty="0">
                <a:latin typeface="Times New Roman" pitchFamily="18" charset="0"/>
                <a:cs typeface="Times New Roman" pitchFamily="18" charset="0"/>
              </a:rPr>
              <a:t>.,L</a:t>
            </a:r>
            <a:r>
              <a:rPr lang="en-IN" sz="2200" baseline="-25000" dirty="0">
                <a:latin typeface="Times New Roman" pitchFamily="18" charset="0"/>
                <a:cs typeface="Times New Roman" pitchFamily="18" charset="0"/>
              </a:rPr>
              <a:t>1</a:t>
            </a:r>
            <a:r>
              <a:rPr lang="en-IN" sz="2200" dirty="0">
                <a:latin typeface="Times New Roman" pitchFamily="18" charset="0"/>
                <a:cs typeface="Times New Roman" pitchFamily="18" charset="0"/>
              </a:rPr>
              <a:t>norm</a:t>
            </a:r>
            <a:r>
              <a:rPr lang="en-IN" sz="2200" dirty="0" smtClean="0">
                <a:latin typeface="Times New Roman" pitchFamily="18" charset="0"/>
                <a:cs typeface="Times New Roman" pitchFamily="18" charset="0"/>
              </a:rPr>
              <a:t>) and Euclidean distance when h=2 </a:t>
            </a:r>
            <a:r>
              <a:rPr lang="en-IN" sz="2200" dirty="0">
                <a:latin typeface="Times New Roman" pitchFamily="18" charset="0"/>
                <a:cs typeface="Times New Roman" pitchFamily="18" charset="0"/>
              </a:rPr>
              <a:t>(i.e.,</a:t>
            </a:r>
            <a:r>
              <a:rPr lang="en-IN" sz="2200" dirty="0" smtClean="0">
                <a:latin typeface="Times New Roman" pitchFamily="18" charset="0"/>
                <a:cs typeface="Times New Roman" pitchFamily="18" charset="0"/>
              </a:rPr>
              <a:t>L</a:t>
            </a:r>
            <a:r>
              <a:rPr lang="en-IN" sz="2200" baseline="-25000" dirty="0" smtClean="0">
                <a:latin typeface="Times New Roman" pitchFamily="18" charset="0"/>
                <a:cs typeface="Times New Roman" pitchFamily="18" charset="0"/>
              </a:rPr>
              <a:t>2</a:t>
            </a:r>
            <a:r>
              <a:rPr lang="en-IN" sz="2200" dirty="0" smtClean="0">
                <a:latin typeface="Times New Roman" pitchFamily="18" charset="0"/>
                <a:cs typeface="Times New Roman" pitchFamily="18" charset="0"/>
              </a:rPr>
              <a:t> norm).</a:t>
            </a:r>
          </a:p>
          <a:p>
            <a:pPr algn="just"/>
            <a:endParaRPr lang="en-IN" sz="22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90601"/>
            <a:ext cx="7467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429000"/>
            <a:ext cx="8686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1037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152400"/>
            <a:ext cx="8610601"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3400" y="2057400"/>
            <a:ext cx="8382000" cy="1785104"/>
          </a:xfrm>
          <a:prstGeom prst="rect">
            <a:avLst/>
          </a:prstGeom>
        </p:spPr>
        <p:txBody>
          <a:bodyPr wrap="square">
            <a:spAutoFit/>
          </a:bodyPr>
          <a:lstStyle/>
          <a:p>
            <a:pPr algn="just"/>
            <a:r>
              <a:rPr lang="en-US" sz="2200" dirty="0" smtClean="0">
                <a:solidFill>
                  <a:srgbClr val="00B050"/>
                </a:solidFill>
                <a:latin typeface="Times New Roman" pitchFamily="18" charset="0"/>
                <a:cs typeface="Times New Roman" pitchFamily="18" charset="0"/>
              </a:rPr>
              <a:t>Ex:</a:t>
            </a:r>
            <a:r>
              <a:rPr lang="en-US" sz="2200" dirty="0" smtClean="0">
                <a:latin typeface="Times New Roman" pitchFamily="18" charset="0"/>
                <a:cs typeface="Times New Roman" pitchFamily="18" charset="0"/>
              </a:rPr>
              <a:t> </a:t>
            </a:r>
            <a:r>
              <a:rPr lang="en-US" sz="2200" dirty="0" err="1">
                <a:solidFill>
                  <a:srgbClr val="00B050"/>
                </a:solidFill>
                <a:latin typeface="Times New Roman" pitchFamily="18" charset="0"/>
                <a:cs typeface="Times New Roman" pitchFamily="18" charset="0"/>
              </a:rPr>
              <a:t>Supremum</a:t>
            </a:r>
            <a:r>
              <a:rPr lang="en-US" sz="2200" dirty="0">
                <a:solidFill>
                  <a:srgbClr val="00B050"/>
                </a:solidFill>
                <a:latin typeface="Times New Roman" pitchFamily="18" charset="0"/>
                <a:cs typeface="Times New Roman" pitchFamily="18" charset="0"/>
              </a:rPr>
              <a:t> distance. </a:t>
            </a:r>
            <a:r>
              <a:rPr lang="en-US" sz="2200" dirty="0">
                <a:latin typeface="Times New Roman" pitchFamily="18" charset="0"/>
                <a:cs typeface="Times New Roman" pitchFamily="18" charset="0"/>
              </a:rPr>
              <a:t>Let’s use the same two objects, </a:t>
            </a:r>
            <a:r>
              <a:rPr lang="en-US" sz="2200" dirty="0" smtClean="0">
                <a:latin typeface="Times New Roman" pitchFamily="18" charset="0"/>
                <a:cs typeface="Times New Roman" pitchFamily="18" charset="0"/>
              </a:rPr>
              <a:t>x1=(1</a:t>
            </a:r>
            <a:r>
              <a:rPr lang="en-US" sz="2200" dirty="0">
                <a:latin typeface="Times New Roman" pitchFamily="18" charset="0"/>
                <a:cs typeface="Times New Roman" pitchFamily="18" charset="0"/>
              </a:rPr>
              <a:t>, 2) and </a:t>
            </a:r>
            <a:r>
              <a:rPr lang="en-US" sz="2200" dirty="0" smtClean="0">
                <a:latin typeface="Times New Roman" pitchFamily="18" charset="0"/>
                <a:cs typeface="Times New Roman" pitchFamily="18" charset="0"/>
              </a:rPr>
              <a:t>x2=(3</a:t>
            </a:r>
            <a:r>
              <a:rPr lang="en-US" sz="2200" dirty="0">
                <a:latin typeface="Times New Roman" pitchFamily="18" charset="0"/>
                <a:cs typeface="Times New Roman" pitchFamily="18" charset="0"/>
              </a:rPr>
              <a:t>, 5), as in Figure 2.23. The second attribute gives the greatest difference between values for the objects, which is </a:t>
            </a:r>
            <a:r>
              <a:rPr lang="en-US" sz="2200" dirty="0" smtClean="0">
                <a:latin typeface="Times New Roman" pitchFamily="18" charset="0"/>
                <a:cs typeface="Times New Roman" pitchFamily="18" charset="0"/>
              </a:rPr>
              <a:t>5-2=3</a:t>
            </a:r>
            <a:r>
              <a:rPr lang="en-US" sz="2200" dirty="0">
                <a:latin typeface="Times New Roman" pitchFamily="18" charset="0"/>
                <a:cs typeface="Times New Roman" pitchFamily="18" charset="0"/>
              </a:rPr>
              <a:t>. This is the </a:t>
            </a:r>
            <a:r>
              <a:rPr lang="en-US" sz="2200" dirty="0" err="1">
                <a:latin typeface="Times New Roman" pitchFamily="18" charset="0"/>
                <a:cs typeface="Times New Roman" pitchFamily="18" charset="0"/>
              </a:rPr>
              <a:t>supremum</a:t>
            </a:r>
            <a:r>
              <a:rPr lang="en-US" sz="2200" dirty="0">
                <a:latin typeface="Times New Roman" pitchFamily="18" charset="0"/>
                <a:cs typeface="Times New Roman" pitchFamily="18" charset="0"/>
              </a:rPr>
              <a:t> distance between both objects</a:t>
            </a:r>
            <a:r>
              <a:rPr lang="en-US" sz="2200" dirty="0" smtClean="0">
                <a:latin typeface="Times New Roman" pitchFamily="18" charset="0"/>
                <a:cs typeface="Times New Roman" pitchFamily="18" charset="0"/>
              </a:rPr>
              <a:t>.</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195176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81000" y="152400"/>
            <a:ext cx="8280400" cy="55245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err="1" smtClean="0">
                <a:solidFill>
                  <a:srgbClr val="FF0000"/>
                </a:solidFill>
                <a:latin typeface="Times New Roman" pitchFamily="18" charset="0"/>
                <a:cs typeface="Times New Roman" pitchFamily="18" charset="0"/>
              </a:rPr>
              <a:t>Minkowski</a:t>
            </a:r>
            <a:r>
              <a:rPr lang="en-US" sz="2800" dirty="0" smtClean="0">
                <a:solidFill>
                  <a:srgbClr val="FF0000"/>
                </a:solidFill>
                <a:latin typeface="Times New Roman" pitchFamily="18" charset="0"/>
                <a:cs typeface="Times New Roman" pitchFamily="18" charset="0"/>
              </a:rPr>
              <a:t> Distance: Examples</a:t>
            </a:r>
          </a:p>
          <a:p>
            <a:endParaRPr lang="en-US" sz="2800" dirty="0">
              <a:solidFill>
                <a:srgbClr val="FF0000"/>
              </a:solidFill>
              <a:latin typeface="Times New Roman" pitchFamily="18" charset="0"/>
              <a:cs typeface="Times New Roman" pitchFamily="18" charset="0"/>
            </a:endParaRPr>
          </a:p>
        </p:txBody>
      </p:sp>
      <p:sp>
        <p:nvSpPr>
          <p:cNvPr id="3" name="Rectangle 3"/>
          <p:cNvSpPr txBox="1">
            <a:spLocks noChangeArrowheads="1"/>
          </p:cNvSpPr>
          <p:nvPr/>
        </p:nvSpPr>
        <p:spPr>
          <a:xfrm>
            <a:off x="304800" y="838200"/>
            <a:ext cx="8458200" cy="5181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i="1" dirty="0" smtClean="0">
                <a:latin typeface="Times New Roman" pitchFamily="18" charset="0"/>
                <a:cs typeface="Times New Roman" pitchFamily="18" charset="0"/>
              </a:rPr>
              <a:t>r</a:t>
            </a:r>
            <a:r>
              <a:rPr lang="en-US" sz="2400" dirty="0" smtClean="0">
                <a:latin typeface="Times New Roman" pitchFamily="18" charset="0"/>
                <a:cs typeface="Times New Roman" pitchFamily="18" charset="0"/>
              </a:rPr>
              <a:t> = 1.  City block (Manhattan, taxicab, L</a:t>
            </a:r>
            <a:r>
              <a:rPr lang="en-US" sz="2400" baseline="-300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norm) distance. </a:t>
            </a:r>
          </a:p>
          <a:p>
            <a:pPr lvl="1">
              <a:lnSpc>
                <a:spcPct val="90000"/>
              </a:lnSpc>
            </a:pPr>
            <a:r>
              <a:rPr lang="en-US" sz="2400" dirty="0" smtClean="0">
                <a:latin typeface="Times New Roman" pitchFamily="18" charset="0"/>
                <a:cs typeface="Times New Roman" pitchFamily="18" charset="0"/>
              </a:rPr>
              <a:t>A common example of this for binary vectors is the Hamming distance, which is just the number of bits that are different between two binary vectors</a:t>
            </a:r>
          </a:p>
          <a:p>
            <a:pPr lvl="4">
              <a:lnSpc>
                <a:spcPct val="90000"/>
              </a:lnSpc>
            </a:pPr>
            <a:endParaRPr lang="en-US" sz="2400" b="1" dirty="0" smtClean="0">
              <a:latin typeface="Times New Roman" pitchFamily="18" charset="0"/>
              <a:cs typeface="Times New Roman" pitchFamily="18" charset="0"/>
            </a:endParaRPr>
          </a:p>
          <a:p>
            <a:pPr>
              <a:lnSpc>
                <a:spcPct val="90000"/>
              </a:lnSpc>
            </a:pPr>
            <a:r>
              <a:rPr lang="en-US" sz="2400" i="1" dirty="0" smtClean="0">
                <a:latin typeface="Times New Roman" pitchFamily="18" charset="0"/>
                <a:cs typeface="Times New Roman" pitchFamily="18" charset="0"/>
              </a:rPr>
              <a:t>r</a:t>
            </a:r>
            <a:r>
              <a:rPr lang="en-US" sz="2400" dirty="0" smtClean="0">
                <a:latin typeface="Times New Roman" pitchFamily="18" charset="0"/>
                <a:cs typeface="Times New Roman" pitchFamily="18" charset="0"/>
              </a:rPr>
              <a:t> = 2.  Euclidean distance</a:t>
            </a:r>
          </a:p>
          <a:p>
            <a:pPr lvl="4">
              <a:lnSpc>
                <a:spcPct val="90000"/>
              </a:lnSpc>
            </a:pPr>
            <a:endParaRPr lang="en-US" sz="2400" dirty="0" smtClean="0">
              <a:latin typeface="Times New Roman" pitchFamily="18" charset="0"/>
              <a:cs typeface="Times New Roman" pitchFamily="18" charset="0"/>
            </a:endParaRPr>
          </a:p>
          <a:p>
            <a:pPr>
              <a:lnSpc>
                <a:spcPct val="90000"/>
              </a:lnSpc>
            </a:pPr>
            <a:r>
              <a:rPr lang="en-US" sz="2400" i="1" dirty="0" smtClean="0">
                <a:latin typeface="Times New Roman" pitchFamily="18" charset="0"/>
                <a:cs typeface="Times New Roman" pitchFamily="18" charset="0"/>
              </a:rPr>
              <a:t>r</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sym typeface="Symbol" pitchFamily="18" charset="2"/>
              </a:rPr>
              <a:t></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sym typeface="Symbol" pitchFamily="18" charset="2"/>
              </a:rPr>
              <a: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supremum</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a:t>
            </a:r>
            <a:r>
              <a:rPr lang="en-US" sz="2400" baseline="-30000" dirty="0" err="1" smtClean="0">
                <a:latin typeface="Times New Roman" pitchFamily="18" charset="0"/>
                <a:cs typeface="Times New Roman" pitchFamily="18" charset="0"/>
              </a:rPr>
              <a:t>max</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norm, L</a:t>
            </a:r>
            <a:r>
              <a:rPr lang="en-US" sz="2400" baseline="-30000" dirty="0" smtClean="0">
                <a:latin typeface="Times New Roman" pitchFamily="18" charset="0"/>
                <a:cs typeface="Times New Roman" pitchFamily="18" charset="0"/>
                <a:sym typeface="Symbol" pitchFamily="18" charset="2"/>
              </a:rPr>
              <a:t></a:t>
            </a:r>
            <a:r>
              <a:rPr lang="en-US" sz="2400" baseline="-300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norm) distance. </a:t>
            </a:r>
          </a:p>
          <a:p>
            <a:pPr lvl="1">
              <a:lnSpc>
                <a:spcPct val="90000"/>
              </a:lnSpc>
            </a:pPr>
            <a:r>
              <a:rPr lang="en-US" sz="2400" dirty="0" smtClean="0">
                <a:latin typeface="Times New Roman" pitchFamily="18" charset="0"/>
                <a:cs typeface="Times New Roman" pitchFamily="18" charset="0"/>
              </a:rPr>
              <a:t>This is the maximum difference between any component of the vectors</a:t>
            </a:r>
          </a:p>
          <a:p>
            <a:pPr lvl="4">
              <a:lnSpc>
                <a:spcPct val="90000"/>
              </a:lnSpc>
            </a:pPr>
            <a:endParaRPr lang="en-US" sz="2200" dirty="0" smtClean="0">
              <a:cs typeface="Times New Roman" pitchFamily="18" charset="0"/>
            </a:endParaRPr>
          </a:p>
          <a:p>
            <a:pPr marL="457200" lvl="1" indent="0">
              <a:lnSpc>
                <a:spcPct val="90000"/>
              </a:lnSpc>
              <a:buFont typeface="Arial" pitchFamily="34" charset="0"/>
              <a:buNone/>
            </a:pPr>
            <a:endParaRPr lang="en-US" sz="1800" dirty="0"/>
          </a:p>
        </p:txBody>
      </p:sp>
    </p:spTree>
    <p:extLst>
      <p:ext uri="{BB962C8B-B14F-4D97-AF65-F5344CB8AC3E}">
        <p14:creationId xmlns:p14="http://schemas.microsoft.com/office/powerpoint/2010/main" val="955429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2986006169"/>
              </p:ext>
            </p:extLst>
          </p:nvPr>
        </p:nvGraphicFramePr>
        <p:xfrm>
          <a:off x="2286000" y="1752600"/>
          <a:ext cx="4953000" cy="2125663"/>
        </p:xfrm>
        <a:graphic>
          <a:graphicData uri="http://schemas.openxmlformats.org/presentationml/2006/ole">
            <mc:AlternateContent xmlns:mc="http://schemas.openxmlformats.org/markup-compatibility/2006">
              <mc:Choice xmlns:v="urn:schemas-microsoft-com:vml" Requires="v">
                <p:oleObj spid="_x0000_s3079" name="Worksheet" r:id="rId3" imgW="2169000" imgH="936720" progId="">
                  <p:embed/>
                </p:oleObj>
              </mc:Choice>
              <mc:Fallback>
                <p:oleObj name="Worksheet" r:id="rId3" imgW="2169000" imgH="9367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752600"/>
                        <a:ext cx="4953000" cy="2125663"/>
                      </a:xfrm>
                      <a:prstGeom prst="rect">
                        <a:avLst/>
                      </a:prstGeom>
                      <a:noFill/>
                      <a:ln>
                        <a:noFill/>
                      </a:ln>
                      <a:effectLst/>
                    </p:spPr>
                  </p:pic>
                </p:oleObj>
              </mc:Fallback>
            </mc:AlternateContent>
          </a:graphicData>
        </a:graphic>
      </p:graphicFrame>
      <p:sp>
        <p:nvSpPr>
          <p:cNvPr id="3" name="Rectangle 2"/>
          <p:cNvSpPr txBox="1">
            <a:spLocks noChangeArrowheads="1"/>
          </p:cNvSpPr>
          <p:nvPr/>
        </p:nvSpPr>
        <p:spPr>
          <a:xfrm>
            <a:off x="381000" y="152400"/>
            <a:ext cx="8280400" cy="55245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err="1" smtClean="0">
                <a:solidFill>
                  <a:srgbClr val="FF0000"/>
                </a:solidFill>
                <a:latin typeface="Times New Roman" pitchFamily="18" charset="0"/>
                <a:cs typeface="Times New Roman" pitchFamily="18" charset="0"/>
              </a:rPr>
              <a:t>Minkowski</a:t>
            </a:r>
            <a:r>
              <a:rPr lang="en-US" sz="2800" dirty="0" smtClean="0">
                <a:solidFill>
                  <a:srgbClr val="FF0000"/>
                </a:solidFill>
                <a:latin typeface="Times New Roman" pitchFamily="18" charset="0"/>
                <a:cs typeface="Times New Roman" pitchFamily="18" charset="0"/>
              </a:rPr>
              <a:t> Distance: Examples</a:t>
            </a:r>
          </a:p>
          <a:p>
            <a:endParaRPr lang="en-US"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07825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686800" cy="954107"/>
          </a:xfrm>
          <a:prstGeom prst="rect">
            <a:avLst/>
          </a:prstGeom>
        </p:spPr>
        <p:txBody>
          <a:bodyPr wrap="square">
            <a:spAutoFit/>
          </a:bodyPr>
          <a:lstStyle/>
          <a:p>
            <a:r>
              <a:rPr lang="en-US" sz="2800" u="sng" dirty="0" err="1">
                <a:solidFill>
                  <a:srgbClr val="FF0000"/>
                </a:solidFill>
                <a:latin typeface="Times New Roman" pitchFamily="18" charset="0"/>
                <a:cs typeface="Times New Roman" pitchFamily="18" charset="0"/>
              </a:rPr>
              <a:t>Minkowski</a:t>
            </a:r>
            <a:r>
              <a:rPr lang="en-US" sz="2800" u="sng" dirty="0">
                <a:solidFill>
                  <a:srgbClr val="FF0000"/>
                </a:solidFill>
                <a:latin typeface="Times New Roman" pitchFamily="18" charset="0"/>
                <a:cs typeface="Times New Roman" pitchFamily="18" charset="0"/>
              </a:rPr>
              <a:t> </a:t>
            </a:r>
            <a:r>
              <a:rPr lang="en-US" sz="2800" u="sng" dirty="0" smtClean="0">
                <a:solidFill>
                  <a:srgbClr val="FF0000"/>
                </a:solidFill>
                <a:latin typeface="Times New Roman" pitchFamily="18" charset="0"/>
                <a:cs typeface="Times New Roman" pitchFamily="18" charset="0"/>
              </a:rPr>
              <a:t>Distance:</a:t>
            </a:r>
          </a:p>
          <a:p>
            <a:endParaRPr lang="en-IN" sz="2800" u="sng" dirty="0">
              <a:solidFill>
                <a:srgbClr val="FF0000"/>
              </a:solidFill>
              <a:latin typeface="Times New Roman" pitchFamily="18" charset="0"/>
              <a:cs typeface="Times New Roman" pitchFamily="18" charset="0"/>
            </a:endParaRPr>
          </a:p>
        </p:txBody>
      </p:sp>
      <p:graphicFrame>
        <p:nvGraphicFramePr>
          <p:cNvPr id="3" name="Object 2"/>
          <p:cNvGraphicFramePr>
            <a:graphicFrameLocks noChangeAspect="1"/>
          </p:cNvGraphicFramePr>
          <p:nvPr/>
        </p:nvGraphicFramePr>
        <p:xfrm>
          <a:off x="304800" y="2587625"/>
          <a:ext cx="2962275" cy="1363663"/>
        </p:xfrm>
        <a:graphic>
          <a:graphicData uri="http://schemas.openxmlformats.org/presentationml/2006/ole">
            <mc:AlternateContent xmlns:mc="http://schemas.openxmlformats.org/markup-compatibility/2006">
              <mc:Choice xmlns:v="urn:schemas-microsoft-com:vml" Requires="v">
                <p:oleObj spid="_x0000_s2107" name="Worksheet" r:id="rId3" imgW="2169000" imgH="936720" progId="">
                  <p:embed/>
                </p:oleObj>
              </mc:Choice>
              <mc:Fallback>
                <p:oleObj name="Worksheet" r:id="rId3" imgW="2169000" imgH="93672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587625"/>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ChangeAspect="1"/>
          </p:cNvGraphicFramePr>
          <p:nvPr/>
        </p:nvGraphicFramePr>
        <p:xfrm>
          <a:off x="3810000" y="1292225"/>
          <a:ext cx="4927600" cy="1365250"/>
        </p:xfrm>
        <a:graphic>
          <a:graphicData uri="http://schemas.openxmlformats.org/presentationml/2006/ole">
            <mc:AlternateContent xmlns:mc="http://schemas.openxmlformats.org/markup-compatibility/2006">
              <mc:Choice xmlns:v="urn:schemas-microsoft-com:vml" Requires="v">
                <p:oleObj spid="_x0000_s2108" name="Worksheet" r:id="rId5" imgW="3609000" imgH="936720" progId="">
                  <p:embed/>
                </p:oleObj>
              </mc:Choice>
              <mc:Fallback>
                <p:oleObj name="Worksheet" r:id="rId5" imgW="3609000" imgH="936720" progId="">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292225"/>
                        <a:ext cx="49276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noChangeAspect="1"/>
          </p:cNvGraphicFramePr>
          <p:nvPr/>
        </p:nvGraphicFramePr>
        <p:xfrm>
          <a:off x="3810000" y="2816225"/>
          <a:ext cx="4927600" cy="1365250"/>
        </p:xfrm>
        <a:graphic>
          <a:graphicData uri="http://schemas.openxmlformats.org/presentationml/2006/ole">
            <mc:AlternateContent xmlns:mc="http://schemas.openxmlformats.org/markup-compatibility/2006">
              <mc:Choice xmlns:v="urn:schemas-microsoft-com:vml" Requires="v">
                <p:oleObj spid="_x0000_s2109" name="Worksheet" r:id="rId7" imgW="3609000" imgH="936720" progId="">
                  <p:embed/>
                </p:oleObj>
              </mc:Choice>
              <mc:Fallback>
                <p:oleObj name="Worksheet" r:id="rId7" imgW="3609000" imgH="936720" progId="">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2816225"/>
                        <a:ext cx="49276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3810000" y="4340225"/>
          <a:ext cx="4872038" cy="1374775"/>
        </p:xfrm>
        <a:graphic>
          <a:graphicData uri="http://schemas.openxmlformats.org/presentationml/2006/ole">
            <mc:AlternateContent xmlns:mc="http://schemas.openxmlformats.org/markup-compatibility/2006">
              <mc:Choice xmlns:v="urn:schemas-microsoft-com:vml" Requires="v">
                <p:oleObj spid="_x0000_s2110" name="Worksheet" r:id="rId9" imgW="3609000" imgH="953280" progId="">
                  <p:embed/>
                </p:oleObj>
              </mc:Choice>
              <mc:Fallback>
                <p:oleObj name="Worksheet" r:id="rId9" imgW="3609000" imgH="953280" progId="">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4340225"/>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3"/>
          <p:cNvSpPr txBox="1">
            <a:spLocks noChangeArrowheads="1"/>
          </p:cNvSpPr>
          <p:nvPr/>
        </p:nvSpPr>
        <p:spPr bwMode="auto">
          <a:xfrm>
            <a:off x="4876800" y="58674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Distance Matrix</a:t>
            </a:r>
          </a:p>
        </p:txBody>
      </p:sp>
    </p:spTree>
    <p:extLst>
      <p:ext uri="{BB962C8B-B14F-4D97-AF65-F5344CB8AC3E}">
        <p14:creationId xmlns:p14="http://schemas.microsoft.com/office/powerpoint/2010/main" val="3668607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4862870"/>
          </a:xfrm>
          <a:prstGeom prst="rect">
            <a:avLst/>
          </a:prstGeom>
        </p:spPr>
        <p:txBody>
          <a:bodyPr wrap="square">
            <a:spAutoFit/>
          </a:bodyPr>
          <a:lstStyle/>
          <a:p>
            <a:pPr algn="just"/>
            <a:r>
              <a:rPr lang="en-US" sz="2400" dirty="0">
                <a:solidFill>
                  <a:srgbClr val="FF0000"/>
                </a:solidFill>
                <a:latin typeface="Times New Roman" pitchFamily="18" charset="0"/>
                <a:cs typeface="Times New Roman" pitchFamily="18" charset="0"/>
              </a:rPr>
              <a:t>Proximity Measures for Ordinal </a:t>
            </a:r>
            <a:r>
              <a:rPr lang="en-US" sz="2400" dirty="0" smtClean="0">
                <a:solidFill>
                  <a:srgbClr val="FF0000"/>
                </a:solidFill>
                <a:latin typeface="Times New Roman" pitchFamily="18" charset="0"/>
                <a:cs typeface="Times New Roman" pitchFamily="18" charset="0"/>
              </a:rPr>
              <a:t>Attributes:</a:t>
            </a:r>
            <a:endParaRPr lang="en-US" sz="2200" dirty="0" smtClean="0">
              <a:solidFill>
                <a:srgbClr val="FF0000"/>
              </a:solidFill>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The </a:t>
            </a:r>
            <a:r>
              <a:rPr lang="en-US" sz="2200" dirty="0">
                <a:latin typeface="Times New Roman" pitchFamily="18" charset="0"/>
                <a:cs typeface="Times New Roman" pitchFamily="18" charset="0"/>
              </a:rPr>
              <a:t>values of an ordinal attribute have a meaningful order or ranking about them, yet the magnitude between successive values is </a:t>
            </a:r>
            <a:r>
              <a:rPr lang="en-US" sz="2200" dirty="0" smtClean="0">
                <a:latin typeface="Times New Roman" pitchFamily="18" charset="0"/>
                <a:cs typeface="Times New Roman" pitchFamily="18" charset="0"/>
              </a:rPr>
              <a:t>unknown. </a:t>
            </a:r>
            <a:r>
              <a:rPr lang="en-US" sz="2200" dirty="0">
                <a:latin typeface="Times New Roman" pitchFamily="18" charset="0"/>
                <a:cs typeface="Times New Roman" pitchFamily="18" charset="0"/>
              </a:rPr>
              <a:t>An </a:t>
            </a:r>
            <a:r>
              <a:rPr lang="en-US" sz="2200" dirty="0" smtClean="0">
                <a:latin typeface="Times New Roman" pitchFamily="18" charset="0"/>
                <a:cs typeface="Times New Roman" pitchFamily="18" charset="0"/>
              </a:rPr>
              <a:t>example </a:t>
            </a:r>
            <a:r>
              <a:rPr lang="en-US" sz="2200" dirty="0">
                <a:latin typeface="Times New Roman" pitchFamily="18" charset="0"/>
                <a:cs typeface="Times New Roman" pitchFamily="18" charset="0"/>
              </a:rPr>
              <a:t>includes the sequence small, medium, large for a size attribute.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“How are ordinal attributes handled?” The treatment of ordinal attributes is quite similar to that of numeric attributes when computing dissimilarity between objects. Suppose that f is an attribute from a set of ordinal attributes describing n objects. The dissimilarity computation with respect to f involves the following </a:t>
            </a:r>
            <a:r>
              <a:rPr lang="en-US" sz="2200" dirty="0" smtClean="0">
                <a:latin typeface="Times New Roman" pitchFamily="18" charset="0"/>
                <a:cs typeface="Times New Roman" pitchFamily="18" charset="0"/>
              </a:rPr>
              <a:t>steps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value of f for the </a:t>
            </a:r>
            <a:r>
              <a:rPr lang="en-US" sz="2200" dirty="0" err="1">
                <a:latin typeface="Times New Roman" pitchFamily="18" charset="0"/>
                <a:cs typeface="Times New Roman" pitchFamily="18" charset="0"/>
              </a:rPr>
              <a:t>i</a:t>
            </a:r>
            <a:r>
              <a:rPr lang="en-US" sz="2200" baseline="-25000" dirty="0" err="1">
                <a:latin typeface="Times New Roman" pitchFamily="18" charset="0"/>
                <a:cs typeface="Times New Roman" pitchFamily="18" charset="0"/>
              </a:rPr>
              <a:t>th</a:t>
            </a:r>
            <a:r>
              <a:rPr lang="en-US" sz="2200" dirty="0">
                <a:latin typeface="Times New Roman" pitchFamily="18" charset="0"/>
                <a:cs typeface="Times New Roman" pitchFamily="18" charset="0"/>
              </a:rPr>
              <a:t> object is </a:t>
            </a:r>
            <a:r>
              <a:rPr lang="en-US" sz="2200" dirty="0" err="1">
                <a:latin typeface="Times New Roman" pitchFamily="18" charset="0"/>
                <a:cs typeface="Times New Roman" pitchFamily="18" charset="0"/>
              </a:rPr>
              <a:t>x</a:t>
            </a:r>
            <a:r>
              <a:rPr lang="en-US" sz="2200" baseline="-25000" dirty="0" err="1">
                <a:latin typeface="Times New Roman" pitchFamily="18" charset="0"/>
                <a:cs typeface="Times New Roman" pitchFamily="18" charset="0"/>
              </a:rPr>
              <a:t>if</a:t>
            </a:r>
            <a:r>
              <a:rPr lang="en-US" sz="2200" dirty="0">
                <a:latin typeface="Times New Roman" pitchFamily="18" charset="0"/>
                <a:cs typeface="Times New Roman" pitchFamily="18" charset="0"/>
              </a:rPr>
              <a:t> , and f has M</a:t>
            </a:r>
            <a:r>
              <a:rPr lang="en-US" sz="2200" baseline="-25000" dirty="0">
                <a:latin typeface="Times New Roman" pitchFamily="18" charset="0"/>
                <a:cs typeface="Times New Roman" pitchFamily="18" charset="0"/>
              </a:rPr>
              <a:t>f</a:t>
            </a:r>
            <a:r>
              <a:rPr lang="en-US" sz="2200" dirty="0">
                <a:latin typeface="Times New Roman" pitchFamily="18" charset="0"/>
                <a:cs typeface="Times New Roman" pitchFamily="18" charset="0"/>
              </a:rPr>
              <a:t> ordered states, representing the ranking 1, ,M</a:t>
            </a:r>
            <a:r>
              <a:rPr lang="en-US" sz="2200" baseline="-25000" dirty="0">
                <a:latin typeface="Times New Roman" pitchFamily="18" charset="0"/>
                <a:cs typeface="Times New Roman" pitchFamily="18" charset="0"/>
              </a:rPr>
              <a:t>f</a:t>
            </a:r>
            <a:r>
              <a:rPr lang="en-US" sz="2200" dirty="0">
                <a:latin typeface="Times New Roman" pitchFamily="18" charset="0"/>
                <a:cs typeface="Times New Roman" pitchFamily="18" charset="0"/>
              </a:rPr>
              <a:t> . Replace each </a:t>
            </a:r>
            <a:r>
              <a:rPr lang="en-US" sz="2200" dirty="0" err="1">
                <a:latin typeface="Times New Roman" pitchFamily="18" charset="0"/>
                <a:cs typeface="Times New Roman" pitchFamily="18" charset="0"/>
              </a:rPr>
              <a:t>x</a:t>
            </a:r>
            <a:r>
              <a:rPr lang="en-US" sz="2200" baseline="-25000" dirty="0" err="1">
                <a:latin typeface="Times New Roman" pitchFamily="18" charset="0"/>
                <a:cs typeface="Times New Roman" pitchFamily="18" charset="0"/>
              </a:rPr>
              <a:t>if</a:t>
            </a:r>
            <a:r>
              <a:rPr lang="en-US" sz="2200" dirty="0">
                <a:latin typeface="Times New Roman" pitchFamily="18" charset="0"/>
                <a:cs typeface="Times New Roman" pitchFamily="18" charset="0"/>
              </a:rPr>
              <a:t> by its corresponding rank, </a:t>
            </a:r>
            <a:r>
              <a:rPr lang="en-US" sz="2200" dirty="0" err="1">
                <a:latin typeface="Times New Roman" pitchFamily="18" charset="0"/>
                <a:cs typeface="Times New Roman" pitchFamily="18" charset="0"/>
              </a:rPr>
              <a:t>r</a:t>
            </a:r>
            <a:r>
              <a:rPr lang="en-US" sz="2200" baseline="-25000" dirty="0" err="1">
                <a:latin typeface="Times New Roman" pitchFamily="18" charset="0"/>
                <a:cs typeface="Times New Roman" pitchFamily="18" charset="0"/>
              </a:rPr>
              <a:t>if</a:t>
            </a:r>
            <a:r>
              <a:rPr lang="en-US" sz="2200" baseline="-25000" dirty="0">
                <a:latin typeface="Times New Roman" pitchFamily="18" charset="0"/>
                <a:cs typeface="Times New Roman" pitchFamily="18" charset="0"/>
              </a:rPr>
              <a:t> </a:t>
            </a:r>
            <a:r>
              <a:rPr lang="en-US" sz="2200" dirty="0">
                <a:latin typeface="Times New Roman" pitchFamily="18" charset="0"/>
                <a:cs typeface="Times New Roman" pitchFamily="18" charset="0"/>
              </a:rPr>
              <a:t>1, , M</a:t>
            </a:r>
            <a:r>
              <a:rPr lang="en-US" sz="2200" baseline="-25000" dirty="0">
                <a:latin typeface="Times New Roman" pitchFamily="18" charset="0"/>
                <a:cs typeface="Times New Roman" pitchFamily="18" charset="0"/>
              </a:rPr>
              <a:t>f</a:t>
            </a:r>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028764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2862322"/>
          </a:xfrm>
          <a:prstGeom prst="rect">
            <a:avLst/>
          </a:prstGeom>
        </p:spPr>
        <p:txBody>
          <a:bodyPr wrap="square">
            <a:spAutoFit/>
          </a:bodyPr>
          <a:lstStyle/>
          <a:p>
            <a:pPr algn="just"/>
            <a:r>
              <a:rPr lang="en-US" dirty="0" smtClean="0"/>
              <a:t>	Since </a:t>
            </a:r>
            <a:r>
              <a:rPr lang="en-US" dirty="0"/>
              <a:t>each ordinal attribute can have a different number of states, it is often necessary to map the range of each attribute onto [0.0, 1.0] so that each attribute has equal weight. We perform such data normalization by replacing the rank </a:t>
            </a:r>
            <a:r>
              <a:rPr lang="en-US" dirty="0" err="1"/>
              <a:t>r</a:t>
            </a:r>
            <a:r>
              <a:rPr lang="en-US" baseline="-25000" dirty="0" err="1"/>
              <a:t>if</a:t>
            </a:r>
            <a:r>
              <a:rPr lang="en-US" dirty="0"/>
              <a:t> of the </a:t>
            </a:r>
            <a:r>
              <a:rPr lang="en-US" dirty="0" err="1"/>
              <a:t>i</a:t>
            </a:r>
            <a:r>
              <a:rPr lang="en-US" baseline="-25000" dirty="0" err="1"/>
              <a:t>th</a:t>
            </a:r>
            <a:r>
              <a:rPr lang="en-US" dirty="0"/>
              <a:t> object in the f </a:t>
            </a:r>
            <a:r>
              <a:rPr lang="en-US" dirty="0" err="1"/>
              <a:t>th</a:t>
            </a:r>
            <a:r>
              <a:rPr lang="en-US" dirty="0"/>
              <a:t> attribute </a:t>
            </a:r>
            <a:r>
              <a:rPr lang="en-US" dirty="0" smtClean="0"/>
              <a:t>by:</a:t>
            </a:r>
          </a:p>
          <a:p>
            <a:endParaRPr lang="en-US" dirty="0"/>
          </a:p>
          <a:p>
            <a:endParaRPr lang="en-US" dirty="0" smtClean="0"/>
          </a:p>
          <a:p>
            <a:endParaRPr lang="en-US" dirty="0" smtClean="0"/>
          </a:p>
          <a:p>
            <a:r>
              <a:rPr lang="en-US" dirty="0" smtClean="0"/>
              <a:t>	Dissimilarity </a:t>
            </a:r>
            <a:r>
              <a:rPr lang="en-US" dirty="0"/>
              <a:t>can then be computed using any of the distance measures described in Section 2.4.4 for numeric attributes, using </a:t>
            </a:r>
            <a:r>
              <a:rPr lang="en-US" dirty="0" err="1"/>
              <a:t>z</a:t>
            </a:r>
            <a:r>
              <a:rPr lang="en-US" baseline="-25000" dirty="0" err="1"/>
              <a:t>if</a:t>
            </a:r>
            <a:r>
              <a:rPr lang="en-US" dirty="0"/>
              <a:t> to represent the f value for the </a:t>
            </a:r>
            <a:r>
              <a:rPr lang="en-US" dirty="0" err="1"/>
              <a:t>ith</a:t>
            </a:r>
            <a:r>
              <a:rPr lang="en-US" dirty="0"/>
              <a:t> object. </a:t>
            </a:r>
            <a:endParaRPr lang="en-IN"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143000"/>
            <a:ext cx="41910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04800" y="3276600"/>
            <a:ext cx="8686800" cy="3139321"/>
          </a:xfrm>
          <a:prstGeom prst="rect">
            <a:avLst/>
          </a:prstGeom>
        </p:spPr>
        <p:txBody>
          <a:bodyPr wrap="square">
            <a:spAutoFit/>
          </a:bodyPr>
          <a:lstStyle/>
          <a:p>
            <a:pPr algn="just"/>
            <a:r>
              <a:rPr lang="en-IN" sz="2200" dirty="0" smtClean="0">
                <a:solidFill>
                  <a:srgbClr val="00B050"/>
                </a:solidFill>
                <a:latin typeface="Times New Roman" pitchFamily="18" charset="0"/>
                <a:cs typeface="Times New Roman" pitchFamily="18" charset="0"/>
              </a:rPr>
              <a:t>Example: </a:t>
            </a:r>
            <a:r>
              <a:rPr lang="en-IN" sz="2200" dirty="0" smtClean="0">
                <a:latin typeface="Times New Roman" pitchFamily="18" charset="0"/>
                <a:cs typeface="Times New Roman" pitchFamily="18" charset="0"/>
              </a:rPr>
              <a:t>Dissimilarity between ordinal attributes:</a:t>
            </a:r>
          </a:p>
          <a:p>
            <a:pPr algn="just"/>
            <a:r>
              <a:rPr lang="en-IN" sz="2200" dirty="0" smtClean="0">
                <a:latin typeface="Times New Roman" pitchFamily="18" charset="0"/>
                <a:cs typeface="Times New Roman" pitchFamily="18" charset="0"/>
              </a:rPr>
              <a:t> Suppose that we have the sample data shown earlier in Table:2.2, except that this time only the object-identifier and the continuous ordinal attribute</a:t>
            </a:r>
            <a:r>
              <a:rPr lang="en-IN" sz="2200" dirty="0">
                <a:latin typeface="Times New Roman" pitchFamily="18" charset="0"/>
                <a:cs typeface="Times New Roman" pitchFamily="18" charset="0"/>
              </a:rPr>
              <a:t>, test-2, </a:t>
            </a:r>
            <a:r>
              <a:rPr lang="en-IN" sz="2200" dirty="0" smtClean="0">
                <a:latin typeface="Times New Roman" pitchFamily="18" charset="0"/>
                <a:cs typeface="Times New Roman" pitchFamily="18" charset="0"/>
              </a:rPr>
              <a:t>are available. There are three states </a:t>
            </a:r>
            <a:r>
              <a:rPr lang="en-IN" sz="2200" dirty="0">
                <a:latin typeface="Times New Roman" pitchFamily="18" charset="0"/>
                <a:cs typeface="Times New Roman" pitchFamily="18" charset="0"/>
              </a:rPr>
              <a:t>for test-2: fair, good, and excellent, that is</a:t>
            </a:r>
            <a:r>
              <a:rPr lang="en-IN" sz="2200" dirty="0" smtClean="0">
                <a:latin typeface="Times New Roman" pitchFamily="18" charset="0"/>
                <a:cs typeface="Times New Roman" pitchFamily="18" charset="0"/>
              </a:rPr>
              <a:t>, Mf=3. For step1,  if we replace each value for test-2 by its rank</a:t>
            </a:r>
            <a:r>
              <a:rPr lang="en-IN" sz="2200" dirty="0">
                <a:latin typeface="Times New Roman" pitchFamily="18" charset="0"/>
                <a:cs typeface="Times New Roman" pitchFamily="18" charset="0"/>
              </a:rPr>
              <a:t>, the </a:t>
            </a:r>
            <a:r>
              <a:rPr lang="en-IN" sz="2200" dirty="0" smtClean="0">
                <a:latin typeface="Times New Roman" pitchFamily="18" charset="0"/>
                <a:cs typeface="Times New Roman" pitchFamily="18" charset="0"/>
              </a:rPr>
              <a:t>four objects are assigned the ranks 3,1,2</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and 3</a:t>
            </a:r>
            <a:r>
              <a:rPr lang="en-IN" sz="2200" dirty="0">
                <a:latin typeface="Times New Roman" pitchFamily="18" charset="0"/>
                <a:cs typeface="Times New Roman" pitchFamily="18" charset="0"/>
              </a:rPr>
              <a:t>, respectively</a:t>
            </a:r>
            <a:r>
              <a:rPr lang="en-IN" sz="2200" dirty="0" smtClean="0">
                <a:latin typeface="Times New Roman" pitchFamily="18" charset="0"/>
                <a:cs typeface="Times New Roman" pitchFamily="18" charset="0"/>
              </a:rPr>
              <a:t>. Step2 normalizes </a:t>
            </a:r>
            <a:r>
              <a:rPr lang="en-IN" sz="2200" dirty="0">
                <a:latin typeface="Times New Roman" pitchFamily="18" charset="0"/>
                <a:cs typeface="Times New Roman" pitchFamily="18" charset="0"/>
              </a:rPr>
              <a:t>the </a:t>
            </a:r>
            <a:r>
              <a:rPr lang="en-IN" sz="2200" dirty="0" smtClean="0">
                <a:latin typeface="Times New Roman" pitchFamily="18" charset="0"/>
                <a:cs typeface="Times New Roman" pitchFamily="18" charset="0"/>
              </a:rPr>
              <a:t>ranking by mapping rank 1 to 0.0, rank 2 to 0.5, and rank 3 to 1.0. For step3, we can </a:t>
            </a:r>
            <a:r>
              <a:rPr lang="en-IN" sz="2200" dirty="0">
                <a:latin typeface="Times New Roman" pitchFamily="18" charset="0"/>
                <a:cs typeface="Times New Roman" pitchFamily="18" charset="0"/>
              </a:rPr>
              <a:t>use, say, </a:t>
            </a:r>
            <a:r>
              <a:rPr lang="en-IN" sz="2200" dirty="0" smtClean="0">
                <a:latin typeface="Times New Roman" pitchFamily="18" charset="0"/>
                <a:cs typeface="Times New Roman" pitchFamily="18" charset="0"/>
              </a:rPr>
              <a:t>the Euclidean distance (Eq.2.16), which results in the following dissimilarity matrix:</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045156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28601"/>
            <a:ext cx="3962399" cy="1752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04800" y="1905000"/>
            <a:ext cx="8534400" cy="1785104"/>
          </a:xfrm>
          <a:prstGeom prst="rect">
            <a:avLst/>
          </a:prstGeom>
        </p:spPr>
        <p:txBody>
          <a:bodyPr wrap="square">
            <a:spAutoFit/>
          </a:bodyPr>
          <a:lstStyle/>
          <a:p>
            <a:r>
              <a:rPr lang="en-IN" sz="2200" dirty="0">
                <a:latin typeface="Times New Roman" pitchFamily="18" charset="0"/>
                <a:cs typeface="Times New Roman" pitchFamily="18" charset="0"/>
              </a:rPr>
              <a:t>Therefore</a:t>
            </a:r>
            <a:r>
              <a:rPr lang="en-IN" sz="2200" dirty="0" smtClean="0">
                <a:latin typeface="Times New Roman" pitchFamily="18" charset="0"/>
                <a:cs typeface="Times New Roman" pitchFamily="18" charset="0"/>
              </a:rPr>
              <a:t>, objects 1 and 2 are the most dissimilar, as are objects 2 and 4 (i.e., d(2,1)=1.0andd(4,2)=1.0). This makes intuitive sense since objects 1 and 4 are both excellent</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Object 2 is fair, which is at the opposite end of the range of valuesfortest-2</a:t>
            </a:r>
            <a:r>
              <a:rPr lang="en-IN" sz="2200" dirty="0">
                <a:latin typeface="Times New Roman" pitchFamily="18" charset="0"/>
                <a:cs typeface="Times New Roman" pitchFamily="18" charset="0"/>
              </a:rPr>
              <a:t>. Similarity values for ordinal attributes </a:t>
            </a:r>
            <a:r>
              <a:rPr lang="en-IN" sz="2200" dirty="0" smtClean="0">
                <a:latin typeface="Times New Roman" pitchFamily="18" charset="0"/>
                <a:cs typeface="Times New Roman" pitchFamily="18" charset="0"/>
              </a:rPr>
              <a:t>can be </a:t>
            </a:r>
            <a:r>
              <a:rPr lang="en-IN" sz="2200" dirty="0">
                <a:latin typeface="Times New Roman" pitchFamily="18" charset="0"/>
                <a:cs typeface="Times New Roman" pitchFamily="18" charset="0"/>
              </a:rPr>
              <a:t>interpreted </a:t>
            </a:r>
            <a:r>
              <a:rPr lang="en-IN" sz="2200" dirty="0" smtClean="0">
                <a:latin typeface="Times New Roman" pitchFamily="18" charset="0"/>
                <a:cs typeface="Times New Roman" pitchFamily="18" charset="0"/>
              </a:rPr>
              <a:t>from dissimilarity </a:t>
            </a:r>
            <a:r>
              <a:rPr lang="en-IN" sz="2200" dirty="0">
                <a:latin typeface="Times New Roman" pitchFamily="18" charset="0"/>
                <a:cs typeface="Times New Roman" pitchFamily="18" charset="0"/>
              </a:rPr>
              <a:t>as </a:t>
            </a:r>
            <a:r>
              <a:rPr lang="en-IN" sz="2200" dirty="0" err="1" smtClean="0">
                <a:latin typeface="Times New Roman" pitchFamily="18" charset="0"/>
                <a:cs typeface="Times New Roman" pitchFamily="18" charset="0"/>
              </a:rPr>
              <a:t>sim</a:t>
            </a:r>
            <a:r>
              <a:rPr lang="en-IN" sz="2200" dirty="0" smtClean="0">
                <a:latin typeface="Times New Roman" pitchFamily="18" charset="0"/>
                <a:cs typeface="Times New Roman" pitchFamily="18" charset="0"/>
              </a:rPr>
              <a:t> (</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)=1- d(</a:t>
            </a:r>
            <a:r>
              <a:rPr lang="en-IN" sz="2200" dirty="0" err="1" smtClean="0">
                <a:latin typeface="Times New Roman" pitchFamily="18" charset="0"/>
                <a:cs typeface="Times New Roman" pitchFamily="18" charset="0"/>
              </a:rPr>
              <a:t>i,j</a:t>
            </a:r>
            <a:r>
              <a:rPr lang="en-IN" sz="2200" dirty="0" smtClean="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5846959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6217087"/>
          </a:xfrm>
          <a:prstGeom prst="rect">
            <a:avLst/>
          </a:prstGeom>
        </p:spPr>
        <p:txBody>
          <a:bodyPr wrap="square">
            <a:spAutoFit/>
          </a:bodyPr>
          <a:lstStyle/>
          <a:p>
            <a:pPr algn="just"/>
            <a:r>
              <a:rPr lang="en-IN" sz="2400" dirty="0" smtClean="0">
                <a:solidFill>
                  <a:srgbClr val="00B050"/>
                </a:solidFill>
                <a:latin typeface="Times New Roman" pitchFamily="18" charset="0"/>
                <a:cs typeface="Times New Roman" pitchFamily="18" charset="0"/>
              </a:rPr>
              <a:t>Cosine Similarity:</a:t>
            </a:r>
            <a:endParaRPr lang="en-IN" dirty="0" smtClean="0">
              <a:solidFill>
                <a:srgbClr val="00B050"/>
              </a:solidFill>
              <a:latin typeface="Times New Roman" pitchFamily="18" charset="0"/>
              <a:cs typeface="Times New Roman" pitchFamily="18" charset="0"/>
            </a:endParaRPr>
          </a:p>
          <a:p>
            <a:pPr algn="just"/>
            <a:r>
              <a:rPr lang="en-IN" dirty="0" smtClean="0">
                <a:latin typeface="Times New Roman" pitchFamily="18" charset="0"/>
                <a:cs typeface="Times New Roman" pitchFamily="18" charset="0"/>
              </a:rPr>
              <a:t> 	</a:t>
            </a:r>
            <a:r>
              <a:rPr lang="en-IN" sz="2200" dirty="0" smtClean="0">
                <a:latin typeface="Times New Roman" pitchFamily="18" charset="0"/>
                <a:cs typeface="Times New Roman" pitchFamily="18" charset="0"/>
              </a:rPr>
              <a:t>It is a measure of </a:t>
            </a:r>
            <a:r>
              <a:rPr lang="en-IN" sz="2200" dirty="0">
                <a:latin typeface="Times New Roman" pitchFamily="18" charset="0"/>
                <a:cs typeface="Times New Roman" pitchFamily="18" charset="0"/>
              </a:rPr>
              <a:t>similarity that </a:t>
            </a:r>
            <a:r>
              <a:rPr lang="en-IN" sz="2200" dirty="0" smtClean="0">
                <a:latin typeface="Times New Roman" pitchFamily="18" charset="0"/>
                <a:cs typeface="Times New Roman" pitchFamily="18" charset="0"/>
              </a:rPr>
              <a:t>can be used to compare documents or</a:t>
            </a:r>
            <a:r>
              <a:rPr lang="en-IN" sz="2200" dirty="0">
                <a:latin typeface="Times New Roman" pitchFamily="18" charset="0"/>
                <a:cs typeface="Times New Roman" pitchFamily="18" charset="0"/>
              </a:rPr>
              <a:t>, say, </a:t>
            </a:r>
            <a:r>
              <a:rPr lang="en-IN" sz="2200" dirty="0" smtClean="0">
                <a:latin typeface="Times New Roman" pitchFamily="18" charset="0"/>
                <a:cs typeface="Times New Roman" pitchFamily="18" charset="0"/>
              </a:rPr>
              <a:t>give a ranking of documents with respect to a given vector of query </a:t>
            </a:r>
            <a:r>
              <a:rPr lang="en-IN" sz="2200" dirty="0">
                <a:latin typeface="Times New Roman" pitchFamily="18" charset="0"/>
                <a:cs typeface="Times New Roman" pitchFamily="18" charset="0"/>
              </a:rPr>
              <a:t>words. Let </a:t>
            </a:r>
            <a:r>
              <a:rPr lang="en-IN" sz="2200" dirty="0" smtClean="0">
                <a:latin typeface="Times New Roman" pitchFamily="18" charset="0"/>
                <a:cs typeface="Times New Roman" pitchFamily="18" charset="0"/>
              </a:rPr>
              <a:t>x and y be two vectors </a:t>
            </a:r>
            <a:r>
              <a:rPr lang="en-IN" sz="2200" dirty="0">
                <a:latin typeface="Times New Roman" pitchFamily="18" charset="0"/>
                <a:cs typeface="Times New Roman" pitchFamily="18" charset="0"/>
              </a:rPr>
              <a:t>for comparison</a:t>
            </a:r>
            <a:r>
              <a:rPr lang="en-IN" sz="2200" dirty="0" smtClean="0">
                <a:latin typeface="Times New Roman" pitchFamily="18" charset="0"/>
                <a:cs typeface="Times New Roman" pitchFamily="18" charset="0"/>
              </a:rPr>
              <a:t>. Using </a:t>
            </a:r>
            <a:r>
              <a:rPr lang="en-IN" sz="2200" dirty="0">
                <a:latin typeface="Times New Roman" pitchFamily="18" charset="0"/>
                <a:cs typeface="Times New Roman" pitchFamily="18" charset="0"/>
              </a:rPr>
              <a:t>the cosine measure as  a similarity function, we </a:t>
            </a:r>
            <a:r>
              <a:rPr lang="en-IN" sz="2200" dirty="0" smtClean="0">
                <a:latin typeface="Times New Roman" pitchFamily="18" charset="0"/>
                <a:cs typeface="Times New Roman" pitchFamily="18" charset="0"/>
              </a:rPr>
              <a:t>have:</a:t>
            </a: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The </a:t>
            </a:r>
            <a:r>
              <a:rPr lang="en-US" sz="2200" dirty="0">
                <a:latin typeface="Times New Roman" pitchFamily="18" charset="0"/>
                <a:cs typeface="Times New Roman" pitchFamily="18" charset="0"/>
              </a:rPr>
              <a:t>measure computes the cosine of the angle between </a:t>
            </a:r>
            <a:r>
              <a:rPr lang="en-US" sz="2200" dirty="0" smtClean="0">
                <a:latin typeface="Times New Roman" pitchFamily="18" charset="0"/>
                <a:cs typeface="Times New Roman" pitchFamily="18" charset="0"/>
              </a:rPr>
              <a:t>vectors </a:t>
            </a:r>
            <a:r>
              <a:rPr lang="en-US" sz="2200" dirty="0">
                <a:latin typeface="Times New Roman" pitchFamily="18" charset="0"/>
                <a:cs typeface="Times New Roman" pitchFamily="18" charset="0"/>
              </a:rPr>
              <a:t>x and y. A cosine value of 0 means that the two vectors are at 90 degrees to each other (orthogonal) and have no match. The closer the cosine value to 1, the smaller the angle and the greater the match between vectors.</a:t>
            </a:r>
            <a:endParaRPr lang="en-IN" sz="2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81200"/>
            <a:ext cx="8839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5242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763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470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7630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0" y="2895600"/>
            <a:ext cx="8686800" cy="1446550"/>
          </a:xfrm>
          <a:prstGeom prst="rect">
            <a:avLst/>
          </a:prstGeom>
        </p:spPr>
        <p:txBody>
          <a:bodyPr wrap="square">
            <a:spAutoFit/>
          </a:bodyPr>
          <a:lstStyle/>
          <a:p>
            <a:pPr algn="just"/>
            <a:r>
              <a:rPr lang="en-US" sz="2200" dirty="0" smtClean="0">
                <a:solidFill>
                  <a:srgbClr val="FF0000"/>
                </a:solidFill>
                <a:latin typeface="Times New Roman" pitchFamily="18" charset="0"/>
                <a:cs typeface="Times New Roman" pitchFamily="18" charset="0"/>
              </a:rPr>
              <a:t>Ex:</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Cosine similarity between two term-frequency vectors. Suppose that x and y are the </a:t>
            </a:r>
            <a:r>
              <a:rPr lang="en-US" sz="2200" dirty="0" smtClean="0">
                <a:latin typeface="Times New Roman" pitchFamily="18" charset="0"/>
                <a:cs typeface="Times New Roman" pitchFamily="18" charset="0"/>
              </a:rPr>
              <a:t>first </a:t>
            </a:r>
            <a:r>
              <a:rPr lang="en-US" sz="2200" dirty="0">
                <a:latin typeface="Times New Roman" pitchFamily="18" charset="0"/>
                <a:cs typeface="Times New Roman" pitchFamily="18" charset="0"/>
              </a:rPr>
              <a:t>two term-frequency vectors in Table 2.5. That is, </a:t>
            </a:r>
            <a:r>
              <a:rPr lang="en-US" sz="2200" dirty="0" smtClean="0">
                <a:latin typeface="Times New Roman" pitchFamily="18" charset="0"/>
                <a:cs typeface="Times New Roman" pitchFamily="18" charset="0"/>
              </a:rPr>
              <a:t>x=(5,0,3,0,2,0,0,2,0,0) </a:t>
            </a:r>
            <a:r>
              <a:rPr lang="en-US" sz="2200" dirty="0">
                <a:latin typeface="Times New Roman" pitchFamily="18" charset="0"/>
                <a:cs typeface="Times New Roman" pitchFamily="18" charset="0"/>
              </a:rPr>
              <a:t>and </a:t>
            </a:r>
            <a:r>
              <a:rPr lang="en-US" sz="2200" dirty="0" smtClean="0">
                <a:latin typeface="Times New Roman" pitchFamily="18" charset="0"/>
                <a:cs typeface="Times New Roman" pitchFamily="18" charset="0"/>
              </a:rPr>
              <a:t>y=(3,0,2,0,1,1,0,1,0,1). Compute </a:t>
            </a:r>
            <a:r>
              <a:rPr lang="en-US" sz="2200" dirty="0">
                <a:latin typeface="Times New Roman" pitchFamily="18" charset="0"/>
                <a:cs typeface="Times New Roman" pitchFamily="18" charset="0"/>
              </a:rPr>
              <a:t>the cosine similarity between the two </a:t>
            </a:r>
            <a:r>
              <a:rPr lang="en-US" sz="2200" dirty="0" smtClean="0">
                <a:latin typeface="Times New Roman" pitchFamily="18" charset="0"/>
                <a:cs typeface="Times New Roman" pitchFamily="18" charset="0"/>
              </a:rPr>
              <a:t>vectors</a:t>
            </a:r>
            <a:r>
              <a:rPr lang="en-US" sz="2200"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342150"/>
            <a:ext cx="8686800" cy="236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7451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4893647"/>
          </a:xfrm>
          <a:prstGeom prst="rect">
            <a:avLst/>
          </a:prstGeom>
        </p:spPr>
        <p:txBody>
          <a:bodyPr wrap="square">
            <a:spAutoFit/>
          </a:bodyPr>
          <a:lstStyle/>
          <a:p>
            <a:pPr algn="just">
              <a:spcBef>
                <a:spcPct val="20000"/>
              </a:spcBef>
            </a:pPr>
            <a:r>
              <a:rPr lang="en-US" sz="2400" b="1" u="sng" dirty="0" smtClean="0">
                <a:solidFill>
                  <a:srgbClr val="FF0000"/>
                </a:solidFill>
                <a:latin typeface="Times New Roman" panose="02020603050405020304" pitchFamily="18" charset="0"/>
                <a:cs typeface="Times New Roman" panose="02020603050405020304" pitchFamily="18" charset="0"/>
              </a:rPr>
              <a:t>Example-2:</a:t>
            </a:r>
            <a:r>
              <a:rPr lang="en-US" sz="2400" b="1" dirty="0" smtClean="0">
                <a:latin typeface="Times New Roman" panose="02020603050405020304" pitchFamily="18" charset="0"/>
                <a:cs typeface="Times New Roman" panose="02020603050405020304" pitchFamily="18" charset="0"/>
              </a:rPr>
              <a:t> </a:t>
            </a:r>
          </a:p>
          <a:p>
            <a:pPr algn="just">
              <a:spcBef>
                <a:spcPct val="20000"/>
              </a:spcBef>
            </a:pPr>
            <a:endParaRPr lang="en-US" sz="2400" b="1" dirty="0">
              <a:latin typeface="Times New Roman" panose="02020603050405020304" pitchFamily="18" charset="0"/>
              <a:cs typeface="Times New Roman" panose="02020603050405020304" pitchFamily="18" charset="0"/>
            </a:endParaRPr>
          </a:p>
          <a:p>
            <a:pPr algn="just">
              <a:spcBef>
                <a:spcPct val="20000"/>
              </a:spcBef>
            </a:pPr>
            <a:r>
              <a:rPr lang="en-US" sz="2400" b="1" dirty="0" smtClean="0">
                <a:latin typeface="Times New Roman" panose="02020603050405020304" pitchFamily="18" charset="0"/>
                <a:cs typeface="Times New Roman" panose="02020603050405020304" pitchFamily="18" charset="0"/>
              </a:rPr>
              <a:t>	d</a:t>
            </a:r>
            <a:r>
              <a:rPr lang="en-US" sz="2400" b="1" baseline="-30000" dirty="0" smtClean="0">
                <a:latin typeface="Times New Roman" panose="02020603050405020304" pitchFamily="18" charset="0"/>
                <a:cs typeface="Times New Roman" panose="02020603050405020304" pitchFamily="18" charset="0"/>
              </a:rPr>
              <a:t>1</a:t>
            </a:r>
            <a:r>
              <a:rPr lang="en-US" sz="2400" i="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3 2 0 5 0 0 0 2 0 0 	</a:t>
            </a:r>
            <a:endParaRPr lang="en-US" sz="2400" dirty="0">
              <a:latin typeface="Times New Roman" panose="02020603050405020304" pitchFamily="18" charset="0"/>
              <a:cs typeface="Times New Roman" panose="02020603050405020304" pitchFamily="18" charset="0"/>
            </a:endParaRPr>
          </a:p>
          <a:p>
            <a:pPr>
              <a:spcBef>
                <a:spcPct val="20000"/>
              </a:spcBef>
            </a:pPr>
            <a:r>
              <a:rPr lang="en-US" sz="2400" i="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d</a:t>
            </a:r>
            <a:r>
              <a:rPr lang="en-US" sz="2400" b="1" baseline="-30000" dirty="0" smtClean="0">
                <a:latin typeface="Times New Roman" panose="02020603050405020304" pitchFamily="18" charset="0"/>
                <a:cs typeface="Times New Roman" panose="02020603050405020304" pitchFamily="18" charset="0"/>
              </a:rPr>
              <a:t>2</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1 0 0 0 0 0 0 1 0 2</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spcBef>
                <a:spcPct val="20000"/>
              </a:spcBef>
            </a:pPr>
            <a:endParaRPr lang="en-US" sz="2400" dirty="0">
              <a:latin typeface="Times New Roman" panose="02020603050405020304" pitchFamily="18" charset="0"/>
              <a:cs typeface="Times New Roman" panose="02020603050405020304" pitchFamily="18" charset="0"/>
            </a:endParaRPr>
          </a:p>
          <a:p>
            <a:pPr algn="just">
              <a:spcBef>
                <a:spcPct val="20000"/>
              </a:spcBef>
            </a:pPr>
            <a:r>
              <a:rPr lang="en-US" sz="2000" b="1" dirty="0">
                <a:latin typeface="Times New Roman" panose="02020603050405020304" pitchFamily="18" charset="0"/>
                <a:cs typeface="Times New Roman" panose="02020603050405020304" pitchFamily="18" charset="0"/>
              </a:rPr>
              <a:t>&lt;d</a:t>
            </a:r>
            <a:r>
              <a:rPr lang="en-US" sz="2000" b="1" baseline="-30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d2&gt;</a:t>
            </a:r>
            <a:r>
              <a:rPr lang="en-US" sz="2000" b="1" baseline="-30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3*1 + 2*0 + 0*0 + 5*0 + 0*0 + 0*0 + 0*0 + 2*1 + 0*0 + 0*2 = </a:t>
            </a:r>
            <a:r>
              <a:rPr lang="en-US" sz="2000" dirty="0" smtClean="0">
                <a:latin typeface="Times New Roman" panose="02020603050405020304" pitchFamily="18" charset="0"/>
                <a:cs typeface="Times New Roman" panose="02020603050405020304" pitchFamily="18" charset="0"/>
              </a:rPr>
              <a:t>5</a:t>
            </a:r>
          </a:p>
          <a:p>
            <a:pPr algn="just">
              <a:spcBef>
                <a:spcPct val="20000"/>
              </a:spcBef>
            </a:pP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d</a:t>
            </a:r>
            <a:r>
              <a:rPr lang="en-US" sz="2000" b="1" baseline="-30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 (3*3+2*2+0*0+5*5+0*0+0*0+0*0+2*2+0*0+0*0)</a:t>
            </a:r>
            <a:r>
              <a:rPr lang="en-US" sz="2000" b="1" baseline="30000" dirty="0">
                <a:latin typeface="Times New Roman" panose="02020603050405020304" pitchFamily="18" charset="0"/>
                <a:cs typeface="Times New Roman" panose="02020603050405020304" pitchFamily="18" charset="0"/>
              </a:rPr>
              <a:t>0.5</a:t>
            </a:r>
            <a:r>
              <a:rPr lang="en-US" sz="2000" dirty="0">
                <a:latin typeface="Times New Roman" panose="02020603050405020304" pitchFamily="18" charset="0"/>
                <a:cs typeface="Times New Roman" panose="02020603050405020304" pitchFamily="18" charset="0"/>
              </a:rPr>
              <a:t> =  (42) </a:t>
            </a:r>
            <a:r>
              <a:rPr lang="en-US" sz="2000" b="1" baseline="30000" dirty="0">
                <a:latin typeface="Times New Roman" panose="02020603050405020304" pitchFamily="18" charset="0"/>
                <a:cs typeface="Times New Roman" panose="02020603050405020304" pitchFamily="18" charset="0"/>
              </a:rPr>
              <a:t>0.5</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6.481</a:t>
            </a:r>
          </a:p>
          <a:p>
            <a:pPr algn="just">
              <a:spcBef>
                <a:spcPct val="20000"/>
              </a:spcBef>
            </a:pP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d</a:t>
            </a:r>
            <a:r>
              <a:rPr lang="en-US" sz="2000" b="1" baseline="-30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 = (1*1+0*0+0*0+0*0+0*0+0*0+0*0+1*1+0*0+2*2)</a:t>
            </a:r>
            <a:r>
              <a:rPr lang="en-US" sz="2000" baseline="30000" dirty="0">
                <a:latin typeface="Times New Roman" panose="02020603050405020304" pitchFamily="18" charset="0"/>
                <a:cs typeface="Times New Roman" panose="02020603050405020304" pitchFamily="18" charset="0"/>
              </a:rPr>
              <a:t> </a:t>
            </a:r>
            <a:r>
              <a:rPr lang="en-US" sz="2000" b="1" baseline="30000" dirty="0">
                <a:latin typeface="Times New Roman" panose="02020603050405020304" pitchFamily="18" charset="0"/>
                <a:cs typeface="Times New Roman" panose="02020603050405020304" pitchFamily="18" charset="0"/>
              </a:rPr>
              <a:t>0.5</a:t>
            </a:r>
            <a:r>
              <a:rPr lang="en-US" sz="2000" baseline="30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(6) </a:t>
            </a:r>
            <a:r>
              <a:rPr lang="en-US" sz="2000" b="1" baseline="30000" dirty="0">
                <a:latin typeface="Times New Roman" panose="02020603050405020304" pitchFamily="18" charset="0"/>
                <a:cs typeface="Times New Roman" panose="02020603050405020304" pitchFamily="18" charset="0"/>
              </a:rPr>
              <a:t>0.5</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2.449</a:t>
            </a:r>
          </a:p>
          <a:p>
            <a:pPr algn="just">
              <a:spcBef>
                <a:spcPct val="20000"/>
              </a:spcBef>
            </a:pP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cos</a:t>
            </a:r>
            <a:r>
              <a:rPr lang="en-US" sz="2400" b="1" dirty="0" smtClean="0">
                <a:latin typeface="Times New Roman" panose="02020603050405020304" pitchFamily="18" charset="0"/>
                <a:cs typeface="Times New Roman" panose="02020603050405020304" pitchFamily="18" charset="0"/>
              </a:rPr>
              <a:t>(d</a:t>
            </a:r>
            <a:r>
              <a:rPr lang="en-US" sz="2400" b="1" baseline="-30000" dirty="0" smtClean="0">
                <a:latin typeface="Times New Roman" panose="02020603050405020304" pitchFamily="18" charset="0"/>
                <a:cs typeface="Times New Roman" panose="02020603050405020304" pitchFamily="18" charset="0"/>
              </a:rPr>
              <a:t>1</a:t>
            </a:r>
            <a:r>
              <a:rPr lang="en-US" sz="2400" b="1" i="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 = 0.3150</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4704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5693866"/>
          </a:xfrm>
          <a:prstGeom prst="rect">
            <a:avLst/>
          </a:prstGeom>
        </p:spPr>
        <p:txBody>
          <a:bodyPr wrap="square">
            <a:spAutoFit/>
          </a:bodyPr>
          <a:lstStyle/>
          <a:p>
            <a:pPr algn="just">
              <a:spcBef>
                <a:spcPct val="20000"/>
              </a:spcBef>
            </a:pPr>
            <a:r>
              <a:rPr lang="en-US" sz="2000" b="1" u="sng" dirty="0" smtClean="0">
                <a:solidFill>
                  <a:srgbClr val="FF0000"/>
                </a:solidFill>
                <a:latin typeface="Times New Roman" panose="02020603050405020304" pitchFamily="18" charset="0"/>
                <a:cs typeface="Times New Roman" panose="02020603050405020304" pitchFamily="18" charset="0"/>
              </a:rPr>
              <a:t>Example-3:</a:t>
            </a:r>
            <a:r>
              <a:rPr lang="en-US" sz="2000" b="1" dirty="0" smtClean="0">
                <a:latin typeface="Times New Roman" panose="02020603050405020304" pitchFamily="18" charset="0"/>
                <a:cs typeface="Times New Roman" panose="02020603050405020304" pitchFamily="18" charset="0"/>
              </a:rPr>
              <a:t> </a:t>
            </a:r>
            <a:endParaRPr lang="en-US" sz="2000" b="1" dirty="0" smtClean="0">
              <a:latin typeface="Times New Roman" panose="02020603050405020304" pitchFamily="18" charset="0"/>
              <a:cs typeface="Times New Roman" panose="02020603050405020304" pitchFamily="18" charset="0"/>
            </a:endParaRPr>
          </a:p>
          <a:p>
            <a:pPr algn="just">
              <a:spcBef>
                <a:spcPct val="20000"/>
              </a:spcBef>
            </a:pPr>
            <a:r>
              <a:rPr lang="en-IN" sz="2000" dirty="0">
                <a:latin typeface="Times New Roman" pitchFamily="18" charset="0"/>
                <a:cs typeface="Times New Roman" pitchFamily="18" charset="0"/>
              </a:rPr>
              <a:t>Doc1: </a:t>
            </a:r>
            <a:r>
              <a:rPr lang="en-IN" sz="2000" dirty="0" smtClean="0">
                <a:latin typeface="Times New Roman" pitchFamily="18" charset="0"/>
                <a:cs typeface="Times New Roman" pitchFamily="18" charset="0"/>
              </a:rPr>
              <a:t>  A </a:t>
            </a:r>
            <a:r>
              <a:rPr lang="en-IN" sz="2000" dirty="0">
                <a:latin typeface="Times New Roman" pitchFamily="18" charset="0"/>
                <a:cs typeface="Times New Roman" pitchFamily="18" charset="0"/>
              </a:rPr>
              <a:t>Student from LBRCE NTR </a:t>
            </a:r>
            <a:r>
              <a:rPr lang="en-IN" sz="2000" dirty="0" err="1" smtClean="0">
                <a:latin typeface="Times New Roman" pitchFamily="18" charset="0"/>
                <a:cs typeface="Times New Roman" pitchFamily="18" charset="0"/>
              </a:rPr>
              <a:t>Dist</a:t>
            </a:r>
            <a:r>
              <a:rPr lang="en-IN" sz="2000" dirty="0" smtClean="0">
                <a:latin typeface="Times New Roman" pitchFamily="18" charset="0"/>
                <a:cs typeface="Times New Roman" pitchFamily="18" charset="0"/>
              </a:rPr>
              <a:t>  </a:t>
            </a:r>
            <a:r>
              <a:rPr lang="en-IN" sz="2000" dirty="0" err="1">
                <a:latin typeface="Times New Roman" pitchFamily="18" charset="0"/>
                <a:cs typeface="Times New Roman" pitchFamily="18" charset="0"/>
              </a:rPr>
              <a:t>Mylavaram</a:t>
            </a:r>
            <a:r>
              <a:rPr lang="en-IN" sz="2000" dirty="0">
                <a:latin typeface="Times New Roman" pitchFamily="18" charset="0"/>
                <a:cs typeface="Times New Roman" pitchFamily="18" charset="0"/>
              </a:rPr>
              <a:t>. </a:t>
            </a:r>
            <a:endParaRPr lang="en-IN" sz="2000" dirty="0" smtClean="0">
              <a:latin typeface="Times New Roman" pitchFamily="18" charset="0"/>
              <a:cs typeface="Times New Roman" pitchFamily="18" charset="0"/>
            </a:endParaRPr>
          </a:p>
          <a:p>
            <a:pPr algn="just">
              <a:spcBef>
                <a:spcPct val="20000"/>
              </a:spcBef>
            </a:pPr>
            <a:r>
              <a:rPr lang="en-IN" sz="2000" dirty="0" smtClean="0">
                <a:latin typeface="Times New Roman" pitchFamily="18" charset="0"/>
                <a:cs typeface="Times New Roman" pitchFamily="18" charset="0"/>
              </a:rPr>
              <a:t>Doc2</a:t>
            </a:r>
            <a:r>
              <a:rPr lang="en-IN" sz="2000" dirty="0">
                <a:latin typeface="Times New Roman" pitchFamily="18" charset="0"/>
                <a:cs typeface="Times New Roman" pitchFamily="18" charset="0"/>
              </a:rPr>
              <a:t>: </a:t>
            </a:r>
            <a:r>
              <a:rPr lang="en-IN" sz="2000" dirty="0" smtClean="0">
                <a:latin typeface="Times New Roman" pitchFamily="18" charset="0"/>
                <a:cs typeface="Times New Roman" pitchFamily="18" charset="0"/>
              </a:rPr>
              <a:t>  A </a:t>
            </a:r>
            <a:r>
              <a:rPr lang="en-IN" sz="2000" dirty="0">
                <a:latin typeface="Times New Roman" pitchFamily="18" charset="0"/>
                <a:cs typeface="Times New Roman" pitchFamily="18" charset="0"/>
              </a:rPr>
              <a:t>Faculty from LBRCE Krishna </a:t>
            </a:r>
            <a:r>
              <a:rPr lang="en-IN" sz="2000" dirty="0" err="1">
                <a:latin typeface="Times New Roman" pitchFamily="18" charset="0"/>
                <a:cs typeface="Times New Roman" pitchFamily="18" charset="0"/>
              </a:rPr>
              <a:t>Dist</a:t>
            </a:r>
            <a:r>
              <a:rPr lang="en-IN" sz="2000" dirty="0">
                <a:latin typeface="Times New Roman" pitchFamily="18" charset="0"/>
                <a:cs typeface="Times New Roman" pitchFamily="18" charset="0"/>
              </a:rPr>
              <a:t> </a:t>
            </a:r>
            <a:r>
              <a:rPr lang="en-IN" sz="2000" dirty="0" smtClean="0">
                <a:latin typeface="Times New Roman" pitchFamily="18" charset="0"/>
                <a:cs typeface="Times New Roman" pitchFamily="18" charset="0"/>
              </a:rPr>
              <a:t>Vijayawada</a:t>
            </a:r>
          </a:p>
          <a:p>
            <a:pPr algn="just">
              <a:spcBef>
                <a:spcPct val="20000"/>
              </a:spcBef>
            </a:pPr>
            <a:endParaRPr lang="en-IN" sz="2000" dirty="0" smtClean="0">
              <a:latin typeface="Times New Roman" pitchFamily="18" charset="0"/>
              <a:cs typeface="Times New Roman" pitchFamily="18" charset="0"/>
            </a:endParaRPr>
          </a:p>
          <a:p>
            <a:r>
              <a:rPr lang="en-IN" sz="2000" dirty="0">
                <a:latin typeface="Times New Roman" pitchFamily="18" charset="0"/>
                <a:cs typeface="Times New Roman" pitchFamily="18" charset="0"/>
              </a:rPr>
              <a:t>Unique words across both documents </a:t>
            </a:r>
            <a:r>
              <a:rPr lang="en-IN" sz="2000" dirty="0" smtClean="0">
                <a:latin typeface="Times New Roman" pitchFamily="18" charset="0"/>
                <a:cs typeface="Times New Roman" pitchFamily="18" charset="0"/>
              </a:rPr>
              <a:t>:</a:t>
            </a:r>
            <a:endParaRPr lang="en-IN" sz="2000" dirty="0">
              <a:latin typeface="Times New Roman" pitchFamily="18" charset="0"/>
              <a:cs typeface="Times New Roman" pitchFamily="18" charset="0"/>
            </a:endParaRPr>
          </a:p>
          <a:p>
            <a:r>
              <a:rPr lang="en-IN" sz="2000" dirty="0" smtClean="0">
                <a:latin typeface="Times New Roman" pitchFamily="18" charset="0"/>
                <a:cs typeface="Times New Roman" pitchFamily="18" charset="0"/>
              </a:rPr>
              <a:t>{A,Student,from,LBRCE,NTR,Dist,Mylavaram,Faculty,Krishna,Vijayawada}</a:t>
            </a:r>
          </a:p>
          <a:p>
            <a:endParaRPr lang="en-IN" sz="2000" dirty="0" smtClean="0">
              <a:latin typeface="Times New Roman" pitchFamily="18" charset="0"/>
              <a:cs typeface="Times New Roman" pitchFamily="18" charset="0"/>
            </a:endParaRPr>
          </a:p>
          <a:p>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So</a:t>
            </a:r>
            <a:r>
              <a:rPr lang="en-US" sz="2000" b="1" dirty="0" smtClean="0">
                <a:latin typeface="Times New Roman" panose="02020603050405020304" pitchFamily="18" charset="0"/>
                <a:cs typeface="Times New Roman" panose="02020603050405020304" pitchFamily="18" charset="0"/>
              </a:rPr>
              <a:t> </a:t>
            </a:r>
            <a:r>
              <a:rPr lang="en-IN" sz="2000" dirty="0">
                <a:latin typeface="Times New Roman" pitchFamily="18" charset="0"/>
                <a:cs typeface="Times New Roman" pitchFamily="18" charset="0"/>
              </a:rPr>
              <a:t>size = </a:t>
            </a:r>
            <a:r>
              <a:rPr lang="en-IN" sz="2000" b="1" dirty="0">
                <a:latin typeface="Times New Roman" pitchFamily="18" charset="0"/>
                <a:cs typeface="Times New Roman" pitchFamily="18" charset="0"/>
              </a:rPr>
              <a:t>10</a:t>
            </a:r>
            <a:r>
              <a:rPr lang="en-IN" sz="2000" dirty="0">
                <a:latin typeface="Times New Roman" pitchFamily="18" charset="0"/>
                <a:cs typeface="Times New Roman" pitchFamily="18" charset="0"/>
              </a:rPr>
              <a:t>.</a:t>
            </a:r>
            <a:endParaRPr lang="en-US" sz="2000" b="1" dirty="0">
              <a:latin typeface="Times New Roman" panose="02020603050405020304" pitchFamily="18" charset="0"/>
              <a:cs typeface="Times New Roman" panose="02020603050405020304" pitchFamily="18" charset="0"/>
            </a:endParaRPr>
          </a:p>
          <a:p>
            <a:pPr algn="just">
              <a:spcBef>
                <a:spcPct val="20000"/>
              </a:spcBef>
            </a:pPr>
            <a:r>
              <a:rPr lang="en-US" sz="2000" b="1" dirty="0" smtClean="0">
                <a:latin typeface="Times New Roman" panose="02020603050405020304" pitchFamily="18" charset="0"/>
                <a:cs typeface="Times New Roman" panose="02020603050405020304" pitchFamily="18" charset="0"/>
              </a:rPr>
              <a:t>	d</a:t>
            </a:r>
            <a:r>
              <a:rPr lang="en-US" sz="2000" b="1" baseline="-30000" dirty="0" smtClean="0">
                <a:latin typeface="Times New Roman" panose="02020603050405020304" pitchFamily="18" charset="0"/>
                <a:cs typeface="Times New Roman" panose="02020603050405020304" pitchFamily="18" charset="0"/>
              </a:rPr>
              <a:t>1</a:t>
            </a:r>
            <a:r>
              <a:rPr lang="en-US" sz="2000" i="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r>
              <a:rPr lang="en-IN" sz="2000" dirty="0" smtClean="0">
                <a:latin typeface="Times New Roman" pitchFamily="18" charset="0"/>
                <a:cs typeface="Times New Roman" pitchFamily="18" charset="0"/>
              </a:rPr>
              <a:t>1 1 1 1 1 1 1 0 0 0</a:t>
            </a:r>
            <a:r>
              <a:rPr lang="en-US" sz="20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spcBef>
                <a:spcPct val="20000"/>
              </a:spcBef>
            </a:pPr>
            <a:r>
              <a:rPr lang="en-US" sz="2000" i="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d</a:t>
            </a:r>
            <a:r>
              <a:rPr lang="en-US" sz="2000" b="1" baseline="-30000" dirty="0" smtClean="0">
                <a:latin typeface="Times New Roman" panose="02020603050405020304" pitchFamily="18" charset="0"/>
                <a:cs typeface="Times New Roman" panose="02020603050405020304" pitchFamily="18" charset="0"/>
              </a:rPr>
              <a:t>2</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a:t>
            </a:r>
            <a:r>
              <a:rPr lang="en-IN" sz="2000" dirty="0" smtClean="0">
                <a:latin typeface="Times New Roman" pitchFamily="18" charset="0"/>
                <a:cs typeface="Times New Roman" pitchFamily="18" charset="0"/>
              </a:rPr>
              <a:t>1 0 1 1 0 1 0 1 1 1</a:t>
            </a:r>
            <a:endParaRPr lang="en-US" sz="2000" dirty="0" smtClean="0">
              <a:latin typeface="Times New Roman" panose="02020603050405020304" pitchFamily="18" charset="0"/>
              <a:cs typeface="Times New Roman" panose="02020603050405020304" pitchFamily="18" charset="0"/>
            </a:endParaRPr>
          </a:p>
          <a:p>
            <a:pPr>
              <a:spcBef>
                <a:spcPct val="20000"/>
              </a:spcBef>
            </a:pP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b="1" dirty="0">
                <a:latin typeface="Times New Roman" panose="02020603050405020304" pitchFamily="18" charset="0"/>
                <a:cs typeface="Times New Roman" panose="02020603050405020304" pitchFamily="18" charset="0"/>
              </a:rPr>
              <a:t>&lt;d</a:t>
            </a:r>
            <a:r>
              <a:rPr lang="en-US" sz="2000" b="1" baseline="-30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d2&gt;</a:t>
            </a:r>
            <a:r>
              <a:rPr lang="en-US" sz="2000" b="1" baseline="-30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4</a:t>
            </a: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d</a:t>
            </a:r>
            <a:r>
              <a:rPr lang="en-US" sz="2000" b="1" baseline="-30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(7) </a:t>
            </a:r>
            <a:r>
              <a:rPr lang="en-US" sz="2000" b="1" baseline="30000" dirty="0">
                <a:latin typeface="Times New Roman" panose="02020603050405020304" pitchFamily="18" charset="0"/>
                <a:cs typeface="Times New Roman" panose="02020603050405020304" pitchFamily="18" charset="0"/>
              </a:rPr>
              <a:t>0.5</a:t>
            </a:r>
            <a:r>
              <a:rPr lang="en-US" sz="2000" dirty="0">
                <a:latin typeface="Times New Roman" panose="02020603050405020304" pitchFamily="18" charset="0"/>
                <a:cs typeface="Times New Roman" panose="02020603050405020304" pitchFamily="18" charset="0"/>
              </a:rPr>
              <a:t> = </a:t>
            </a:r>
            <a:r>
              <a:rPr lang="en-IN" sz="2000" dirty="0" smtClean="0">
                <a:latin typeface="Times New Roman" pitchFamily="18" charset="0"/>
                <a:cs typeface="Times New Roman" pitchFamily="18" charset="0"/>
              </a:rPr>
              <a:t>2.6458</a:t>
            </a: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d</a:t>
            </a:r>
            <a:r>
              <a:rPr lang="en-US" sz="2000" b="1" baseline="-30000"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(7) </a:t>
            </a:r>
            <a:r>
              <a:rPr lang="en-US" sz="2000" b="1" baseline="30000" dirty="0">
                <a:latin typeface="Times New Roman" panose="02020603050405020304" pitchFamily="18" charset="0"/>
                <a:cs typeface="Times New Roman" panose="02020603050405020304" pitchFamily="18" charset="0"/>
              </a:rPr>
              <a:t>0.5</a:t>
            </a:r>
            <a:r>
              <a:rPr lang="en-US" sz="2000" dirty="0">
                <a:latin typeface="Times New Roman" panose="02020603050405020304" pitchFamily="18" charset="0"/>
                <a:cs typeface="Times New Roman" panose="02020603050405020304" pitchFamily="18" charset="0"/>
              </a:rPr>
              <a:t> = </a:t>
            </a:r>
            <a:r>
              <a:rPr lang="en-IN" sz="2000" dirty="0" smtClean="0">
                <a:latin typeface="Times New Roman" pitchFamily="18" charset="0"/>
                <a:cs typeface="Times New Roman" pitchFamily="18" charset="0"/>
              </a:rPr>
              <a:t>2.6458</a:t>
            </a:r>
          </a:p>
          <a:p>
            <a:pPr algn="just">
              <a:spcBef>
                <a:spcPct val="20000"/>
              </a:spcBef>
            </a:pPr>
            <a:endParaRPr lang="en-US" sz="2000" dirty="0">
              <a:latin typeface="Times New Roman" panose="02020603050405020304" pitchFamily="18" charset="0"/>
              <a:cs typeface="Times New Roman" panose="02020603050405020304" pitchFamily="18" charset="0"/>
            </a:endParaRPr>
          </a:p>
          <a:p>
            <a:pPr algn="just">
              <a:spcBef>
                <a:spcPct val="20000"/>
              </a:spcBef>
            </a:pPr>
            <a:r>
              <a:rPr lang="en-US" sz="2000" dirty="0" smtClean="0">
                <a:latin typeface="Times New Roman" panose="02020603050405020304" pitchFamily="18" charset="0"/>
                <a:cs typeface="Times New Roman" panose="02020603050405020304" pitchFamily="18" charset="0"/>
              </a:rPr>
              <a:t>                       </a:t>
            </a:r>
            <a:r>
              <a:rPr lang="en-US" sz="2000" b="1" dirty="0" err="1" smtClean="0">
                <a:latin typeface="Times New Roman" panose="02020603050405020304" pitchFamily="18" charset="0"/>
                <a:cs typeface="Times New Roman" panose="02020603050405020304" pitchFamily="18" charset="0"/>
              </a:rPr>
              <a:t>cos</a:t>
            </a:r>
            <a:r>
              <a:rPr lang="en-US" sz="2000" b="1" dirty="0" smtClean="0">
                <a:latin typeface="Times New Roman" panose="02020603050405020304" pitchFamily="18" charset="0"/>
                <a:cs typeface="Times New Roman" panose="02020603050405020304" pitchFamily="18" charset="0"/>
              </a:rPr>
              <a:t>(d</a:t>
            </a:r>
            <a:r>
              <a:rPr lang="en-US" sz="2000" b="1" baseline="-30000" dirty="0" smtClean="0">
                <a:latin typeface="Times New Roman" panose="02020603050405020304" pitchFamily="18" charset="0"/>
                <a:cs typeface="Times New Roman" panose="02020603050405020304" pitchFamily="18" charset="0"/>
              </a:rPr>
              <a:t>1</a:t>
            </a:r>
            <a:r>
              <a:rPr lang="en-US" sz="2000" b="1" i="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a:t>
            </a:r>
            <a:r>
              <a:rPr lang="en-US" sz="2000" b="1" baseline="-30000" dirty="0">
                <a:latin typeface="Times New Roman" panose="02020603050405020304" pitchFamily="18" charset="0"/>
                <a:cs typeface="Times New Roman" panose="02020603050405020304" pitchFamily="18" charset="0"/>
              </a:rPr>
              <a:t>2</a:t>
            </a:r>
            <a:r>
              <a:rPr lang="en-US" sz="2000" b="1" dirty="0">
                <a:latin typeface="Times New Roman" panose="02020603050405020304" pitchFamily="18" charset="0"/>
                <a:cs typeface="Times New Roman" panose="02020603050405020304" pitchFamily="18" charset="0"/>
              </a:rPr>
              <a:t> ) = </a:t>
            </a:r>
            <a:r>
              <a:rPr lang="en-US" sz="2000" b="1" dirty="0" smtClean="0">
                <a:latin typeface="Times New Roman" panose="02020603050405020304" pitchFamily="18" charset="0"/>
                <a:cs typeface="Times New Roman" panose="02020603050405020304" pitchFamily="18" charset="0"/>
              </a:rPr>
              <a:t>4/7 = </a:t>
            </a:r>
            <a:r>
              <a:rPr lang="en-IN" sz="2000" dirty="0" smtClean="0">
                <a:latin typeface="Times New Roman" pitchFamily="18" charset="0"/>
                <a:cs typeface="Times New Roman" pitchFamily="18" charset="0"/>
              </a:rPr>
              <a:t>0.5714</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3982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0629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774</TotalTime>
  <Words>842</Words>
  <Application>Microsoft Office PowerPoint</Application>
  <PresentationFormat>On-screen Show (4:3)</PresentationFormat>
  <Paragraphs>207</Paragraphs>
  <Slides>34</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34</vt:i4>
      </vt:variant>
    </vt:vector>
  </HeadingPairs>
  <TitlesOfParts>
    <vt:vector size="37" baseType="lpstr">
      <vt:lpstr>Office Theme</vt:lpstr>
      <vt:lpstr>Worksheet</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ismail - [2010]</cp:lastModifiedBy>
  <cp:revision>51</cp:revision>
  <dcterms:created xsi:type="dcterms:W3CDTF">2006-08-16T00:00:00Z</dcterms:created>
  <dcterms:modified xsi:type="dcterms:W3CDTF">2025-08-22T15:40:39Z</dcterms:modified>
</cp:coreProperties>
</file>